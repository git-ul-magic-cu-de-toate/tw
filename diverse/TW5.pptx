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34"/>
  </p:notesMasterIdLst>
  <p:sldIdLst>
    <p:sldId id="256" r:id="rId2"/>
    <p:sldId id="265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1" autoAdjust="0"/>
    <p:restoredTop sz="84490" autoAdjust="0"/>
  </p:normalViewPr>
  <p:slideViewPr>
    <p:cSldViewPr snapToGrid="0">
      <p:cViewPr varScale="1">
        <p:scale>
          <a:sx n="107" d="100"/>
          <a:sy n="107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F98D8-754D-4AF1-A3A1-F664C9EA45C8}" type="datetimeFigureOut">
              <a:rPr lang="en-US" smtClean="0"/>
              <a:t>3/1/25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8BFDD-BE0F-43D8-86E4-C901283D3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3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BFDD-BE0F-43D8-86E4-C901283D33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4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BFDD-BE0F-43D8-86E4-C901283D33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3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BFDD-BE0F-43D8-86E4-C901283D33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90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https://www.w3schools.com/react/react_forms.asp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BFDD-BE0F-43D8-86E4-C901283D33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https://angular.io/guide/binding-syntax#types-of-data-binding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BFDD-BE0F-43D8-86E4-C901283D33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6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4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0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1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090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42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87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037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5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3/1/25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5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D1CE2DF7-A8F2-2712-14D8-79BBF141AD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9" r="915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137A9-D27B-8EF3-706B-03F71F01F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19" y="2100845"/>
            <a:ext cx="4670234" cy="1975527"/>
          </a:xfrm>
        </p:spPr>
        <p:txBody>
          <a:bodyPr anchor="ctr">
            <a:normAutofit/>
          </a:bodyPr>
          <a:lstStyle/>
          <a:p>
            <a:pPr algn="l"/>
            <a:r>
              <a:rPr lang="en-US" sz="5600"/>
              <a:t>Frontend Technologies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solidFill>
            <a:schemeClr val="tx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36CAB-D573-130D-0604-E55F2D6B4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19" y="4372379"/>
            <a:ext cx="4670233" cy="540135"/>
          </a:xfrm>
        </p:spPr>
        <p:txBody>
          <a:bodyPr anchor="ctr">
            <a:normAutofit/>
          </a:bodyPr>
          <a:lstStyle/>
          <a:p>
            <a:pPr algn="l">
              <a:lnSpc>
                <a:spcPct val="91000"/>
              </a:lnSpc>
            </a:pPr>
            <a:r>
              <a:rPr lang="en-US" sz="900"/>
              <a:t>React vs. Angular vs. Vue</a:t>
            </a:r>
          </a:p>
          <a:p>
            <a:pPr algn="l">
              <a:lnSpc>
                <a:spcPct val="91000"/>
              </a:lnSpc>
            </a:pPr>
            <a:r>
              <a:rPr lang="en-US" sz="900"/>
              <a:t>  Bogdan Georgescu                               </a:t>
            </a: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B9448442-D2E7-4586-5A98-EF8535FFC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655" y="96520"/>
            <a:ext cx="5331325" cy="200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5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97B4-9772-6180-5F1D-AE07176A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7A25-19F9-5FA3-6F85-334463DF3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5135880" cy="359359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Framework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Binding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Components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State Management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8982FC-FFE7-1FC7-61F8-94B03B1F6418}"/>
              </a:ext>
            </a:extLst>
          </p:cNvPr>
          <p:cNvSpPr txBox="1">
            <a:spLocks/>
          </p:cNvSpPr>
          <p:nvPr/>
        </p:nvSpPr>
        <p:spPr>
          <a:xfrm>
            <a:off x="6503918" y="2587752"/>
            <a:ext cx="5135880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Community and Ecosystem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Pros and Cons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9474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B6670-16C7-E94B-1F01-496850468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317499"/>
            <a:ext cx="4500737" cy="2095501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chemeClr val="tx1"/>
                </a:solidFill>
              </a:rPr>
              <a:t>What is “the Frontend”?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4562D-0D5F-6848-C556-A784E6E1D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38" y="2587625"/>
            <a:ext cx="4500737" cy="3594100"/>
          </a:xfrm>
        </p:spPr>
        <p:txBody>
          <a:bodyPr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GUI of web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part users see and interact with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Made with HTML, JavaScript and CSS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User Friendly</a:t>
            </a:r>
          </a:p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A14E-101B-0AAB-6E96-0AFC5527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Frameworks?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E554-B858-AABE-BBB1-E67251FFE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Software that facilitates the development and maintenance of medium to large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Typically</a:t>
            </a:r>
            <a:r>
              <a:rPr lang="ro-RO" dirty="0"/>
              <a:t> include </a:t>
            </a:r>
            <a:r>
              <a:rPr lang="en-US" dirty="0"/>
              <a:t>a core set of features and functionalities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RO" dirty="0"/>
              <a:t>Popular web framework</a:t>
            </a:r>
            <a:r>
              <a:rPr lang="en-US" dirty="0"/>
              <a:t>s</a:t>
            </a:r>
            <a:r>
              <a:rPr lang="ro-RO" dirty="0"/>
              <a:t>: </a:t>
            </a:r>
            <a:r>
              <a:rPr lang="en-US" dirty="0"/>
              <a:t>React, Angular, Vue.js, Django, Ruby on Rails, and Laravel.</a:t>
            </a:r>
          </a:p>
        </p:txBody>
      </p:sp>
    </p:spTree>
    <p:extLst>
      <p:ext uri="{BB962C8B-B14F-4D97-AF65-F5344CB8AC3E}">
        <p14:creationId xmlns:p14="http://schemas.microsoft.com/office/powerpoint/2010/main" val="369764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JavaScript library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Open-Source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Released in 2013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Developed and maintained by Meta (Facebook)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27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JavaScript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Open-Source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Released in initially 2010 as AngularJS, fully replaced by Angular2 in 2016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Developed and maintained by Google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52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JavaScript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Open-Source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Released in 2014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Developed and maintained by Evan You and his team</a:t>
            </a:r>
          </a:p>
          <a:p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30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DOM (Document Object Model)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a lightweight representation of the actual DOM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JSX (JavaScript XML)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allows developers to write HTML-like code inside 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Tree-like component structure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each component has its own state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data can be passed to child components through props and to parents through callbacks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89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Component-based architecture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Separation between logic (.</a:t>
            </a:r>
            <a:r>
              <a:rPr lang="en-US" dirty="0" err="1"/>
              <a:t>ts</a:t>
            </a:r>
            <a:r>
              <a:rPr lang="en-US" dirty="0"/>
              <a:t> file), template (.html file) and styling (.</a:t>
            </a:r>
            <a:r>
              <a:rPr lang="en-US" dirty="0" err="1"/>
              <a:t>css</a:t>
            </a:r>
            <a:r>
              <a:rPr lang="en-US" dirty="0"/>
              <a:t> files)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Exclusively uses TypeScript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Dependency injection system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allows components to access shared services and resources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668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Similar to both Angular and React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DOM + reactive binding system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Devs can bind data directly to the UI, which updates automatically when data changes occur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Built-in directives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Declarative manipulation of UI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7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Unidirectional data flow model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data flows from parent components to child components via props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State or props change → React.js re-renders the component and its children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Also supports two-way data binding, however it’s not recommended in large applications  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08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Supports both one-way and two-way binding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One-way → similar to React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Two-way → changes on either end will update the other end of the binding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change detection system is responsible for tracking the changes and updating the views and components accordingly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583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Supports both one-way and two-way binding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Uses a reactive system 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Data in the model is automatically observed for changes and the user interface is updated accordingly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94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JS/TS Class or Function that returns a React element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Defined with JSX (JavaScript XML)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component has its own state which can be updated by using `</a:t>
            </a:r>
            <a:r>
              <a:rPr lang="en-US" dirty="0" err="1"/>
              <a:t>setState</a:t>
            </a:r>
            <a:r>
              <a:rPr lang="en-US" dirty="0"/>
              <a:t>()` method.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019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TS Class decorated with `@Component` decorator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Every component has a template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Communication with other components is done with `Input` and `Output` bindings or through services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747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Components can be SFCs (Single-File Component) or plain JS/TS objects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SFCs need a build step, JS objects are served as an inline JS string which Vue compiles on the fly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SFCs have a template and can also have their own data through a data object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can be transmitted to child components through props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80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component has its own state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State is managed with the `</a:t>
            </a:r>
            <a:r>
              <a:rPr lang="en-US" dirty="0" err="1"/>
              <a:t>setState</a:t>
            </a:r>
            <a:r>
              <a:rPr lang="en-US" dirty="0"/>
              <a:t>()` method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 state change, React re-renders the components and its children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be difficult to manage in large applications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382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Service-based state management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The state is stored in a centralized service accessible to all components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Easy to share state between components and manage complex states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lead to high code complexity if not done properly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308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Done using Vue’s own centralized state management pattern called </a:t>
            </a:r>
            <a:r>
              <a:rPr lang="en-US" dirty="0" err="1"/>
              <a:t>Vuex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Vuex</a:t>
            </a:r>
            <a:r>
              <a:rPr lang="en-US" dirty="0"/>
              <a:t> makes states easily accessible to any component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also lead to complex code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641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Lightweight library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DOM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Faster and more efficient compared to traditional DOM manipulation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Component-level caching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sz="1800" kern="1200" spc="50" baseline="0" dirty="0">
                <a:solidFill>
                  <a:srgbClr val="000000"/>
                </a:solidFill>
                <a:effectLst/>
                <a:latin typeface="Franklin Gothic Medium" panose="020B0603020102020204" pitchFamily="34" charset="0"/>
                <a:ea typeface="+mn-ea"/>
                <a:cs typeface="+mn-cs"/>
              </a:rPr>
              <a:t>Made through the `</a:t>
            </a:r>
            <a:r>
              <a:rPr lang="en-US" sz="1800" kern="1200" spc="50" baseline="0" dirty="0" err="1">
                <a:solidFill>
                  <a:srgbClr val="000000"/>
                </a:solidFill>
                <a:effectLst/>
                <a:latin typeface="Franklin Gothic Medium" panose="020B0603020102020204" pitchFamily="34" charset="0"/>
                <a:ea typeface="+mn-ea"/>
                <a:cs typeface="+mn-cs"/>
              </a:rPr>
              <a:t>React.memo</a:t>
            </a:r>
            <a:r>
              <a:rPr lang="en-US" sz="1800" kern="1200" spc="50" baseline="0" dirty="0">
                <a:solidFill>
                  <a:srgbClr val="000000"/>
                </a:solidFill>
                <a:effectLst/>
                <a:latin typeface="Franklin Gothic Medium" panose="020B0603020102020204" pitchFamily="34" charset="0"/>
                <a:ea typeface="+mn-ea"/>
                <a:cs typeface="+mn-cs"/>
              </a:rPr>
              <a:t>()` component</a:t>
            </a:r>
            <a:endParaRPr lang="en-US" sz="1800" dirty="0">
              <a:effectLst/>
            </a:endParaRP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68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DOM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AoT (Ahead of Time) compilation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Precompiles and optimizes the code during the build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Lazy loading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Only modules and components needed by the users are loaded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803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DOM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SSR (Server-side Rendering)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Renders on the server, sends pre-rendered HTML to client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Component-level caching</a:t>
            </a:r>
          </a:p>
          <a:p>
            <a:pPr marL="731520" lvl="1" indent="-457200">
              <a:buFont typeface="Arial" panose="020B0604020202020204" pitchFamily="34" charset="0"/>
              <a:buChar char="•"/>
            </a:pPr>
            <a:r>
              <a:rPr lang="en-US" dirty="0"/>
              <a:t>Made through the `keep-alive` component</a:t>
            </a:r>
          </a:p>
          <a:p>
            <a:pPr lvl="1" indent="0">
              <a:buNone/>
            </a:pP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369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Community and</a:t>
            </a:r>
            <a:br>
              <a:rPr lang="en-US" dirty="0"/>
            </a:br>
            <a:r>
              <a:rPr lang="en-US" dirty="0"/>
              <a:t>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Large and active community, roughly 5.7 GitHub repos depend on React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Lots of documentation, tutorials and open-source libraries available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Meta provides additional support and stability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785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Community and</a:t>
            </a:r>
            <a:br>
              <a:rPr lang="en-US" dirty="0"/>
            </a:br>
            <a:r>
              <a:rPr lang="en-US" dirty="0"/>
              <a:t>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Large and active community, roughly 1.7 GitHub repos depend on Angular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Lots of documentation, tutorials and open-source libraries available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Meta provides additional support and stability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490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Community and</a:t>
            </a:r>
            <a:br>
              <a:rPr lang="en-US" dirty="0"/>
            </a:br>
            <a:r>
              <a:rPr lang="en-US" dirty="0"/>
              <a:t>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Smaller community, just under 170k users reported by GitHub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Well kept documentation by the maintainers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Less resources available than the other two technologies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485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410D-38CA-3E29-5588-215376C71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9648" y="2747378"/>
            <a:ext cx="5135880" cy="3593592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Steep learning curve, especially for beginners and developers new to the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Requires a lot of setup and configuration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JSX syntax can be difficult for some developers to learn and use</a:t>
            </a:r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9F70D8-ED4C-A3EE-0222-89A3F37AC084}"/>
              </a:ext>
            </a:extLst>
          </p:cNvPr>
          <p:cNvSpPr txBox="1">
            <a:spLocks/>
          </p:cNvSpPr>
          <p:nvPr/>
        </p:nvSpPr>
        <p:spPr>
          <a:xfrm>
            <a:off x="6327168" y="2587752"/>
            <a:ext cx="5231259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18250A-328E-9DBA-37B2-5D770C20B436}"/>
              </a:ext>
            </a:extLst>
          </p:cNvPr>
          <p:cNvSpPr txBox="1">
            <a:spLocks/>
          </p:cNvSpPr>
          <p:nvPr/>
        </p:nvSpPr>
        <p:spPr>
          <a:xfrm>
            <a:off x="958596" y="2747378"/>
            <a:ext cx="5135880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Large and active community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 performance (virtual DOM)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Flexible and composable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Backed by Facebook</a:t>
            </a:r>
          </a:p>
        </p:txBody>
      </p:sp>
    </p:spTree>
    <p:extLst>
      <p:ext uri="{BB962C8B-B14F-4D97-AF65-F5344CB8AC3E}">
        <p14:creationId xmlns:p14="http://schemas.microsoft.com/office/powerpoint/2010/main" val="4004010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5135880" cy="3593592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Comprehensive framework with many built-in features and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Strong focus on dependency injection and testing, making it easy to write and test complex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Large and active community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Backed by Google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2E3AF5-C6B5-55C9-1265-872BFA4E183B}"/>
              </a:ext>
            </a:extLst>
          </p:cNvPr>
          <p:cNvSpPr txBox="1">
            <a:spLocks/>
          </p:cNvSpPr>
          <p:nvPr/>
        </p:nvSpPr>
        <p:spPr>
          <a:xfrm>
            <a:off x="6124845" y="2587752"/>
            <a:ext cx="5135880" cy="3593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be complex and difficult to learn, especially for beginners and developers new to the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Performance can suffer for larger and more complex applications due to its heavy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 level of abstraction can make it difficult to understand and debug issues</a:t>
            </a:r>
          </a:p>
        </p:txBody>
      </p:sp>
    </p:spTree>
    <p:extLst>
      <p:ext uri="{BB962C8B-B14F-4D97-AF65-F5344CB8AC3E}">
        <p14:creationId xmlns:p14="http://schemas.microsoft.com/office/powerpoint/2010/main" val="1520061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Pros/Cons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498B22-F41F-00DF-C636-047C5243E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76" y="2603540"/>
            <a:ext cx="5135880" cy="359359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Smaller community compared to React and Angular, with fewer resources and support available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Lack of built-in tools and features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540DD6-B2D1-F67F-4E3A-1F781763CC51}"/>
              </a:ext>
            </a:extLst>
          </p:cNvPr>
          <p:cNvSpPr txBox="1">
            <a:spLocks/>
          </p:cNvSpPr>
          <p:nvPr/>
        </p:nvSpPr>
        <p:spPr>
          <a:xfrm>
            <a:off x="960120" y="2603540"/>
            <a:ext cx="5135880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Easy to learn and use, with a simple and intuitive API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Lightweight and flexible, making it a good choice for smaller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Good performance due to its reactive data binding</a:t>
            </a:r>
          </a:p>
        </p:txBody>
      </p:sp>
    </p:spTree>
    <p:extLst>
      <p:ext uri="{BB962C8B-B14F-4D97-AF65-F5344CB8AC3E}">
        <p14:creationId xmlns:p14="http://schemas.microsoft.com/office/powerpoint/2010/main" val="1690800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cONCLUSIONS</a:t>
            </a:r>
          </a:p>
        </p:txBody>
      </p:sp>
      <p:pic>
        <p:nvPicPr>
          <p:cNvPr id="4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454209B8-A341-218B-9D9D-54C3F455E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724" y="639575"/>
            <a:ext cx="3082663" cy="308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ogo&#10;&#10;Description automatically generated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4669" y="639575"/>
            <a:ext cx="3082663" cy="308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con&#10;&#10;Description automatically generated with low confidence">
            <a:extLst>
              <a:ext uri="{FF2B5EF4-FFF2-40B4-BE49-F238E27FC236}">
                <a16:creationId xmlns:a16="http://schemas.microsoft.com/office/drawing/2014/main" id="{0F2DE960-0989-D358-40C5-2C6A3863E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6288" y="822701"/>
            <a:ext cx="3131312" cy="271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380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635F-3951-6E1D-855A-6379A654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3EC779DB-9E1F-7ABD-564A-C76EEE0B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396" y="70988"/>
            <a:ext cx="2194436" cy="219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CD1B5F-1722-697A-3EF6-1E7B1669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39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60D2-3500-9A6E-AF6A-EAC2EE9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8C5C-A96D-B219-0D56-A660AE96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0CD4-7880-6822-7F81-790410DA2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785" y="-99818"/>
            <a:ext cx="2536047" cy="253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6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37A8-3FE7-C504-5DE1-9E3225BB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ABFD-73F9-7B85-CBD3-9AC183225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A3C4BCA-50D1-3AC8-3815-23B762E1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401" y="215605"/>
            <a:ext cx="2198480" cy="190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5151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LightSeedRightStep">
      <a:dk1>
        <a:srgbClr val="000000"/>
      </a:dk1>
      <a:lt1>
        <a:srgbClr val="FFFFFF"/>
      </a:lt1>
      <a:dk2>
        <a:srgbClr val="22333C"/>
      </a:dk2>
      <a:lt2>
        <a:srgbClr val="E2E3E8"/>
      </a:lt2>
      <a:accent1>
        <a:srgbClr val="AAA179"/>
      </a:accent1>
      <a:accent2>
        <a:srgbClr val="99A869"/>
      </a:accent2>
      <a:accent3>
        <a:srgbClr val="8AAB79"/>
      </a:accent3>
      <a:accent4>
        <a:srgbClr val="6EB072"/>
      </a:accent4>
      <a:accent5>
        <a:srgbClr val="78AA90"/>
      </a:accent5>
      <a:accent6>
        <a:srgbClr val="6BACA5"/>
      </a:accent6>
      <a:hlink>
        <a:srgbClr val="6976AE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1013</Words>
  <Application>Microsoft Macintosh PowerPoint</Application>
  <PresentationFormat>Widescreen</PresentationFormat>
  <Paragraphs>159</Paragraphs>
  <Slides>32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Franklin Gothic Demi Cond</vt:lpstr>
      <vt:lpstr>Franklin Gothic Medium</vt:lpstr>
      <vt:lpstr>Söhne</vt:lpstr>
      <vt:lpstr>Wingdings</vt:lpstr>
      <vt:lpstr>JuxtaposeVTI</vt:lpstr>
      <vt:lpstr>Frontend Technologies</vt:lpstr>
      <vt:lpstr>content</vt:lpstr>
      <vt:lpstr>What is “the Frontend”?</vt:lpstr>
      <vt:lpstr>What are Frameworks?</vt:lpstr>
      <vt:lpstr>React.js</vt:lpstr>
      <vt:lpstr>Angular</vt:lpstr>
      <vt:lpstr>Vue.js</vt:lpstr>
      <vt:lpstr>Architecture</vt:lpstr>
      <vt:lpstr>Architecture</vt:lpstr>
      <vt:lpstr>Architecture</vt:lpstr>
      <vt:lpstr>Data Binding</vt:lpstr>
      <vt:lpstr>Data Binding</vt:lpstr>
      <vt:lpstr>Data Binding</vt:lpstr>
      <vt:lpstr>components</vt:lpstr>
      <vt:lpstr>components</vt:lpstr>
      <vt:lpstr>components</vt:lpstr>
      <vt:lpstr>State management</vt:lpstr>
      <vt:lpstr>State management</vt:lpstr>
      <vt:lpstr>State management</vt:lpstr>
      <vt:lpstr>Performance</vt:lpstr>
      <vt:lpstr>Performance</vt:lpstr>
      <vt:lpstr>Performance</vt:lpstr>
      <vt:lpstr>Community and Ecosystem</vt:lpstr>
      <vt:lpstr>Community and Ecosystem</vt:lpstr>
      <vt:lpstr>Community and Ecosystem</vt:lpstr>
      <vt:lpstr>Pros/Cons</vt:lpstr>
      <vt:lpstr>Pros/Cons</vt:lpstr>
      <vt:lpstr>Pros/Cons</vt:lpstr>
      <vt:lpstr>cONCLUSIONS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Technologies</dc:title>
  <dc:creator>Bogdan Georgescu</dc:creator>
  <cp:lastModifiedBy>CIPRIAN MIHAI DOBRE (24408)</cp:lastModifiedBy>
  <cp:revision>9</cp:revision>
  <dcterms:created xsi:type="dcterms:W3CDTF">2023-04-03T07:30:46Z</dcterms:created>
  <dcterms:modified xsi:type="dcterms:W3CDTF">2025-03-01T17:16:43Z</dcterms:modified>
</cp:coreProperties>
</file>