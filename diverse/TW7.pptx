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64"/>
  </p:notesMasterIdLst>
  <p:sldIdLst>
    <p:sldId id="256" r:id="rId5"/>
    <p:sldId id="535" r:id="rId6"/>
    <p:sldId id="614" r:id="rId7"/>
    <p:sldId id="652" r:id="rId8"/>
    <p:sldId id="660" r:id="rId9"/>
    <p:sldId id="661" r:id="rId10"/>
    <p:sldId id="653" r:id="rId11"/>
    <p:sldId id="656" r:id="rId12"/>
    <p:sldId id="654" r:id="rId13"/>
    <p:sldId id="662" r:id="rId14"/>
    <p:sldId id="663" r:id="rId15"/>
    <p:sldId id="664" r:id="rId16"/>
    <p:sldId id="657" r:id="rId17"/>
    <p:sldId id="665" r:id="rId18"/>
    <p:sldId id="593" r:id="rId19"/>
    <p:sldId id="594" r:id="rId20"/>
    <p:sldId id="595" r:id="rId21"/>
    <p:sldId id="666" r:id="rId22"/>
    <p:sldId id="597" r:id="rId23"/>
    <p:sldId id="667" r:id="rId24"/>
    <p:sldId id="668" r:id="rId25"/>
    <p:sldId id="599" r:id="rId26"/>
    <p:sldId id="669" r:id="rId27"/>
    <p:sldId id="670" r:id="rId28"/>
    <p:sldId id="671" r:id="rId29"/>
    <p:sldId id="600" r:id="rId30"/>
    <p:sldId id="611" r:id="rId31"/>
    <p:sldId id="672" r:id="rId32"/>
    <p:sldId id="673" r:id="rId33"/>
    <p:sldId id="612" r:id="rId34"/>
    <p:sldId id="613" r:id="rId35"/>
    <p:sldId id="608" r:id="rId36"/>
    <p:sldId id="609" r:id="rId37"/>
    <p:sldId id="610" r:id="rId38"/>
    <p:sldId id="658" r:id="rId39"/>
    <p:sldId id="674" r:id="rId40"/>
    <p:sldId id="675" r:id="rId41"/>
    <p:sldId id="676" r:id="rId42"/>
    <p:sldId id="677" r:id="rId43"/>
    <p:sldId id="678" r:id="rId44"/>
    <p:sldId id="679" r:id="rId45"/>
    <p:sldId id="680" r:id="rId46"/>
    <p:sldId id="681" r:id="rId47"/>
    <p:sldId id="682" r:id="rId48"/>
    <p:sldId id="683" r:id="rId49"/>
    <p:sldId id="562" r:id="rId50"/>
    <p:sldId id="629" r:id="rId51"/>
    <p:sldId id="630" r:id="rId52"/>
    <p:sldId id="684" r:id="rId53"/>
    <p:sldId id="632" r:id="rId54"/>
    <p:sldId id="633" r:id="rId55"/>
    <p:sldId id="634" r:id="rId56"/>
    <p:sldId id="641" r:id="rId57"/>
    <p:sldId id="644" r:id="rId58"/>
    <p:sldId id="659" r:id="rId59"/>
    <p:sldId id="590" r:id="rId60"/>
    <p:sldId id="591" r:id="rId61"/>
    <p:sldId id="592" r:id="rId62"/>
    <p:sldId id="625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8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0110B1-ED0E-45C6-87E1-6C30007CFC9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E12BB8-6BCC-43CC-B305-B8EE661CDBD6}">
      <dgm:prSet/>
      <dgm:spPr/>
      <dgm:t>
        <a:bodyPr/>
        <a:lstStyle/>
        <a:p>
          <a:r>
            <a:rPr lang="en-GB" b="1" dirty="0" err="1"/>
            <a:t>Calitate</a:t>
          </a:r>
          <a:r>
            <a:rPr lang="en-GB" b="1" dirty="0"/>
            <a:t> </a:t>
          </a:r>
          <a:r>
            <a:rPr lang="en-GB" dirty="0"/>
            <a:t>– </a:t>
          </a:r>
          <a:r>
            <a:rPr lang="en-GB" dirty="0" err="1"/>
            <a:t>atragerea</a:t>
          </a:r>
          <a:r>
            <a:rPr lang="en-GB" dirty="0"/>
            <a:t> </a:t>
          </a:r>
          <a:r>
            <a:rPr lang="en-GB" dirty="0" err="1"/>
            <a:t>vizitatorilor</a:t>
          </a:r>
          <a:r>
            <a:rPr lang="en-GB" dirty="0"/>
            <a:t> care sunt </a:t>
          </a:r>
          <a:r>
            <a:rPr lang="en-GB" dirty="0" err="1"/>
            <a:t>interesați</a:t>
          </a:r>
          <a:r>
            <a:rPr lang="en-GB" dirty="0"/>
            <a:t> de </a:t>
          </a:r>
          <a:r>
            <a:rPr lang="en-GB" dirty="0" err="1"/>
            <a:t>produsul</a:t>
          </a:r>
          <a:r>
            <a:rPr lang="en-GB" dirty="0"/>
            <a:t> </a:t>
          </a:r>
          <a:r>
            <a:rPr lang="en-GB" dirty="0" err="1"/>
            <a:t>reprezentat</a:t>
          </a:r>
          <a:r>
            <a:rPr lang="en-GB" dirty="0"/>
            <a:t> pe site</a:t>
          </a:r>
          <a:endParaRPr lang="en-US" dirty="0"/>
        </a:p>
      </dgm:t>
    </dgm:pt>
    <dgm:pt modelId="{2470317C-6AEB-4772-8FF9-572B4EEFFE17}" type="parTrans" cxnId="{0AAD5D19-CB75-44F8-8736-156AFEC294DF}">
      <dgm:prSet/>
      <dgm:spPr/>
      <dgm:t>
        <a:bodyPr/>
        <a:lstStyle/>
        <a:p>
          <a:endParaRPr lang="en-US"/>
        </a:p>
      </dgm:t>
    </dgm:pt>
    <dgm:pt modelId="{306A9514-3751-49EA-824C-4A2B87D5B840}" type="sibTrans" cxnId="{0AAD5D19-CB75-44F8-8736-156AFEC294DF}">
      <dgm:prSet/>
      <dgm:spPr/>
      <dgm:t>
        <a:bodyPr/>
        <a:lstStyle/>
        <a:p>
          <a:endParaRPr lang="en-US"/>
        </a:p>
      </dgm:t>
    </dgm:pt>
    <dgm:pt modelId="{3C30939A-6453-4684-853B-4DE8B5A87D46}">
      <dgm:prSet/>
      <dgm:spPr/>
      <dgm:t>
        <a:bodyPr/>
        <a:lstStyle/>
        <a:p>
          <a:r>
            <a:rPr lang="en-GB" b="1" dirty="0" err="1"/>
            <a:t>Cantitate</a:t>
          </a:r>
          <a:r>
            <a:rPr lang="en-GB" b="1" dirty="0"/>
            <a:t> </a:t>
          </a:r>
          <a:r>
            <a:rPr lang="en-GB" dirty="0"/>
            <a:t>– </a:t>
          </a:r>
          <a:r>
            <a:rPr lang="en-GB" dirty="0" err="1"/>
            <a:t>cât</a:t>
          </a:r>
          <a:r>
            <a:rPr lang="en-GB" dirty="0"/>
            <a:t> </a:t>
          </a:r>
          <a:r>
            <a:rPr lang="en-GB" dirty="0" err="1"/>
            <a:t>mai</a:t>
          </a:r>
          <a:r>
            <a:rPr lang="en-GB" dirty="0"/>
            <a:t> </a:t>
          </a:r>
          <a:r>
            <a:rPr lang="en-GB" dirty="0" err="1"/>
            <a:t>multe</a:t>
          </a:r>
          <a:r>
            <a:rPr lang="en-GB" dirty="0"/>
            <a:t> </a:t>
          </a:r>
          <a:r>
            <a:rPr lang="en-GB" dirty="0" err="1"/>
            <a:t>accesări</a:t>
          </a:r>
          <a:r>
            <a:rPr lang="en-GB" dirty="0"/>
            <a:t> ale site-</a:t>
          </a:r>
          <a:r>
            <a:rPr lang="en-GB" dirty="0" err="1"/>
            <a:t>ului</a:t>
          </a:r>
          <a:r>
            <a:rPr lang="en-GB" dirty="0"/>
            <a:t> de la </a:t>
          </a:r>
          <a:r>
            <a:rPr lang="en-GB" dirty="0" err="1"/>
            <a:t>persoanele</a:t>
          </a:r>
          <a:r>
            <a:rPr lang="en-GB" dirty="0"/>
            <a:t> </a:t>
          </a:r>
          <a:r>
            <a:rPr lang="en-GB" dirty="0" err="1"/>
            <a:t>interesate</a:t>
          </a:r>
          <a:r>
            <a:rPr lang="en-GB" dirty="0"/>
            <a:t> de </a:t>
          </a:r>
          <a:r>
            <a:rPr lang="en-GB" dirty="0" err="1"/>
            <a:t>produs</a:t>
          </a:r>
          <a:endParaRPr lang="en-US" dirty="0"/>
        </a:p>
      </dgm:t>
    </dgm:pt>
    <dgm:pt modelId="{FC0A038C-AC95-45C2-804C-AF6095B42AAD}" type="parTrans" cxnId="{2E2F39CD-E987-40E8-B4C8-C24F85615AB8}">
      <dgm:prSet/>
      <dgm:spPr/>
      <dgm:t>
        <a:bodyPr/>
        <a:lstStyle/>
        <a:p>
          <a:endParaRPr lang="en-US"/>
        </a:p>
      </dgm:t>
    </dgm:pt>
    <dgm:pt modelId="{8FDD34A1-FEAD-4C30-A5B3-8CC728743F9F}" type="sibTrans" cxnId="{2E2F39CD-E987-40E8-B4C8-C24F85615AB8}">
      <dgm:prSet/>
      <dgm:spPr/>
      <dgm:t>
        <a:bodyPr/>
        <a:lstStyle/>
        <a:p>
          <a:endParaRPr lang="en-US"/>
        </a:p>
      </dgm:t>
    </dgm:pt>
    <dgm:pt modelId="{6FF6E6E0-7514-45CD-A90C-D2DD137879E4}">
      <dgm:prSet/>
      <dgm:spPr/>
      <dgm:t>
        <a:bodyPr/>
        <a:lstStyle/>
        <a:p>
          <a:r>
            <a:rPr lang="en-GB" b="1" dirty="0" err="1"/>
            <a:t>Rezultate</a:t>
          </a:r>
          <a:r>
            <a:rPr lang="en-GB" b="1" dirty="0"/>
            <a:t> </a:t>
          </a:r>
          <a:r>
            <a:rPr lang="en-GB" b="1" dirty="0" err="1"/>
            <a:t>organice</a:t>
          </a:r>
          <a:r>
            <a:rPr lang="en-GB" b="1" dirty="0"/>
            <a:t> </a:t>
          </a:r>
          <a:r>
            <a:rPr lang="en-GB" dirty="0"/>
            <a:t>– </a:t>
          </a:r>
          <a:r>
            <a:rPr lang="en-GB" dirty="0" err="1"/>
            <a:t>trafic</a:t>
          </a:r>
          <a:r>
            <a:rPr lang="en-GB" dirty="0"/>
            <a:t> </a:t>
          </a:r>
          <a:r>
            <a:rPr lang="en-GB" dirty="0" err="1"/>
            <a:t>neplătit</a:t>
          </a:r>
          <a:r>
            <a:rPr lang="en-GB" dirty="0"/>
            <a:t> care vine din </a:t>
          </a:r>
          <a:r>
            <a:rPr lang="en-GB" dirty="0" err="1"/>
            <a:t>rezultatele</a:t>
          </a:r>
          <a:r>
            <a:rPr lang="en-GB" dirty="0"/>
            <a:t> </a:t>
          </a:r>
          <a:r>
            <a:rPr lang="en-GB" dirty="0" err="1"/>
            <a:t>unui</a:t>
          </a:r>
          <a:r>
            <a:rPr lang="en-GB" dirty="0"/>
            <a:t> motor de </a:t>
          </a:r>
          <a:r>
            <a:rPr lang="en-GB" dirty="0" err="1"/>
            <a:t>căutare</a:t>
          </a:r>
          <a:r>
            <a:rPr lang="en-GB" dirty="0"/>
            <a:t> (SERP -</a:t>
          </a:r>
          <a:r>
            <a:rPr lang="en-GB" dirty="0" err="1"/>
            <a:t>SearchEngineResultsPages</a:t>
          </a:r>
          <a:r>
            <a:rPr lang="en-GB" dirty="0"/>
            <a:t>) </a:t>
          </a:r>
          <a:endParaRPr lang="en-US" dirty="0"/>
        </a:p>
      </dgm:t>
    </dgm:pt>
    <dgm:pt modelId="{0179AAA7-7869-456E-ADBD-668092815D99}" type="parTrans" cxnId="{560E2CB9-27F3-4B33-860E-AC8E54C7CF44}">
      <dgm:prSet/>
      <dgm:spPr/>
      <dgm:t>
        <a:bodyPr/>
        <a:lstStyle/>
        <a:p>
          <a:endParaRPr lang="en-US"/>
        </a:p>
      </dgm:t>
    </dgm:pt>
    <dgm:pt modelId="{B969E887-8CE1-4238-8717-22AF2E2CA597}" type="sibTrans" cxnId="{560E2CB9-27F3-4B33-860E-AC8E54C7CF44}">
      <dgm:prSet/>
      <dgm:spPr/>
      <dgm:t>
        <a:bodyPr/>
        <a:lstStyle/>
        <a:p>
          <a:endParaRPr lang="en-US"/>
        </a:p>
      </dgm:t>
    </dgm:pt>
    <dgm:pt modelId="{36C99D04-3A94-CB4F-BE74-0CB284803043}" type="pres">
      <dgm:prSet presAssocID="{870110B1-ED0E-45C6-87E1-6C30007CFC91}" presName="linear" presStyleCnt="0">
        <dgm:presLayoutVars>
          <dgm:animLvl val="lvl"/>
          <dgm:resizeHandles val="exact"/>
        </dgm:presLayoutVars>
      </dgm:prSet>
      <dgm:spPr/>
    </dgm:pt>
    <dgm:pt modelId="{E8616DF2-1A7C-D647-B8C3-9163DD16D0DE}" type="pres">
      <dgm:prSet presAssocID="{E6E12BB8-6BCC-43CC-B305-B8EE661CDBD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B0BCA48-7D0E-C542-9B64-001F005441BE}" type="pres">
      <dgm:prSet presAssocID="{306A9514-3751-49EA-824C-4A2B87D5B840}" presName="spacer" presStyleCnt="0"/>
      <dgm:spPr/>
    </dgm:pt>
    <dgm:pt modelId="{E520B00E-BC2C-6E44-9A8B-0BBD816E5544}" type="pres">
      <dgm:prSet presAssocID="{3C30939A-6453-4684-853B-4DE8B5A87D4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0F51FCE-3D4E-5B4D-958F-566D478187F1}" type="pres">
      <dgm:prSet presAssocID="{8FDD34A1-FEAD-4C30-A5B3-8CC728743F9F}" presName="spacer" presStyleCnt="0"/>
      <dgm:spPr/>
    </dgm:pt>
    <dgm:pt modelId="{FA920430-6D2A-4B40-B970-342CABC22AE7}" type="pres">
      <dgm:prSet presAssocID="{6FF6E6E0-7514-45CD-A90C-D2DD137879E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637300B-1E16-8645-A81F-D4B6F5B30D9F}" type="presOf" srcId="{6FF6E6E0-7514-45CD-A90C-D2DD137879E4}" destId="{FA920430-6D2A-4B40-B970-342CABC22AE7}" srcOrd="0" destOrd="0" presId="urn:microsoft.com/office/officeart/2005/8/layout/vList2"/>
    <dgm:cxn modelId="{0AAD5D19-CB75-44F8-8736-156AFEC294DF}" srcId="{870110B1-ED0E-45C6-87E1-6C30007CFC91}" destId="{E6E12BB8-6BCC-43CC-B305-B8EE661CDBD6}" srcOrd="0" destOrd="0" parTransId="{2470317C-6AEB-4772-8FF9-572B4EEFFE17}" sibTransId="{306A9514-3751-49EA-824C-4A2B87D5B840}"/>
    <dgm:cxn modelId="{8197FE48-DB5F-A94E-98B5-CF35509C3D31}" type="presOf" srcId="{3C30939A-6453-4684-853B-4DE8B5A87D46}" destId="{E520B00E-BC2C-6E44-9A8B-0BBD816E5544}" srcOrd="0" destOrd="0" presId="urn:microsoft.com/office/officeart/2005/8/layout/vList2"/>
    <dgm:cxn modelId="{05E24050-BC0B-CB43-B90A-20E17646F1B5}" type="presOf" srcId="{870110B1-ED0E-45C6-87E1-6C30007CFC91}" destId="{36C99D04-3A94-CB4F-BE74-0CB284803043}" srcOrd="0" destOrd="0" presId="urn:microsoft.com/office/officeart/2005/8/layout/vList2"/>
    <dgm:cxn modelId="{605CAAAD-510B-B947-BCCD-FD044A4DAC45}" type="presOf" srcId="{E6E12BB8-6BCC-43CC-B305-B8EE661CDBD6}" destId="{E8616DF2-1A7C-D647-B8C3-9163DD16D0DE}" srcOrd="0" destOrd="0" presId="urn:microsoft.com/office/officeart/2005/8/layout/vList2"/>
    <dgm:cxn modelId="{560E2CB9-27F3-4B33-860E-AC8E54C7CF44}" srcId="{870110B1-ED0E-45C6-87E1-6C30007CFC91}" destId="{6FF6E6E0-7514-45CD-A90C-D2DD137879E4}" srcOrd="2" destOrd="0" parTransId="{0179AAA7-7869-456E-ADBD-668092815D99}" sibTransId="{B969E887-8CE1-4238-8717-22AF2E2CA597}"/>
    <dgm:cxn modelId="{2E2F39CD-E987-40E8-B4C8-C24F85615AB8}" srcId="{870110B1-ED0E-45C6-87E1-6C30007CFC91}" destId="{3C30939A-6453-4684-853B-4DE8B5A87D46}" srcOrd="1" destOrd="0" parTransId="{FC0A038C-AC95-45C2-804C-AF6095B42AAD}" sibTransId="{8FDD34A1-FEAD-4C30-A5B3-8CC728743F9F}"/>
    <dgm:cxn modelId="{4DA22C3A-7DC4-1846-AEEC-73836AF0A84A}" type="presParOf" srcId="{36C99D04-3A94-CB4F-BE74-0CB284803043}" destId="{E8616DF2-1A7C-D647-B8C3-9163DD16D0DE}" srcOrd="0" destOrd="0" presId="urn:microsoft.com/office/officeart/2005/8/layout/vList2"/>
    <dgm:cxn modelId="{3D7667C2-A31D-5945-BC2C-6B7C800EC2AD}" type="presParOf" srcId="{36C99D04-3A94-CB4F-BE74-0CB284803043}" destId="{4B0BCA48-7D0E-C542-9B64-001F005441BE}" srcOrd="1" destOrd="0" presId="urn:microsoft.com/office/officeart/2005/8/layout/vList2"/>
    <dgm:cxn modelId="{151FE001-4C54-AB4A-A873-BDC156F83A33}" type="presParOf" srcId="{36C99D04-3A94-CB4F-BE74-0CB284803043}" destId="{E520B00E-BC2C-6E44-9A8B-0BBD816E5544}" srcOrd="2" destOrd="0" presId="urn:microsoft.com/office/officeart/2005/8/layout/vList2"/>
    <dgm:cxn modelId="{CCE8C97D-3C1C-4F44-8B82-6622D2230441}" type="presParOf" srcId="{36C99D04-3A94-CB4F-BE74-0CB284803043}" destId="{D0F51FCE-3D4E-5B4D-958F-566D478187F1}" srcOrd="3" destOrd="0" presId="urn:microsoft.com/office/officeart/2005/8/layout/vList2"/>
    <dgm:cxn modelId="{E89A903A-2826-B041-9E15-D1D584512719}" type="presParOf" srcId="{36C99D04-3A94-CB4F-BE74-0CB284803043}" destId="{FA920430-6D2A-4B40-B970-342CABC22AE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616DF2-1A7C-D647-B8C3-9163DD16D0DE}">
      <dsp:nvSpPr>
        <dsp:cNvPr id="0" name=""/>
        <dsp:cNvSpPr/>
      </dsp:nvSpPr>
      <dsp:spPr>
        <a:xfrm>
          <a:off x="0" y="414249"/>
          <a:ext cx="5641974" cy="1316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 err="1"/>
            <a:t>Calitate</a:t>
          </a:r>
          <a:r>
            <a:rPr lang="en-GB" sz="2500" b="1" kern="1200" dirty="0"/>
            <a:t> </a:t>
          </a:r>
          <a:r>
            <a:rPr lang="en-GB" sz="2500" kern="1200" dirty="0"/>
            <a:t>– </a:t>
          </a:r>
          <a:r>
            <a:rPr lang="en-GB" sz="2500" kern="1200" dirty="0" err="1"/>
            <a:t>atragerea</a:t>
          </a:r>
          <a:r>
            <a:rPr lang="en-GB" sz="2500" kern="1200" dirty="0"/>
            <a:t> </a:t>
          </a:r>
          <a:r>
            <a:rPr lang="en-GB" sz="2500" kern="1200" dirty="0" err="1"/>
            <a:t>vizitatorilor</a:t>
          </a:r>
          <a:r>
            <a:rPr lang="en-GB" sz="2500" kern="1200" dirty="0"/>
            <a:t> care sunt </a:t>
          </a:r>
          <a:r>
            <a:rPr lang="en-GB" sz="2500" kern="1200" dirty="0" err="1"/>
            <a:t>interesați</a:t>
          </a:r>
          <a:r>
            <a:rPr lang="en-GB" sz="2500" kern="1200" dirty="0"/>
            <a:t> de </a:t>
          </a:r>
          <a:r>
            <a:rPr lang="en-GB" sz="2500" kern="1200" dirty="0" err="1"/>
            <a:t>produsul</a:t>
          </a:r>
          <a:r>
            <a:rPr lang="en-GB" sz="2500" kern="1200" dirty="0"/>
            <a:t> </a:t>
          </a:r>
          <a:r>
            <a:rPr lang="en-GB" sz="2500" kern="1200" dirty="0" err="1"/>
            <a:t>reprezentat</a:t>
          </a:r>
          <a:r>
            <a:rPr lang="en-GB" sz="2500" kern="1200" dirty="0"/>
            <a:t> pe site</a:t>
          </a:r>
          <a:endParaRPr lang="en-US" sz="2500" kern="1200" dirty="0"/>
        </a:p>
      </dsp:txBody>
      <dsp:txXfrm>
        <a:off x="64254" y="478503"/>
        <a:ext cx="5513466" cy="1187742"/>
      </dsp:txXfrm>
    </dsp:sp>
    <dsp:sp modelId="{E520B00E-BC2C-6E44-9A8B-0BBD816E5544}">
      <dsp:nvSpPr>
        <dsp:cNvPr id="0" name=""/>
        <dsp:cNvSpPr/>
      </dsp:nvSpPr>
      <dsp:spPr>
        <a:xfrm>
          <a:off x="0" y="1802500"/>
          <a:ext cx="5641974" cy="131625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 err="1"/>
            <a:t>Cantitate</a:t>
          </a:r>
          <a:r>
            <a:rPr lang="en-GB" sz="2500" b="1" kern="1200" dirty="0"/>
            <a:t> </a:t>
          </a:r>
          <a:r>
            <a:rPr lang="en-GB" sz="2500" kern="1200" dirty="0"/>
            <a:t>– </a:t>
          </a:r>
          <a:r>
            <a:rPr lang="en-GB" sz="2500" kern="1200" dirty="0" err="1"/>
            <a:t>cât</a:t>
          </a:r>
          <a:r>
            <a:rPr lang="en-GB" sz="2500" kern="1200" dirty="0"/>
            <a:t> </a:t>
          </a:r>
          <a:r>
            <a:rPr lang="en-GB" sz="2500" kern="1200" dirty="0" err="1"/>
            <a:t>mai</a:t>
          </a:r>
          <a:r>
            <a:rPr lang="en-GB" sz="2500" kern="1200" dirty="0"/>
            <a:t> </a:t>
          </a:r>
          <a:r>
            <a:rPr lang="en-GB" sz="2500" kern="1200" dirty="0" err="1"/>
            <a:t>multe</a:t>
          </a:r>
          <a:r>
            <a:rPr lang="en-GB" sz="2500" kern="1200" dirty="0"/>
            <a:t> </a:t>
          </a:r>
          <a:r>
            <a:rPr lang="en-GB" sz="2500" kern="1200" dirty="0" err="1"/>
            <a:t>accesări</a:t>
          </a:r>
          <a:r>
            <a:rPr lang="en-GB" sz="2500" kern="1200" dirty="0"/>
            <a:t> ale site-</a:t>
          </a:r>
          <a:r>
            <a:rPr lang="en-GB" sz="2500" kern="1200" dirty="0" err="1"/>
            <a:t>ului</a:t>
          </a:r>
          <a:r>
            <a:rPr lang="en-GB" sz="2500" kern="1200" dirty="0"/>
            <a:t> de la </a:t>
          </a:r>
          <a:r>
            <a:rPr lang="en-GB" sz="2500" kern="1200" dirty="0" err="1"/>
            <a:t>persoanele</a:t>
          </a:r>
          <a:r>
            <a:rPr lang="en-GB" sz="2500" kern="1200" dirty="0"/>
            <a:t> </a:t>
          </a:r>
          <a:r>
            <a:rPr lang="en-GB" sz="2500" kern="1200" dirty="0" err="1"/>
            <a:t>interesate</a:t>
          </a:r>
          <a:r>
            <a:rPr lang="en-GB" sz="2500" kern="1200" dirty="0"/>
            <a:t> de </a:t>
          </a:r>
          <a:r>
            <a:rPr lang="en-GB" sz="2500" kern="1200" dirty="0" err="1"/>
            <a:t>produs</a:t>
          </a:r>
          <a:endParaRPr lang="en-US" sz="2500" kern="1200" dirty="0"/>
        </a:p>
      </dsp:txBody>
      <dsp:txXfrm>
        <a:off x="64254" y="1866754"/>
        <a:ext cx="5513466" cy="1187742"/>
      </dsp:txXfrm>
    </dsp:sp>
    <dsp:sp modelId="{FA920430-6D2A-4B40-B970-342CABC22AE7}">
      <dsp:nvSpPr>
        <dsp:cNvPr id="0" name=""/>
        <dsp:cNvSpPr/>
      </dsp:nvSpPr>
      <dsp:spPr>
        <a:xfrm>
          <a:off x="0" y="3190750"/>
          <a:ext cx="5641974" cy="131625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 err="1"/>
            <a:t>Rezultate</a:t>
          </a:r>
          <a:r>
            <a:rPr lang="en-GB" sz="2500" b="1" kern="1200" dirty="0"/>
            <a:t> </a:t>
          </a:r>
          <a:r>
            <a:rPr lang="en-GB" sz="2500" b="1" kern="1200" dirty="0" err="1"/>
            <a:t>organice</a:t>
          </a:r>
          <a:r>
            <a:rPr lang="en-GB" sz="2500" b="1" kern="1200" dirty="0"/>
            <a:t> </a:t>
          </a:r>
          <a:r>
            <a:rPr lang="en-GB" sz="2500" kern="1200" dirty="0"/>
            <a:t>– </a:t>
          </a:r>
          <a:r>
            <a:rPr lang="en-GB" sz="2500" kern="1200" dirty="0" err="1"/>
            <a:t>trafic</a:t>
          </a:r>
          <a:r>
            <a:rPr lang="en-GB" sz="2500" kern="1200" dirty="0"/>
            <a:t> </a:t>
          </a:r>
          <a:r>
            <a:rPr lang="en-GB" sz="2500" kern="1200" dirty="0" err="1"/>
            <a:t>neplătit</a:t>
          </a:r>
          <a:r>
            <a:rPr lang="en-GB" sz="2500" kern="1200" dirty="0"/>
            <a:t> care vine din </a:t>
          </a:r>
          <a:r>
            <a:rPr lang="en-GB" sz="2500" kern="1200" dirty="0" err="1"/>
            <a:t>rezultatele</a:t>
          </a:r>
          <a:r>
            <a:rPr lang="en-GB" sz="2500" kern="1200" dirty="0"/>
            <a:t> </a:t>
          </a:r>
          <a:r>
            <a:rPr lang="en-GB" sz="2500" kern="1200" dirty="0" err="1"/>
            <a:t>unui</a:t>
          </a:r>
          <a:r>
            <a:rPr lang="en-GB" sz="2500" kern="1200" dirty="0"/>
            <a:t> motor de </a:t>
          </a:r>
          <a:r>
            <a:rPr lang="en-GB" sz="2500" kern="1200" dirty="0" err="1"/>
            <a:t>căutare</a:t>
          </a:r>
          <a:r>
            <a:rPr lang="en-GB" sz="2500" kern="1200" dirty="0"/>
            <a:t> (SERP -</a:t>
          </a:r>
          <a:r>
            <a:rPr lang="en-GB" sz="2500" kern="1200" dirty="0" err="1"/>
            <a:t>SearchEngineResultsPages</a:t>
          </a:r>
          <a:r>
            <a:rPr lang="en-GB" sz="2500" kern="1200" dirty="0"/>
            <a:t>) </a:t>
          </a:r>
          <a:endParaRPr lang="en-US" sz="2500" kern="1200" dirty="0"/>
        </a:p>
      </dsp:txBody>
      <dsp:txXfrm>
        <a:off x="64254" y="3255004"/>
        <a:ext cx="5513466" cy="1187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79271780-AFBF-BA45-BABB-2FF986CD85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5B370F1-97B2-5440-A1ED-EBF3E25B4946}" type="slidenum">
              <a:rPr lang="en-US" altLang="en-US" sz="1300"/>
              <a:pPr eaLnBrk="1" hangingPunct="1"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  <p:sp>
        <p:nvSpPr>
          <p:cNvPr id="75779" name="Rectangle 7">
            <a:extLst>
              <a:ext uri="{FF2B5EF4-FFF2-40B4-BE49-F238E27FC236}">
                <a16:creationId xmlns:a16="http://schemas.microsoft.com/office/drawing/2014/main" id="{FDCC963D-8F85-9841-BEF1-CBFA3C2D779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 anchor="b"/>
          <a:lstStyle>
            <a:lvl1pPr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74511B5-4368-6049-82E1-DE2613AA47FB}" type="slidenum">
              <a:rPr lang="en-US" altLang="en-US" sz="1300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  <p:sp>
        <p:nvSpPr>
          <p:cNvPr id="75780" name="Rectangle 7">
            <a:extLst>
              <a:ext uri="{FF2B5EF4-FFF2-40B4-BE49-F238E27FC236}">
                <a16:creationId xmlns:a16="http://schemas.microsoft.com/office/drawing/2014/main" id="{31D57D35-208B-BD46-9F7D-CA425C4FB0F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 anchor="b"/>
          <a:lstStyle>
            <a:lvl1pPr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144CCA1-88A1-F141-8C47-68DF16358555}" type="slidenum">
              <a:rPr kumimoji="1" lang="en-US" altLang="zh-TW" sz="1300"/>
              <a:pPr algn="r" eaLnBrk="1" hangingPunct="1">
                <a:spcBef>
                  <a:spcPct val="0"/>
                </a:spcBef>
              </a:pPr>
              <a:t>2</a:t>
            </a:fld>
            <a:endParaRPr kumimoji="1" lang="en-US" altLang="zh-TW" sz="1300"/>
          </a:p>
        </p:txBody>
      </p:sp>
      <p:sp>
        <p:nvSpPr>
          <p:cNvPr id="75781" name="Rectangle 2">
            <a:extLst>
              <a:ext uri="{FF2B5EF4-FFF2-40B4-BE49-F238E27FC236}">
                <a16:creationId xmlns:a16="http://schemas.microsoft.com/office/drawing/2014/main" id="{9DF38D5F-39C1-9545-93A5-76405A4AE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75782" name="Rectangle 3">
            <a:extLst>
              <a:ext uri="{FF2B5EF4-FFF2-40B4-BE49-F238E27FC236}">
                <a16:creationId xmlns:a16="http://schemas.microsoft.com/office/drawing/2014/main" id="{D9A6EF1E-664B-3247-B9C1-421E2C2EFF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A640AE5E-564F-AB40-AC19-CE03DDF4B1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C907CA6-3AF4-4B40-88CC-DD58F2FBAAA0}" type="slidenum">
              <a:rPr lang="en-US" altLang="en-US" sz="1300"/>
              <a:pPr eaLnBrk="1" hangingPunct="1">
                <a:spcBef>
                  <a:spcPct val="0"/>
                </a:spcBef>
              </a:pPr>
              <a:t>36</a:t>
            </a:fld>
            <a:endParaRPr lang="en-US" altLang="en-US" sz="13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E4EA5C7-67E6-C74E-9D91-2CB9579730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9764910-FA9B-844C-A788-31F368F05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064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90F1A4CE-6BE4-9744-9313-31E6574E43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DEFDB7E-B697-FB42-9CF9-2FFD8C985894}" type="slidenum">
              <a:rPr lang="en-US" altLang="en-US" sz="1300"/>
              <a:pPr eaLnBrk="1" hangingPunct="1">
                <a:spcBef>
                  <a:spcPct val="0"/>
                </a:spcBef>
              </a:pPr>
              <a:t>46</a:t>
            </a:fld>
            <a:endParaRPr lang="en-US" altLang="en-US" sz="13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917D460-C176-2541-880A-5131199018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9FE9E651-AFFF-B849-B2D9-FBD3FB278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8B903D3F-2447-6C4A-A2F6-CDEC66CFE3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6C0665-0FAB-6A47-89F7-B602D6E851A7}" type="slidenum">
              <a:rPr lang="en-US" altLang="en-US" sz="1300"/>
              <a:pPr eaLnBrk="1" hangingPunct="1">
                <a:spcBef>
                  <a:spcPct val="0"/>
                </a:spcBef>
              </a:pPr>
              <a:t>56</a:t>
            </a:fld>
            <a:endParaRPr lang="en-US" altLang="en-US" sz="13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100253B6-346B-0C43-8E49-D2AE0794E4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18014B1F-EF19-5741-8F88-E1FF454ED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FA96E98C-BFFE-394A-9995-139A178F6A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866DD36-B702-9940-8643-369F1E523B0E}" type="slidenum">
              <a:rPr lang="en-US" altLang="en-US" sz="1300"/>
              <a:pPr eaLnBrk="1" hangingPunct="1">
                <a:spcBef>
                  <a:spcPct val="0"/>
                </a:spcBef>
              </a:pPr>
              <a:t>57</a:t>
            </a:fld>
            <a:endParaRPr lang="en-US" altLang="en-US" sz="13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6C50543F-4817-B849-83A7-3B158DC44F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E5A3509A-AD30-FC4C-9704-188217943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8FC5F052-645E-754F-9188-B5DD46E923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0F9ABE5-4274-6440-8B48-53FA543F6538}" type="slidenum">
              <a:rPr lang="en-US" altLang="en-US" sz="1300"/>
              <a:pPr eaLnBrk="1" hangingPunct="1">
                <a:spcBef>
                  <a:spcPct val="0"/>
                </a:spcBef>
              </a:pPr>
              <a:t>58</a:t>
            </a:fld>
            <a:endParaRPr lang="en-US" altLang="en-US" sz="13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EBD68801-2ED4-0943-A493-4DAD92B5A0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6DCFC9FF-A647-8D44-BC47-083871968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sigraph.com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practicalecommerce.com/seo-include-images-and-videos-in-sitemap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obotstxt.org/robotstxt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www.site.ro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moz.com/blog/meta-data-templates-123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bmasterworld.com/" TargetMode="External"/><Relationship Id="rId7" Type="http://schemas.openxmlformats.org/officeDocument/2006/relationships/hyperlink" Target="http://www.searchenginestrategies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highrankings.com/forum/" TargetMode="External"/><Relationship Id="rId5" Type="http://schemas.openxmlformats.org/officeDocument/2006/relationships/hyperlink" Target="http://forums.digitalpoint.com/" TargetMode="External"/><Relationship Id="rId4" Type="http://schemas.openxmlformats.org/officeDocument/2006/relationships/hyperlink" Target="http://www.searchenginewatch.com/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dirty="0" err="1">
                <a:solidFill>
                  <a:srgbClr val="FFFFFF"/>
                </a:solidFill>
              </a:rPr>
              <a:t>Administrarea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conţinutului</a:t>
            </a:r>
            <a:r>
              <a:rPr lang="en-US" dirty="0">
                <a:solidFill>
                  <a:srgbClr val="FFFFFF"/>
                </a:solidFill>
              </a:rPr>
              <a:t>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site-</a:t>
            </a:r>
            <a:r>
              <a:rPr lang="en-US" dirty="0" err="1">
                <a:solidFill>
                  <a:srgbClr val="FFFFFF"/>
                </a:solidFill>
              </a:rPr>
              <a:t>urilor</a:t>
            </a:r>
            <a:r>
              <a:rPr lang="en-US" dirty="0">
                <a:solidFill>
                  <a:srgbClr val="FFFFFF"/>
                </a:solidFill>
              </a:rPr>
              <a:t> Web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Subtitle 5">
            <a:extLst>
              <a:ext uri="{FF2B5EF4-FFF2-40B4-BE49-F238E27FC236}">
                <a16:creationId xmlns:a16="http://schemas.microsoft.com/office/drawing/2014/main" id="{7B4957D4-5ADB-A04D-BBF7-A67F2F75F8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O"/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C3747700-3E83-B859-A0E2-CA4F10130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08" y="272221"/>
            <a:ext cx="4309349" cy="162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4530" name="Rectangle 2">
            <a:extLst>
              <a:ext uri="{FF2B5EF4-FFF2-40B4-BE49-F238E27FC236}">
                <a16:creationId xmlns:a16="http://schemas.microsoft.com/office/drawing/2014/main" id="{8E5868F0-3272-CF48-B95E-7DAF8E0877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4128" y="585216"/>
            <a:ext cx="6066818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altLang="zh-TW"/>
              <a:t>Conţinut</a:t>
            </a:r>
          </a:p>
        </p:txBody>
      </p:sp>
      <p:sp>
        <p:nvSpPr>
          <p:cNvPr id="3077" name="Rectangle 26">
            <a:extLst>
              <a:ext uri="{FF2B5EF4-FFF2-40B4-BE49-F238E27FC236}">
                <a16:creationId xmlns:a16="http://schemas.microsoft.com/office/drawing/2014/main" id="{46D54192-C3B2-2E42-A55C-17B6EF681B9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24128" y="2286000"/>
            <a:ext cx="6066818" cy="4023360"/>
          </a:xfrm>
        </p:spPr>
        <p:txBody>
          <a:bodyPr vert="horz" lIns="45720" tIns="45720" rIns="45720" bIns="45720" rtlCol="0"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en-US" dirty="0"/>
              <a:t>Ce </a:t>
            </a:r>
            <a:r>
              <a:rPr lang="en-US" altLang="en-US"/>
              <a:t>este</a:t>
            </a:r>
            <a:r>
              <a:rPr lang="en-US" altLang="en-US" dirty="0"/>
              <a:t> SEO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en-US" dirty="0"/>
              <a:t>Cum </a:t>
            </a:r>
            <a:r>
              <a:rPr lang="en-US" altLang="en-US"/>
              <a:t>implementăm</a:t>
            </a:r>
            <a:endParaRPr lang="en-US" altLang="en-US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en-US"/>
              <a:t>Recomandări</a:t>
            </a:r>
            <a:endParaRPr lang="en-US" altLang="en-US" dirty="0"/>
          </a:p>
        </p:txBody>
      </p:sp>
      <p:pic>
        <p:nvPicPr>
          <p:cNvPr id="8" name="Picture 2" descr="C:\Users\cipsm\Desktop\de folosit\IMG_0094.JPG">
            <a:extLst>
              <a:ext uri="{FF2B5EF4-FFF2-40B4-BE49-F238E27FC236}">
                <a16:creationId xmlns:a16="http://schemas.microsoft.com/office/drawing/2014/main" id="{BF47573C-24BD-8247-BE13-CAF2E27DF2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0" r="7712"/>
          <a:stretch/>
        </p:blipFill>
        <p:spPr bwMode="auto">
          <a:xfrm>
            <a:off x="7552266" y="10"/>
            <a:ext cx="463973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Slide Number Placeholder 3">
            <a:extLst>
              <a:ext uri="{FF2B5EF4-FFF2-40B4-BE49-F238E27FC236}">
                <a16:creationId xmlns:a16="http://schemas.microsoft.com/office/drawing/2014/main" id="{047E0274-168F-634B-9715-5079DBF2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fld id="{C28F0B2C-4D48-654A-AF1C-B301B88B858A}" type="slidenum">
              <a:rPr lang="en-US" altLang="en-US" sz="1000">
                <a:solidFill>
                  <a:srgbClr val="FFFFFF"/>
                </a:solidFill>
                <a:latin typeface="+mj-lt"/>
              </a:rPr>
              <a:pPr defTabSz="914400" eaLnBrk="1" hangingPunct="1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</a:t>
            </a:fld>
            <a:endParaRPr lang="en-US" altLang="en-US" sz="1000">
              <a:solidFill>
                <a:srgbClr val="FFFFFF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090" name="Rectangle 2">
            <a:extLst>
              <a:ext uri="{FF2B5EF4-FFF2-40B4-BE49-F238E27FC236}">
                <a16:creationId xmlns:a16="http://schemas.microsoft.com/office/drawing/2014/main" id="{36486C42-7BC6-0746-9833-EF1C71416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ro-RO" altLang="en-US" dirty="0" err="1">
                <a:solidFill>
                  <a:srgbClr val="FFFFFF"/>
                </a:solidFill>
              </a:rPr>
              <a:t>Alphabet</a:t>
            </a:r>
            <a:r>
              <a:rPr lang="ro-RO" altLang="en-US" dirty="0">
                <a:solidFill>
                  <a:srgbClr val="FFFFFF"/>
                </a:solidFill>
              </a:rPr>
              <a:t> </a:t>
            </a:r>
            <a:r>
              <a:rPr lang="ro-RO" altLang="en-US" dirty="0" err="1">
                <a:solidFill>
                  <a:srgbClr val="FFFFFF"/>
                </a:solidFill>
              </a:rPr>
              <a:t>Soup</a:t>
            </a:r>
            <a:r>
              <a:rPr lang="ro-RO" altLang="en-US" dirty="0">
                <a:solidFill>
                  <a:srgbClr val="FFFFFF"/>
                </a:solidFill>
              </a:rPr>
              <a:t>: SEO, SEM</a:t>
            </a:r>
            <a:endParaRPr lang="en-US" altLang="en-US" dirty="0">
              <a:solidFill>
                <a:srgbClr val="FFFFFF"/>
              </a:solidFill>
            </a:endParaRP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DF240561-B7B7-8746-B916-FD8FBF20D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 b="1" dirty="0"/>
              <a:t>SEO</a:t>
            </a:r>
            <a:r>
              <a:rPr lang="ro-RO" altLang="en-US" b="1" dirty="0"/>
              <a:t> </a:t>
            </a:r>
            <a:r>
              <a:rPr lang="ro-RO" altLang="en-US" dirty="0"/>
              <a:t>-</a:t>
            </a:r>
            <a:r>
              <a:rPr lang="en-US" altLang="en-US" dirty="0"/>
              <a:t> Search Engine Optimization</a:t>
            </a:r>
            <a:endParaRPr lang="ro-RO" altLang="en-US" dirty="0"/>
          </a:p>
          <a:p>
            <a:pPr lvl="1">
              <a:spcAft>
                <a:spcPts val="600"/>
              </a:spcAft>
            </a:pPr>
            <a:r>
              <a:rPr lang="en-US" altLang="en-US" dirty="0" err="1"/>
              <a:t>procesul</a:t>
            </a:r>
            <a:r>
              <a:rPr lang="en-US" altLang="en-US" dirty="0"/>
              <a:t> de </a:t>
            </a:r>
            <a:r>
              <a:rPr lang="en-US" altLang="en-US" dirty="0" err="1"/>
              <a:t>cre</a:t>
            </a:r>
            <a:r>
              <a:rPr lang="ro-RO" altLang="en-US" dirty="0" err="1"/>
              <a:t>ş</a:t>
            </a:r>
            <a:r>
              <a:rPr lang="en-US" altLang="en-US" dirty="0" err="1"/>
              <a:t>tere</a:t>
            </a:r>
            <a:r>
              <a:rPr lang="en-US" altLang="en-US" dirty="0"/>
              <a:t> a </a:t>
            </a:r>
            <a:r>
              <a:rPr lang="en-US" altLang="en-US" dirty="0" err="1"/>
              <a:t>calit</a:t>
            </a:r>
            <a:r>
              <a:rPr lang="ro-RO" altLang="en-US" dirty="0" err="1"/>
              <a:t>ăţ</a:t>
            </a:r>
            <a:r>
              <a:rPr lang="en-US" altLang="en-US" dirty="0"/>
              <a:t>ii </a:t>
            </a:r>
            <a:r>
              <a:rPr lang="ro-RO" altLang="en-US" dirty="0" err="1"/>
              <a:t>ş</a:t>
            </a:r>
            <a:r>
              <a:rPr lang="en-US" altLang="en-US" dirty="0" err="1"/>
              <a:t>i</a:t>
            </a:r>
            <a:r>
              <a:rPr lang="en-US" altLang="en-US" dirty="0"/>
              <a:t> </a:t>
            </a:r>
            <a:r>
              <a:rPr lang="en-US" altLang="en-US" dirty="0" err="1"/>
              <a:t>volumului</a:t>
            </a:r>
            <a:r>
              <a:rPr lang="en-US" altLang="en-US" dirty="0"/>
              <a:t> de </a:t>
            </a:r>
            <a:r>
              <a:rPr lang="en-US" altLang="en-US" dirty="0" err="1"/>
              <a:t>trafic</a:t>
            </a:r>
            <a:r>
              <a:rPr lang="en-US" altLang="en-US" dirty="0"/>
              <a:t> c</a:t>
            </a:r>
            <a:r>
              <a:rPr lang="ro-RO" altLang="en-US" dirty="0"/>
              <a:t>ă</a:t>
            </a:r>
            <a:r>
              <a:rPr lang="en-US" altLang="en-US" dirty="0" err="1"/>
              <a:t>tre</a:t>
            </a:r>
            <a:r>
              <a:rPr lang="en-US" altLang="en-US" dirty="0"/>
              <a:t> o </a:t>
            </a:r>
            <a:r>
              <a:rPr lang="en-US" altLang="en-US" dirty="0" err="1"/>
              <a:t>pagin</a:t>
            </a:r>
            <a:r>
              <a:rPr lang="ro-RO" altLang="en-US" dirty="0"/>
              <a:t>ă</a:t>
            </a:r>
            <a:r>
              <a:rPr lang="en-US" altLang="en-US" dirty="0"/>
              <a:t> web, </a:t>
            </a:r>
            <a:r>
              <a:rPr lang="en-US" altLang="en-US" dirty="0" err="1"/>
              <a:t>trafic</a:t>
            </a:r>
            <a:r>
              <a:rPr lang="en-US" altLang="en-US" dirty="0"/>
              <a:t> </a:t>
            </a:r>
            <a:r>
              <a:rPr lang="en-US" altLang="en-US" dirty="0" err="1"/>
              <a:t>provenind</a:t>
            </a:r>
            <a:r>
              <a:rPr lang="en-US" altLang="en-US" dirty="0"/>
              <a:t> de la </a:t>
            </a:r>
            <a:r>
              <a:rPr lang="en-US" altLang="en-US" dirty="0" err="1"/>
              <a:t>motoarele</a:t>
            </a:r>
            <a:r>
              <a:rPr lang="en-US" altLang="en-US" dirty="0"/>
              <a:t> de c</a:t>
            </a:r>
            <a:r>
              <a:rPr lang="ro-RO" altLang="en-US" dirty="0"/>
              <a:t>ă</a:t>
            </a:r>
            <a:r>
              <a:rPr lang="en-US" altLang="en-US" dirty="0" err="1"/>
              <a:t>utare</a:t>
            </a:r>
            <a:r>
              <a:rPr lang="en-US" altLang="en-US" dirty="0"/>
              <a:t>.</a:t>
            </a:r>
          </a:p>
          <a:p>
            <a:pPr lvl="1">
              <a:spcAft>
                <a:spcPts val="600"/>
              </a:spcAft>
            </a:pPr>
            <a:r>
              <a:rPr lang="ro-RO" altLang="en-US" dirty="0"/>
              <a:t>c</a:t>
            </a:r>
            <a:r>
              <a:rPr lang="en-US" altLang="en-US" dirty="0"/>
              <a:t>re</a:t>
            </a:r>
            <a:r>
              <a:rPr lang="ro-RO" altLang="en-US" dirty="0" err="1"/>
              <a:t>ş</a:t>
            </a:r>
            <a:r>
              <a:rPr lang="en-US" altLang="en-US" dirty="0" err="1"/>
              <a:t>terea</a:t>
            </a:r>
            <a:r>
              <a:rPr lang="en-US" altLang="en-US" dirty="0"/>
              <a:t> </a:t>
            </a:r>
            <a:r>
              <a:rPr lang="en-US" altLang="en-US" dirty="0" err="1"/>
              <a:t>volumului</a:t>
            </a:r>
            <a:r>
              <a:rPr lang="en-US" altLang="en-US" dirty="0"/>
              <a:t> de </a:t>
            </a:r>
            <a:r>
              <a:rPr lang="en-US" altLang="en-US" dirty="0" err="1"/>
              <a:t>trafic</a:t>
            </a:r>
            <a:r>
              <a:rPr lang="en-US" altLang="en-US" dirty="0"/>
              <a:t> se </a:t>
            </a:r>
            <a:r>
              <a:rPr lang="en-US" altLang="en-US" dirty="0" err="1"/>
              <a:t>poate</a:t>
            </a:r>
            <a:r>
              <a:rPr lang="en-US" altLang="en-US" dirty="0"/>
              <a:t> </a:t>
            </a:r>
            <a:r>
              <a:rPr lang="en-US" altLang="en-US" dirty="0" err="1"/>
              <a:t>realiza</a:t>
            </a:r>
            <a:r>
              <a:rPr lang="en-US" altLang="en-US" dirty="0"/>
              <a:t> </a:t>
            </a:r>
            <a:r>
              <a:rPr lang="ro-RO" altLang="en-US" dirty="0"/>
              <a:t>î</a:t>
            </a:r>
            <a:r>
              <a:rPr lang="en-US" altLang="en-US" dirty="0"/>
              <a:t>n </a:t>
            </a:r>
            <a:r>
              <a:rPr lang="en-US" altLang="en-US" dirty="0" err="1"/>
              <a:t>primul</a:t>
            </a:r>
            <a:r>
              <a:rPr lang="en-US" altLang="en-US" dirty="0"/>
              <a:t> r</a:t>
            </a:r>
            <a:r>
              <a:rPr lang="ro-RO" altLang="en-US" dirty="0"/>
              <a:t>â</a:t>
            </a:r>
            <a:r>
              <a:rPr lang="en-US" altLang="en-US" dirty="0" err="1"/>
              <a:t>nd</a:t>
            </a:r>
            <a:r>
              <a:rPr lang="en-US" altLang="en-US" dirty="0"/>
              <a:t> </a:t>
            </a:r>
            <a:r>
              <a:rPr lang="en-US" altLang="en-US" dirty="0" err="1"/>
              <a:t>printr</a:t>
            </a:r>
            <a:r>
              <a:rPr lang="en-US" altLang="en-US" dirty="0"/>
              <a:t>-o </a:t>
            </a:r>
            <a:r>
              <a:rPr lang="en-US" altLang="en-US" dirty="0" err="1"/>
              <a:t>pozi</a:t>
            </a:r>
            <a:r>
              <a:rPr lang="ro-RO" altLang="en-US" dirty="0" err="1"/>
              <a:t>ţ</a:t>
            </a:r>
            <a:r>
              <a:rPr lang="en-US" altLang="en-US" dirty="0" err="1"/>
              <a:t>ie</a:t>
            </a:r>
            <a:r>
              <a:rPr lang="en-US" altLang="en-US" dirty="0"/>
              <a:t> bun</a:t>
            </a:r>
            <a:r>
              <a:rPr lang="ro-RO" altLang="en-US" dirty="0"/>
              <a:t>ă</a:t>
            </a:r>
            <a:r>
              <a:rPr lang="en-US" altLang="en-US" dirty="0"/>
              <a:t> </a:t>
            </a:r>
            <a:r>
              <a:rPr lang="ro-RO" altLang="en-US" dirty="0"/>
              <a:t>î</a:t>
            </a:r>
            <a:r>
              <a:rPr lang="en-US" altLang="en-US" dirty="0"/>
              <a:t>n </a:t>
            </a:r>
            <a:r>
              <a:rPr lang="en-US" altLang="en-US" dirty="0" err="1"/>
              <a:t>motoarele</a:t>
            </a:r>
            <a:r>
              <a:rPr lang="en-US" altLang="en-US" dirty="0"/>
              <a:t> de c</a:t>
            </a:r>
            <a:r>
              <a:rPr lang="ro-RO" altLang="en-US" dirty="0"/>
              <a:t>ă</a:t>
            </a:r>
            <a:r>
              <a:rPr lang="en-US" altLang="en-US" dirty="0" err="1"/>
              <a:t>utare</a:t>
            </a:r>
            <a:r>
              <a:rPr lang="en-US" altLang="en-US" dirty="0"/>
              <a:t>, </a:t>
            </a:r>
            <a:r>
              <a:rPr lang="ro-RO" altLang="en-US" dirty="0" err="1"/>
              <a:t>ţ</a:t>
            </a:r>
            <a:r>
              <a:rPr lang="en-US" altLang="en-US" dirty="0" err="1"/>
              <a:t>inta</a:t>
            </a:r>
            <a:r>
              <a:rPr lang="en-US" altLang="en-US" dirty="0"/>
              <a:t> </a:t>
            </a:r>
            <a:r>
              <a:rPr lang="en-US" altLang="en-US" dirty="0" err="1"/>
              <a:t>fiind</a:t>
            </a:r>
            <a:r>
              <a:rPr lang="en-US" altLang="en-US" dirty="0"/>
              <a:t> </a:t>
            </a:r>
            <a:r>
              <a:rPr lang="en-US" altLang="en-US" dirty="0" err="1"/>
              <a:t>primele</a:t>
            </a:r>
            <a:r>
              <a:rPr lang="en-US" altLang="en-US" dirty="0"/>
              <a:t> </a:t>
            </a:r>
            <a:r>
              <a:rPr lang="en-US" altLang="en-US" dirty="0" err="1"/>
              <a:t>pozi</a:t>
            </a:r>
            <a:r>
              <a:rPr lang="ro-RO" altLang="en-US" dirty="0" err="1"/>
              <a:t>ţ</a:t>
            </a:r>
            <a:r>
              <a:rPr lang="en-US" altLang="en-US" dirty="0"/>
              <a:t>ii </a:t>
            </a:r>
            <a:r>
              <a:rPr lang="en-US" altLang="en-US" dirty="0" err="1"/>
              <a:t>pentru</a:t>
            </a:r>
            <a:r>
              <a:rPr lang="en-US" altLang="en-US" dirty="0"/>
              <a:t> </a:t>
            </a:r>
            <a:r>
              <a:rPr lang="en-US" altLang="en-US" dirty="0" err="1"/>
              <a:t>principalele</a:t>
            </a:r>
            <a:r>
              <a:rPr lang="en-US" altLang="en-US" dirty="0"/>
              <a:t> </a:t>
            </a:r>
            <a:r>
              <a:rPr lang="en-US" altLang="en-US" dirty="0" err="1"/>
              <a:t>cuvinte</a:t>
            </a:r>
            <a:r>
              <a:rPr lang="en-US" altLang="en-US" dirty="0"/>
              <a:t> </a:t>
            </a:r>
            <a:r>
              <a:rPr lang="en-US" altLang="en-US" dirty="0" err="1"/>
              <a:t>cheie</a:t>
            </a:r>
            <a:r>
              <a:rPr lang="en-US" altLang="en-US" dirty="0"/>
              <a:t>.</a:t>
            </a:r>
          </a:p>
          <a:p>
            <a:pPr marL="91440" lvl="1" indent="-91440">
              <a:spcBef>
                <a:spcPts val="1200"/>
              </a:spcBef>
              <a:spcAft>
                <a:spcPts val="600"/>
              </a:spcAft>
              <a:buSzPct val="100000"/>
              <a:buFont typeface="Tw Cen MT" panose="020B0602020104020603" pitchFamily="34" charset="0"/>
              <a:buChar char=" "/>
            </a:pPr>
            <a:r>
              <a:rPr lang="en-US" altLang="en-US" sz="2200" b="1" dirty="0"/>
              <a:t>SEM </a:t>
            </a:r>
            <a:r>
              <a:rPr lang="en-US" altLang="en-US" sz="2200" dirty="0"/>
              <a:t>– Search Engine Marketing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09B702D3-9587-A24D-AB37-323C6B4D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5D5022F5-0FF4-4E4D-A99D-95D638E0A1C8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</a:t>
            </a:fld>
            <a:endParaRPr lang="en-US" alt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D6E7-00FE-AC4D-BD0B-EDEF1319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867061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SEM </a:t>
            </a:r>
            <a:r>
              <a:rPr lang="ro-RO" dirty="0"/>
              <a:t> - </a:t>
            </a:r>
            <a:r>
              <a:rPr lang="en-US" dirty="0"/>
              <a:t>Search Engine Marketing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041A24-C928-2842-B334-43EB8F4E6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66995"/>
            <a:ext cx="5867061" cy="312421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0EA23E04-71D5-D34E-93EF-62FBF321F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 sz="1900" dirty="0">
                <a:solidFill>
                  <a:srgbClr val="FFFFFF"/>
                </a:solidFill>
              </a:rPr>
              <a:t>85% </a:t>
            </a:r>
            <a:r>
              <a:rPr lang="ro-RO" altLang="en-US" sz="1900" dirty="0">
                <a:solidFill>
                  <a:srgbClr val="FFFFFF"/>
                </a:solidFill>
              </a:rPr>
              <a:t>din totalul traficului în I</a:t>
            </a:r>
            <a:r>
              <a:rPr lang="en-US" altLang="en-US" sz="1900" dirty="0" err="1">
                <a:solidFill>
                  <a:srgbClr val="FFFFFF"/>
                </a:solidFill>
              </a:rPr>
              <a:t>nternet</a:t>
            </a:r>
            <a:r>
              <a:rPr lang="en-US" altLang="en-US" sz="1900" dirty="0">
                <a:solidFill>
                  <a:srgbClr val="FFFFFF"/>
                </a:solidFill>
              </a:rPr>
              <a:t> </a:t>
            </a:r>
            <a:r>
              <a:rPr lang="ro-RO" altLang="en-US" sz="1900" dirty="0">
                <a:solidFill>
                  <a:srgbClr val="FFFFFF"/>
                </a:solidFill>
              </a:rPr>
              <a:t>se bazează pe căutări folosind un motor de căutare</a:t>
            </a:r>
          </a:p>
          <a:p>
            <a:pPr>
              <a:spcAft>
                <a:spcPts val="600"/>
              </a:spcAft>
            </a:pPr>
            <a:r>
              <a:rPr lang="en-US" altLang="en-US" sz="1900" dirty="0">
                <a:solidFill>
                  <a:srgbClr val="FFFFFF"/>
                </a:solidFill>
              </a:rPr>
              <a:t>90% </a:t>
            </a:r>
            <a:r>
              <a:rPr lang="ro-RO" altLang="en-US" sz="1900" dirty="0">
                <a:solidFill>
                  <a:srgbClr val="FFFFFF"/>
                </a:solidFill>
              </a:rPr>
              <a:t>dintre utilizatori nu vizionează mai mult decât primele </a:t>
            </a:r>
            <a:r>
              <a:rPr lang="en-US" altLang="en-US" sz="1900" dirty="0">
                <a:solidFill>
                  <a:srgbClr val="FFFFFF"/>
                </a:solidFill>
              </a:rPr>
              <a:t>30 </a:t>
            </a:r>
            <a:r>
              <a:rPr lang="ro-RO" altLang="en-US" sz="1900" dirty="0">
                <a:solidFill>
                  <a:srgbClr val="FFFFFF"/>
                </a:solidFill>
              </a:rPr>
              <a:t>de rezultate întoarse de motoarele de căutare </a:t>
            </a:r>
            <a:r>
              <a:rPr lang="en-US" altLang="en-US" sz="1900" dirty="0">
                <a:solidFill>
                  <a:srgbClr val="FFFFFF"/>
                </a:solidFill>
              </a:rPr>
              <a:t>(</a:t>
            </a:r>
            <a:r>
              <a:rPr lang="ro-RO" altLang="en-US" sz="1900" dirty="0">
                <a:solidFill>
                  <a:srgbClr val="FFFFFF"/>
                </a:solidFill>
              </a:rPr>
              <a:t>iar majoritatea se opresc chiar la primele </a:t>
            </a:r>
            <a:r>
              <a:rPr lang="en-US" altLang="en-US" sz="1900" dirty="0">
                <a:solidFill>
                  <a:srgbClr val="FFFFFF"/>
                </a:solidFill>
              </a:rPr>
              <a:t>10)</a:t>
            </a:r>
            <a:endParaRPr lang="ro-RO" altLang="en-US" sz="19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lang="ro-RO" altLang="en-US" sz="1900" dirty="0">
                <a:solidFill>
                  <a:srgbClr val="FFFFFF"/>
                </a:solidFill>
              </a:rPr>
              <a:t>Multe site-uri Web nu sunt nici măcar indexate, multe sunt puțin optimizate și din acest motiv primesc și puțin trafic generat pornind de la motoare de căutare</a:t>
            </a:r>
            <a:endParaRPr lang="en-US" altLang="en-US" sz="19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endParaRPr lang="en-US" altLang="en-US" sz="1900" dirty="0">
              <a:solidFill>
                <a:srgbClr val="FFFFFF"/>
              </a:solidFill>
            </a:endParaRPr>
          </a:p>
        </p:txBody>
      </p:sp>
      <p:sp>
        <p:nvSpPr>
          <p:cNvPr id="7173" name="Slide Number Placeholder 5">
            <a:extLst>
              <a:ext uri="{FF2B5EF4-FFF2-40B4-BE49-F238E27FC236}">
                <a16:creationId xmlns:a16="http://schemas.microsoft.com/office/drawing/2014/main" id="{E8351295-D141-A149-8931-B3D6244D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E92D3A81-2C48-1649-BBD7-38BD367A8EDA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</a:t>
            </a:fld>
            <a:endParaRPr lang="en-US" alt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3A659-0971-6D4F-9B18-09FB71F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CALITATE, CANTITATE SI REZULTATE ORGANICE</a:t>
            </a:r>
            <a:endParaRPr lang="ro-RO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8450C6-D490-21E8-292D-5A60EA73BC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52473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941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64" y="484632"/>
            <a:ext cx="7453538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3FB88-234D-D441-8429-24BA0E668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96" y="977900"/>
            <a:ext cx="653955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spc="200"/>
              <a:t>Motoare de CĂUTARE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58680" y="4476657"/>
            <a:ext cx="537097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84632"/>
            <a:ext cx="3584224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459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5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047AFBA-197C-1C4B-B705-4F2FE4F5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defRPr/>
            </a:pPr>
            <a:r>
              <a:rPr lang="en-US" altLang="en-US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Anatomia unui motor de căutare</a:t>
            </a:r>
          </a:p>
        </p:txBody>
      </p: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C6D18C07-B1F9-42F0-8956-B88FC37A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3A2CF2-05F9-D547-ABDB-F78B16D3F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37" y="640080"/>
            <a:ext cx="5846721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7C0B-0170-FF4F-B876-C2082755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Discutie</a:t>
            </a:r>
            <a:endParaRPr lang="en-US" dirty="0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28532235-560B-F64F-BD00-8A29F440A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en-US" altLang="en-RO" dirty="0" err="1"/>
              <a:t>Explicati</a:t>
            </a:r>
            <a:r>
              <a:rPr lang="en-US" altLang="en-RO" dirty="0"/>
              <a:t> cum </a:t>
            </a:r>
            <a:r>
              <a:rPr lang="en-US" altLang="en-RO" dirty="0" err="1"/>
              <a:t>credeti</a:t>
            </a:r>
            <a:r>
              <a:rPr lang="en-US" altLang="en-RO" dirty="0"/>
              <a:t> ca </a:t>
            </a:r>
            <a:r>
              <a:rPr lang="en-US" altLang="en-RO" dirty="0" err="1"/>
              <a:t>functioneaza</a:t>
            </a:r>
            <a:r>
              <a:rPr lang="en-US" altLang="en-RO" dirty="0"/>
              <a:t> un motor de </a:t>
            </a:r>
            <a:r>
              <a:rPr lang="en-US" altLang="en-RO" dirty="0" err="1"/>
              <a:t>cautare</a:t>
            </a:r>
            <a:r>
              <a:rPr lang="en-US" altLang="en-RO" dirty="0"/>
              <a:t>?</a:t>
            </a:r>
          </a:p>
          <a:p>
            <a:endParaRPr lang="en-US" altLang="en-RO" dirty="0"/>
          </a:p>
          <a:p>
            <a:r>
              <a:rPr lang="en-US" altLang="en-RO" dirty="0"/>
              <a:t>…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2" name="Slide Number Placeholder 5">
            <a:extLst>
              <a:ext uri="{FF2B5EF4-FFF2-40B4-BE49-F238E27FC236}">
                <a16:creationId xmlns:a16="http://schemas.microsoft.com/office/drawing/2014/main" id="{4B8C4135-964D-0B43-B51C-FD957E7B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fld id="{FDE86FAA-51B3-E64C-99D3-A1C5688FEF38}" type="slidenum">
              <a:rPr lang="en-US" altLang="en-US"/>
              <a:pPr eaLnBrk="1" hangingPunct="1">
                <a:spcAft>
                  <a:spcPts val="600"/>
                </a:spcAft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37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A5E8E-6CA7-BB41-8D18-082275FE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ro-RO" altLang="en-US">
                <a:solidFill>
                  <a:srgbClr val="FFFFFF"/>
                </a:solidFill>
              </a:rPr>
              <a:t>Cum funcționează un motor de căutare?</a:t>
            </a:r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3" name="Picture 2" descr="Graphical user interface, diagram, application&#10;&#10;Description automatically generated">
            <a:extLst>
              <a:ext uri="{FF2B5EF4-FFF2-40B4-BE49-F238E27FC236}">
                <a16:creationId xmlns:a16="http://schemas.microsoft.com/office/drawing/2014/main" id="{7F3CE307-F767-7342-B63D-034809F50A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00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0245" name="Slide Number Placeholder 5">
            <a:extLst>
              <a:ext uri="{FF2B5EF4-FFF2-40B4-BE49-F238E27FC236}">
                <a16:creationId xmlns:a16="http://schemas.microsoft.com/office/drawing/2014/main" id="{7B4BE3E0-94C3-0946-8D3E-D73046F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535157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2DE7B790-C270-4443-9264-8927FE8AFAE1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9</a:t>
            </a:fld>
            <a:endParaRPr lang="en-US" altLang="en-US" sz="130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19E6FB29-7E2F-1E4C-AEB6-C5D792DB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288" y="336008"/>
            <a:ext cx="4276345" cy="592593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sz="1600" dirty="0">
                <a:solidFill>
                  <a:srgbClr val="FFFFFF"/>
                </a:solidFill>
              </a:rPr>
              <a:t>Programe numite </a:t>
            </a:r>
            <a:r>
              <a:rPr lang="ro-RO" altLang="en-US" sz="1600" dirty="0" err="1">
                <a:solidFill>
                  <a:srgbClr val="FFFFFF"/>
                </a:solidFill>
              </a:rPr>
              <a:t>crawlers</a:t>
            </a:r>
            <a:r>
              <a:rPr lang="ro-RO" altLang="en-US" sz="1600" dirty="0">
                <a:solidFill>
                  <a:srgbClr val="FFFFFF"/>
                </a:solidFill>
              </a:rPr>
              <a:t> navighează pe Web pentru a găsi noi documente (pagini Web, alte documente)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400" dirty="0">
                <a:solidFill>
                  <a:srgbClr val="FFFFFF"/>
                </a:solidFill>
              </a:rPr>
              <a:t>De obicei prin accesarea legăturilor din cadrul paginilor deja cunoscute</a:t>
            </a:r>
          </a:p>
          <a:p>
            <a:pPr>
              <a:spcAft>
                <a:spcPts val="600"/>
              </a:spcAft>
            </a:pPr>
            <a:r>
              <a:rPr lang="ro-RO" altLang="en-US" sz="1600" dirty="0">
                <a:solidFill>
                  <a:srgbClr val="FFFFFF"/>
                </a:solidFill>
              </a:rPr>
              <a:t>Motorul de căutare indexează conținutul acestor documente/pagini și îl adaugă într-o bază de date (index)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400" dirty="0">
                <a:solidFill>
                  <a:srgbClr val="FFFFFF"/>
                </a:solidFill>
              </a:rPr>
              <a:t>Periodic se încearcă actualizarea conținutului </a:t>
            </a:r>
          </a:p>
          <a:p>
            <a:pPr>
              <a:spcAft>
                <a:spcPts val="600"/>
              </a:spcAft>
            </a:pPr>
            <a:r>
              <a:rPr lang="ro-RO" altLang="en-US" sz="1600" dirty="0">
                <a:solidFill>
                  <a:srgbClr val="FFFFFF"/>
                </a:solidFill>
              </a:rPr>
              <a:t>Ce se salvează în index: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400" dirty="0">
                <a:solidFill>
                  <a:srgbClr val="FFFFFF"/>
                </a:solidFill>
              </a:rPr>
              <a:t>Cuvinte cheie (</a:t>
            </a:r>
            <a:r>
              <a:rPr lang="ro-RO" altLang="en-US" sz="1400" b="1" dirty="0" err="1">
                <a:solidFill>
                  <a:srgbClr val="FFFFFF"/>
                </a:solidFill>
              </a:rPr>
              <a:t>keywords</a:t>
            </a:r>
            <a:r>
              <a:rPr lang="ro-RO" altLang="en-US" sz="1400" dirty="0">
                <a:solidFill>
                  <a:srgbClr val="FFFFFF"/>
                </a:solidFill>
              </a:rPr>
              <a:t>) – descriu topicele pe care le acoperă pagina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400" dirty="0">
                <a:solidFill>
                  <a:srgbClr val="FFFFFF"/>
                </a:solidFill>
              </a:rPr>
              <a:t>Tipul conținutului paginii (</a:t>
            </a:r>
            <a:r>
              <a:rPr lang="ro-RO" altLang="en-US" sz="1400" b="1" dirty="0">
                <a:solidFill>
                  <a:srgbClr val="FFFFFF"/>
                </a:solidFill>
              </a:rPr>
              <a:t>content</a:t>
            </a:r>
            <a:r>
              <a:rPr lang="ro-RO" altLang="en-US" sz="1400" dirty="0">
                <a:solidFill>
                  <a:srgbClr val="FFFFFF"/>
                </a:solidFill>
              </a:rPr>
              <a:t>)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400" dirty="0">
                <a:solidFill>
                  <a:srgbClr val="FFFFFF"/>
                </a:solidFill>
              </a:rPr>
              <a:t>Cât de recent a fost pagina actualizată (</a:t>
            </a:r>
            <a:r>
              <a:rPr lang="ro-RO" altLang="en-US" sz="1400" b="1" dirty="0" err="1">
                <a:solidFill>
                  <a:srgbClr val="FFFFFF"/>
                </a:solidFill>
              </a:rPr>
              <a:t>freshness</a:t>
            </a:r>
            <a:r>
              <a:rPr lang="ro-RO" altLang="en-US" sz="1400" dirty="0">
                <a:solidFill>
                  <a:srgbClr val="FFFFFF"/>
                </a:solidFill>
              </a:rPr>
              <a:t>)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400" dirty="0">
                <a:solidFill>
                  <a:srgbClr val="FFFFFF"/>
                </a:solidFill>
              </a:rPr>
              <a:t>Cum interacționează utilizatorii cu pagina (</a:t>
            </a:r>
            <a:r>
              <a:rPr lang="ro-RO" altLang="en-US" sz="1400" b="1" dirty="0" err="1">
                <a:solidFill>
                  <a:srgbClr val="FFFFFF"/>
                </a:solidFill>
              </a:rPr>
              <a:t>user</a:t>
            </a:r>
            <a:r>
              <a:rPr lang="ro-RO" altLang="en-US" sz="1400" b="1" dirty="0">
                <a:solidFill>
                  <a:srgbClr val="FFFFFF"/>
                </a:solidFill>
              </a:rPr>
              <a:t> </a:t>
            </a:r>
            <a:r>
              <a:rPr lang="ro-RO" altLang="en-US" sz="1400" b="1" dirty="0" err="1">
                <a:solidFill>
                  <a:srgbClr val="FFFFFF"/>
                </a:solidFill>
              </a:rPr>
              <a:t>engagement</a:t>
            </a:r>
            <a:r>
              <a:rPr lang="ro-RO" altLang="en-US" sz="1400" dirty="0">
                <a:solidFill>
                  <a:srgbClr val="FFFFFF"/>
                </a:solidFill>
              </a:rPr>
              <a:t>):</a:t>
            </a:r>
          </a:p>
          <a:p>
            <a:pPr lvl="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050" dirty="0">
                <a:solidFill>
                  <a:srgbClr val="FFFFFF"/>
                </a:solidFill>
              </a:rPr>
              <a:t>Numărul de </a:t>
            </a:r>
            <a:r>
              <a:rPr lang="ro-RO" altLang="en-US" sz="1050" dirty="0" err="1">
                <a:solidFill>
                  <a:srgbClr val="FFFFFF"/>
                </a:solidFill>
              </a:rPr>
              <a:t>downloads</a:t>
            </a:r>
            <a:endParaRPr lang="ro-RO" altLang="en-US" sz="1050" dirty="0">
              <a:solidFill>
                <a:srgbClr val="FFFFFF"/>
              </a:solidFill>
            </a:endParaRPr>
          </a:p>
          <a:p>
            <a:pPr lvl="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050" dirty="0">
                <a:solidFill>
                  <a:srgbClr val="FFFFFF"/>
                </a:solidFill>
              </a:rPr>
              <a:t>Timpul petrecut pe site (</a:t>
            </a:r>
            <a:r>
              <a:rPr lang="ro-RO" altLang="en-US" sz="1050" b="1" dirty="0">
                <a:solidFill>
                  <a:srgbClr val="FFFFFF"/>
                </a:solidFill>
              </a:rPr>
              <a:t>Time on page</a:t>
            </a:r>
            <a:r>
              <a:rPr lang="ro-RO" altLang="en-US" sz="1050" dirty="0">
                <a:solidFill>
                  <a:srgbClr val="FFFFFF"/>
                </a:solidFill>
              </a:rPr>
              <a:t>)</a:t>
            </a:r>
          </a:p>
          <a:p>
            <a:pPr lvl="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050" dirty="0">
                <a:solidFill>
                  <a:srgbClr val="FFFFFF"/>
                </a:solidFill>
              </a:rPr>
              <a:t>Numărul de vizualizări ale paginii (</a:t>
            </a:r>
            <a:r>
              <a:rPr lang="ro-RO" altLang="en-US" sz="1050" b="1" dirty="0">
                <a:solidFill>
                  <a:srgbClr val="FFFFFF"/>
                </a:solidFill>
              </a:rPr>
              <a:t>Page </a:t>
            </a:r>
            <a:r>
              <a:rPr lang="ro-RO" altLang="en-US" sz="1050" b="1" dirty="0" err="1">
                <a:solidFill>
                  <a:srgbClr val="FFFFFF"/>
                </a:solidFill>
              </a:rPr>
              <a:t>views</a:t>
            </a:r>
            <a:r>
              <a:rPr lang="ro-RO" altLang="en-US" sz="1050" dirty="0">
                <a:solidFill>
                  <a:srgbClr val="FFFFFF"/>
                </a:solidFill>
              </a:rPr>
              <a:t>)</a:t>
            </a:r>
          </a:p>
          <a:p>
            <a:pPr lvl="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altLang="en-US" sz="1050" b="1" dirty="0" err="1">
                <a:solidFill>
                  <a:srgbClr val="FFFFFF"/>
                </a:solidFill>
              </a:rPr>
              <a:t>Bounce</a:t>
            </a:r>
            <a:r>
              <a:rPr lang="ro-RO" altLang="en-US" sz="1050" b="1" dirty="0">
                <a:solidFill>
                  <a:srgbClr val="FFFFFF"/>
                </a:solidFill>
              </a:rPr>
              <a:t> rate </a:t>
            </a:r>
            <a:r>
              <a:rPr lang="ro-RO" altLang="en-US" sz="1050" dirty="0">
                <a:solidFill>
                  <a:srgbClr val="FFFFFF"/>
                </a:solidFill>
              </a:rPr>
              <a:t>–procentul de vizitatori care părăsesc site-ul după vizualizarea unei singure pagini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93736-B280-EE4F-998A-FB50CF2DD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GB" dirty="0"/>
              <a:t>CUM FUNCȚIONEAZĂ UN MOTOR DE CĂUTARE?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87BFE-6C2B-764E-8D71-2ABF6FB59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ro-RO" sz="1700" dirty="0"/>
              <a:t>Când utilizatorul dorește regăsirea unei informații, motorul de căutare se folosește de paginile indexate pentru a găsi acele pagini ce se potrivesc cel mai bine termenilor de căutare</a:t>
            </a:r>
          </a:p>
          <a:p>
            <a:pPr lvl="1"/>
            <a:r>
              <a:rPr lang="ro-RO" sz="1700" dirty="0"/>
              <a:t>Nu se realizează o căutare real-</a:t>
            </a:r>
            <a:r>
              <a:rPr lang="ro-RO" sz="1700" dirty="0" err="1"/>
              <a:t>time</a:t>
            </a:r>
            <a:r>
              <a:rPr lang="ro-RO" sz="1700" dirty="0"/>
              <a:t> a paginilor reale</a:t>
            </a:r>
          </a:p>
          <a:p>
            <a:r>
              <a:rPr lang="ro-RO" sz="1700" dirty="0"/>
              <a:t>Motoarele de căutare folosesc diverși algoritmi de indexare a paginilor</a:t>
            </a:r>
          </a:p>
          <a:p>
            <a:r>
              <a:rPr lang="ro-RO" sz="1700" dirty="0"/>
              <a:t>Pe lângă termenii căutați de utilizator, motoarele de căutare folosesc alte date relevante căutării</a:t>
            </a:r>
          </a:p>
          <a:p>
            <a:pPr lvl="1"/>
            <a:r>
              <a:rPr lang="ro-RO" sz="1700" dirty="0"/>
              <a:t>Locația utilizatorului pentru căutări ca ”</a:t>
            </a:r>
            <a:r>
              <a:rPr lang="ro-RO" sz="1700" dirty="0" err="1"/>
              <a:t>near</a:t>
            </a:r>
            <a:r>
              <a:rPr lang="ro-RO" sz="1700" dirty="0"/>
              <a:t> </a:t>
            </a:r>
            <a:r>
              <a:rPr lang="ro-RO" sz="1700" dirty="0" err="1"/>
              <a:t>me</a:t>
            </a:r>
            <a:r>
              <a:rPr lang="ro-RO" sz="1700" dirty="0"/>
              <a:t>”</a:t>
            </a:r>
          </a:p>
          <a:p>
            <a:pPr lvl="1"/>
            <a:r>
              <a:rPr lang="ro-RO" sz="1700" dirty="0"/>
              <a:t>Limba setată de utilizator, dacă poate fi inferată pentru a întoarce rezultate în acea limbă</a:t>
            </a:r>
          </a:p>
          <a:p>
            <a:pPr lvl="1"/>
            <a:r>
              <a:rPr lang="ro-RO" sz="1700" dirty="0"/>
              <a:t>Căutări anterioare</a:t>
            </a:r>
          </a:p>
          <a:p>
            <a:pPr lvl="1"/>
            <a:r>
              <a:rPr lang="ro-RO" sz="1700" dirty="0"/>
              <a:t>Dispozitivul de pe care a fost făcută căutarea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3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1466-A95E-1748-8545-783A9650F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GB" dirty="0"/>
              <a:t>CEI MAI POPULARI CRAWLERS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07894-0880-B948-A217-38572BFA9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>
            <a:normAutofit/>
          </a:bodyPr>
          <a:lstStyle/>
          <a:p>
            <a:pPr lvl="1"/>
            <a:r>
              <a:rPr lang="en-GB" sz="2000" dirty="0" err="1"/>
              <a:t>GoogleBot</a:t>
            </a:r>
            <a:endParaRPr lang="en-GB" sz="2000" dirty="0"/>
          </a:p>
          <a:p>
            <a:pPr lvl="1"/>
            <a:r>
              <a:rPr lang="en-GB" sz="2000" dirty="0" err="1"/>
              <a:t>BingBot</a:t>
            </a:r>
            <a:endParaRPr lang="en-GB" sz="2000" dirty="0"/>
          </a:p>
          <a:p>
            <a:pPr lvl="1"/>
            <a:r>
              <a:rPr lang="en-GB" sz="2000" dirty="0"/>
              <a:t>Slurp – bot-</a:t>
            </a:r>
            <a:r>
              <a:rPr lang="en-GB" sz="2000" dirty="0" err="1"/>
              <a:t>ulYahoo</a:t>
            </a:r>
            <a:endParaRPr lang="en-GB" sz="2000" dirty="0"/>
          </a:p>
          <a:p>
            <a:pPr lvl="1"/>
            <a:r>
              <a:rPr lang="en-GB" sz="2000" dirty="0" err="1"/>
              <a:t>DuckDuckBot</a:t>
            </a:r>
            <a:r>
              <a:rPr lang="en-GB" sz="2000" dirty="0"/>
              <a:t> – bot-ul DuckDuckGo</a:t>
            </a:r>
          </a:p>
          <a:p>
            <a:pPr lvl="1"/>
            <a:r>
              <a:rPr lang="en-GB" sz="2000" dirty="0" err="1"/>
              <a:t>Baiduspider</a:t>
            </a:r>
            <a:r>
              <a:rPr lang="en-GB" sz="2000" dirty="0"/>
              <a:t> – bot-ul de la </a:t>
            </a:r>
            <a:r>
              <a:rPr lang="en-GB" sz="2000" dirty="0" err="1"/>
              <a:t>motorul</a:t>
            </a:r>
            <a:r>
              <a:rPr lang="en-GB" sz="2000" dirty="0"/>
              <a:t> de </a:t>
            </a:r>
            <a:r>
              <a:rPr lang="en-GB" sz="2000" dirty="0" err="1"/>
              <a:t>căutare</a:t>
            </a:r>
            <a:r>
              <a:rPr lang="en-GB" sz="2000" dirty="0"/>
              <a:t> </a:t>
            </a:r>
            <a:r>
              <a:rPr lang="en-GB" sz="2000" dirty="0" err="1"/>
              <a:t>chinezesc</a:t>
            </a:r>
            <a:r>
              <a:rPr lang="en-GB" sz="2000" dirty="0"/>
              <a:t> Baidu</a:t>
            </a:r>
          </a:p>
          <a:p>
            <a:pPr lvl="1"/>
            <a:r>
              <a:rPr lang="en-GB" sz="2000" dirty="0" err="1"/>
              <a:t>YandexBot</a:t>
            </a:r>
            <a:r>
              <a:rPr lang="en-GB" sz="2000" dirty="0"/>
              <a:t> – bot-</a:t>
            </a:r>
            <a:r>
              <a:rPr lang="en-GB" sz="2000" dirty="0" err="1"/>
              <a:t>ulde</a:t>
            </a:r>
            <a:r>
              <a:rPr lang="en-GB" sz="2000" dirty="0"/>
              <a:t> la </a:t>
            </a:r>
            <a:r>
              <a:rPr lang="en-GB" sz="2000" dirty="0" err="1"/>
              <a:t>motorul</a:t>
            </a:r>
            <a:r>
              <a:rPr lang="en-GB" sz="2000" dirty="0"/>
              <a:t> de </a:t>
            </a:r>
            <a:r>
              <a:rPr lang="en-GB" sz="2000" dirty="0" err="1"/>
              <a:t>căutare</a:t>
            </a:r>
            <a:r>
              <a:rPr lang="en-GB" sz="2000" dirty="0"/>
              <a:t> </a:t>
            </a:r>
            <a:r>
              <a:rPr lang="en-GB" sz="2000" dirty="0" err="1"/>
              <a:t>rusesc</a:t>
            </a:r>
            <a:r>
              <a:rPr lang="en-GB" sz="2000" dirty="0"/>
              <a:t> </a:t>
            </a:r>
            <a:r>
              <a:rPr lang="en-GB" sz="2000" dirty="0" err="1"/>
              <a:t>Yahdex</a:t>
            </a:r>
            <a:endParaRPr lang="en-GB" sz="2000" dirty="0"/>
          </a:p>
          <a:p>
            <a:pPr lvl="1"/>
            <a:r>
              <a:rPr lang="en-GB" sz="2000" dirty="0" err="1"/>
              <a:t>Facebot</a:t>
            </a:r>
            <a:r>
              <a:rPr lang="en-GB" sz="2000" dirty="0"/>
              <a:t> – bot-ul Facebook</a:t>
            </a:r>
          </a:p>
          <a:p>
            <a:pPr lvl="1"/>
            <a:r>
              <a:rPr lang="en-GB" sz="2000" dirty="0" err="1"/>
              <a:t>ia_archiver</a:t>
            </a:r>
            <a:r>
              <a:rPr lang="en-GB" sz="2000" dirty="0"/>
              <a:t> – bot-ul Amazon Alexa</a:t>
            </a:r>
          </a:p>
          <a:p>
            <a:endParaRPr lang="ro-RO" dirty="0"/>
          </a:p>
        </p:txBody>
      </p:sp>
      <p:pic>
        <p:nvPicPr>
          <p:cNvPr id="4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BE6C106F-550F-654B-9007-F25E6DB753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6" r="2568" b="2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29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64" y="484632"/>
            <a:ext cx="7453538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60B5E-E6A5-2842-BA8F-1214245B2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96" y="977900"/>
            <a:ext cx="6539558" cy="33277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5400" spc="200" dirty="0"/>
              <a:t>FACTORI DE VIZIBILITATE</a:t>
            </a:r>
            <a:br>
              <a:rPr lang="en-US" sz="5400" spc="200" dirty="0"/>
            </a:br>
            <a:br>
              <a:rPr lang="en-US" sz="5400" spc="200" dirty="0"/>
            </a:br>
            <a:r>
              <a:rPr lang="en-US" sz="5400" spc="200" dirty="0"/>
              <a:t>(SAU CUM SĂ DETERMINI GOOGLE SĂ-ŢI PLACĂ PAGINA)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58680" y="4476657"/>
            <a:ext cx="537097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84632"/>
            <a:ext cx="3584224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30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F3FF-960F-B841-9950-D817F364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Discutie</a:t>
            </a:r>
            <a:endParaRPr lang="en-US" dirty="0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ABCDCEB5-5E60-5C45-9F4D-2FEF882F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en-US" altLang="en-RO" dirty="0"/>
              <a:t>Cand </a:t>
            </a:r>
            <a:r>
              <a:rPr lang="en-US" altLang="en-RO" dirty="0" err="1"/>
              <a:t>dezvoltati</a:t>
            </a:r>
            <a:r>
              <a:rPr lang="en-US" altLang="en-RO" dirty="0"/>
              <a:t> o </a:t>
            </a:r>
            <a:r>
              <a:rPr lang="en-US" altLang="en-RO" dirty="0" err="1"/>
              <a:t>pagina</a:t>
            </a:r>
            <a:r>
              <a:rPr lang="en-US" altLang="en-RO" dirty="0"/>
              <a:t> Web, la </a:t>
            </a:r>
            <a:r>
              <a:rPr lang="en-US" altLang="en-RO" dirty="0" err="1"/>
              <a:t>ce</a:t>
            </a:r>
            <a:r>
              <a:rPr lang="en-US" altLang="en-RO" dirty="0"/>
              <a:t> </a:t>
            </a:r>
            <a:r>
              <a:rPr lang="en-US" altLang="en-RO" dirty="0" err="1"/>
              <a:t>va</a:t>
            </a:r>
            <a:r>
              <a:rPr lang="en-US" altLang="en-RO" dirty="0"/>
              <a:t> </a:t>
            </a:r>
            <a:r>
              <a:rPr lang="en-US" altLang="en-RO" dirty="0" err="1"/>
              <a:t>concentrati</a:t>
            </a:r>
            <a:r>
              <a:rPr lang="en-US" altLang="en-RO" dirty="0"/>
              <a:t> in special </a:t>
            </a:r>
            <a:r>
              <a:rPr lang="en-US" altLang="en-RO" dirty="0" err="1"/>
              <a:t>daca</a:t>
            </a:r>
            <a:r>
              <a:rPr lang="en-US" altLang="en-RO" dirty="0"/>
              <a:t> </a:t>
            </a:r>
            <a:r>
              <a:rPr lang="en-US" altLang="en-RO" dirty="0" err="1"/>
              <a:t>vreti</a:t>
            </a:r>
            <a:r>
              <a:rPr lang="en-US" altLang="en-RO" dirty="0"/>
              <a:t> </a:t>
            </a:r>
            <a:r>
              <a:rPr lang="en-US" altLang="en-RO" dirty="0" err="1"/>
              <a:t>sa</a:t>
            </a:r>
            <a:r>
              <a:rPr lang="en-US" altLang="en-RO" dirty="0"/>
              <a:t> </a:t>
            </a:r>
            <a:r>
              <a:rPr lang="en-US" altLang="en-RO" dirty="0" err="1"/>
              <a:t>aveti</a:t>
            </a:r>
            <a:r>
              <a:rPr lang="en-US" altLang="en-RO" dirty="0"/>
              <a:t> ranking bun in </a:t>
            </a:r>
            <a:r>
              <a:rPr lang="en-US" altLang="en-RO" dirty="0" err="1"/>
              <a:t>cautarile</a:t>
            </a:r>
            <a:r>
              <a:rPr lang="en-US" altLang="en-RO" dirty="0"/>
              <a:t> pe Google?</a:t>
            </a:r>
          </a:p>
          <a:p>
            <a:endParaRPr lang="en-US" altLang="en-RO" dirty="0"/>
          </a:p>
          <a:p>
            <a:r>
              <a:rPr lang="en-US" altLang="en-RO" dirty="0"/>
              <a:t>…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EE9F6AE-1D9A-7C45-951F-377992684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fld id="{02BA059D-B26C-EE43-A73F-BE9FE7FB8E97}" type="slidenum">
              <a:rPr lang="en-US" altLang="en-US"/>
              <a:pPr eaLnBrk="1" hangingPunct="1">
                <a:spcAft>
                  <a:spcPts val="600"/>
                </a:spcAft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870AF-7F77-4944-B0D9-1C7828A5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NEVOI SEO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2A8F413-392F-5543-BB08-E23A1D67C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447" y="1529409"/>
            <a:ext cx="7676929" cy="447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7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586" name="Rectangle 2">
            <a:extLst>
              <a:ext uri="{FF2B5EF4-FFF2-40B4-BE49-F238E27FC236}">
                <a16:creationId xmlns:a16="http://schemas.microsoft.com/office/drawing/2014/main" id="{8633844E-8420-004D-A1DF-524A33A1B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Componentele de bază ale unei pagini</a:t>
            </a:r>
            <a:endParaRPr lang="en-US" altLang="en-US"/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F5058731-382C-EC48-BA8A-E8095A05E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b="1"/>
              <a:t>Componenta </a:t>
            </a:r>
            <a:r>
              <a:rPr lang="en-US" altLang="en-US" b="1"/>
              <a:t>Text (Keyword) </a:t>
            </a:r>
            <a:endParaRPr lang="ro-RO" altLang="en-US" b="1"/>
          </a:p>
          <a:p>
            <a:pPr lvl="1" eaLnBrk="1" hangingPunct="1"/>
            <a:r>
              <a:rPr lang="ro-RO" altLang="en-US"/>
              <a:t>Cuvinte şi fraze ce corespund lucrurilor pe care audienţa target le tastează în motoarele de căutare</a:t>
            </a:r>
          </a:p>
          <a:p>
            <a:pPr eaLnBrk="1" hangingPunct="1"/>
            <a:r>
              <a:rPr lang="ro-RO" altLang="en-US" b="1"/>
              <a:t>Componenta Legături</a:t>
            </a:r>
          </a:p>
          <a:p>
            <a:pPr lvl="1" eaLnBrk="1" hangingPunct="1"/>
            <a:r>
              <a:rPr lang="ro-RO" altLang="en-US"/>
              <a:t>Structura de navigare (prin site) pe care crawlerii ar trebui să o poată urma uşor</a:t>
            </a:r>
          </a:p>
          <a:p>
            <a:pPr eaLnBrk="1" hangingPunct="1"/>
            <a:r>
              <a:rPr lang="ro-RO" altLang="en-US" b="1"/>
              <a:t>Componenta Popularitate</a:t>
            </a:r>
          </a:p>
          <a:p>
            <a:pPr lvl="1" eaLnBrk="1" hangingPunct="1"/>
            <a:r>
              <a:rPr lang="ro-RO" altLang="en-US"/>
              <a:t>Există site-uri ce includ legături către site-ul meu</a:t>
            </a:r>
            <a:r>
              <a:rPr lang="en-US" altLang="en-US"/>
              <a:t>?</a:t>
            </a:r>
          </a:p>
          <a:p>
            <a:pPr eaLnBrk="1" hangingPunct="1"/>
            <a:endParaRPr lang="en-US" alt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1A90F681-5EC0-EE4E-9A1D-27FF7E40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18A5DFCB-9506-024B-950E-9BBB458F19E6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15</a:t>
            </a:fld>
            <a:endParaRPr lang="en-US" alt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610" name="Rectangle 2">
            <a:extLst>
              <a:ext uri="{FF2B5EF4-FFF2-40B4-BE49-F238E27FC236}">
                <a16:creationId xmlns:a16="http://schemas.microsoft.com/office/drawing/2014/main" id="{AF05744B-0348-3743-8F6C-4A8CD67BA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 sz="3500"/>
              <a:t>Text: Densitatea de cuvinte cheie (keywords)</a:t>
            </a:r>
            <a:endParaRPr lang="en-US" altLang="en-US" sz="3500"/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BE862799-64B7-BD45-A4D9-71BE9FC2C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4429615" cy="3931920"/>
          </a:xfrm>
        </p:spPr>
        <p:txBody>
          <a:bodyPr>
            <a:normAutofit/>
          </a:bodyPr>
          <a:lstStyle/>
          <a:p>
            <a:r>
              <a:rPr lang="en-GB" sz="2400" dirty="0" err="1"/>
              <a:t>Parte</a:t>
            </a:r>
            <a:r>
              <a:rPr lang="en-GB" sz="2400" dirty="0"/>
              <a:t> din </a:t>
            </a:r>
            <a:r>
              <a:rPr lang="en-GB" sz="2400" dirty="0" err="1"/>
              <a:t>procesul</a:t>
            </a:r>
            <a:r>
              <a:rPr lang="en-GB" sz="2400" dirty="0"/>
              <a:t> SEO </a:t>
            </a:r>
            <a:r>
              <a:rPr lang="en-GB" sz="2400" dirty="0" err="1"/>
              <a:t>este</a:t>
            </a:r>
            <a:r>
              <a:rPr lang="en-GB" sz="2400" dirty="0"/>
              <a:t> </a:t>
            </a:r>
            <a:r>
              <a:rPr lang="en-GB" sz="2400" dirty="0" err="1"/>
              <a:t>folosirea</a:t>
            </a:r>
            <a:r>
              <a:rPr lang="en-GB" sz="2400" dirty="0"/>
              <a:t> de </a:t>
            </a:r>
            <a:r>
              <a:rPr lang="en-GB" sz="2400" dirty="0" err="1"/>
              <a:t>cuvinte</a:t>
            </a:r>
            <a:r>
              <a:rPr lang="en-GB" sz="2400" dirty="0"/>
              <a:t> </a:t>
            </a:r>
            <a:r>
              <a:rPr lang="en-GB" sz="2400" dirty="0" err="1"/>
              <a:t>cheie</a:t>
            </a:r>
            <a:r>
              <a:rPr lang="en-GB" sz="2400" dirty="0"/>
              <a:t> </a:t>
            </a:r>
            <a:r>
              <a:rPr lang="en-GB" sz="2400" dirty="0" err="1"/>
              <a:t>pentru</a:t>
            </a:r>
            <a:r>
              <a:rPr lang="en-GB" sz="2400" dirty="0"/>
              <a:t> a </a:t>
            </a:r>
            <a:r>
              <a:rPr lang="en-GB" sz="2400" dirty="0" err="1"/>
              <a:t>descrie</a:t>
            </a:r>
            <a:r>
              <a:rPr lang="en-GB" sz="2400" dirty="0"/>
              <a:t> </a:t>
            </a:r>
            <a:r>
              <a:rPr lang="en-GB" sz="2400" dirty="0" err="1"/>
              <a:t>conținutul</a:t>
            </a:r>
            <a:r>
              <a:rPr lang="en-GB" sz="2400" dirty="0"/>
              <a:t> </a:t>
            </a:r>
            <a:r>
              <a:rPr lang="en-GB" sz="2400" dirty="0" err="1"/>
              <a:t>paginii</a:t>
            </a:r>
            <a:r>
              <a:rPr lang="en-GB" sz="2400" dirty="0"/>
              <a:t> web</a:t>
            </a:r>
          </a:p>
          <a:p>
            <a:r>
              <a:rPr lang="en-GB" sz="2400" dirty="0"/>
              <a:t>Nu </a:t>
            </a:r>
            <a:r>
              <a:rPr lang="en-GB" sz="2400" dirty="0" err="1"/>
              <a:t>folosiţi</a:t>
            </a:r>
            <a:r>
              <a:rPr lang="en-GB" sz="2400" dirty="0"/>
              <a:t> </a:t>
            </a:r>
            <a:r>
              <a:rPr lang="en-GB" sz="2400" dirty="0" err="1"/>
              <a:t>prea</a:t>
            </a:r>
            <a:r>
              <a:rPr lang="en-GB" sz="2400" dirty="0"/>
              <a:t> </a:t>
            </a:r>
            <a:r>
              <a:rPr lang="en-GB" sz="2400" dirty="0" err="1"/>
              <a:t>multe</a:t>
            </a:r>
            <a:r>
              <a:rPr lang="en-GB" sz="2400" dirty="0"/>
              <a:t> </a:t>
            </a:r>
            <a:r>
              <a:rPr lang="en-GB" sz="2400" dirty="0" err="1"/>
              <a:t>cuvinte</a:t>
            </a:r>
            <a:r>
              <a:rPr lang="en-GB" sz="2400" dirty="0"/>
              <a:t> </a:t>
            </a:r>
            <a:r>
              <a:rPr lang="en-GB" sz="2400" dirty="0" err="1"/>
              <a:t>cheie</a:t>
            </a:r>
            <a:endParaRPr lang="en-GB" sz="2400" dirty="0"/>
          </a:p>
          <a:p>
            <a:pPr lvl="1"/>
            <a:r>
              <a:rPr lang="en-GB" sz="2000" dirty="0" err="1"/>
              <a:t>poate</a:t>
            </a:r>
            <a:r>
              <a:rPr lang="en-GB" sz="2000" dirty="0"/>
              <a:t> </a:t>
            </a:r>
            <a:r>
              <a:rPr lang="en-GB" sz="2000" dirty="0" err="1"/>
              <a:t>avea</a:t>
            </a:r>
            <a:r>
              <a:rPr lang="en-GB" sz="2000" dirty="0"/>
              <a:t> ca </a:t>
            </a:r>
            <a:r>
              <a:rPr lang="en-GB" sz="2000" dirty="0" err="1"/>
              <a:t>rezultat</a:t>
            </a:r>
            <a:r>
              <a:rPr lang="en-GB" sz="2000" dirty="0"/>
              <a:t> </a:t>
            </a:r>
            <a:r>
              <a:rPr lang="en-GB" sz="2000" dirty="0" err="1"/>
              <a:t>penalizarea</a:t>
            </a:r>
            <a:r>
              <a:rPr lang="en-GB" sz="2000" dirty="0"/>
              <a:t> </a:t>
            </a:r>
            <a:r>
              <a:rPr lang="en-GB" sz="2000" dirty="0" err="1"/>
              <a:t>sau</a:t>
            </a:r>
            <a:r>
              <a:rPr lang="en-GB" sz="2000" dirty="0"/>
              <a:t> </a:t>
            </a:r>
            <a:r>
              <a:rPr lang="en-GB" sz="2000" dirty="0" err="1"/>
              <a:t>ignorarea</a:t>
            </a:r>
            <a:r>
              <a:rPr lang="en-GB" sz="2000" dirty="0"/>
              <a:t> </a:t>
            </a:r>
            <a:r>
              <a:rPr lang="en-GB" sz="2000" dirty="0" err="1"/>
              <a:t>acestora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98C3E2-7C00-CC4E-AD7B-35CD73CC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570" y="640080"/>
            <a:ext cx="5340780" cy="5577840"/>
          </a:xfrm>
          <a:prstGeom prst="rect">
            <a:avLst/>
          </a:prstGeom>
        </p:spPr>
      </p:pic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A5E02EE8-7619-234F-9CA9-3E720531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C8356D08-2D69-724F-8BD4-13AEF590C466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16</a:t>
            </a:fld>
            <a:endParaRPr lang="en-US" altLang="en-US" sz="1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634" name="Rectangle 2">
            <a:extLst>
              <a:ext uri="{FF2B5EF4-FFF2-40B4-BE49-F238E27FC236}">
                <a16:creationId xmlns:a16="http://schemas.microsoft.com/office/drawing/2014/main" id="{A9A08D73-4086-114D-AA45-D611AD667F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/>
              <a:t>Text: </a:t>
            </a:r>
            <a:r>
              <a:rPr lang="ro-RO" altLang="en-US"/>
              <a:t>Evidenţierea cuvintelor cheie</a:t>
            </a:r>
            <a:endParaRPr lang="en-US" altLang="en-US"/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ECA95D8A-20B4-B443-94EE-E489FCD5D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/>
              <a:t>Motoarele de căutare plasează valori (</a:t>
            </a:r>
            <a:r>
              <a:rPr lang="en-US" altLang="en-US"/>
              <a:t>“weight”</a:t>
            </a:r>
            <a:r>
              <a:rPr lang="ro-RO" altLang="en-US"/>
              <a:t>)</a:t>
            </a:r>
            <a:r>
              <a:rPr lang="en-US" altLang="en-US"/>
              <a:t> </a:t>
            </a:r>
            <a:r>
              <a:rPr lang="ro-RO" altLang="en-US"/>
              <a:t>termenilor în funcţie şi de locul în care sunt folosiţi</a:t>
            </a:r>
          </a:p>
          <a:p>
            <a:pPr>
              <a:spcAft>
                <a:spcPts val="600"/>
              </a:spcAft>
            </a:pPr>
            <a:r>
              <a:rPr lang="ro-RO" altLang="en-US" b="1"/>
              <a:t>Plaşaţi cuvinte cheie î</a:t>
            </a:r>
            <a:r>
              <a:rPr lang="en-US" altLang="en-US" b="1"/>
              <a:t>n …</a:t>
            </a:r>
          </a:p>
          <a:p>
            <a:pPr lvl="1">
              <a:spcAft>
                <a:spcPts val="600"/>
              </a:spcAft>
            </a:pPr>
            <a:r>
              <a:rPr lang="ro-RO" altLang="en-US"/>
              <a:t>Tag-uri titlu</a:t>
            </a:r>
          </a:p>
          <a:p>
            <a:pPr lvl="1">
              <a:spcAft>
                <a:spcPts val="600"/>
              </a:spcAft>
            </a:pPr>
            <a:r>
              <a:rPr lang="ro-RO" altLang="en-US"/>
              <a:t>Text de tip </a:t>
            </a:r>
            <a:r>
              <a:rPr lang="ro-RO" altLang="en-US" i="1"/>
              <a:t>heading</a:t>
            </a:r>
            <a:r>
              <a:rPr lang="ro-RO" altLang="en-US"/>
              <a:t> sau </a:t>
            </a:r>
            <a:r>
              <a:rPr lang="ro-RO" altLang="en-US" i="1"/>
              <a:t>emphasize</a:t>
            </a:r>
            <a:endParaRPr lang="ro-RO" altLang="en-US"/>
          </a:p>
          <a:p>
            <a:pPr lvl="1">
              <a:spcAft>
                <a:spcPts val="600"/>
              </a:spcAft>
            </a:pPr>
            <a:r>
              <a:rPr lang="ro-RO" altLang="en-US"/>
              <a:t>Text din body vizibil</a:t>
            </a:r>
          </a:p>
          <a:p>
            <a:pPr lvl="1">
              <a:spcAft>
                <a:spcPts val="600"/>
              </a:spcAft>
            </a:pPr>
            <a:r>
              <a:rPr lang="ro-RO" altLang="en-US"/>
              <a:t>Meta tag-uri de descriere</a:t>
            </a:r>
          </a:p>
          <a:p>
            <a:pPr lvl="1">
              <a:spcAft>
                <a:spcPts val="600"/>
              </a:spcAft>
            </a:pPr>
            <a:r>
              <a:rPr lang="ro-RO" altLang="en-US"/>
              <a:t>“</a:t>
            </a:r>
            <a:r>
              <a:rPr lang="en-US" altLang="en-US"/>
              <a:t>Alt text</a:t>
            </a:r>
            <a:r>
              <a:rPr lang="ro-RO" altLang="en-US"/>
              <a:t>”</a:t>
            </a:r>
            <a:r>
              <a:rPr lang="en-US" altLang="en-US"/>
              <a:t> </a:t>
            </a:r>
            <a:r>
              <a:rPr lang="ro-RO" altLang="en-US"/>
              <a:t>d</a:t>
            </a:r>
            <a:r>
              <a:rPr lang="en-US" altLang="en-US"/>
              <a:t>in </a:t>
            </a:r>
            <a:r>
              <a:rPr lang="ro-RO" altLang="en-US"/>
              <a:t>imagini</a:t>
            </a:r>
            <a:endParaRPr lang="en-US" altLang="en-US"/>
          </a:p>
          <a:p>
            <a:pPr>
              <a:spcAft>
                <a:spcPts val="600"/>
              </a:spcAft>
            </a:pPr>
            <a:r>
              <a:rPr lang="ro-RO" altLang="en-US"/>
              <a:t>Titlul şi tag-urile body sunt cele mai importante</a:t>
            </a:r>
          </a:p>
          <a:p>
            <a:pPr eaLnBrk="1" hangingPunct="1"/>
            <a:endParaRPr lang="en-US" alt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9C9339DC-EB6C-7449-96D9-9C1B812B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8E43A59-52C5-2F4B-9468-C826AD6FEE33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17</a:t>
            </a:fld>
            <a:endParaRPr lang="en-US" alt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F241E-6CD0-A343-A40B-A98204DC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TEXT: EVIDENTIEREA CUVINTELOR CHEIE</a:t>
            </a:r>
            <a:endParaRPr lang="ro-RO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8CD3F9-5CA4-DA43-909C-ACE4EC28BB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94" r="11655" b="1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6A03-DC72-1C4A-A5FC-FA5280DB2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ro-RO" dirty="0">
                <a:solidFill>
                  <a:srgbClr val="FFFFFF"/>
                </a:solidFill>
              </a:rPr>
              <a:t> </a:t>
            </a:r>
            <a:br>
              <a:rPr lang="ro-RO" dirty="0">
                <a:solidFill>
                  <a:srgbClr val="FFFFFF"/>
                </a:solidFill>
              </a:rPr>
            </a:br>
            <a:r>
              <a:rPr lang="ro-RO" dirty="0">
                <a:solidFill>
                  <a:srgbClr val="FFFFFF"/>
                </a:solidFill>
              </a:rPr>
              <a:t>Latent semantic </a:t>
            </a:r>
            <a:r>
              <a:rPr lang="ro-RO" dirty="0" err="1">
                <a:solidFill>
                  <a:srgbClr val="FFFFFF"/>
                </a:solidFill>
              </a:rPr>
              <a:t>indexing</a:t>
            </a:r>
            <a:r>
              <a:rPr lang="ro-RO" dirty="0">
                <a:solidFill>
                  <a:srgbClr val="FFFFFF"/>
                </a:solidFill>
              </a:rPr>
              <a:t>: </a:t>
            </a:r>
            <a:r>
              <a:rPr lang="ro-RO" dirty="0">
                <a:solidFill>
                  <a:srgbClr val="FFFFFF"/>
                </a:solidFill>
                <a:hlinkClick r:id="rId3"/>
              </a:rPr>
              <a:t>https://lsigraph.com/</a:t>
            </a:r>
            <a:r>
              <a:rPr lang="ro-RO" dirty="0">
                <a:solidFill>
                  <a:srgbClr val="FFFFFF"/>
                </a:solidFill>
              </a:rPr>
              <a:t> </a:t>
            </a:r>
          </a:p>
          <a:p>
            <a:endParaRPr lang="ro-RO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900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682" name="Rectangle 2">
            <a:extLst>
              <a:ext uri="{FF2B5EF4-FFF2-40B4-BE49-F238E27FC236}">
                <a16:creationId xmlns:a16="http://schemas.microsoft.com/office/drawing/2014/main" id="{34A0EBFA-294F-6B41-918A-B4E0AF523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Componenta Legături</a:t>
            </a:r>
            <a:endParaRPr lang="en-US" altLang="en-US"/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5C9172B0-C38C-AD41-8C1D-9D975592F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sz="2400" dirty="0"/>
              <a:t>Paginile nu vor avea </a:t>
            </a:r>
            <a:r>
              <a:rPr lang="ro-RO" altLang="en-US" sz="2400" dirty="0" err="1"/>
              <a:t>rank</a:t>
            </a:r>
            <a:r>
              <a:rPr lang="ro-RO" altLang="en-US" sz="2400" dirty="0"/>
              <a:t> bun dacă site-ul nu respectă o schemă de navigare</a:t>
            </a:r>
          </a:p>
          <a:p>
            <a:pPr>
              <a:spcAft>
                <a:spcPts val="600"/>
              </a:spcAft>
            </a:pPr>
            <a:r>
              <a:rPr lang="ro-RO" altLang="en-US" sz="2400" dirty="0"/>
              <a:t>Schema de navigare trebuie să fie plăcută utilizatorilor </a:t>
            </a:r>
            <a:r>
              <a:rPr lang="ro-RO" altLang="en-US" sz="2400" dirty="0" err="1"/>
              <a:t>şi</a:t>
            </a:r>
            <a:r>
              <a:rPr lang="ro-RO" altLang="en-US" sz="2400" dirty="0"/>
              <a:t> motoarelor de căutare</a:t>
            </a:r>
          </a:p>
          <a:p>
            <a:pPr>
              <a:spcAft>
                <a:spcPts val="600"/>
              </a:spcAft>
            </a:pPr>
            <a:r>
              <a:rPr lang="ro-RO" altLang="en-US" sz="2400" b="1" dirty="0" err="1"/>
              <a:t>Sitemap</a:t>
            </a:r>
            <a:r>
              <a:rPr lang="ro-RO" altLang="en-US" sz="2400" b="1" dirty="0"/>
              <a:t> </a:t>
            </a:r>
            <a:r>
              <a:rPr lang="ro-RO" altLang="en-US" sz="2400" dirty="0"/>
              <a:t>conține informații despre paginile și fișierele de pe un site și relațiile dintre ele</a:t>
            </a:r>
          </a:p>
          <a:p>
            <a:pPr>
              <a:spcAft>
                <a:spcPts val="600"/>
              </a:spcAft>
            </a:pPr>
            <a:r>
              <a:rPr lang="ro-RO" altLang="en-US" sz="2400" dirty="0" err="1"/>
              <a:t>Crawlers</a:t>
            </a:r>
            <a:r>
              <a:rPr lang="ro-RO" altLang="en-US" sz="2400" dirty="0"/>
              <a:t> citesc acest fișier pentru un proces de </a:t>
            </a:r>
            <a:r>
              <a:rPr lang="ro-RO" altLang="en-US" sz="2400" dirty="0" err="1"/>
              <a:t>crawling</a:t>
            </a:r>
            <a:r>
              <a:rPr lang="ro-RO" altLang="en-US" sz="2400" dirty="0"/>
              <a:t> mai bun</a:t>
            </a:r>
          </a:p>
          <a:p>
            <a:pPr>
              <a:spcAft>
                <a:spcPts val="600"/>
              </a:spcAft>
            </a:pPr>
            <a:endParaRPr lang="en-US" altLang="en-US" sz="24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542680C1-BCB6-BE47-8F11-38A228BB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44A88682-B459-8645-8E3F-9451111CB289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19</a:t>
            </a:fld>
            <a:endParaRPr lang="en-US" alt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A1BC-2E6C-0842-92EC-101276FE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>
            <a:normAutofit/>
          </a:bodyPr>
          <a:lstStyle/>
          <a:p>
            <a:r>
              <a:rPr lang="en-GB" dirty="0"/>
              <a:t>SITEMAP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91F4C-608C-C24E-BEA0-35E6A0EEE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128" y="1905000"/>
            <a:ext cx="7230872" cy="4367784"/>
          </a:xfrm>
        </p:spPr>
        <p:txBody>
          <a:bodyPr>
            <a:normAutofit lnSpcReduction="10000"/>
          </a:bodyPr>
          <a:lstStyle/>
          <a:p>
            <a:r>
              <a:rPr lang="en-GB" sz="2400" dirty="0" err="1"/>
              <a:t>Într</a:t>
            </a:r>
            <a:r>
              <a:rPr lang="en-GB" sz="2400" dirty="0"/>
              <a:t>-un sitemap se </a:t>
            </a:r>
            <a:r>
              <a:rPr lang="en-GB" sz="2400" dirty="0" err="1"/>
              <a:t>specifică</a:t>
            </a:r>
            <a:r>
              <a:rPr lang="en-GB" sz="2400" dirty="0"/>
              <a:t> </a:t>
            </a:r>
            <a:r>
              <a:rPr lang="en-GB" sz="2400" dirty="0" err="1"/>
              <a:t>cele</a:t>
            </a:r>
            <a:r>
              <a:rPr lang="en-GB" sz="2400" dirty="0"/>
              <a:t> </a:t>
            </a:r>
            <a:r>
              <a:rPr lang="en-GB" sz="2400" dirty="0" err="1"/>
              <a:t>mai</a:t>
            </a:r>
            <a:r>
              <a:rPr lang="en-GB" sz="2400" dirty="0"/>
              <a:t> </a:t>
            </a:r>
            <a:r>
              <a:rPr lang="en-GB" sz="2400" dirty="0" err="1"/>
              <a:t>importante</a:t>
            </a:r>
            <a:r>
              <a:rPr lang="en-GB" sz="2400" dirty="0"/>
              <a:t> </a:t>
            </a:r>
            <a:r>
              <a:rPr lang="en-GB" sz="2400" dirty="0" err="1"/>
              <a:t>resurse</a:t>
            </a:r>
            <a:r>
              <a:rPr lang="en-GB" sz="2400" dirty="0"/>
              <a:t> </a:t>
            </a:r>
            <a:r>
              <a:rPr lang="en-GB" sz="2400" dirty="0" err="1"/>
              <a:t>pentru</a:t>
            </a:r>
            <a:r>
              <a:rPr lang="en-GB" sz="2400" dirty="0"/>
              <a:t> un site plus </a:t>
            </a:r>
            <a:r>
              <a:rPr lang="en-GB" sz="2400" dirty="0" err="1"/>
              <a:t>alte</a:t>
            </a:r>
            <a:r>
              <a:rPr lang="en-GB" sz="2400" dirty="0"/>
              <a:t> </a:t>
            </a:r>
            <a:r>
              <a:rPr lang="en-GB" sz="2400" dirty="0" err="1"/>
              <a:t>informații</a:t>
            </a:r>
            <a:r>
              <a:rPr lang="en-GB" sz="2400" dirty="0"/>
              <a:t> </a:t>
            </a:r>
            <a:r>
              <a:rPr lang="en-GB" sz="2400" dirty="0" err="1"/>
              <a:t>suplimentare</a:t>
            </a:r>
            <a:r>
              <a:rPr lang="en-GB" sz="2400" dirty="0"/>
              <a:t>:</a:t>
            </a:r>
          </a:p>
          <a:p>
            <a:pPr lvl="1"/>
            <a:r>
              <a:rPr lang="en-GB" sz="2400" dirty="0" err="1"/>
              <a:t>Când</a:t>
            </a:r>
            <a:r>
              <a:rPr lang="en-GB" sz="2400" dirty="0"/>
              <a:t> a </a:t>
            </a:r>
            <a:r>
              <a:rPr lang="en-GB" sz="2400" dirty="0" err="1"/>
              <a:t>fost</a:t>
            </a:r>
            <a:r>
              <a:rPr lang="en-GB" sz="2400" dirty="0"/>
              <a:t> </a:t>
            </a:r>
            <a:r>
              <a:rPr lang="en-GB" sz="2400" dirty="0" err="1"/>
              <a:t>pagina</a:t>
            </a:r>
            <a:r>
              <a:rPr lang="en-GB" sz="2400" dirty="0"/>
              <a:t> </a:t>
            </a:r>
            <a:r>
              <a:rPr lang="en-GB" sz="2400" dirty="0" err="1"/>
              <a:t>modificată</a:t>
            </a:r>
            <a:endParaRPr lang="en-GB" sz="2400" dirty="0"/>
          </a:p>
          <a:p>
            <a:pPr lvl="1"/>
            <a:r>
              <a:rPr lang="en-GB" sz="2400" dirty="0" err="1"/>
              <a:t>Cât</a:t>
            </a:r>
            <a:r>
              <a:rPr lang="en-GB" sz="2400" dirty="0"/>
              <a:t> de des se </a:t>
            </a:r>
            <a:r>
              <a:rPr lang="en-GB" sz="2400" dirty="0" err="1"/>
              <a:t>schimbă</a:t>
            </a:r>
            <a:r>
              <a:rPr lang="en-GB" sz="2400" dirty="0"/>
              <a:t> </a:t>
            </a:r>
            <a:r>
              <a:rPr lang="en-GB" sz="2400" dirty="0" err="1"/>
              <a:t>pagina</a:t>
            </a:r>
            <a:endParaRPr lang="en-GB" sz="2400" dirty="0"/>
          </a:p>
          <a:p>
            <a:pPr lvl="1"/>
            <a:r>
              <a:rPr lang="en-GB" sz="2400" dirty="0" err="1"/>
              <a:t>Versiuni</a:t>
            </a:r>
            <a:r>
              <a:rPr lang="en-GB" sz="2400" dirty="0"/>
              <a:t> alternative ale </a:t>
            </a:r>
            <a:r>
              <a:rPr lang="en-GB" sz="2400" dirty="0" err="1"/>
              <a:t>paginii</a:t>
            </a:r>
            <a:r>
              <a:rPr lang="en-GB" sz="2400" dirty="0"/>
              <a:t> </a:t>
            </a:r>
            <a:r>
              <a:rPr lang="en-GB" sz="2400" dirty="0" err="1"/>
              <a:t>în</a:t>
            </a:r>
            <a:r>
              <a:rPr lang="en-GB" sz="2400" dirty="0"/>
              <a:t> </a:t>
            </a:r>
            <a:r>
              <a:rPr lang="en-GB" sz="2400" dirty="0" err="1"/>
              <a:t>funcție</a:t>
            </a:r>
            <a:r>
              <a:rPr lang="en-GB" sz="2400" dirty="0"/>
              <a:t> de </a:t>
            </a:r>
            <a:r>
              <a:rPr lang="en-GB" sz="2400" dirty="0" err="1"/>
              <a:t>limbă</a:t>
            </a:r>
            <a:endParaRPr lang="en-GB" sz="2400" dirty="0"/>
          </a:p>
          <a:p>
            <a:pPr lvl="1"/>
            <a:r>
              <a:rPr lang="en-GB" sz="2400" dirty="0" err="1"/>
              <a:t>Prioritatea</a:t>
            </a:r>
            <a:r>
              <a:rPr lang="en-GB" sz="2400" dirty="0"/>
              <a:t> </a:t>
            </a:r>
            <a:r>
              <a:rPr lang="en-GB" sz="2400" dirty="0" err="1"/>
              <a:t>paginii</a:t>
            </a:r>
            <a:r>
              <a:rPr lang="en-GB" sz="2400" dirty="0"/>
              <a:t> </a:t>
            </a:r>
            <a:r>
              <a:rPr lang="en-GB" sz="2400" dirty="0" err="1"/>
              <a:t>în</a:t>
            </a:r>
            <a:r>
              <a:rPr lang="en-GB" sz="2400" dirty="0"/>
              <a:t> </a:t>
            </a:r>
            <a:r>
              <a:rPr lang="en-GB" sz="2400" dirty="0" err="1"/>
              <a:t>structura</a:t>
            </a:r>
            <a:r>
              <a:rPr lang="en-GB" sz="2400" dirty="0"/>
              <a:t> site-</a:t>
            </a:r>
            <a:r>
              <a:rPr lang="en-GB" sz="2400" dirty="0" err="1"/>
              <a:t>ului</a:t>
            </a:r>
            <a:endParaRPr lang="en-GB" sz="2400" dirty="0"/>
          </a:p>
          <a:p>
            <a:pPr lvl="1"/>
            <a:r>
              <a:rPr lang="en-GB" sz="2400" dirty="0" err="1"/>
              <a:t>Pentru</a:t>
            </a:r>
            <a:r>
              <a:rPr lang="en-GB" sz="2400" dirty="0"/>
              <a:t> video: </a:t>
            </a:r>
            <a:r>
              <a:rPr lang="en-GB" sz="2400" dirty="0" err="1"/>
              <a:t>categorie</a:t>
            </a:r>
            <a:r>
              <a:rPr lang="en-GB" sz="2400" dirty="0"/>
              <a:t>, </a:t>
            </a:r>
            <a:r>
              <a:rPr lang="en-GB" sz="2400" dirty="0" err="1"/>
              <a:t>timpul</a:t>
            </a:r>
            <a:r>
              <a:rPr lang="en-GB" sz="2400" dirty="0"/>
              <a:t> de </a:t>
            </a:r>
            <a:r>
              <a:rPr lang="en-GB" sz="2400" dirty="0" err="1"/>
              <a:t>rulare</a:t>
            </a:r>
            <a:r>
              <a:rPr lang="en-GB" sz="2400" dirty="0"/>
              <a:t>, </a:t>
            </a:r>
            <a:r>
              <a:rPr lang="en-GB" sz="2400" dirty="0" err="1"/>
              <a:t>restricționarea</a:t>
            </a:r>
            <a:r>
              <a:rPr lang="en-GB" sz="2400" dirty="0"/>
              <a:t> </a:t>
            </a:r>
            <a:r>
              <a:rPr lang="en-GB" sz="2400" dirty="0" err="1"/>
              <a:t>accesului</a:t>
            </a:r>
            <a:r>
              <a:rPr lang="en-GB" sz="2400" dirty="0"/>
              <a:t> </a:t>
            </a:r>
            <a:r>
              <a:rPr lang="en-GB" sz="2400" dirty="0" err="1"/>
              <a:t>pentru</a:t>
            </a:r>
            <a:r>
              <a:rPr lang="en-GB" sz="2400" dirty="0"/>
              <a:t> </a:t>
            </a:r>
            <a:r>
              <a:rPr lang="en-GB" sz="2400" dirty="0" err="1"/>
              <a:t>anumite</a:t>
            </a:r>
            <a:r>
              <a:rPr lang="en-GB" sz="2400" dirty="0"/>
              <a:t> </a:t>
            </a:r>
            <a:r>
              <a:rPr lang="en-GB" sz="2400" dirty="0" err="1"/>
              <a:t>categorii</a:t>
            </a:r>
            <a:r>
              <a:rPr lang="en-GB" sz="2400" dirty="0"/>
              <a:t> de </a:t>
            </a:r>
            <a:r>
              <a:rPr lang="en-GB" sz="2400" dirty="0" err="1"/>
              <a:t>vârstă</a:t>
            </a:r>
            <a:endParaRPr lang="en-GB" sz="2400" dirty="0"/>
          </a:p>
          <a:p>
            <a:pPr lvl="1"/>
            <a:r>
              <a:rPr lang="en-GB" sz="2400" dirty="0" err="1"/>
              <a:t>Pentru</a:t>
            </a:r>
            <a:r>
              <a:rPr lang="en-GB" sz="2400" dirty="0"/>
              <a:t> </a:t>
            </a:r>
            <a:r>
              <a:rPr lang="en-GB" sz="2400" dirty="0" err="1"/>
              <a:t>imagini</a:t>
            </a:r>
            <a:r>
              <a:rPr lang="en-GB" sz="2400" dirty="0"/>
              <a:t>: tip, </a:t>
            </a:r>
            <a:r>
              <a:rPr lang="en-GB" sz="2400" dirty="0" err="1"/>
              <a:t>subiect</a:t>
            </a:r>
            <a:r>
              <a:rPr lang="en-GB" sz="2400" dirty="0"/>
              <a:t>, </a:t>
            </a:r>
            <a:r>
              <a:rPr lang="en-GB" sz="2400" dirty="0" err="1"/>
              <a:t>licență</a:t>
            </a:r>
            <a:r>
              <a:rPr lang="en-GB" sz="2400" dirty="0"/>
              <a:t> </a:t>
            </a:r>
          </a:p>
          <a:p>
            <a:r>
              <a:rPr lang="en-GB" sz="2400" dirty="0"/>
              <a:t>Mai </a:t>
            </a:r>
            <a:r>
              <a:rPr lang="en-GB" sz="2400" dirty="0" err="1"/>
              <a:t>multe</a:t>
            </a:r>
            <a:r>
              <a:rPr lang="en-GB" sz="2400" dirty="0"/>
              <a:t> </a:t>
            </a:r>
            <a:r>
              <a:rPr lang="en-GB" sz="2400" dirty="0" err="1"/>
              <a:t>detalii</a:t>
            </a:r>
            <a:r>
              <a:rPr lang="en-GB" sz="2400" dirty="0"/>
              <a:t>: </a:t>
            </a:r>
            <a:r>
              <a:rPr lang="en-GB" sz="2400" dirty="0">
                <a:hlinkClick r:id="rId2"/>
              </a:rPr>
              <a:t>https://www.practicalecommerce.com/seo-include-images-and-videos-in-sitemaps</a:t>
            </a:r>
            <a:r>
              <a:rPr lang="en-GB" sz="2400" dirty="0"/>
              <a:t> </a:t>
            </a:r>
          </a:p>
          <a:p>
            <a:endParaRPr lang="ro-RO" sz="2400" dirty="0"/>
          </a:p>
        </p:txBody>
      </p:sp>
      <p:pic>
        <p:nvPicPr>
          <p:cNvPr id="5" name="Graphic 6" descr="Tick">
            <a:extLst>
              <a:ext uri="{FF2B5EF4-FFF2-40B4-BE49-F238E27FC236}">
                <a16:creationId xmlns:a16="http://schemas.microsoft.com/office/drawing/2014/main" id="{347D0F79-7DDD-70B2-4C7B-BCBEB349E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3960" y="701039"/>
            <a:ext cx="2727961" cy="272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5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24AE-F817-B94C-A1BC-A8E22A63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r>
              <a:rPr lang="en-GB" sz="3700"/>
              <a:t>CÂND AVEM NEVOIE DE UN SITEMAP</a:t>
            </a:r>
            <a:endParaRPr lang="ro-RO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3140A-B7A2-3B48-B7A2-141056E3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446272" cy="3931920"/>
          </a:xfrm>
        </p:spPr>
        <p:txBody>
          <a:bodyPr>
            <a:normAutofit/>
          </a:bodyPr>
          <a:lstStyle/>
          <a:p>
            <a:r>
              <a:rPr lang="en-GB" sz="1800" dirty="0"/>
              <a:t>Site-ul </a:t>
            </a:r>
            <a:r>
              <a:rPr lang="en-GB" sz="1800" dirty="0" err="1"/>
              <a:t>este</a:t>
            </a:r>
            <a:r>
              <a:rPr lang="en-GB" sz="1800" dirty="0"/>
              <a:t> </a:t>
            </a:r>
            <a:r>
              <a:rPr lang="en-GB" sz="1800" dirty="0" err="1"/>
              <a:t>foarte</a:t>
            </a:r>
            <a:r>
              <a:rPr lang="en-GB" sz="1800" dirty="0"/>
              <a:t> mare </a:t>
            </a:r>
            <a:r>
              <a:rPr lang="en-GB" sz="1800" dirty="0" err="1"/>
              <a:t>și</a:t>
            </a:r>
            <a:r>
              <a:rPr lang="en-GB" sz="1800" dirty="0"/>
              <a:t> complex</a:t>
            </a:r>
          </a:p>
          <a:p>
            <a:r>
              <a:rPr lang="en-GB" sz="1800" dirty="0"/>
              <a:t>Site-ul are </a:t>
            </a:r>
            <a:r>
              <a:rPr lang="en-GB" sz="1800" dirty="0" err="1"/>
              <a:t>multe</a:t>
            </a:r>
            <a:r>
              <a:rPr lang="en-GB" sz="1800" dirty="0"/>
              <a:t> </a:t>
            </a:r>
            <a:r>
              <a:rPr lang="en-GB" sz="1800" dirty="0" err="1"/>
              <a:t>pagini</a:t>
            </a:r>
            <a:r>
              <a:rPr lang="en-GB" sz="1800" dirty="0"/>
              <a:t> </a:t>
            </a:r>
            <a:r>
              <a:rPr lang="en-GB" sz="1800" dirty="0" err="1"/>
              <a:t>izolate</a:t>
            </a:r>
            <a:r>
              <a:rPr lang="en-GB" sz="1800" dirty="0"/>
              <a:t> </a:t>
            </a:r>
            <a:r>
              <a:rPr lang="en-GB" sz="1800" dirty="0" err="1"/>
              <a:t>sau</a:t>
            </a:r>
            <a:r>
              <a:rPr lang="en-GB" sz="1800" dirty="0"/>
              <a:t> care nu sunt legate bine de </a:t>
            </a:r>
            <a:r>
              <a:rPr lang="en-GB" sz="1800" dirty="0" err="1"/>
              <a:t>restul</a:t>
            </a:r>
            <a:r>
              <a:rPr lang="en-GB" sz="1800" dirty="0"/>
              <a:t> </a:t>
            </a:r>
            <a:r>
              <a:rPr lang="en-GB" sz="1800" dirty="0" err="1"/>
              <a:t>paginilor</a:t>
            </a:r>
            <a:endParaRPr lang="en-GB" sz="1800" dirty="0"/>
          </a:p>
          <a:p>
            <a:r>
              <a:rPr lang="en-GB" sz="1800" dirty="0"/>
              <a:t>Site-ul are </a:t>
            </a:r>
            <a:r>
              <a:rPr lang="en-GB" sz="1800" dirty="0" err="1"/>
              <a:t>foarte</a:t>
            </a:r>
            <a:r>
              <a:rPr lang="en-GB" sz="1800" dirty="0"/>
              <a:t> </a:t>
            </a:r>
            <a:r>
              <a:rPr lang="en-GB" sz="1800" dirty="0" err="1"/>
              <a:t>puține</a:t>
            </a:r>
            <a:r>
              <a:rPr lang="en-GB" sz="1800" dirty="0"/>
              <a:t> link-</a:t>
            </a:r>
            <a:r>
              <a:rPr lang="en-GB" sz="1800" dirty="0" err="1"/>
              <a:t>uri</a:t>
            </a:r>
            <a:r>
              <a:rPr lang="en-GB" sz="1800" dirty="0"/>
              <a:t> </a:t>
            </a:r>
            <a:r>
              <a:rPr lang="en-GB" sz="1800" dirty="0" err="1"/>
              <a:t>externe</a:t>
            </a:r>
            <a:r>
              <a:rPr lang="en-GB" sz="1800" dirty="0"/>
              <a:t> care </a:t>
            </a:r>
            <a:r>
              <a:rPr lang="en-GB" sz="1800" dirty="0" err="1"/>
              <a:t>îl</a:t>
            </a:r>
            <a:r>
              <a:rPr lang="en-GB" sz="1800" dirty="0"/>
              <a:t> </a:t>
            </a:r>
            <a:r>
              <a:rPr lang="en-GB" sz="1800" dirty="0" err="1"/>
              <a:t>referă</a:t>
            </a:r>
            <a:endParaRPr lang="en-GB" sz="1800" dirty="0"/>
          </a:p>
          <a:p>
            <a:r>
              <a:rPr lang="en-GB" sz="1800" dirty="0"/>
              <a:t>Site-ul </a:t>
            </a:r>
            <a:r>
              <a:rPr lang="en-GB" sz="1800" dirty="0" err="1"/>
              <a:t>conține</a:t>
            </a:r>
            <a:r>
              <a:rPr lang="en-GB" sz="1800" dirty="0"/>
              <a:t> </a:t>
            </a:r>
            <a:r>
              <a:rPr lang="en-GB" sz="1800" dirty="0" err="1"/>
              <a:t>multe</a:t>
            </a:r>
            <a:r>
              <a:rPr lang="en-GB" sz="1800" dirty="0"/>
              <a:t> </a:t>
            </a:r>
            <a:r>
              <a:rPr lang="en-GB" sz="1800" dirty="0" err="1"/>
              <a:t>imagini</a:t>
            </a:r>
            <a:r>
              <a:rPr lang="en-GB" sz="1800" dirty="0"/>
              <a:t> </a:t>
            </a:r>
            <a:r>
              <a:rPr lang="en-GB" sz="1800" dirty="0" err="1"/>
              <a:t>sau</a:t>
            </a:r>
            <a:r>
              <a:rPr lang="en-GB" sz="1800" dirty="0"/>
              <a:t> </a:t>
            </a:r>
            <a:r>
              <a:rPr lang="en-GB" sz="1800" dirty="0" err="1"/>
              <a:t>videoclipuri</a:t>
            </a:r>
            <a:endParaRPr lang="en-GB" sz="1800" dirty="0"/>
          </a:p>
          <a:p>
            <a:r>
              <a:rPr lang="en-GB" sz="1800" dirty="0" err="1"/>
              <a:t>Exemple</a:t>
            </a:r>
            <a:r>
              <a:rPr lang="en-GB" sz="1800" dirty="0"/>
              <a:t> de sitemaps:</a:t>
            </a:r>
          </a:p>
          <a:p>
            <a:pPr lvl="1"/>
            <a:r>
              <a:rPr lang="en-GB" dirty="0"/>
              <a:t>https://</a:t>
            </a:r>
            <a:r>
              <a:rPr lang="en-GB" dirty="0" err="1"/>
              <a:t>www.google.com</a:t>
            </a:r>
            <a:r>
              <a:rPr lang="en-GB" dirty="0"/>
              <a:t>/</a:t>
            </a:r>
            <a:r>
              <a:rPr lang="en-GB" dirty="0" err="1"/>
              <a:t>sitemap.xml</a:t>
            </a:r>
            <a:endParaRPr lang="en-GB" dirty="0"/>
          </a:p>
          <a:p>
            <a:endParaRPr lang="ro-RO" sz="1800" dirty="0"/>
          </a:p>
        </p:txBody>
      </p:sp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9945C842-9547-434F-9B98-7285C45D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42" y="794724"/>
            <a:ext cx="6909577" cy="52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70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730" name="Rectangle 2">
            <a:extLst>
              <a:ext uri="{FF2B5EF4-FFF2-40B4-BE49-F238E27FC236}">
                <a16:creationId xmlns:a16="http://schemas.microsoft.com/office/drawing/2014/main" id="{4DF2510A-1478-A645-8053-9A998CE76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Crearea de legături</a:t>
            </a:r>
            <a:endParaRPr lang="en-US" altLang="en-US"/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73D81EBD-FDA1-0244-8049-B777DF237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/>
              <a:t>Cuvintele cheie din legături indică crawlerelor detalii legate de paginile respective</a:t>
            </a:r>
          </a:p>
          <a:p>
            <a:pPr eaLnBrk="1" hangingPunct="1"/>
            <a:r>
              <a:rPr lang="ro-RO" altLang="en-US"/>
              <a:t>Cuvintele cheie din legături influenţează relevanţa paginii respective</a:t>
            </a:r>
          </a:p>
          <a:p>
            <a:pPr eaLnBrk="1" hangingPunct="1"/>
            <a:r>
              <a:rPr lang="ro-RO" altLang="en-US"/>
              <a:t>Evitaţi link-urile </a:t>
            </a:r>
            <a:r>
              <a:rPr lang="en-US" altLang="en-US"/>
              <a:t>“click here”, </a:t>
            </a:r>
            <a:r>
              <a:rPr lang="ro-RO" altLang="en-US"/>
              <a:t>creaţi legături precum</a:t>
            </a:r>
            <a:r>
              <a:rPr lang="en-US" altLang="en-US"/>
              <a:t>: </a:t>
            </a:r>
          </a:p>
          <a:p>
            <a:pPr eaLnBrk="1" hangingPunct="1"/>
            <a:endParaRPr lang="ro-RO" altLang="en-US" b="1"/>
          </a:p>
          <a:p>
            <a:pPr eaLnBrk="1" hangingPunct="1"/>
            <a:r>
              <a:rPr lang="en-US" altLang="en-US" b="1"/>
              <a:t>Bad: </a:t>
            </a:r>
            <a:r>
              <a:rPr lang="en-US" altLang="en-US"/>
              <a:t>Click </a:t>
            </a:r>
            <a:r>
              <a:rPr lang="en-US" altLang="en-US" u="sng"/>
              <a:t>here</a:t>
            </a:r>
            <a:r>
              <a:rPr lang="en-US" altLang="en-US"/>
              <a:t> for more info on famous admirals.</a:t>
            </a:r>
          </a:p>
          <a:p>
            <a:pPr eaLnBrk="1" hangingPunct="1"/>
            <a:r>
              <a:rPr lang="en-US" altLang="en-US" b="1"/>
              <a:t>Good: </a:t>
            </a:r>
            <a:r>
              <a:rPr lang="en-US" altLang="en-US"/>
              <a:t>Visit our </a:t>
            </a:r>
            <a:r>
              <a:rPr lang="en-US" altLang="en-US" u="sng"/>
              <a:t>naval history site</a:t>
            </a:r>
            <a:r>
              <a:rPr lang="en-US" altLang="en-US"/>
              <a:t> for more info on </a:t>
            </a:r>
            <a:r>
              <a:rPr lang="en-US" altLang="en-US" u="sng"/>
              <a:t>famous admirals</a:t>
            </a:r>
            <a:r>
              <a:rPr lang="en-US" altLang="en-US"/>
              <a:t>.</a:t>
            </a:r>
          </a:p>
          <a:p>
            <a:pPr eaLnBrk="1" hangingPunct="1"/>
            <a:endParaRPr lang="en-US" alt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A755A3A3-828B-5B4F-B379-6E30F74A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1E87455F-ADBF-CB45-A556-9255D90244B1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22</a:t>
            </a:fld>
            <a:endParaRPr lang="en-US" altLang="en-US" sz="1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C8FC-8B4A-2B43-968E-53FCA71C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GB"/>
              <a:t>ROBOTS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00738-4C68-5746-85A7-018C5BA18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28" y="1866900"/>
            <a:ext cx="8246872" cy="4660900"/>
          </a:xfrm>
        </p:spPr>
        <p:txBody>
          <a:bodyPr>
            <a:normAutofit/>
          </a:bodyPr>
          <a:lstStyle/>
          <a:p>
            <a:r>
              <a:rPr lang="en-GB" sz="1800" dirty="0" err="1"/>
              <a:t>robots.txt</a:t>
            </a:r>
            <a:r>
              <a:rPr lang="en-GB" sz="1800" dirty="0"/>
              <a:t> (case sensitive) </a:t>
            </a:r>
            <a:r>
              <a:rPr lang="en-GB" sz="1800" dirty="0" err="1"/>
              <a:t>este</a:t>
            </a:r>
            <a:r>
              <a:rPr lang="en-GB" sz="1800" dirty="0"/>
              <a:t> un </a:t>
            </a:r>
            <a:r>
              <a:rPr lang="en-GB" sz="1800" dirty="0" err="1"/>
              <a:t>fișier</a:t>
            </a:r>
            <a:r>
              <a:rPr lang="en-GB" sz="1800" dirty="0"/>
              <a:t> </a:t>
            </a:r>
            <a:r>
              <a:rPr lang="en-GB" sz="1800" dirty="0" err="1"/>
              <a:t>ce</a:t>
            </a:r>
            <a:r>
              <a:rPr lang="en-GB" sz="1800" dirty="0"/>
              <a:t> </a:t>
            </a:r>
            <a:r>
              <a:rPr lang="en-GB" sz="1800" dirty="0" err="1"/>
              <a:t>specifică</a:t>
            </a:r>
            <a:r>
              <a:rPr lang="en-GB" sz="1800" dirty="0"/>
              <a:t> </a:t>
            </a:r>
            <a:r>
              <a:rPr lang="en-GB" sz="1800" dirty="0" err="1"/>
              <a:t>crawlersce</a:t>
            </a:r>
            <a:r>
              <a:rPr lang="en-GB" sz="1800" dirty="0"/>
              <a:t> </a:t>
            </a:r>
            <a:r>
              <a:rPr lang="en-GB" sz="1800" dirty="0" err="1"/>
              <a:t>părți</a:t>
            </a:r>
            <a:r>
              <a:rPr lang="en-GB" sz="1800" dirty="0"/>
              <a:t> din site pot </a:t>
            </a:r>
            <a:r>
              <a:rPr lang="en-GB" sz="1800" dirty="0" err="1"/>
              <a:t>accesa</a:t>
            </a:r>
            <a:endParaRPr lang="en-GB" sz="1800" dirty="0"/>
          </a:p>
          <a:p>
            <a:r>
              <a:rPr lang="en-GB" sz="1800" dirty="0" err="1"/>
              <a:t>Fișierul</a:t>
            </a:r>
            <a:r>
              <a:rPr lang="en-GB" sz="1800" dirty="0"/>
              <a:t> </a:t>
            </a:r>
            <a:r>
              <a:rPr lang="en-GB" sz="1800" dirty="0" err="1"/>
              <a:t>este</a:t>
            </a:r>
            <a:r>
              <a:rPr lang="en-GB" sz="1800" dirty="0"/>
              <a:t> </a:t>
            </a:r>
            <a:r>
              <a:rPr lang="en-GB" sz="1800" dirty="0" err="1"/>
              <a:t>localizat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root-ul website-</a:t>
            </a:r>
            <a:r>
              <a:rPr lang="en-GB" sz="1800" dirty="0" err="1"/>
              <a:t>ului</a:t>
            </a:r>
            <a:endParaRPr lang="en-GB" sz="1800" dirty="0"/>
          </a:p>
          <a:p>
            <a:r>
              <a:rPr lang="en-GB" sz="1800" dirty="0" err="1"/>
              <a:t>Structura</a:t>
            </a:r>
            <a:r>
              <a:rPr lang="en-GB" sz="1800" dirty="0"/>
              <a:t> </a:t>
            </a:r>
            <a:r>
              <a:rPr lang="en-GB" sz="1800" dirty="0" err="1"/>
              <a:t>fișierului</a:t>
            </a:r>
            <a:r>
              <a:rPr lang="en-GB" sz="1800" dirty="0"/>
              <a:t> </a:t>
            </a:r>
            <a:r>
              <a:rPr lang="en-GB" sz="1800" dirty="0" err="1"/>
              <a:t>este</a:t>
            </a:r>
            <a:r>
              <a:rPr lang="en-GB" sz="1800" dirty="0"/>
              <a:t>:</a:t>
            </a:r>
          </a:p>
          <a:p>
            <a:pPr lvl="1"/>
            <a:r>
              <a:rPr lang="en-GB" dirty="0"/>
              <a:t>User-agent: [user-agent name] Disallow: [URL string not to be crawled]</a:t>
            </a:r>
          </a:p>
          <a:p>
            <a:r>
              <a:rPr lang="en-GB" sz="1800" dirty="0" err="1"/>
              <a:t>Fiecare</a:t>
            </a:r>
            <a:r>
              <a:rPr lang="en-GB" sz="1800" dirty="0"/>
              <a:t> </a:t>
            </a:r>
            <a:r>
              <a:rPr lang="en-GB" sz="1800" dirty="0" err="1"/>
              <a:t>subdomeniu</a:t>
            </a:r>
            <a:r>
              <a:rPr lang="en-GB" sz="1800" dirty="0"/>
              <a:t> al </a:t>
            </a:r>
            <a:r>
              <a:rPr lang="en-GB" sz="1800" dirty="0" err="1"/>
              <a:t>unui</a:t>
            </a:r>
            <a:r>
              <a:rPr lang="en-GB" sz="1800" dirty="0"/>
              <a:t> site </a:t>
            </a:r>
            <a:r>
              <a:rPr lang="en-GB" sz="1800" dirty="0" err="1"/>
              <a:t>folosește</a:t>
            </a:r>
            <a:r>
              <a:rPr lang="en-GB" sz="1800" dirty="0"/>
              <a:t> alt </a:t>
            </a:r>
            <a:r>
              <a:rPr lang="en-GB" sz="1800" dirty="0" err="1"/>
              <a:t>fișier</a:t>
            </a:r>
            <a:r>
              <a:rPr lang="en-GB" sz="1800" dirty="0"/>
              <a:t> </a:t>
            </a:r>
            <a:r>
              <a:rPr lang="en-GB" sz="1800" dirty="0" err="1"/>
              <a:t>robots.txt</a:t>
            </a:r>
            <a:endParaRPr lang="en-GB" sz="1800" dirty="0"/>
          </a:p>
          <a:p>
            <a:r>
              <a:rPr lang="en-GB" sz="1800" dirty="0" err="1"/>
              <a:t>Avantajele</a:t>
            </a:r>
            <a:r>
              <a:rPr lang="en-GB" sz="1800" dirty="0"/>
              <a:t> </a:t>
            </a:r>
            <a:r>
              <a:rPr lang="en-GB" sz="1800" dirty="0" err="1"/>
              <a:t>folosirii</a:t>
            </a:r>
            <a:r>
              <a:rPr lang="en-GB" sz="1800" dirty="0"/>
              <a:t> </a:t>
            </a:r>
            <a:r>
              <a:rPr lang="en-GB" sz="1800" dirty="0" err="1"/>
              <a:t>robots.txt</a:t>
            </a:r>
            <a:r>
              <a:rPr lang="en-GB" sz="1800" dirty="0"/>
              <a:t>:</a:t>
            </a:r>
          </a:p>
          <a:p>
            <a:pPr lvl="1"/>
            <a:r>
              <a:rPr lang="en-GB" dirty="0" err="1"/>
              <a:t>Prevenirea</a:t>
            </a:r>
            <a:r>
              <a:rPr lang="en-GB" dirty="0"/>
              <a:t> </a:t>
            </a:r>
            <a:r>
              <a:rPr lang="en-GB" dirty="0" err="1"/>
              <a:t>apariției</a:t>
            </a:r>
            <a:r>
              <a:rPr lang="en-GB" dirty="0"/>
              <a:t> </a:t>
            </a:r>
            <a:r>
              <a:rPr lang="en-GB" dirty="0" err="1"/>
              <a:t>contentului</a:t>
            </a:r>
            <a:r>
              <a:rPr lang="en-GB" dirty="0"/>
              <a:t> </a:t>
            </a:r>
            <a:r>
              <a:rPr lang="en-GB" dirty="0" err="1"/>
              <a:t>duplicat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rezultatele</a:t>
            </a:r>
            <a:r>
              <a:rPr lang="en-GB" dirty="0"/>
              <a:t> </a:t>
            </a:r>
            <a:r>
              <a:rPr lang="en-GB" dirty="0" err="1"/>
              <a:t>motoarelor</a:t>
            </a:r>
            <a:r>
              <a:rPr lang="en-GB" dirty="0"/>
              <a:t> de </a:t>
            </a:r>
            <a:r>
              <a:rPr lang="en-GB" dirty="0" err="1"/>
              <a:t>căutare</a:t>
            </a:r>
            <a:endParaRPr lang="en-GB" dirty="0"/>
          </a:p>
          <a:p>
            <a:pPr lvl="1"/>
            <a:r>
              <a:rPr lang="en-GB" dirty="0" err="1"/>
              <a:t>Menținerea</a:t>
            </a:r>
            <a:r>
              <a:rPr lang="en-GB" dirty="0"/>
              <a:t> </a:t>
            </a:r>
            <a:r>
              <a:rPr lang="en-GB" dirty="0" err="1"/>
              <a:t>unei</a:t>
            </a:r>
            <a:r>
              <a:rPr lang="en-GB" dirty="0"/>
              <a:t> </a:t>
            </a:r>
            <a:r>
              <a:rPr lang="en-GB" dirty="0" err="1"/>
              <a:t>părți</a:t>
            </a:r>
            <a:r>
              <a:rPr lang="en-GB" dirty="0"/>
              <a:t> din </a:t>
            </a:r>
            <a:r>
              <a:rPr lang="en-GB" dirty="0" err="1"/>
              <a:t>pagina</a:t>
            </a:r>
            <a:r>
              <a:rPr lang="en-GB" dirty="0"/>
              <a:t> web </a:t>
            </a:r>
            <a:r>
              <a:rPr lang="en-GB" dirty="0" err="1"/>
              <a:t>privată</a:t>
            </a:r>
            <a:endParaRPr lang="en-GB" dirty="0"/>
          </a:p>
          <a:p>
            <a:pPr lvl="1"/>
            <a:r>
              <a:rPr lang="en-GB" dirty="0" err="1"/>
              <a:t>Prevenirea</a:t>
            </a:r>
            <a:r>
              <a:rPr lang="en-GB" dirty="0"/>
              <a:t> </a:t>
            </a:r>
            <a:r>
              <a:rPr lang="en-GB" dirty="0" err="1"/>
              <a:t>indexării</a:t>
            </a:r>
            <a:r>
              <a:rPr lang="en-GB" dirty="0"/>
              <a:t> </a:t>
            </a:r>
            <a:r>
              <a:rPr lang="en-GB" dirty="0" err="1"/>
              <a:t>unor</a:t>
            </a:r>
            <a:r>
              <a:rPr lang="en-GB" dirty="0"/>
              <a:t> </a:t>
            </a:r>
            <a:r>
              <a:rPr lang="en-GB" dirty="0" err="1"/>
              <a:t>fișiere</a:t>
            </a:r>
            <a:r>
              <a:rPr lang="en-GB" dirty="0"/>
              <a:t> (</a:t>
            </a:r>
            <a:r>
              <a:rPr lang="en-GB" dirty="0" err="1"/>
              <a:t>imagini</a:t>
            </a:r>
            <a:r>
              <a:rPr lang="en-GB" dirty="0"/>
              <a:t>, PDF, etc)</a:t>
            </a:r>
          </a:p>
          <a:p>
            <a:r>
              <a:rPr lang="en-GB" sz="1800" dirty="0" err="1"/>
              <a:t>În</a:t>
            </a:r>
            <a:r>
              <a:rPr lang="en-GB" sz="1800" dirty="0"/>
              <a:t> </a:t>
            </a:r>
            <a:r>
              <a:rPr lang="en-GB" sz="1800" dirty="0" err="1"/>
              <a:t>robots.txt</a:t>
            </a:r>
            <a:r>
              <a:rPr lang="en-GB" sz="1800" dirty="0"/>
              <a:t> se </a:t>
            </a:r>
            <a:r>
              <a:rPr lang="en-GB" sz="1800" dirty="0" err="1"/>
              <a:t>poate</a:t>
            </a:r>
            <a:r>
              <a:rPr lang="en-GB" sz="1800" dirty="0"/>
              <a:t> </a:t>
            </a:r>
            <a:r>
              <a:rPr lang="en-GB" sz="1800" dirty="0" err="1"/>
              <a:t>specifica</a:t>
            </a:r>
            <a:r>
              <a:rPr lang="en-GB" sz="1800" dirty="0"/>
              <a:t> sitemap-</a:t>
            </a:r>
            <a:r>
              <a:rPr lang="en-GB" sz="1800" dirty="0" err="1"/>
              <a:t>ulwebserver</a:t>
            </a:r>
            <a:r>
              <a:rPr lang="en-GB" sz="1800" dirty="0"/>
              <a:t>-</a:t>
            </a:r>
            <a:r>
              <a:rPr lang="en-GB" sz="1800" dirty="0" err="1"/>
              <a:t>ului</a:t>
            </a:r>
            <a:endParaRPr lang="en-GB" sz="1800" dirty="0"/>
          </a:p>
          <a:p>
            <a:r>
              <a:rPr lang="en-GB" sz="1800" dirty="0"/>
              <a:t>Mai </a:t>
            </a:r>
            <a:r>
              <a:rPr lang="en-GB" sz="1800" dirty="0" err="1"/>
              <a:t>multe</a:t>
            </a:r>
            <a:r>
              <a:rPr lang="en-GB" sz="1800" dirty="0"/>
              <a:t> </a:t>
            </a:r>
            <a:r>
              <a:rPr lang="en-GB" sz="1800" dirty="0" err="1"/>
              <a:t>detalii</a:t>
            </a:r>
            <a:r>
              <a:rPr lang="en-GB" sz="1800" dirty="0"/>
              <a:t>: </a:t>
            </a:r>
            <a:r>
              <a:rPr lang="en-GB" sz="1800" dirty="0">
                <a:hlinkClick r:id="rId2"/>
              </a:rPr>
              <a:t>https://www.robotstxt.org/robotstxt.html</a:t>
            </a:r>
            <a:r>
              <a:rPr lang="en-GB" sz="1800" dirty="0"/>
              <a:t> </a:t>
            </a:r>
          </a:p>
          <a:p>
            <a:endParaRPr lang="ro-RO" sz="1800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80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07F9-59BC-4E49-AB60-38853EA17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GB" dirty="0"/>
              <a:t>ROBOTS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49235-CE19-6242-A1D5-C189F3BEC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>
            <a:normAutofit/>
          </a:bodyPr>
          <a:lstStyle/>
          <a:p>
            <a:r>
              <a:rPr lang="en-GB" dirty="0"/>
              <a:t>Un </a:t>
            </a:r>
            <a:r>
              <a:rPr lang="en-GB" dirty="0" err="1"/>
              <a:t>exemplu</a:t>
            </a:r>
            <a:r>
              <a:rPr lang="en-GB" dirty="0"/>
              <a:t> de </a:t>
            </a:r>
            <a:r>
              <a:rPr lang="en-GB" dirty="0" err="1"/>
              <a:t>robots.txt</a:t>
            </a:r>
            <a:endParaRPr lang="en-GB" dirty="0"/>
          </a:p>
          <a:p>
            <a:pPr lvl="1"/>
            <a:r>
              <a:rPr lang="en-GB" dirty="0"/>
              <a:t>https://</a:t>
            </a:r>
            <a:r>
              <a:rPr lang="en-GB" dirty="0" err="1"/>
              <a:t>www.google.com</a:t>
            </a:r>
            <a:r>
              <a:rPr lang="en-GB" dirty="0"/>
              <a:t>/</a:t>
            </a:r>
            <a:r>
              <a:rPr lang="en-GB" dirty="0" err="1"/>
              <a:t>robots.txt</a:t>
            </a:r>
            <a:endParaRPr lang="en-GB" dirty="0"/>
          </a:p>
          <a:p>
            <a:endParaRPr lang="ro-RO" dirty="0"/>
          </a:p>
        </p:txBody>
      </p:sp>
      <p:pic>
        <p:nvPicPr>
          <p:cNvPr id="5" name="Picture 4" descr="Text&#10;&#10;Description automatically generated with low confidence">
            <a:extLst>
              <a:ext uri="{FF2B5EF4-FFF2-40B4-BE49-F238E27FC236}">
                <a16:creationId xmlns:a16="http://schemas.microsoft.com/office/drawing/2014/main" id="{EEEDAFD4-B75B-3544-BC2E-6EA9E5DAC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68" r="-1" b="22017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81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937C-81EC-5643-9D58-0C9C49BFE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GB" dirty="0"/>
              <a:t>ROBOTS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EAEA6-D7F4-4A44-81D3-D1066952F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68500"/>
            <a:ext cx="8018271" cy="4023360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/>
              <a:t>Pe </a:t>
            </a:r>
            <a:r>
              <a:rPr lang="en-GB" sz="2800" dirty="0" err="1"/>
              <a:t>lângă</a:t>
            </a:r>
            <a:r>
              <a:rPr lang="en-GB" sz="2800" dirty="0"/>
              <a:t> </a:t>
            </a:r>
            <a:r>
              <a:rPr lang="en-GB" sz="2800" dirty="0" err="1"/>
              <a:t>fișierul</a:t>
            </a:r>
            <a:r>
              <a:rPr lang="en-GB" sz="2800" dirty="0"/>
              <a:t> </a:t>
            </a:r>
            <a:r>
              <a:rPr lang="en-GB" sz="2800" dirty="0" err="1"/>
              <a:t>robots.txt</a:t>
            </a:r>
            <a:r>
              <a:rPr lang="en-GB" sz="2800" dirty="0"/>
              <a:t>, </a:t>
            </a:r>
            <a:r>
              <a:rPr lang="en-GB" sz="2800" dirty="0" err="1"/>
              <a:t>există</a:t>
            </a:r>
            <a:r>
              <a:rPr lang="en-GB" sz="2800" dirty="0"/>
              <a:t> meta directive robots care </a:t>
            </a:r>
            <a:r>
              <a:rPr lang="en-GB" sz="2800" dirty="0" err="1"/>
              <a:t>dau</a:t>
            </a:r>
            <a:r>
              <a:rPr lang="en-GB" sz="2800" dirty="0"/>
              <a:t> </a:t>
            </a:r>
            <a:r>
              <a:rPr lang="en-GB" sz="2800" dirty="0" err="1"/>
              <a:t>instrucțiuni</a:t>
            </a:r>
            <a:r>
              <a:rPr lang="en-GB" sz="2800" dirty="0"/>
              <a:t> </a:t>
            </a:r>
            <a:r>
              <a:rPr lang="en-GB" sz="2800" dirty="0" err="1"/>
              <a:t>ferme</a:t>
            </a:r>
            <a:r>
              <a:rPr lang="en-GB" sz="2800" dirty="0"/>
              <a:t> </a:t>
            </a:r>
            <a:r>
              <a:rPr lang="en-GB" sz="2800" dirty="0" err="1"/>
              <a:t>despre</a:t>
            </a:r>
            <a:r>
              <a:rPr lang="en-GB" sz="2800" dirty="0"/>
              <a:t> cum </a:t>
            </a:r>
            <a:r>
              <a:rPr lang="en-GB" sz="2800" dirty="0" err="1"/>
              <a:t>trebuie</a:t>
            </a:r>
            <a:r>
              <a:rPr lang="en-GB" sz="2800" dirty="0"/>
              <a:t> </a:t>
            </a:r>
            <a:r>
              <a:rPr lang="en-GB" sz="2800" dirty="0" err="1"/>
              <a:t>indexat</a:t>
            </a:r>
            <a:r>
              <a:rPr lang="en-GB" sz="2800" dirty="0"/>
              <a:t> </a:t>
            </a:r>
            <a:r>
              <a:rPr lang="en-GB" sz="2800" dirty="0" err="1"/>
              <a:t>conținutul</a:t>
            </a:r>
            <a:r>
              <a:rPr lang="en-GB" sz="2800" dirty="0"/>
              <a:t> </a:t>
            </a:r>
            <a:r>
              <a:rPr lang="en-GB" sz="2800" dirty="0" err="1"/>
              <a:t>unei</a:t>
            </a:r>
            <a:r>
              <a:rPr lang="en-GB" sz="2800" dirty="0"/>
              <a:t> </a:t>
            </a:r>
            <a:r>
              <a:rPr lang="en-GB" sz="2800" dirty="0" err="1"/>
              <a:t>pagini</a:t>
            </a:r>
            <a:endParaRPr lang="en-GB" sz="2800" dirty="0"/>
          </a:p>
          <a:p>
            <a:r>
              <a:rPr lang="en-GB" sz="2800" dirty="0"/>
              <a:t>Meta </a:t>
            </a:r>
            <a:r>
              <a:rPr lang="en-GB" sz="2800" dirty="0" err="1"/>
              <a:t>directivele</a:t>
            </a:r>
            <a:r>
              <a:rPr lang="en-GB" sz="2800" dirty="0"/>
              <a:t> pot fi </a:t>
            </a:r>
            <a:r>
              <a:rPr lang="en-GB" sz="2800" dirty="0" err="1"/>
              <a:t>incluse</a:t>
            </a:r>
            <a:r>
              <a:rPr lang="en-GB" sz="2800" dirty="0"/>
              <a:t> in </a:t>
            </a:r>
            <a:r>
              <a:rPr lang="en-GB" sz="2800" dirty="0" err="1"/>
              <a:t>pagina</a:t>
            </a:r>
            <a:r>
              <a:rPr lang="en-GB" sz="2800" dirty="0"/>
              <a:t> HTML </a:t>
            </a:r>
            <a:r>
              <a:rPr lang="en-GB" sz="2800" dirty="0" err="1"/>
              <a:t>sau</a:t>
            </a:r>
            <a:r>
              <a:rPr lang="en-GB" sz="2800" dirty="0"/>
              <a:t> </a:t>
            </a:r>
            <a:r>
              <a:rPr lang="en-GB" sz="2800" dirty="0" err="1"/>
              <a:t>întoarse</a:t>
            </a:r>
            <a:r>
              <a:rPr lang="en-GB" sz="2800" dirty="0"/>
              <a:t> de server </a:t>
            </a:r>
            <a:r>
              <a:rPr lang="en-GB" sz="2800" dirty="0" err="1"/>
              <a:t>în</a:t>
            </a:r>
            <a:r>
              <a:rPr lang="en-GB" sz="2800" dirty="0"/>
              <a:t> headers HTTP (x-robots-tag)</a:t>
            </a:r>
          </a:p>
          <a:p>
            <a:pPr lvl="1"/>
            <a:r>
              <a:rPr lang="en-GB" sz="2400" dirty="0"/>
              <a:t>&lt;meta name=“robots” content=“</a:t>
            </a:r>
            <a:r>
              <a:rPr lang="en-GB" sz="2400" dirty="0" err="1"/>
              <a:t>noindex</a:t>
            </a:r>
            <a:r>
              <a:rPr lang="en-GB" sz="2400" dirty="0"/>
              <a:t>, </a:t>
            </a:r>
            <a:r>
              <a:rPr lang="en-GB" sz="2400" dirty="0" err="1"/>
              <a:t>nofollow</a:t>
            </a:r>
            <a:r>
              <a:rPr lang="en-GB" sz="2400" dirty="0"/>
              <a:t>”&gt;</a:t>
            </a:r>
          </a:p>
          <a:p>
            <a:r>
              <a:rPr lang="en-GB" sz="2800" dirty="0"/>
              <a:t>Cele </a:t>
            </a:r>
            <a:r>
              <a:rPr lang="en-GB" sz="2800" dirty="0" err="1"/>
              <a:t>mai</a:t>
            </a:r>
            <a:r>
              <a:rPr lang="en-GB" sz="2800" dirty="0"/>
              <a:t> </a:t>
            </a:r>
            <a:r>
              <a:rPr lang="en-GB" sz="2800" dirty="0" err="1"/>
              <a:t>întâlnite</a:t>
            </a:r>
            <a:r>
              <a:rPr lang="en-GB" sz="2800" dirty="0"/>
              <a:t> </a:t>
            </a:r>
            <a:r>
              <a:rPr lang="en-GB" sz="2800" dirty="0" err="1"/>
              <a:t>valori</a:t>
            </a:r>
            <a:r>
              <a:rPr lang="en-GB" sz="2800" dirty="0"/>
              <a:t> </a:t>
            </a:r>
            <a:r>
              <a:rPr lang="en-GB" sz="2800" dirty="0" err="1"/>
              <a:t>pentru</a:t>
            </a:r>
            <a:r>
              <a:rPr lang="en-GB" sz="2800" dirty="0"/>
              <a:t> </a:t>
            </a:r>
            <a:r>
              <a:rPr lang="en-GB" sz="2800" dirty="0" err="1"/>
              <a:t>atributul</a:t>
            </a:r>
            <a:r>
              <a:rPr lang="en-GB" sz="2800" dirty="0"/>
              <a:t> content: </a:t>
            </a:r>
          </a:p>
          <a:p>
            <a:pPr lvl="1"/>
            <a:r>
              <a:rPr lang="en-GB" sz="2400" dirty="0"/>
              <a:t>index / </a:t>
            </a:r>
            <a:r>
              <a:rPr lang="en-GB" sz="2400" dirty="0" err="1"/>
              <a:t>noindex</a:t>
            </a:r>
            <a:r>
              <a:rPr lang="en-GB" sz="2400" dirty="0"/>
              <a:t> – </a:t>
            </a:r>
            <a:r>
              <a:rPr lang="en-GB" sz="2400" dirty="0" err="1"/>
              <a:t>pagina</a:t>
            </a:r>
            <a:r>
              <a:rPr lang="en-GB" sz="2400" dirty="0"/>
              <a:t> </a:t>
            </a:r>
            <a:r>
              <a:rPr lang="en-GB" sz="2400" dirty="0" err="1"/>
              <a:t>poate</a:t>
            </a:r>
            <a:r>
              <a:rPr lang="en-GB" sz="2400" dirty="0"/>
              <a:t> / nu </a:t>
            </a:r>
            <a:r>
              <a:rPr lang="en-GB" sz="2400" dirty="0" err="1"/>
              <a:t>poate</a:t>
            </a:r>
            <a:r>
              <a:rPr lang="en-GB" sz="2400" dirty="0"/>
              <a:t> fi </a:t>
            </a:r>
            <a:r>
              <a:rPr lang="en-GB" sz="2400" dirty="0" err="1"/>
              <a:t>indexată</a:t>
            </a:r>
            <a:endParaRPr lang="en-GB" sz="2400" dirty="0"/>
          </a:p>
          <a:p>
            <a:pPr lvl="1"/>
            <a:r>
              <a:rPr lang="en-GB" sz="2400" dirty="0"/>
              <a:t>follow/ </a:t>
            </a:r>
            <a:r>
              <a:rPr lang="en-GB" sz="2400" dirty="0" err="1"/>
              <a:t>nofollow</a:t>
            </a:r>
            <a:r>
              <a:rPr lang="en-GB" sz="2400" dirty="0"/>
              <a:t> – crawler-ul </a:t>
            </a:r>
            <a:r>
              <a:rPr lang="en-GB" sz="2400" dirty="0" err="1"/>
              <a:t>trebuie</a:t>
            </a:r>
            <a:r>
              <a:rPr lang="en-GB" sz="2400" dirty="0"/>
              <a:t> </a:t>
            </a:r>
            <a:r>
              <a:rPr lang="en-GB" sz="2400" dirty="0" err="1"/>
              <a:t>să</a:t>
            </a:r>
            <a:r>
              <a:rPr lang="en-GB" sz="2400" dirty="0"/>
              <a:t> </a:t>
            </a:r>
            <a:r>
              <a:rPr lang="en-GB" sz="2400" dirty="0" err="1"/>
              <a:t>acceseze</a:t>
            </a:r>
            <a:r>
              <a:rPr lang="en-GB" sz="2400" dirty="0"/>
              <a:t>/ </a:t>
            </a:r>
            <a:r>
              <a:rPr lang="en-GB" sz="2400" dirty="0" err="1"/>
              <a:t>să</a:t>
            </a:r>
            <a:r>
              <a:rPr lang="en-GB" sz="2400" dirty="0"/>
              <a:t> nu </a:t>
            </a:r>
            <a:r>
              <a:rPr lang="en-GB" sz="2400" dirty="0" err="1"/>
              <a:t>acceseze</a:t>
            </a:r>
            <a:r>
              <a:rPr lang="en-GB" sz="2400" dirty="0"/>
              <a:t> </a:t>
            </a:r>
            <a:r>
              <a:rPr lang="en-GB" sz="2400" dirty="0" err="1"/>
              <a:t>toate</a:t>
            </a:r>
            <a:r>
              <a:rPr lang="en-GB" sz="2400" dirty="0"/>
              <a:t> link-urile din </a:t>
            </a:r>
            <a:r>
              <a:rPr lang="en-GB" sz="2400" dirty="0" err="1"/>
              <a:t>pagină</a:t>
            </a:r>
            <a:endParaRPr lang="en-GB" sz="2400" dirty="0"/>
          </a:p>
          <a:p>
            <a:pPr lvl="1"/>
            <a:r>
              <a:rPr lang="en-GB" sz="2400" dirty="0" err="1"/>
              <a:t>Noimageindex</a:t>
            </a:r>
            <a:r>
              <a:rPr lang="en-GB" sz="2400" dirty="0"/>
              <a:t> – </a:t>
            </a:r>
            <a:r>
              <a:rPr lang="en-GB" sz="2400" dirty="0" err="1"/>
              <a:t>imaginile</a:t>
            </a:r>
            <a:r>
              <a:rPr lang="en-GB" sz="2400" dirty="0"/>
              <a:t> nu pot fi </a:t>
            </a:r>
            <a:r>
              <a:rPr lang="en-GB" sz="2400" dirty="0" err="1"/>
              <a:t>indexate</a:t>
            </a:r>
            <a:endParaRPr lang="en-GB" sz="2400" dirty="0"/>
          </a:p>
          <a:p>
            <a:endParaRPr lang="ro-RO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94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754" name="Rectangle 2">
            <a:extLst>
              <a:ext uri="{FF2B5EF4-FFF2-40B4-BE49-F238E27FC236}">
                <a16:creationId xmlns:a16="http://schemas.microsoft.com/office/drawing/2014/main" id="{34E56B85-8E33-EA49-A337-060D0D721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Componenta Popularitate</a:t>
            </a:r>
            <a:endParaRPr lang="en-US" altLang="en-US"/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D9B02474-F9CD-B24B-A612-E34E1B705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848" y="2084832"/>
            <a:ext cx="5275072" cy="4187952"/>
          </a:xfrm>
        </p:spPr>
        <p:txBody>
          <a:bodyPr>
            <a:normAutofit lnSpcReduction="10000"/>
          </a:bodyPr>
          <a:lstStyle/>
          <a:p>
            <a:br>
              <a:rPr lang="en-GB" sz="1600" dirty="0"/>
            </a:br>
            <a:r>
              <a:rPr lang="en-GB" sz="1600" dirty="0" err="1"/>
              <a:t>Bazată</a:t>
            </a:r>
            <a:r>
              <a:rPr lang="en-GB" sz="1600" dirty="0"/>
              <a:t> pe </a:t>
            </a:r>
            <a:r>
              <a:rPr lang="en-GB" sz="1600" dirty="0" err="1"/>
              <a:t>numărul</a:t>
            </a:r>
            <a:r>
              <a:rPr lang="en-GB" sz="1600" dirty="0"/>
              <a:t> de </a:t>
            </a:r>
            <a:r>
              <a:rPr lang="en-GB" sz="1600" dirty="0" err="1"/>
              <a:t>pagini</a:t>
            </a:r>
            <a:r>
              <a:rPr lang="en-GB" sz="1600" dirty="0"/>
              <a:t> </a:t>
            </a:r>
            <a:r>
              <a:rPr lang="en-GB" sz="1600" dirty="0" err="1"/>
              <a:t>ce</a:t>
            </a:r>
            <a:r>
              <a:rPr lang="en-GB" sz="1600" dirty="0"/>
              <a:t> au </a:t>
            </a:r>
            <a:r>
              <a:rPr lang="en-GB" sz="1600" dirty="0" err="1"/>
              <a:t>legături</a:t>
            </a:r>
            <a:r>
              <a:rPr lang="en-GB" sz="1600" dirty="0"/>
              <a:t> </a:t>
            </a:r>
            <a:r>
              <a:rPr lang="en-GB" sz="1600" dirty="0" err="1"/>
              <a:t>către</a:t>
            </a:r>
            <a:r>
              <a:rPr lang="en-GB" sz="1600" dirty="0"/>
              <a:t> </a:t>
            </a:r>
            <a:r>
              <a:rPr lang="en-GB" sz="1600" dirty="0" err="1"/>
              <a:t>pagina</a:t>
            </a:r>
            <a:r>
              <a:rPr lang="en-GB" sz="1600" dirty="0"/>
              <a:t> </a:t>
            </a:r>
            <a:r>
              <a:rPr lang="en-GB" sz="1600" dirty="0" err="1"/>
              <a:t>voastră</a:t>
            </a:r>
            <a:endParaRPr lang="en-GB" sz="1600" dirty="0"/>
          </a:p>
          <a:p>
            <a:r>
              <a:rPr lang="en-GB" sz="1600" dirty="0"/>
              <a:t>Cu </a:t>
            </a:r>
            <a:r>
              <a:rPr lang="en-GB" sz="1600" dirty="0" err="1"/>
              <a:t>cât</a:t>
            </a:r>
            <a:r>
              <a:rPr lang="en-GB" sz="1600" dirty="0"/>
              <a:t> sunt </a:t>
            </a:r>
            <a:r>
              <a:rPr lang="en-GB" sz="1600" dirty="0" err="1"/>
              <a:t>mai</a:t>
            </a:r>
            <a:r>
              <a:rPr lang="en-GB" sz="1600" dirty="0"/>
              <a:t> </a:t>
            </a:r>
            <a:r>
              <a:rPr lang="en-GB" sz="1600" dirty="0" err="1"/>
              <a:t>multe</a:t>
            </a:r>
            <a:r>
              <a:rPr lang="en-GB" sz="1600" dirty="0"/>
              <a:t> </a:t>
            </a:r>
            <a:r>
              <a:rPr lang="en-GB" sz="1600" dirty="0" err="1"/>
              <a:t>pagini</a:t>
            </a:r>
            <a:r>
              <a:rPr lang="en-GB" sz="1600" dirty="0"/>
              <a:t> </a:t>
            </a:r>
            <a:r>
              <a:rPr lang="en-GB" sz="1600" dirty="0" err="1"/>
              <a:t>populare</a:t>
            </a:r>
            <a:r>
              <a:rPr lang="en-GB" sz="1600" dirty="0"/>
              <a:t> </a:t>
            </a:r>
            <a:r>
              <a:rPr lang="en-GB" sz="1600" dirty="0" err="1"/>
              <a:t>ce</a:t>
            </a:r>
            <a:r>
              <a:rPr lang="en-GB" sz="1600" dirty="0"/>
              <a:t> au </a:t>
            </a:r>
            <a:r>
              <a:rPr lang="en-GB" sz="1600" dirty="0" err="1"/>
              <a:t>legături</a:t>
            </a:r>
            <a:r>
              <a:rPr lang="en-GB" sz="1600" dirty="0"/>
              <a:t> </a:t>
            </a:r>
            <a:r>
              <a:rPr lang="en-GB" sz="1600" dirty="0" err="1"/>
              <a:t>către</a:t>
            </a:r>
            <a:r>
              <a:rPr lang="en-GB" sz="1600" dirty="0"/>
              <a:t> </a:t>
            </a:r>
            <a:r>
              <a:rPr lang="en-GB" sz="1600" dirty="0" err="1"/>
              <a:t>pagina</a:t>
            </a:r>
            <a:r>
              <a:rPr lang="en-GB" sz="1600" dirty="0"/>
              <a:t> </a:t>
            </a:r>
            <a:r>
              <a:rPr lang="en-GB" sz="1600" dirty="0" err="1"/>
              <a:t>voastră</a:t>
            </a:r>
            <a:r>
              <a:rPr lang="en-GB" sz="1600" dirty="0"/>
              <a:t>, cu </a:t>
            </a:r>
            <a:r>
              <a:rPr lang="en-GB" sz="1600" dirty="0" err="1"/>
              <a:t>cât</a:t>
            </a:r>
            <a:r>
              <a:rPr lang="en-GB" sz="1600" dirty="0"/>
              <a:t> </a:t>
            </a:r>
            <a:r>
              <a:rPr lang="en-GB" sz="1600" dirty="0" err="1"/>
              <a:t>aceasta</a:t>
            </a:r>
            <a:r>
              <a:rPr lang="en-GB" sz="1600" dirty="0"/>
              <a:t> </a:t>
            </a:r>
            <a:r>
              <a:rPr lang="en-GB" sz="1600" dirty="0" err="1"/>
              <a:t>va</a:t>
            </a:r>
            <a:r>
              <a:rPr lang="en-GB" sz="1600" dirty="0"/>
              <a:t> </a:t>
            </a:r>
            <a:r>
              <a:rPr lang="en-GB" sz="1600" dirty="0" err="1"/>
              <a:t>deveni</a:t>
            </a:r>
            <a:r>
              <a:rPr lang="en-GB" sz="1600" dirty="0"/>
              <a:t> </a:t>
            </a:r>
            <a:r>
              <a:rPr lang="en-GB" sz="1600" dirty="0" err="1"/>
              <a:t>mai</a:t>
            </a:r>
            <a:r>
              <a:rPr lang="en-GB" sz="1600" dirty="0"/>
              <a:t> </a:t>
            </a:r>
            <a:r>
              <a:rPr lang="en-GB" sz="1600" dirty="0" err="1"/>
              <a:t>populară</a:t>
            </a:r>
            <a:endParaRPr lang="en-GB" sz="1600" dirty="0"/>
          </a:p>
          <a:p>
            <a:r>
              <a:rPr lang="en-GB" sz="1600" dirty="0" err="1"/>
              <a:t>Motoarele</a:t>
            </a:r>
            <a:r>
              <a:rPr lang="en-GB" sz="1600" dirty="0"/>
              <a:t> de </a:t>
            </a:r>
            <a:r>
              <a:rPr lang="en-GB" sz="1600" dirty="0" err="1"/>
              <a:t>căutare</a:t>
            </a:r>
            <a:r>
              <a:rPr lang="en-GB" sz="1600" dirty="0"/>
              <a:t> </a:t>
            </a:r>
            <a:r>
              <a:rPr lang="en-GB" sz="1600" dirty="0" err="1"/>
              <a:t>folosesc</a:t>
            </a:r>
            <a:r>
              <a:rPr lang="en-GB" sz="1600" dirty="0"/>
              <a:t> </a:t>
            </a:r>
            <a:r>
              <a:rPr lang="en-GB" sz="1600" dirty="0" err="1"/>
              <a:t>diverşi</a:t>
            </a:r>
            <a:r>
              <a:rPr lang="en-GB" sz="1600" dirty="0"/>
              <a:t> </a:t>
            </a:r>
            <a:r>
              <a:rPr lang="en-GB" sz="1600" dirty="0" err="1"/>
              <a:t>algoritmi</a:t>
            </a:r>
            <a:r>
              <a:rPr lang="en-GB" sz="1600" dirty="0"/>
              <a:t> de </a:t>
            </a:r>
            <a:r>
              <a:rPr lang="en-GB" sz="1600" dirty="0" err="1"/>
              <a:t>determinare</a:t>
            </a:r>
            <a:r>
              <a:rPr lang="en-GB" sz="1600" dirty="0"/>
              <a:t> a </a:t>
            </a:r>
            <a:r>
              <a:rPr lang="en-GB" sz="1600" dirty="0" err="1"/>
              <a:t>popularităţii</a:t>
            </a:r>
            <a:endParaRPr lang="en-GB" sz="1600" dirty="0"/>
          </a:p>
          <a:p>
            <a:pPr lvl="1"/>
            <a:r>
              <a:rPr lang="en-GB" sz="1400" dirty="0" err="1"/>
              <a:t>Intrările</a:t>
            </a:r>
            <a:r>
              <a:rPr lang="en-GB" sz="1400" dirty="0"/>
              <a:t> din index sunt </a:t>
            </a:r>
            <a:r>
              <a:rPr lang="en-GB" sz="1400" dirty="0" err="1"/>
              <a:t>trecute</a:t>
            </a:r>
            <a:r>
              <a:rPr lang="en-GB" sz="1400" dirty="0"/>
              <a:t> </a:t>
            </a:r>
            <a:r>
              <a:rPr lang="en-GB" sz="1400" dirty="0" err="1"/>
              <a:t>printr</a:t>
            </a:r>
            <a:r>
              <a:rPr lang="en-GB" sz="1400" dirty="0"/>
              <a:t>-un </a:t>
            </a:r>
            <a:r>
              <a:rPr lang="en-GB" sz="1400" dirty="0" err="1"/>
              <a:t>algoritm</a:t>
            </a:r>
            <a:r>
              <a:rPr lang="en-GB" sz="1400" dirty="0"/>
              <a:t> de </a:t>
            </a:r>
            <a:r>
              <a:rPr lang="en-GB" sz="1400" dirty="0" err="1"/>
              <a:t>rankingcare</a:t>
            </a:r>
            <a:r>
              <a:rPr lang="en-GB" sz="1400" dirty="0"/>
              <a:t> </a:t>
            </a:r>
            <a:r>
              <a:rPr lang="en-GB" sz="1400" dirty="0" err="1"/>
              <a:t>ordonează</a:t>
            </a:r>
            <a:r>
              <a:rPr lang="en-GB" sz="1400" dirty="0"/>
              <a:t> </a:t>
            </a:r>
            <a:r>
              <a:rPr lang="en-GB" sz="1400" dirty="0" err="1"/>
              <a:t>ierarhic</a:t>
            </a:r>
            <a:r>
              <a:rPr lang="en-GB" sz="1400" dirty="0"/>
              <a:t> </a:t>
            </a:r>
            <a:r>
              <a:rPr lang="en-GB" sz="1400" dirty="0" err="1"/>
              <a:t>rezultatele</a:t>
            </a:r>
            <a:r>
              <a:rPr lang="en-GB" sz="1400" dirty="0"/>
              <a:t> </a:t>
            </a:r>
            <a:r>
              <a:rPr lang="en-GB" sz="1400" dirty="0" err="1"/>
              <a:t>căutării</a:t>
            </a:r>
            <a:endParaRPr lang="en-GB" sz="1400" dirty="0"/>
          </a:p>
          <a:p>
            <a:pPr lvl="1"/>
            <a:r>
              <a:rPr lang="en-GB" sz="1400" dirty="0" err="1"/>
              <a:t>Unul</a:t>
            </a:r>
            <a:r>
              <a:rPr lang="en-GB" sz="1400" dirty="0"/>
              <a:t> </a:t>
            </a:r>
            <a:r>
              <a:rPr lang="en-GB" sz="1400" dirty="0" err="1"/>
              <a:t>dintre</a:t>
            </a:r>
            <a:r>
              <a:rPr lang="en-GB" sz="1400" dirty="0"/>
              <a:t> </a:t>
            </a:r>
            <a:r>
              <a:rPr lang="en-GB" sz="1400" dirty="0" err="1"/>
              <a:t>cele</a:t>
            </a:r>
            <a:r>
              <a:rPr lang="en-GB" sz="1400" dirty="0"/>
              <a:t> </a:t>
            </a:r>
            <a:r>
              <a:rPr lang="en-GB" sz="1400" dirty="0" err="1"/>
              <a:t>mai</a:t>
            </a:r>
            <a:r>
              <a:rPr lang="en-GB" sz="1400" dirty="0"/>
              <a:t> </a:t>
            </a:r>
            <a:r>
              <a:rPr lang="en-GB" sz="1400" dirty="0" err="1"/>
              <a:t>cunoscute</a:t>
            </a:r>
            <a:r>
              <a:rPr lang="en-GB" sz="1400" dirty="0"/>
              <a:t> </a:t>
            </a:r>
            <a:r>
              <a:rPr lang="en-GB" sz="1400" dirty="0" err="1"/>
              <a:t>mecanisme</a:t>
            </a:r>
            <a:r>
              <a:rPr lang="en-GB" sz="1400" dirty="0"/>
              <a:t> de ranking </a:t>
            </a:r>
            <a:r>
              <a:rPr lang="en-GB" sz="1400" dirty="0" err="1"/>
              <a:t>este</a:t>
            </a:r>
            <a:r>
              <a:rPr lang="en-GB" sz="1400" dirty="0"/>
              <a:t> PageRank de la Google</a:t>
            </a:r>
          </a:p>
          <a:p>
            <a:r>
              <a:rPr lang="en-GB" sz="1600" dirty="0" err="1"/>
              <a:t>Oricare</a:t>
            </a:r>
            <a:r>
              <a:rPr lang="en-GB" sz="1600" dirty="0"/>
              <a:t> </a:t>
            </a:r>
            <a:r>
              <a:rPr lang="en-GB" sz="1600" dirty="0" err="1"/>
              <a:t>pagină</a:t>
            </a:r>
            <a:r>
              <a:rPr lang="en-GB" sz="1600" dirty="0"/>
              <a:t> Web </a:t>
            </a:r>
            <a:r>
              <a:rPr lang="en-GB" sz="1600" dirty="0" err="1"/>
              <a:t>primeşte</a:t>
            </a:r>
            <a:r>
              <a:rPr lang="en-GB" sz="1600" dirty="0"/>
              <a:t> o </a:t>
            </a:r>
            <a:r>
              <a:rPr lang="en-GB" sz="1600" dirty="0" err="1"/>
              <a:t>valoare</a:t>
            </a:r>
            <a:r>
              <a:rPr lang="en-GB" sz="1600" dirty="0"/>
              <a:t> a </a:t>
            </a:r>
            <a:r>
              <a:rPr lang="en-GB" sz="1600" dirty="0" err="1"/>
              <a:t>popularităţii</a:t>
            </a:r>
            <a:r>
              <a:rPr lang="en-GB" sz="1600" dirty="0"/>
              <a:t> </a:t>
            </a:r>
            <a:r>
              <a:rPr lang="en-GB" sz="1600" dirty="0" err="1"/>
              <a:t>bazată</a:t>
            </a:r>
            <a:r>
              <a:rPr lang="en-GB" sz="1600" dirty="0"/>
              <a:t> pe </a:t>
            </a:r>
            <a:r>
              <a:rPr lang="en-GB" sz="1600" dirty="0" err="1"/>
              <a:t>legături</a:t>
            </a:r>
            <a:endParaRPr lang="en-GB" sz="1600" dirty="0"/>
          </a:p>
          <a:p>
            <a:r>
              <a:rPr lang="en-GB" sz="1600" dirty="0" err="1"/>
              <a:t>Popularitatea</a:t>
            </a:r>
            <a:r>
              <a:rPr lang="en-GB" sz="1600" dirty="0"/>
              <a:t> </a:t>
            </a:r>
            <a:r>
              <a:rPr lang="en-GB" sz="1600" dirty="0" err="1"/>
              <a:t>este</a:t>
            </a:r>
            <a:r>
              <a:rPr lang="en-GB" sz="1600" dirty="0"/>
              <a:t> </a:t>
            </a:r>
            <a:r>
              <a:rPr lang="en-GB" sz="1600" dirty="0" err="1"/>
              <a:t>asignată</a:t>
            </a:r>
            <a:r>
              <a:rPr lang="en-GB" sz="1600" dirty="0"/>
              <a:t> per </a:t>
            </a:r>
            <a:r>
              <a:rPr lang="en-GB" sz="1600" dirty="0" err="1"/>
              <a:t>pagină</a:t>
            </a:r>
            <a:r>
              <a:rPr lang="en-GB" sz="1600" dirty="0"/>
              <a:t>, nu </a:t>
            </a:r>
            <a:r>
              <a:rPr lang="en-GB" sz="1600" dirty="0" err="1"/>
              <a:t>pentru</a:t>
            </a:r>
            <a:r>
              <a:rPr lang="en-GB" sz="1600" dirty="0"/>
              <a:t> un </a:t>
            </a:r>
            <a:r>
              <a:rPr lang="en-GB" sz="1600" dirty="0" err="1"/>
              <a:t>întreg</a:t>
            </a:r>
            <a:r>
              <a:rPr lang="en-GB" sz="1600" dirty="0"/>
              <a:t> site</a:t>
            </a:r>
          </a:p>
          <a:p>
            <a:r>
              <a:rPr lang="en-GB" sz="1600" dirty="0" err="1"/>
              <a:t>Popularitatea</a:t>
            </a:r>
            <a:r>
              <a:rPr lang="en-GB" sz="1600" dirty="0"/>
              <a:t> nu se </a:t>
            </a:r>
            <a:r>
              <a:rPr lang="en-GB" sz="1600" dirty="0" err="1"/>
              <a:t>moşteneşte</a:t>
            </a:r>
            <a:endParaRPr lang="en-GB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51E60B-5A2D-F943-989A-33B7856FA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26173"/>
            <a:ext cx="5455921" cy="4405654"/>
          </a:xfrm>
          <a:prstGeom prst="rect">
            <a:avLst/>
          </a:prstGeom>
        </p:spPr>
      </p:pic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702F33D1-824E-984F-A1DB-007DB010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C5C8A9DD-A77F-3F46-A06C-5450E2311050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26</a:t>
            </a:fld>
            <a:endParaRPr lang="en-US" altLang="en-US" sz="1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018" name="Rectangle 2">
            <a:extLst>
              <a:ext uri="{FF2B5EF4-FFF2-40B4-BE49-F238E27FC236}">
                <a16:creationId xmlns:a16="http://schemas.microsoft.com/office/drawing/2014/main" id="{45953E2D-7E53-EE45-BE70-4F0526487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Link juice</a:t>
            </a:r>
            <a:endParaRPr lang="en-US" altLang="en-US"/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F60B8F90-2A46-8248-866E-8555D2056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/>
              <a:t>C</a:t>
            </a:r>
            <a:r>
              <a:rPr lang="en-US" altLang="en-US"/>
              <a:t>onceptul exprim</a:t>
            </a:r>
            <a:r>
              <a:rPr lang="ro-RO" altLang="en-US"/>
              <a:t>ă</a:t>
            </a:r>
            <a:r>
              <a:rPr lang="en-US" altLang="en-US"/>
              <a:t> greutatea, puterea, valoarea (</a:t>
            </a:r>
            <a:r>
              <a:rPr lang="en-US" altLang="en-US" i="1"/>
              <a:t>sau al</a:t>
            </a:r>
            <a:r>
              <a:rPr lang="ro-RO" altLang="en-US" i="1"/>
              <a:t>ţ</a:t>
            </a:r>
            <a:r>
              <a:rPr lang="en-US" altLang="en-US" i="1"/>
              <a:t>i termeni similari</a:t>
            </a:r>
            <a:r>
              <a:rPr lang="en-US" altLang="en-US"/>
              <a:t>) pe care un link </a:t>
            </a:r>
            <a:r>
              <a:rPr lang="ro-RO" altLang="en-US"/>
              <a:t>î</a:t>
            </a:r>
            <a:r>
              <a:rPr lang="en-US" altLang="en-US"/>
              <a:t>l transmite documentului spre care trimite. </a:t>
            </a:r>
            <a:endParaRPr lang="ro-RO" altLang="en-US"/>
          </a:p>
          <a:p>
            <a:pPr eaLnBrk="1" hangingPunct="1"/>
            <a:r>
              <a:rPr lang="ro-RO" altLang="en-US"/>
              <a:t>V</a:t>
            </a:r>
            <a:r>
              <a:rPr lang="en-US" altLang="en-US"/>
              <a:t>aloare propor</a:t>
            </a:r>
            <a:r>
              <a:rPr lang="ro-RO" altLang="en-US"/>
              <a:t>ţ</a:t>
            </a:r>
            <a:r>
              <a:rPr lang="en-US" altLang="en-US"/>
              <a:t>ional</a:t>
            </a:r>
            <a:r>
              <a:rPr lang="ro-RO" altLang="en-US"/>
              <a:t>ă</a:t>
            </a:r>
            <a:r>
              <a:rPr lang="en-US" altLang="en-US"/>
              <a:t> cu importan</a:t>
            </a:r>
            <a:r>
              <a:rPr lang="ro-RO" altLang="en-US"/>
              <a:t>ţ</a:t>
            </a:r>
            <a:r>
              <a:rPr lang="en-US" altLang="en-US"/>
              <a:t>a paginii care public</a:t>
            </a:r>
            <a:r>
              <a:rPr lang="ro-RO" altLang="en-US"/>
              <a:t>ă</a:t>
            </a:r>
            <a:r>
              <a:rPr lang="en-US" altLang="en-US"/>
              <a:t> linkul, cu num</a:t>
            </a:r>
            <a:r>
              <a:rPr lang="ro-RO" altLang="en-US"/>
              <a:t>ă</a:t>
            </a:r>
            <a:r>
              <a:rPr lang="en-US" altLang="en-US"/>
              <a:t>rul de leg</a:t>
            </a:r>
            <a:r>
              <a:rPr lang="ro-RO" altLang="en-US"/>
              <a:t>ă</a:t>
            </a:r>
            <a:r>
              <a:rPr lang="en-US" altLang="en-US"/>
              <a:t>turi primite </a:t>
            </a:r>
            <a:r>
              <a:rPr lang="ro-RO" altLang="en-US"/>
              <a:t>ş</a:t>
            </a:r>
            <a:r>
              <a:rPr lang="en-US" altLang="en-US"/>
              <a:t>i cu num</a:t>
            </a:r>
            <a:r>
              <a:rPr lang="ro-RO" altLang="en-US"/>
              <a:t>ă</a:t>
            </a:r>
            <a:r>
              <a:rPr lang="en-US" altLang="en-US"/>
              <a:t>rul de leg</a:t>
            </a:r>
            <a:r>
              <a:rPr lang="ro-RO" altLang="en-US"/>
              <a:t>ă</a:t>
            </a:r>
            <a:r>
              <a:rPr lang="en-US" altLang="en-US"/>
              <a:t>turi publicate </a:t>
            </a:r>
            <a:r>
              <a:rPr lang="ro-RO" altLang="en-US"/>
              <a:t>î</a:t>
            </a:r>
            <a:r>
              <a:rPr lang="en-US" altLang="en-US"/>
              <a:t>n acest document. 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36F0-BFCF-3D46-9550-F9505F4B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>
            <a:normAutofit/>
          </a:bodyPr>
          <a:lstStyle/>
          <a:p>
            <a:r>
              <a:rPr lang="en-GB"/>
              <a:t>LINK JUICE 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591C-88C5-1B4C-9844-4120ADE3A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429615" cy="3931920"/>
          </a:xfrm>
        </p:spPr>
        <p:txBody>
          <a:bodyPr>
            <a:normAutofit/>
          </a:bodyPr>
          <a:lstStyle/>
          <a:p>
            <a:r>
              <a:rPr lang="en-GB"/>
              <a:t>Link juice de acumulează prin:</a:t>
            </a:r>
          </a:p>
          <a:p>
            <a:pPr lvl="1"/>
            <a:r>
              <a:rPr lang="en-GB"/>
              <a:t>Pagini cu conținut calitativ, relevant pentru site-ul curent</a:t>
            </a:r>
          </a:p>
          <a:p>
            <a:pPr lvl="1"/>
            <a:r>
              <a:rPr lang="en-GB"/>
              <a:t>Pagini </a:t>
            </a:r>
            <a:r>
              <a:rPr lang="en-GB" dirty="0"/>
              <a:t>care au PageRank mare</a:t>
            </a:r>
          </a:p>
          <a:p>
            <a:pPr lvl="1"/>
            <a:r>
              <a:rPr lang="en-GB"/>
              <a:t>Pagini care conțin puține link-uri</a:t>
            </a:r>
            <a:endParaRPr lang="en-GB" dirty="0"/>
          </a:p>
          <a:p>
            <a:pPr lvl="1"/>
            <a:r>
              <a:rPr lang="en-GB"/>
              <a:t>Pagini </a:t>
            </a:r>
            <a:r>
              <a:rPr lang="en-GB" dirty="0"/>
              <a:t>care </a:t>
            </a:r>
            <a:r>
              <a:rPr lang="en-GB"/>
              <a:t>apar în topul rezultatelor la căutare</a:t>
            </a:r>
            <a:endParaRPr lang="en-GB" dirty="0"/>
          </a:p>
          <a:p>
            <a:pPr lvl="1"/>
            <a:r>
              <a:rPr lang="en-GB"/>
              <a:t>Pagini cu conținut generat </a:t>
            </a:r>
            <a:r>
              <a:rPr lang="en-GB" dirty="0"/>
              <a:t>manual</a:t>
            </a:r>
          </a:p>
          <a:p>
            <a:pPr lvl="1"/>
            <a:r>
              <a:rPr lang="en-GB"/>
              <a:t>Pagini menționate des în </a:t>
            </a:r>
            <a:r>
              <a:rPr lang="en-GB" dirty="0"/>
              <a:t>social media</a:t>
            </a:r>
          </a:p>
          <a:p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30E9F-0B28-2340-A964-64A93E04B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99" y="640080"/>
            <a:ext cx="4197323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5B09-8E4F-754D-BAF8-570A6B01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>
            <a:normAutofit/>
          </a:bodyPr>
          <a:lstStyle/>
          <a:p>
            <a:r>
              <a:rPr lang="en-GB" dirty="0"/>
              <a:t>LINK JUICE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8385-73A0-2949-8282-D7895EB09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429615" cy="3931920"/>
          </a:xfrm>
        </p:spPr>
        <p:txBody>
          <a:bodyPr>
            <a:normAutofit/>
          </a:bodyPr>
          <a:lstStyle/>
          <a:p>
            <a:r>
              <a:rPr lang="en-GB" dirty="0"/>
              <a:t>Link juice nu </a:t>
            </a:r>
            <a:r>
              <a:rPr lang="en-GB" dirty="0" err="1"/>
              <a:t>provine</a:t>
            </a:r>
            <a:r>
              <a:rPr lang="en-GB" dirty="0"/>
              <a:t> din:</a:t>
            </a:r>
          </a:p>
          <a:p>
            <a:pPr lvl="1"/>
            <a:r>
              <a:rPr lang="en-GB" dirty="0" err="1"/>
              <a:t>Pagini</a:t>
            </a:r>
            <a:r>
              <a:rPr lang="en-GB" dirty="0"/>
              <a:t> care au </a:t>
            </a:r>
            <a:r>
              <a:rPr lang="en-GB" dirty="0" err="1"/>
              <a:t>atributul</a:t>
            </a:r>
            <a:r>
              <a:rPr lang="en-GB" dirty="0"/>
              <a:t> ”</a:t>
            </a:r>
            <a:r>
              <a:rPr lang="en-GB" dirty="0" err="1"/>
              <a:t>nofollow</a:t>
            </a:r>
            <a:r>
              <a:rPr lang="en-GB" dirty="0"/>
              <a:t>” </a:t>
            </a:r>
            <a:r>
              <a:rPr lang="en-GB" dirty="0" err="1"/>
              <a:t>spre</a:t>
            </a:r>
            <a:r>
              <a:rPr lang="en-GB" dirty="0"/>
              <a:t> </a:t>
            </a:r>
            <a:r>
              <a:rPr lang="en-GB" dirty="0" err="1"/>
              <a:t>pagina</a:t>
            </a:r>
            <a:r>
              <a:rPr lang="en-GB" dirty="0"/>
              <a:t> </a:t>
            </a:r>
            <a:r>
              <a:rPr lang="en-GB" dirty="0" err="1"/>
              <a:t>curentă</a:t>
            </a:r>
            <a:endParaRPr lang="en-GB" dirty="0"/>
          </a:p>
          <a:p>
            <a:pPr lvl="1"/>
            <a:r>
              <a:rPr lang="en-GB" dirty="0" err="1"/>
              <a:t>Pagini</a:t>
            </a:r>
            <a:r>
              <a:rPr lang="en-GB" dirty="0"/>
              <a:t> cu </a:t>
            </a:r>
            <a:r>
              <a:rPr lang="en-GB" dirty="0" err="1"/>
              <a:t>conținut</a:t>
            </a:r>
            <a:r>
              <a:rPr lang="en-GB" dirty="0"/>
              <a:t> </a:t>
            </a:r>
            <a:r>
              <a:rPr lang="en-GB" dirty="0" err="1"/>
              <a:t>irelevant</a:t>
            </a:r>
            <a:endParaRPr lang="en-GB" dirty="0"/>
          </a:p>
          <a:p>
            <a:pPr lvl="1"/>
            <a:r>
              <a:rPr lang="en-GB" dirty="0" err="1"/>
              <a:t>Pagini</a:t>
            </a:r>
            <a:r>
              <a:rPr lang="en-GB" dirty="0"/>
              <a:t> cu </a:t>
            </a:r>
            <a:r>
              <a:rPr lang="en-GB" dirty="0" err="1"/>
              <a:t>foarte</a:t>
            </a:r>
            <a:r>
              <a:rPr lang="en-GB" dirty="0"/>
              <a:t> </a:t>
            </a:r>
            <a:r>
              <a:rPr lang="en-GB" dirty="0" err="1"/>
              <a:t>multe</a:t>
            </a:r>
            <a:r>
              <a:rPr lang="en-GB" dirty="0"/>
              <a:t> link-</a:t>
            </a:r>
            <a:r>
              <a:rPr lang="en-GB" dirty="0" err="1"/>
              <a:t>uri</a:t>
            </a:r>
            <a:endParaRPr lang="en-GB" dirty="0"/>
          </a:p>
          <a:p>
            <a:pPr lvl="1"/>
            <a:r>
              <a:rPr lang="en-GB" dirty="0" err="1"/>
              <a:t>Pagini</a:t>
            </a:r>
            <a:r>
              <a:rPr lang="en-GB" dirty="0"/>
              <a:t> care nu sunt </a:t>
            </a:r>
            <a:r>
              <a:rPr lang="en-GB" dirty="0" err="1"/>
              <a:t>indexate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căutare</a:t>
            </a:r>
            <a:endParaRPr lang="en-GB" dirty="0"/>
          </a:p>
          <a:p>
            <a:pPr lvl="1"/>
            <a:r>
              <a:rPr lang="en-GB" dirty="0"/>
              <a:t>Link-</a:t>
            </a:r>
            <a:r>
              <a:rPr lang="en-GB" dirty="0" err="1"/>
              <a:t>uri</a:t>
            </a:r>
            <a:r>
              <a:rPr lang="en-GB" dirty="0"/>
              <a:t> </a:t>
            </a:r>
            <a:r>
              <a:rPr lang="en-GB" dirty="0" err="1"/>
              <a:t>plătite</a:t>
            </a:r>
            <a:endParaRPr lang="en-GB" dirty="0"/>
          </a:p>
          <a:p>
            <a:pPr lvl="1"/>
            <a:r>
              <a:rPr lang="en-GB" dirty="0"/>
              <a:t>Link-</a:t>
            </a:r>
            <a:r>
              <a:rPr lang="en-GB" dirty="0" err="1"/>
              <a:t>uri</a:t>
            </a:r>
            <a:r>
              <a:rPr lang="en-GB" dirty="0"/>
              <a:t> </a:t>
            </a:r>
            <a:r>
              <a:rPr lang="en-GB" dirty="0" err="1"/>
              <a:t>circulare</a:t>
            </a:r>
            <a:r>
              <a:rPr lang="en-GB" dirty="0"/>
              <a:t> </a:t>
            </a:r>
          </a:p>
          <a:p>
            <a:endParaRPr lang="ro-RO" dirty="0"/>
          </a:p>
        </p:txBody>
      </p:sp>
      <p:pic>
        <p:nvPicPr>
          <p:cNvPr id="1026" name="Picture 2" descr="Link Juice in SEO – An Important SEO Strategy To Rank Higher">
            <a:extLst>
              <a:ext uri="{FF2B5EF4-FFF2-40B4-BE49-F238E27FC236}">
                <a16:creationId xmlns:a16="http://schemas.microsoft.com/office/drawing/2014/main" id="{12E365A7-BC6F-EB4B-B4E3-9800FB52D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059982"/>
            <a:ext cx="5455921" cy="473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315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>
            <a:extLst>
              <a:ext uri="{FF2B5EF4-FFF2-40B4-BE49-F238E27FC236}">
                <a16:creationId xmlns:a16="http://schemas.microsoft.com/office/drawing/2014/main" id="{BB560DA6-4FD2-3B47-9928-BF999D874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Curs Programare Web, anul 4 C5 – Curs 11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5107694E-C074-B14C-A6D5-9A1DB752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C872853-92F4-D849-81B9-FF6C817D2276}" type="slidenum">
              <a:rPr lang="en-US" altLang="en-US" sz="900">
                <a:solidFill>
                  <a:schemeClr val="bg1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495042" name="Rectangle 2">
            <a:extLst>
              <a:ext uri="{FF2B5EF4-FFF2-40B4-BE49-F238E27FC236}">
                <a16:creationId xmlns:a16="http://schemas.microsoft.com/office/drawing/2014/main" id="{5DA05A3C-E883-694F-805A-BFD7F28C2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7" y="585216"/>
            <a:ext cx="10512343" cy="149961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sz="3600" dirty="0"/>
              <a:t>Una din </a:t>
            </a:r>
            <a:r>
              <a:rPr lang="en-US" altLang="en-US" sz="3600" dirty="0" err="1"/>
              <a:t>problemele</a:t>
            </a:r>
            <a:r>
              <a:rPr lang="en-US" altLang="en-US" sz="3600" dirty="0"/>
              <a:t> cu care se </a:t>
            </a:r>
            <a:r>
              <a:rPr lang="en-US" altLang="en-US" sz="3600" dirty="0" err="1"/>
              <a:t>confrunt</a:t>
            </a:r>
            <a:r>
              <a:rPr lang="ro-RO" altLang="en-US" sz="3600" dirty="0"/>
              <a:t>ă</a:t>
            </a:r>
            <a:r>
              <a:rPr lang="en-US" altLang="en-US" sz="3600" dirty="0"/>
              <a:t> </a:t>
            </a:r>
            <a:r>
              <a:rPr lang="en-US" altLang="en-US" sz="3600" dirty="0" err="1"/>
              <a:t>magazinele</a:t>
            </a:r>
            <a:r>
              <a:rPr lang="en-US" altLang="en-US" sz="3600" dirty="0"/>
              <a:t> online </a:t>
            </a:r>
            <a:r>
              <a:rPr lang="en-US" altLang="en-US" sz="3600" dirty="0" err="1"/>
              <a:t>este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diluarea</a:t>
            </a:r>
            <a:r>
              <a:rPr lang="en-US" altLang="en-US" sz="3600" dirty="0"/>
              <a:t> link juice-</a:t>
            </a:r>
            <a:r>
              <a:rPr lang="en-US" altLang="en-US" sz="3600" dirty="0" err="1"/>
              <a:t>ului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trimis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spre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paginile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interioare</a:t>
            </a:r>
            <a:r>
              <a:rPr lang="en-US" altLang="en-US" sz="3600" dirty="0"/>
              <a:t>. </a:t>
            </a:r>
            <a:endParaRPr lang="en-US" altLang="en-US" sz="3200" dirty="0"/>
          </a:p>
        </p:txBody>
      </p:sp>
      <p:pic>
        <p:nvPicPr>
          <p:cNvPr id="30726" name="Picture 4">
            <a:extLst>
              <a:ext uri="{FF2B5EF4-FFF2-40B4-BE49-F238E27FC236}">
                <a16:creationId xmlns:a16="http://schemas.microsoft.com/office/drawing/2014/main" id="{8A415CB0-9BC7-4E4F-B3F7-AD5C4B067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057400"/>
            <a:ext cx="4343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Text Box 5">
            <a:extLst>
              <a:ext uri="{FF2B5EF4-FFF2-40B4-BE49-F238E27FC236}">
                <a16:creationId xmlns:a16="http://schemas.microsoft.com/office/drawing/2014/main" id="{3E592880-AECB-B346-8106-95853DFE4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2743200"/>
            <a:ext cx="17557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Zonă cu link-uri</a:t>
            </a:r>
            <a:endParaRPr lang="en-US" altLang="en-US" sz="1800"/>
          </a:p>
        </p:txBody>
      </p:sp>
      <p:sp>
        <p:nvSpPr>
          <p:cNvPr id="30728" name="Line 6">
            <a:extLst>
              <a:ext uri="{FF2B5EF4-FFF2-40B4-BE49-F238E27FC236}">
                <a16:creationId xmlns:a16="http://schemas.microsoft.com/office/drawing/2014/main" id="{F875EBFE-6C1D-1F4B-B20A-6A3B4A37E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895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O"/>
          </a:p>
        </p:txBody>
      </p:sp>
      <p:sp>
        <p:nvSpPr>
          <p:cNvPr id="30729" name="Text Box 7">
            <a:extLst>
              <a:ext uri="{FF2B5EF4-FFF2-40B4-BE49-F238E27FC236}">
                <a16:creationId xmlns:a16="http://schemas.microsoft.com/office/drawing/2014/main" id="{7D49ED5C-6F10-0046-B502-D87280723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1" y="4267201"/>
            <a:ext cx="2454275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Imagine produs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Link către pag. produs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Scurtă descriere</a:t>
            </a:r>
            <a:endParaRPr lang="en-US" altLang="en-US" sz="1800"/>
          </a:p>
        </p:txBody>
      </p:sp>
      <p:sp>
        <p:nvSpPr>
          <p:cNvPr id="30730" name="Line 8">
            <a:extLst>
              <a:ext uri="{FF2B5EF4-FFF2-40B4-BE49-F238E27FC236}">
                <a16:creationId xmlns:a16="http://schemas.microsoft.com/office/drawing/2014/main" id="{4F804C3A-0E7E-0645-9F7D-7FFE2891F5A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48600" y="35052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RO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066" name="Rectangle 2">
            <a:extLst>
              <a:ext uri="{FF2B5EF4-FFF2-40B4-BE49-F238E27FC236}">
                <a16:creationId xmlns:a16="http://schemas.microsoft.com/office/drawing/2014/main" id="{F572A06D-ED91-D245-A486-2502472D9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Probleme</a:t>
            </a:r>
            <a:endParaRPr lang="en-US" altLang="en-US"/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A2FD7445-C8C9-BE43-A6F0-50EEFF1F3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sz="1600" dirty="0"/>
              <a:t>Un magazin online care se respectă are un număr considerabil de produse, probabil câteva sute.</a:t>
            </a:r>
          </a:p>
          <a:p>
            <a:pPr>
              <a:spcAft>
                <a:spcPts val="600"/>
              </a:spcAft>
            </a:pPr>
            <a:r>
              <a:rPr lang="ro-RO" altLang="en-US" sz="1600" dirty="0"/>
              <a:t>Prezentare - </a:t>
            </a:r>
            <a:r>
              <a:rPr lang="ro-RO" altLang="en-US" sz="1600" dirty="0" err="1"/>
              <a:t>solutia</a:t>
            </a:r>
            <a:r>
              <a:rPr lang="ro-RO" altLang="en-US" sz="1600" dirty="0"/>
              <a:t> cea mai folosită </a:t>
            </a:r>
            <a:r>
              <a:rPr lang="ro-RO" altLang="en-US" sz="1600" dirty="0" err="1"/>
              <a:t>şi</a:t>
            </a:r>
            <a:r>
              <a:rPr lang="ro-RO" altLang="en-US" sz="1600" dirty="0"/>
              <a:t> corectă din punct de vedere al </a:t>
            </a:r>
            <a:r>
              <a:rPr lang="ro-RO" altLang="en-US" sz="1600" dirty="0" err="1"/>
              <a:t>utilizabilităţii</a:t>
            </a:r>
            <a:r>
              <a:rPr lang="ro-RO" altLang="en-US" sz="1600" dirty="0"/>
              <a:t> este paginarea. </a:t>
            </a:r>
          </a:p>
          <a:p>
            <a:pPr lvl="1">
              <a:spcAft>
                <a:spcPts val="600"/>
              </a:spcAft>
            </a:pPr>
            <a:r>
              <a:rPr lang="ro-RO" altLang="en-US" sz="1600" dirty="0"/>
              <a:t>Programatorii vor pune într-un loc vizibil un </a:t>
            </a:r>
            <a:r>
              <a:rPr lang="ro-RO" altLang="en-US" sz="1600" dirty="0" err="1"/>
              <a:t>şir</a:t>
            </a:r>
            <a:r>
              <a:rPr lang="ro-RO" altLang="en-US" sz="1600" dirty="0"/>
              <a:t> de linkuri de genul: </a:t>
            </a:r>
            <a:r>
              <a:rPr lang="ro-RO" altLang="en-US" sz="1600" dirty="0">
                <a:latin typeface="Comic Sans MS" panose="030F0902030302020204" pitchFamily="66" charset="0"/>
              </a:rPr>
              <a:t>pagina 1, pagina 2, ….. pagina 30</a:t>
            </a:r>
            <a:r>
              <a:rPr lang="ro-RO" altLang="en-US" sz="1600" dirty="0"/>
              <a:t> etc.</a:t>
            </a:r>
          </a:p>
          <a:p>
            <a:pPr>
              <a:spcAft>
                <a:spcPts val="600"/>
              </a:spcAft>
            </a:pPr>
            <a:r>
              <a:rPr lang="ro-RO" altLang="en-US" sz="1600" dirty="0"/>
              <a:t>Prin </a:t>
            </a:r>
            <a:r>
              <a:rPr lang="ro-RO" altLang="en-US" sz="1600" dirty="0" err="1"/>
              <a:t>creearea</a:t>
            </a:r>
            <a:r>
              <a:rPr lang="ro-RO" altLang="en-US" sz="1600" dirty="0"/>
              <a:t> acestor pagini se diluează link juice –</a:t>
            </a:r>
            <a:r>
              <a:rPr lang="ro-RO" altLang="en-US" sz="1600" dirty="0" err="1"/>
              <a:t>ul</a:t>
            </a:r>
            <a:endParaRPr lang="ro-RO" altLang="en-US" sz="1600" dirty="0"/>
          </a:p>
          <a:p>
            <a:pPr lvl="1">
              <a:spcAft>
                <a:spcPts val="600"/>
              </a:spcAft>
            </a:pPr>
            <a:r>
              <a:rPr lang="ro-RO" altLang="en-US" sz="1600" dirty="0"/>
              <a:t>motoarele de căutare nu vor “aprecia” documentele astfel </a:t>
            </a:r>
            <a:r>
              <a:rPr lang="ro-RO" altLang="en-US" sz="1600" dirty="0" err="1"/>
              <a:t>obţinute</a:t>
            </a:r>
            <a:r>
              <a:rPr lang="ro-RO" altLang="en-US" sz="1600" dirty="0"/>
              <a:t>. </a:t>
            </a:r>
          </a:p>
          <a:p>
            <a:pPr lvl="1">
              <a:spcAft>
                <a:spcPts val="600"/>
              </a:spcAft>
            </a:pPr>
            <a:r>
              <a:rPr lang="ro-RO" altLang="en-US" sz="1600" dirty="0"/>
              <a:t>Din punctul lor de vedere </a:t>
            </a:r>
            <a:r>
              <a:rPr lang="ro-RO" altLang="en-US" sz="1600" i="1" dirty="0"/>
              <a:t>pagina 2</a:t>
            </a:r>
            <a:r>
              <a:rPr lang="ro-RO" altLang="en-US" sz="1600" dirty="0"/>
              <a:t> va fi la fel ca </a:t>
            </a:r>
            <a:r>
              <a:rPr lang="ro-RO" altLang="en-US" sz="1600" i="1" dirty="0"/>
              <a:t>3</a:t>
            </a:r>
            <a:r>
              <a:rPr lang="ro-RO" altLang="en-US" sz="1600" dirty="0"/>
              <a:t> sau </a:t>
            </a:r>
            <a:r>
              <a:rPr lang="ro-RO" altLang="en-US" sz="1600" i="1" dirty="0"/>
              <a:t>4 - </a:t>
            </a:r>
            <a:r>
              <a:rPr lang="ro-RO" altLang="en-US" sz="1600" dirty="0"/>
              <a:t>fără prea mare valoare din punct de vedere al </a:t>
            </a:r>
            <a:r>
              <a:rPr lang="ro-RO" altLang="en-US" sz="1600" dirty="0" err="1"/>
              <a:t>informaţiei</a:t>
            </a:r>
            <a:r>
              <a:rPr lang="ro-RO" altLang="en-US" sz="1600" dirty="0"/>
              <a:t> </a:t>
            </a:r>
            <a:r>
              <a:rPr lang="ro-RO" altLang="en-US" sz="1600" dirty="0" err="1"/>
              <a:t>şi</a:t>
            </a:r>
            <a:r>
              <a:rPr lang="ro-RO" altLang="en-US" sz="1600" dirty="0"/>
              <a:t> de multe ori cu </a:t>
            </a:r>
            <a:r>
              <a:rPr lang="ro-RO" altLang="en-US" sz="1600" dirty="0" err="1"/>
              <a:t>acelaşi</a:t>
            </a:r>
            <a:r>
              <a:rPr lang="ro-RO" altLang="en-US" sz="1600" dirty="0"/>
              <a:t> titlu sau descriere. </a:t>
            </a:r>
          </a:p>
          <a:p>
            <a:pPr>
              <a:spcAft>
                <a:spcPts val="600"/>
              </a:spcAft>
            </a:pPr>
            <a:r>
              <a:rPr lang="ro-RO" altLang="en-US" sz="1600" dirty="0"/>
              <a:t>În al doilea rând: un e-shop cu sute de produse va avea </a:t>
            </a:r>
            <a:r>
              <a:rPr lang="ro-RO" altLang="en-US" sz="1600" i="1" dirty="0"/>
              <a:t>probleme cu indexarea</a:t>
            </a:r>
            <a:r>
              <a:rPr lang="ro-RO" altLang="en-US" sz="1600" dirty="0"/>
              <a:t> pentru că un spider are mult de “mers” până “</a:t>
            </a:r>
            <a:r>
              <a:rPr lang="ro-RO" altLang="en-US" sz="1600" dirty="0" err="1"/>
              <a:t>citeşte</a:t>
            </a:r>
            <a:r>
              <a:rPr lang="ro-RO" altLang="en-US" sz="1600" dirty="0"/>
              <a:t>” pagina nr. 30. Adio </a:t>
            </a:r>
            <a:r>
              <a:rPr lang="ro-RO" altLang="en-US" sz="1600" i="1" dirty="0" err="1"/>
              <a:t>flat</a:t>
            </a:r>
            <a:r>
              <a:rPr lang="ro-RO" altLang="en-US" sz="1600" i="1" dirty="0"/>
              <a:t> </a:t>
            </a:r>
            <a:r>
              <a:rPr lang="ro-RO" altLang="en-US" sz="1600" i="1" dirty="0" err="1"/>
              <a:t>architecture</a:t>
            </a:r>
            <a:r>
              <a:rPr lang="ro-RO" altLang="en-US" sz="1600" dirty="0"/>
              <a:t> </a:t>
            </a:r>
            <a:r>
              <a:rPr lang="ro-RO" altLang="en-US" sz="1600" dirty="0" err="1"/>
              <a:t>şi</a:t>
            </a:r>
            <a:r>
              <a:rPr lang="ro-RO" altLang="en-US" sz="1600" dirty="0"/>
              <a:t> </a:t>
            </a:r>
            <a:r>
              <a:rPr lang="ro-RO" altLang="en-US" sz="1600" i="1" dirty="0"/>
              <a:t>indexare rapidă</a:t>
            </a:r>
            <a:r>
              <a:rPr lang="ro-RO" altLang="en-US" sz="1600" dirty="0"/>
              <a:t>.</a:t>
            </a:r>
          </a:p>
        </p:txBody>
      </p:sp>
      <p:sp>
        <p:nvSpPr>
          <p:cNvPr id="1496068" name="Rectangle 73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6069" name="Rectangle 75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01D27679-BAC3-1D4C-B503-4DADB8A2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3A7C2418-0D12-9C47-A438-78D2227E169B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31</a:t>
            </a:fld>
            <a:endParaRPr lang="en-US" altLang="en-US"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946" name="Rectangle 2">
            <a:extLst>
              <a:ext uri="{FF2B5EF4-FFF2-40B4-BE49-F238E27FC236}">
                <a16:creationId xmlns:a16="http://schemas.microsoft.com/office/drawing/2014/main" id="{EAFD6760-B3AD-D244-9553-47B0591B0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Atributul </a:t>
            </a:r>
            <a:r>
              <a:rPr lang="ro-RO" altLang="en-US" i="1"/>
              <a:t>nofollow</a:t>
            </a:r>
            <a:endParaRPr lang="en-US" altLang="en-US"/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23DD6421-6DC9-1A4B-99A8-2AEB8D0D2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4754880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sz="1900"/>
              <a:t>n</a:t>
            </a:r>
            <a:r>
              <a:rPr lang="en-US" altLang="en-US" sz="1900"/>
              <a:t>ofollow –atribut html care “instru</a:t>
            </a:r>
            <a:r>
              <a:rPr lang="ro-RO" altLang="en-US" sz="1900"/>
              <a:t>i</a:t>
            </a:r>
            <a:r>
              <a:rPr lang="en-US" altLang="en-US" sz="1900"/>
              <a:t>e</a:t>
            </a:r>
            <a:r>
              <a:rPr lang="ro-RO" altLang="en-US" sz="1900"/>
              <a:t>ş</a:t>
            </a:r>
            <a:r>
              <a:rPr lang="en-US" altLang="en-US" sz="1900"/>
              <a:t>te” motoarele de c</a:t>
            </a:r>
            <a:r>
              <a:rPr lang="ro-RO" altLang="en-US" sz="1900"/>
              <a:t>ă</a:t>
            </a:r>
            <a:r>
              <a:rPr lang="en-US" altLang="en-US" sz="1900"/>
              <a:t>utare s</a:t>
            </a:r>
            <a:r>
              <a:rPr lang="ro-RO" altLang="en-US" sz="1900"/>
              <a:t>ă</a:t>
            </a:r>
            <a:r>
              <a:rPr lang="en-US" altLang="en-US" sz="1900"/>
              <a:t> nu considere acel link ca un “vot” pentru pagina spre care trimit.</a:t>
            </a:r>
          </a:p>
          <a:p>
            <a:pPr eaLnBrk="1" hangingPunct="1">
              <a:buFontTx/>
              <a:buNone/>
            </a:pPr>
            <a:r>
              <a:rPr lang="ro-RO" altLang="en-US" sz="1900">
                <a:latin typeface="Comic Sans MS" panose="030F0902030302020204" pitchFamily="66" charset="0"/>
              </a:rPr>
              <a:t>	</a:t>
            </a:r>
          </a:p>
          <a:p>
            <a:pPr eaLnBrk="1" hangingPunct="1">
              <a:buFontTx/>
              <a:buNone/>
            </a:pPr>
            <a:endParaRPr lang="ro-RO" altLang="en-US" sz="1900">
              <a:latin typeface="Comic Sans MS" panose="030F0902030302020204" pitchFamily="66" charset="0"/>
            </a:endParaRPr>
          </a:p>
          <a:p>
            <a:pPr eaLnBrk="1" hangingPunct="1">
              <a:buFontTx/>
              <a:buNone/>
            </a:pPr>
            <a:endParaRPr lang="ro-RO" altLang="en-US" sz="1900">
              <a:latin typeface="Comic Sans MS" panose="030F0902030302020204" pitchFamily="66" charset="0"/>
            </a:endParaRPr>
          </a:p>
          <a:p>
            <a:pPr eaLnBrk="1" hangingPunct="1">
              <a:buFontTx/>
              <a:buNone/>
            </a:pPr>
            <a:endParaRPr lang="ro-RO" altLang="en-US" sz="1900">
              <a:latin typeface="Comic Sans MS" panose="030F0902030302020204" pitchFamily="66" charset="0"/>
            </a:endParaRPr>
          </a:p>
          <a:p>
            <a:pPr eaLnBrk="1" hangingPunct="1">
              <a:buFontTx/>
              <a:buNone/>
            </a:pPr>
            <a:endParaRPr lang="ro-RO" altLang="en-US" sz="1900">
              <a:latin typeface="Comic Sans MS" panose="030F0902030302020204" pitchFamily="66" charset="0"/>
            </a:endParaRPr>
          </a:p>
          <a:p>
            <a:pPr eaLnBrk="1" hangingPunct="1">
              <a:buFontTx/>
              <a:buNone/>
            </a:pPr>
            <a:r>
              <a:rPr lang="en-US" altLang="en-US" sz="1900">
                <a:latin typeface="Comic Sans MS" panose="030F0902030302020204" pitchFamily="66" charset="0"/>
              </a:rPr>
              <a:t>&lt; a href="</a:t>
            </a:r>
            <a:r>
              <a:rPr lang="en-US" altLang="en-US" sz="1900">
                <a:latin typeface="Comic Sans MS" panose="030F0902030302020204" pitchFamily="66" charset="0"/>
                <a:hlinkClick r:id="rId2"/>
              </a:rPr>
              <a:t>http://www.site.ro</a:t>
            </a:r>
            <a:r>
              <a:rPr lang="en-US" altLang="en-US" sz="1900">
                <a:latin typeface="Comic Sans MS" panose="030F0902030302020204" pitchFamily="66" charset="0"/>
              </a:rPr>
              <a:t>"</a:t>
            </a:r>
            <a:r>
              <a:rPr lang="ro-RO" altLang="en-US" sz="1900">
                <a:latin typeface="Comic Sans MS" panose="030F0902030302020204" pitchFamily="66" charset="0"/>
              </a:rPr>
              <a:t> </a:t>
            </a:r>
            <a:r>
              <a:rPr lang="en-US" altLang="en-US" sz="1900">
                <a:latin typeface="Comic Sans MS" panose="030F0902030302020204" pitchFamily="66" charset="0"/>
              </a:rPr>
              <a:t>rel="nofollow"&gt;Ancora Link&lt; /a &gt;</a:t>
            </a:r>
          </a:p>
        </p:txBody>
      </p:sp>
      <p:pic>
        <p:nvPicPr>
          <p:cNvPr id="32774" name="Picture 4">
            <a:extLst>
              <a:ext uri="{FF2B5EF4-FFF2-40B4-BE49-F238E27FC236}">
                <a16:creationId xmlns:a16="http://schemas.microsoft.com/office/drawing/2014/main" id="{ABAE32CD-2B1F-0442-8B71-126425309F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2" r="-2" b="12634"/>
          <a:stretch/>
        </p:blipFill>
        <p:spPr bwMode="auto">
          <a:xfrm>
            <a:off x="6217922" y="2286000"/>
            <a:ext cx="4526278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FAB03134-B58F-6C49-A53E-3F96A58F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CD46ABE0-FF6C-A140-A499-E32D5A317BF5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32</a:t>
            </a:fld>
            <a:endParaRPr lang="en-US" altLang="en-US" sz="1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970" name="Rectangle 2">
            <a:extLst>
              <a:ext uri="{FF2B5EF4-FFF2-40B4-BE49-F238E27FC236}">
                <a16:creationId xmlns:a16="http://schemas.microsoft.com/office/drawing/2014/main" id="{396987E8-2908-C341-B372-3FAEDBEDD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/>
              <a:t>L</a:t>
            </a:r>
            <a:r>
              <a:rPr lang="en-US"/>
              <a:t>inkuri </a:t>
            </a:r>
            <a:r>
              <a:rPr lang="ro-RO"/>
              <a:t>ce pot </a:t>
            </a:r>
            <a:r>
              <a:rPr lang="en-US"/>
              <a:t>fi publicate cu nofollow 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39A069D0-B813-5942-9736-5C81F5613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Pagini</a:t>
            </a:r>
            <a:r>
              <a:rPr lang="ro-RO" altLang="en-US"/>
              <a:t> precum </a:t>
            </a:r>
            <a:r>
              <a:rPr lang="en-US" altLang="en-US" i="1"/>
              <a:t>Register</a:t>
            </a:r>
            <a:r>
              <a:rPr lang="en-US" altLang="en-US"/>
              <a:t>, </a:t>
            </a:r>
            <a:r>
              <a:rPr lang="en-US" altLang="en-US" i="1"/>
              <a:t>Login</a:t>
            </a:r>
            <a:r>
              <a:rPr lang="en-US" altLang="en-US"/>
              <a:t> sau </a:t>
            </a:r>
            <a:r>
              <a:rPr lang="en-US" altLang="en-US" i="1"/>
              <a:t>Forgot Password</a:t>
            </a:r>
          </a:p>
          <a:p>
            <a:pPr>
              <a:spcAft>
                <a:spcPts val="600"/>
              </a:spcAft>
            </a:pPr>
            <a:r>
              <a:rPr lang="en-US" altLang="en-US" i="1"/>
              <a:t>Logo</a:t>
            </a:r>
            <a:r>
              <a:rPr lang="en-US" altLang="en-US"/>
              <a:t> </a:t>
            </a:r>
            <a:endParaRPr lang="ro-RO" altLang="en-US"/>
          </a:p>
          <a:p>
            <a:pPr lvl="1">
              <a:spcAft>
                <a:spcPts val="600"/>
              </a:spcAft>
            </a:pPr>
            <a:r>
              <a:rPr lang="ro-RO" altLang="en-US"/>
              <a:t>M</a:t>
            </a:r>
            <a:r>
              <a:rPr lang="en-US" altLang="en-US"/>
              <a:t>ulte situri au un logo publicat ca imagine </a:t>
            </a:r>
            <a:r>
              <a:rPr lang="ro-RO" altLang="en-US"/>
              <a:t>î</a:t>
            </a:r>
            <a:r>
              <a:rPr lang="en-US" altLang="en-US"/>
              <a:t>n header</a:t>
            </a:r>
            <a:r>
              <a:rPr lang="ro-RO" altLang="en-US"/>
              <a:t> ce este simultan și legătură </a:t>
            </a:r>
            <a:r>
              <a:rPr lang="en-US" altLang="en-US"/>
              <a:t>c</a:t>
            </a:r>
            <a:r>
              <a:rPr lang="ro-RO" altLang="en-US"/>
              <a:t>ă</a:t>
            </a:r>
            <a:r>
              <a:rPr lang="en-US" altLang="en-US"/>
              <a:t>tre pagina principal</a:t>
            </a:r>
            <a:r>
              <a:rPr lang="ro-RO" altLang="en-US"/>
              <a:t>ă</a:t>
            </a:r>
          </a:p>
          <a:p>
            <a:pPr>
              <a:spcAft>
                <a:spcPts val="600"/>
              </a:spcAft>
            </a:pPr>
            <a:r>
              <a:rPr lang="ro-RO" altLang="en-US"/>
              <a:t>Pagini de prezentare a unor </a:t>
            </a:r>
            <a:r>
              <a:rPr lang="ro-RO" altLang="en-US" i="1"/>
              <a:t>c</a:t>
            </a:r>
            <a:r>
              <a:rPr lang="en-US" altLang="en-US" i="1"/>
              <a:t>ategorii</a:t>
            </a:r>
            <a:r>
              <a:rPr lang="ro-RO" altLang="en-US"/>
              <a:t> sau </a:t>
            </a:r>
            <a:r>
              <a:rPr lang="en-US" altLang="en-US" i="1"/>
              <a:t>R</a:t>
            </a:r>
            <a:r>
              <a:rPr lang="ro-RO" altLang="en-US" i="1"/>
              <a:t>SS</a:t>
            </a:r>
          </a:p>
          <a:p>
            <a:pPr lvl="1">
              <a:spcAft>
                <a:spcPts val="600"/>
              </a:spcAft>
            </a:pPr>
            <a:r>
              <a:rPr lang="ro-RO" altLang="en-US"/>
              <a:t>Î</a:t>
            </a:r>
            <a:r>
              <a:rPr lang="en-US" altLang="en-US"/>
              <a:t>n general aceste pagini au parte numai de </a:t>
            </a:r>
            <a:r>
              <a:rPr lang="ro-RO" altLang="en-US"/>
              <a:t>conținut </a:t>
            </a:r>
            <a:r>
              <a:rPr lang="en-US" altLang="en-US"/>
              <a:t>duplicat</a:t>
            </a:r>
          </a:p>
          <a:p>
            <a:pPr>
              <a:spcAft>
                <a:spcPts val="600"/>
              </a:spcAft>
            </a:pPr>
            <a:r>
              <a:rPr lang="en-US" altLang="en-US" i="1"/>
              <a:t>Contact </a:t>
            </a:r>
            <a:endParaRPr lang="ro-RO" altLang="en-US" i="1"/>
          </a:p>
          <a:p>
            <a:pPr lvl="1">
              <a:spcAft>
                <a:spcPts val="600"/>
              </a:spcAft>
            </a:pPr>
            <a:r>
              <a:rPr lang="ro-RO" altLang="en-US"/>
              <a:t>D</a:t>
            </a:r>
            <a:r>
              <a:rPr lang="en-US" altLang="en-US"/>
              <a:t>ac</a:t>
            </a:r>
            <a:r>
              <a:rPr lang="ro-RO" altLang="en-US"/>
              <a:t>ă</a:t>
            </a:r>
            <a:r>
              <a:rPr lang="en-US" altLang="en-US"/>
              <a:t> pagina are numai un form</a:t>
            </a:r>
            <a:r>
              <a:rPr lang="ro-RO" altLang="en-US"/>
              <a:t>ular</a:t>
            </a:r>
            <a:r>
              <a:rPr lang="en-US" altLang="en-US"/>
              <a:t> de contact atunci nofollow este folositor</a:t>
            </a:r>
          </a:p>
          <a:p>
            <a:pPr>
              <a:spcAft>
                <a:spcPts val="600"/>
              </a:spcAft>
            </a:pPr>
            <a:r>
              <a:rPr lang="en-US" altLang="en-US" i="1"/>
              <a:t>Copyright/TOS/Privacy/Feedback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5" name="Slide Number Placeholder 5">
            <a:extLst>
              <a:ext uri="{FF2B5EF4-FFF2-40B4-BE49-F238E27FC236}">
                <a16:creationId xmlns:a16="http://schemas.microsoft.com/office/drawing/2014/main" id="{353C6CBD-FBE3-5448-A0AD-83914D78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B1BFA586-A17D-7149-BD80-CB7055277ACA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33</a:t>
            </a:fld>
            <a:endParaRPr lang="en-US" altLang="en-US" sz="1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994" name="Rectangle 2">
            <a:extLst>
              <a:ext uri="{FF2B5EF4-FFF2-40B4-BE49-F238E27FC236}">
                <a16:creationId xmlns:a16="http://schemas.microsoft.com/office/drawing/2014/main" id="{F970E898-7AC8-AB41-916F-84A62935D6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/>
              <a:t>L</a:t>
            </a:r>
            <a:r>
              <a:rPr lang="en-US"/>
              <a:t>inkuri </a:t>
            </a:r>
            <a:r>
              <a:rPr lang="ro-RO"/>
              <a:t>ce pot </a:t>
            </a:r>
            <a:r>
              <a:rPr lang="en-US"/>
              <a:t>fi publicate cu nofollow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0FB4C206-A9F0-DC4D-9EEA-06CB047F2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US" altLang="en-US" sz="1600" b="1" dirty="0"/>
              <a:t>Un alt </a:t>
            </a:r>
            <a:r>
              <a:rPr lang="en-US" altLang="en-US" sz="1600" b="1" dirty="0" err="1"/>
              <a:t>caz</a:t>
            </a:r>
            <a:r>
              <a:rPr lang="en-US" altLang="en-US" sz="1600" b="1" dirty="0"/>
              <a:t> </a:t>
            </a:r>
            <a:r>
              <a:rPr lang="ro-RO" altLang="en-US" sz="1600" b="1" dirty="0"/>
              <a:t>î</a:t>
            </a:r>
            <a:r>
              <a:rPr lang="en-US" altLang="en-US" sz="1600" b="1" dirty="0"/>
              <a:t>n care </a:t>
            </a:r>
            <a:r>
              <a:rPr lang="en-US" altLang="en-US" sz="1600" b="1" dirty="0" err="1"/>
              <a:t>folosirea</a:t>
            </a:r>
            <a:r>
              <a:rPr lang="en-US" altLang="en-US" sz="1600" b="1" dirty="0"/>
              <a:t> </a:t>
            </a:r>
            <a:r>
              <a:rPr lang="en-US" altLang="en-US" sz="1600" b="1" dirty="0" err="1"/>
              <a:t>tagului</a:t>
            </a:r>
            <a:r>
              <a:rPr lang="en-US" altLang="en-US" sz="1600" b="1" dirty="0"/>
              <a:t> </a:t>
            </a:r>
            <a:r>
              <a:rPr lang="en-US" altLang="en-US" sz="1600" b="1" dirty="0" err="1"/>
              <a:t>nofollow</a:t>
            </a:r>
            <a:r>
              <a:rPr lang="en-US" altLang="en-US" sz="1600" b="1" dirty="0"/>
              <a:t> </a:t>
            </a:r>
            <a:r>
              <a:rPr lang="en-US" altLang="en-US" sz="1600" b="1" dirty="0" err="1"/>
              <a:t>este</a:t>
            </a:r>
            <a:r>
              <a:rPr lang="en-US" altLang="en-US" sz="1600" b="1" dirty="0"/>
              <a:t> </a:t>
            </a:r>
            <a:r>
              <a:rPr lang="en-US" altLang="en-US" sz="1600" b="1" dirty="0" err="1"/>
              <a:t>recomandat</a:t>
            </a:r>
            <a:r>
              <a:rPr lang="ro-RO" altLang="en-US" sz="1600" b="1" dirty="0"/>
              <a:t>ă</a:t>
            </a:r>
            <a:r>
              <a:rPr lang="en-US" altLang="en-US" sz="1600" b="1" dirty="0"/>
              <a:t>:</a:t>
            </a:r>
            <a:endParaRPr lang="en-US" altLang="en-US" sz="1600" dirty="0"/>
          </a:p>
          <a:p>
            <a:pPr eaLnBrk="1" hangingPunct="1"/>
            <a:endParaRPr lang="ro-RO" altLang="en-US" sz="1600" dirty="0"/>
          </a:p>
          <a:p>
            <a:pPr eaLnBrk="1" hangingPunct="1"/>
            <a:r>
              <a:rPr lang="en-US" altLang="en-US" sz="1600" dirty="0"/>
              <a:t>S</a:t>
            </a:r>
            <a:r>
              <a:rPr lang="ro-RO" altLang="en-US" sz="1600" dirty="0"/>
              <a:t>ă</a:t>
            </a:r>
            <a:r>
              <a:rPr lang="en-US" altLang="en-US" sz="1600" dirty="0"/>
              <a:t> </a:t>
            </a:r>
            <a:r>
              <a:rPr lang="en-US" altLang="en-US" sz="1600" dirty="0" err="1"/>
              <a:t>presupunem</a:t>
            </a:r>
            <a:r>
              <a:rPr lang="en-US" altLang="en-US" sz="1600" dirty="0"/>
              <a:t> c</a:t>
            </a:r>
            <a:r>
              <a:rPr lang="ro-RO" altLang="en-US" sz="1600" dirty="0"/>
              <a:t>ă</a:t>
            </a:r>
            <a:r>
              <a:rPr lang="en-US" altLang="en-US" sz="1600" dirty="0"/>
              <a:t> am </a:t>
            </a:r>
            <a:r>
              <a:rPr lang="en-US" altLang="en-US" sz="1600" dirty="0" err="1"/>
              <a:t>scris</a:t>
            </a:r>
            <a:r>
              <a:rPr lang="en-US" altLang="en-US" sz="1600" dirty="0"/>
              <a:t> un </a:t>
            </a:r>
            <a:r>
              <a:rPr lang="en-US" altLang="en-US" sz="1600" dirty="0" err="1"/>
              <a:t>articol</a:t>
            </a:r>
            <a:r>
              <a:rPr lang="en-US" altLang="en-US" sz="1600" dirty="0"/>
              <a:t> </a:t>
            </a:r>
            <a:r>
              <a:rPr lang="en-US" altLang="en-US" sz="1600" dirty="0" err="1"/>
              <a:t>nou</a:t>
            </a:r>
            <a:r>
              <a:rPr lang="en-US" altLang="en-US" sz="1600" dirty="0"/>
              <a:t> : “</a:t>
            </a:r>
            <a:r>
              <a:rPr lang="ro-RO" altLang="en-US" sz="1600" dirty="0"/>
              <a:t>Voi </a:t>
            </a:r>
            <a:r>
              <a:rPr lang="ro-RO" altLang="en-US" sz="1600" dirty="0" err="1"/>
              <a:t>şi</a:t>
            </a:r>
            <a:r>
              <a:rPr lang="ro-RO" altLang="en-US" sz="1600" dirty="0"/>
              <a:t> Programarea Web</a:t>
            </a:r>
            <a:r>
              <a:rPr lang="en-US" altLang="en-US" sz="1600" dirty="0"/>
              <a:t>” </a:t>
            </a:r>
            <a:r>
              <a:rPr lang="en-US" altLang="en-US" sz="1600" dirty="0" err="1"/>
              <a:t>postat</a:t>
            </a:r>
            <a:r>
              <a:rPr lang="en-US" altLang="en-US" sz="1600" dirty="0"/>
              <a:t> pe </a:t>
            </a:r>
            <a:r>
              <a:rPr lang="en-US" altLang="en-US" sz="1600" dirty="0" err="1"/>
              <a:t>www.site.com</a:t>
            </a:r>
            <a:r>
              <a:rPr lang="en-US" altLang="en-US" sz="1600" dirty="0"/>
              <a:t>/</a:t>
            </a:r>
            <a:r>
              <a:rPr lang="ro-RO" altLang="en-US" sz="1600" dirty="0"/>
              <a:t>voi</a:t>
            </a:r>
            <a:r>
              <a:rPr lang="en-US" altLang="en-US" sz="1600" dirty="0"/>
              <a:t>-</a:t>
            </a:r>
            <a:r>
              <a:rPr lang="en-US" altLang="en-US" sz="1600" dirty="0" err="1"/>
              <a:t>si</a:t>
            </a:r>
            <a:r>
              <a:rPr lang="en-US" altLang="en-US" sz="1600" dirty="0"/>
              <a:t>-</a:t>
            </a:r>
            <a:r>
              <a:rPr lang="ro-RO" altLang="en-US" sz="1600" dirty="0" err="1"/>
              <a:t>pweb</a:t>
            </a:r>
            <a:r>
              <a:rPr lang="en-US" altLang="en-US" sz="1600" dirty="0"/>
              <a:t>.html. </a:t>
            </a:r>
            <a:r>
              <a:rPr lang="en-US" altLang="en-US" sz="1600" dirty="0" err="1"/>
              <a:t>Vreau</a:t>
            </a:r>
            <a:r>
              <a:rPr lang="en-US" altLang="en-US" sz="1600" dirty="0"/>
              <a:t> ca </a:t>
            </a:r>
            <a:r>
              <a:rPr lang="en-US" altLang="en-US" sz="1600" dirty="0" err="1"/>
              <a:t>acest</a:t>
            </a:r>
            <a:r>
              <a:rPr lang="en-US" altLang="en-US" sz="1600" dirty="0"/>
              <a:t> </a:t>
            </a:r>
            <a:r>
              <a:rPr lang="en-US" altLang="en-US" sz="1600" dirty="0" err="1"/>
              <a:t>articol</a:t>
            </a:r>
            <a:r>
              <a:rPr lang="en-US" altLang="en-US" sz="1600" dirty="0"/>
              <a:t> s</a:t>
            </a:r>
            <a:r>
              <a:rPr lang="ro-RO" altLang="en-US" sz="1600" dirty="0"/>
              <a:t>ă</a:t>
            </a:r>
            <a:r>
              <a:rPr lang="en-US" altLang="en-US" sz="1600" dirty="0"/>
              <a:t> apar</a:t>
            </a:r>
            <a:r>
              <a:rPr lang="ro-RO" altLang="en-US" sz="1600" dirty="0"/>
              <a:t>ă</a:t>
            </a:r>
            <a:r>
              <a:rPr lang="en-US" altLang="en-US" sz="1600" dirty="0"/>
              <a:t> pe prima </a:t>
            </a:r>
            <a:r>
              <a:rPr lang="en-US" altLang="en-US" sz="1600" dirty="0" err="1"/>
              <a:t>pagin</a:t>
            </a:r>
            <a:r>
              <a:rPr lang="ro-RO" altLang="en-US" sz="1600" dirty="0"/>
              <a:t>ă</a:t>
            </a:r>
            <a:r>
              <a:rPr lang="en-US" altLang="en-US" sz="1600" dirty="0"/>
              <a:t> </a:t>
            </a:r>
            <a:r>
              <a:rPr lang="ro-RO" altLang="en-US" sz="1600" dirty="0" err="1"/>
              <a:t>ş</a:t>
            </a:r>
            <a:r>
              <a:rPr lang="en-US" altLang="en-US" sz="1600" dirty="0" err="1"/>
              <a:t>i</a:t>
            </a:r>
            <a:r>
              <a:rPr lang="en-US" altLang="en-US" sz="1600" dirty="0"/>
              <a:t> </a:t>
            </a:r>
            <a:r>
              <a:rPr lang="en-US" altLang="en-US" sz="1600" dirty="0" err="1"/>
              <a:t>atunci</a:t>
            </a:r>
            <a:r>
              <a:rPr lang="en-US" altLang="en-US" sz="1600" dirty="0"/>
              <a:t> </a:t>
            </a:r>
            <a:r>
              <a:rPr lang="en-US" altLang="en-US" sz="1600" dirty="0" err="1"/>
              <a:t>postez</a:t>
            </a:r>
            <a:r>
              <a:rPr lang="en-US" altLang="en-US" sz="1600" dirty="0"/>
              <a:t> </a:t>
            </a:r>
            <a:r>
              <a:rPr lang="en-US" altLang="en-US" sz="1600" dirty="0" err="1"/>
              <a:t>primele</a:t>
            </a:r>
            <a:r>
              <a:rPr lang="en-US" altLang="en-US" sz="1600" dirty="0"/>
              <a:t> 2-3 </a:t>
            </a:r>
            <a:r>
              <a:rPr lang="en-US" altLang="en-US" sz="1600" dirty="0" err="1"/>
              <a:t>paragrafe</a:t>
            </a:r>
            <a:r>
              <a:rPr lang="en-US" altLang="en-US" sz="1600" dirty="0"/>
              <a:t>. </a:t>
            </a:r>
            <a:r>
              <a:rPr lang="en-US" altLang="en-US" sz="1600" dirty="0" err="1"/>
              <a:t>Vom</a:t>
            </a:r>
            <a:r>
              <a:rPr lang="en-US" altLang="en-US" sz="1600" dirty="0"/>
              <a:t> </a:t>
            </a:r>
            <a:r>
              <a:rPr lang="en-US" altLang="en-US" sz="1600" dirty="0" err="1"/>
              <a:t>avea</a:t>
            </a:r>
            <a:r>
              <a:rPr lang="en-US" altLang="en-US" sz="1600" dirty="0"/>
              <a:t> :</a:t>
            </a:r>
            <a:endParaRPr lang="en-US" altLang="en-US" sz="1600" b="1" dirty="0"/>
          </a:p>
          <a:p>
            <a:pPr eaLnBrk="1" hangingPunct="1">
              <a:buFontTx/>
              <a:buNone/>
            </a:pPr>
            <a:r>
              <a:rPr lang="ro-RO" altLang="en-US" sz="1600" b="1" dirty="0"/>
              <a:t>	</a:t>
            </a:r>
          </a:p>
          <a:p>
            <a:pPr eaLnBrk="1" hangingPunct="1">
              <a:buFontTx/>
              <a:buNone/>
            </a:pPr>
            <a:r>
              <a:rPr lang="ro-RO" altLang="en-US" sz="1600" b="1" dirty="0"/>
              <a:t>	</a:t>
            </a:r>
            <a:r>
              <a:rPr lang="en-US" altLang="en-US" sz="1600" b="1" dirty="0" err="1">
                <a:latin typeface="Comic Sans MS" panose="030F0902030302020204" pitchFamily="66" charset="0"/>
              </a:rPr>
              <a:t>Titlu</a:t>
            </a:r>
            <a:r>
              <a:rPr lang="en-US" altLang="en-US" sz="1600" b="1" dirty="0">
                <a:latin typeface="Comic Sans MS" panose="030F0902030302020204" pitchFamily="66" charset="0"/>
              </a:rPr>
              <a:t> – link </a:t>
            </a:r>
            <a:r>
              <a:rPr lang="en-US" altLang="en-US" sz="1600" b="1" dirty="0" err="1">
                <a:latin typeface="Comic Sans MS" panose="030F0902030302020204" pitchFamily="66" charset="0"/>
              </a:rPr>
              <a:t>catre</a:t>
            </a:r>
            <a:r>
              <a:rPr lang="en-US" altLang="en-US" sz="1600" b="1" dirty="0">
                <a:latin typeface="Comic Sans MS" panose="030F0902030302020204" pitchFamily="66" charset="0"/>
              </a:rPr>
              <a:t> </a:t>
            </a:r>
            <a:r>
              <a:rPr lang="en-US" altLang="en-US" sz="1600" b="1" dirty="0" err="1">
                <a:latin typeface="Comic Sans MS" panose="030F0902030302020204" pitchFamily="66" charset="0"/>
              </a:rPr>
              <a:t>articol</a:t>
            </a:r>
            <a:br>
              <a:rPr lang="en-US" altLang="en-US" sz="1600" dirty="0">
                <a:latin typeface="Comic Sans MS" panose="030F0902030302020204" pitchFamily="66" charset="0"/>
              </a:rPr>
            </a:br>
            <a:r>
              <a:rPr lang="en-US" altLang="en-US" sz="1600" dirty="0" err="1">
                <a:latin typeface="Comic Sans MS" panose="030F0902030302020204" pitchFamily="66" charset="0"/>
              </a:rPr>
              <a:t>Paragraf</a:t>
            </a:r>
            <a:r>
              <a:rPr lang="en-US" altLang="en-US" sz="1600" dirty="0">
                <a:latin typeface="Comic Sans MS" panose="030F0902030302020204" pitchFamily="66" charset="0"/>
              </a:rPr>
              <a:t> 1 - content</a:t>
            </a:r>
            <a:br>
              <a:rPr lang="en-US" altLang="en-US" sz="1600" dirty="0">
                <a:latin typeface="Comic Sans MS" panose="030F0902030302020204" pitchFamily="66" charset="0"/>
              </a:rPr>
            </a:br>
            <a:r>
              <a:rPr lang="en-US" altLang="en-US" sz="1600" dirty="0" err="1">
                <a:latin typeface="Comic Sans MS" panose="030F0902030302020204" pitchFamily="66" charset="0"/>
              </a:rPr>
              <a:t>Paragraf</a:t>
            </a:r>
            <a:r>
              <a:rPr lang="en-US" altLang="en-US" sz="1600" dirty="0">
                <a:latin typeface="Comic Sans MS" panose="030F0902030302020204" pitchFamily="66" charset="0"/>
              </a:rPr>
              <a:t> 2 - content</a:t>
            </a:r>
            <a:br>
              <a:rPr lang="en-US" altLang="en-US" sz="1600" dirty="0">
                <a:latin typeface="Comic Sans MS" panose="030F0902030302020204" pitchFamily="66" charset="0"/>
              </a:rPr>
            </a:br>
            <a:r>
              <a:rPr lang="en-US" altLang="en-US" sz="1600" dirty="0" err="1">
                <a:latin typeface="Comic Sans MS" panose="030F0902030302020204" pitchFamily="66" charset="0"/>
              </a:rPr>
              <a:t>Paragraf</a:t>
            </a:r>
            <a:r>
              <a:rPr lang="en-US" altLang="en-US" sz="1600" dirty="0">
                <a:latin typeface="Comic Sans MS" panose="030F0902030302020204" pitchFamily="66" charset="0"/>
              </a:rPr>
              <a:t> 3 - content</a:t>
            </a:r>
            <a:br>
              <a:rPr lang="en-US" altLang="en-US" sz="1600" dirty="0">
                <a:latin typeface="Comic Sans MS" panose="030F0902030302020204" pitchFamily="66" charset="0"/>
              </a:rPr>
            </a:br>
            <a:r>
              <a:rPr lang="en-US" altLang="en-US" sz="1600" b="1" dirty="0" err="1">
                <a:latin typeface="Comic Sans MS" panose="030F0902030302020204" pitchFamily="66" charset="0"/>
              </a:rPr>
              <a:t>Citeste</a:t>
            </a:r>
            <a:r>
              <a:rPr lang="en-US" altLang="en-US" sz="1600" b="1" dirty="0">
                <a:latin typeface="Comic Sans MS" panose="030F0902030302020204" pitchFamily="66" charset="0"/>
              </a:rPr>
              <a:t> </a:t>
            </a:r>
            <a:r>
              <a:rPr lang="en-US" altLang="en-US" sz="1600" b="1" dirty="0" err="1">
                <a:latin typeface="Comic Sans MS" panose="030F0902030302020204" pitchFamily="66" charset="0"/>
              </a:rPr>
              <a:t>mai</a:t>
            </a:r>
            <a:r>
              <a:rPr lang="en-US" altLang="en-US" sz="1600" b="1" dirty="0">
                <a:latin typeface="Comic Sans MS" panose="030F0902030302020204" pitchFamily="66" charset="0"/>
              </a:rPr>
              <a:t> </a:t>
            </a:r>
            <a:r>
              <a:rPr lang="en-US" altLang="en-US" sz="1600" b="1" dirty="0" err="1">
                <a:latin typeface="Comic Sans MS" panose="030F0902030302020204" pitchFamily="66" charset="0"/>
              </a:rPr>
              <a:t>mult</a:t>
            </a:r>
            <a:r>
              <a:rPr lang="en-US" altLang="en-US" sz="1600" b="1" dirty="0">
                <a:latin typeface="Comic Sans MS" panose="030F0902030302020204" pitchFamily="66" charset="0"/>
              </a:rPr>
              <a:t> – link </a:t>
            </a:r>
            <a:r>
              <a:rPr lang="en-US" altLang="en-US" sz="1600" b="1" dirty="0" err="1">
                <a:latin typeface="Comic Sans MS" panose="030F0902030302020204" pitchFamily="66" charset="0"/>
              </a:rPr>
              <a:t>catre</a:t>
            </a:r>
            <a:r>
              <a:rPr lang="en-US" altLang="en-US" sz="1600" b="1" dirty="0">
                <a:latin typeface="Comic Sans MS" panose="030F0902030302020204" pitchFamily="66" charset="0"/>
              </a:rPr>
              <a:t> </a:t>
            </a:r>
            <a:r>
              <a:rPr lang="en-US" altLang="en-US" sz="1600" b="1" dirty="0" err="1">
                <a:latin typeface="Comic Sans MS" panose="030F0902030302020204" pitchFamily="66" charset="0"/>
              </a:rPr>
              <a:t>articol</a:t>
            </a:r>
            <a:endParaRPr lang="en-US" altLang="en-US" sz="1600" dirty="0">
              <a:latin typeface="Comic Sans MS" panose="030F0902030302020204" pitchFamily="66" charset="0"/>
            </a:endParaRPr>
          </a:p>
          <a:p>
            <a:pPr eaLnBrk="1" hangingPunct="1"/>
            <a:endParaRPr lang="ro-RO" altLang="en-US" sz="1600" dirty="0"/>
          </a:p>
          <a:p>
            <a:pPr eaLnBrk="1" hangingPunct="1"/>
            <a:r>
              <a:rPr lang="en-US" altLang="en-US" sz="1600" dirty="0" err="1"/>
              <a:t>Linkul</a:t>
            </a:r>
            <a:r>
              <a:rPr lang="en-US" altLang="en-US" sz="1600" dirty="0"/>
              <a:t> “</a:t>
            </a:r>
            <a:r>
              <a:rPr lang="en-US" altLang="en-US" sz="1600" dirty="0" err="1"/>
              <a:t>citeste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mai</a:t>
            </a:r>
            <a:r>
              <a:rPr lang="en-US" altLang="en-US" sz="1600" dirty="0"/>
              <a:t> </a:t>
            </a:r>
            <a:r>
              <a:rPr lang="en-US" altLang="en-US" sz="1600" dirty="0" err="1"/>
              <a:t>mult</a:t>
            </a:r>
            <a:r>
              <a:rPr lang="en-US" altLang="en-US" sz="1600" dirty="0"/>
              <a:t> / read more” </a:t>
            </a:r>
            <a:r>
              <a:rPr lang="en-US" altLang="en-US" sz="1600" dirty="0" err="1"/>
              <a:t>este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unul</a:t>
            </a:r>
            <a:r>
              <a:rPr lang="en-US" altLang="en-US" sz="1600" dirty="0"/>
              <a:t> care “produce </a:t>
            </a:r>
            <a:r>
              <a:rPr lang="en-US" altLang="en-US" sz="1600" dirty="0" err="1"/>
              <a:t>pagube</a:t>
            </a:r>
            <a:r>
              <a:rPr lang="en-US" altLang="en-US" sz="1600" dirty="0"/>
              <a:t>” (de</a:t>
            </a:r>
            <a:r>
              <a:rPr lang="ro-RO" altLang="en-US" sz="1600" dirty="0" err="1"/>
              <a:t>ş</a:t>
            </a:r>
            <a:r>
              <a:rPr lang="en-US" altLang="en-US" sz="1600" dirty="0" err="1"/>
              <a:t>i</a:t>
            </a:r>
            <a:r>
              <a:rPr lang="en-US" altLang="en-US" sz="1600" dirty="0"/>
              <a:t> </a:t>
            </a:r>
            <a:r>
              <a:rPr lang="en-US" altLang="en-US" sz="1600" dirty="0" err="1"/>
              <a:t>este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absolut</a:t>
            </a:r>
            <a:r>
              <a:rPr lang="en-US" altLang="en-US" sz="1600" dirty="0"/>
              <a:t> </a:t>
            </a:r>
            <a:r>
              <a:rPr lang="en-US" altLang="en-US" sz="1600" dirty="0" err="1"/>
              <a:t>necesar</a:t>
            </a:r>
            <a:r>
              <a:rPr lang="en-US" altLang="en-US" sz="1600" dirty="0"/>
              <a:t>) </a:t>
            </a:r>
            <a:r>
              <a:rPr lang="ro-RO" altLang="en-US" sz="1600" dirty="0"/>
              <a:t>î</a:t>
            </a:r>
            <a:r>
              <a:rPr lang="en-US" altLang="en-US" sz="1600" dirty="0"/>
              <a:t>n </a:t>
            </a:r>
            <a:r>
              <a:rPr lang="en-US" altLang="en-US" sz="1600" dirty="0" err="1"/>
              <a:t>cazul</a:t>
            </a:r>
            <a:r>
              <a:rPr lang="en-US" altLang="en-US" sz="1600" dirty="0"/>
              <a:t> de fa</a:t>
            </a:r>
            <a:r>
              <a:rPr lang="ro-RO" altLang="en-US" sz="1600" dirty="0" err="1"/>
              <a:t>ţă</a:t>
            </a:r>
            <a:r>
              <a:rPr lang="en-US" altLang="en-US" sz="1600" dirty="0"/>
              <a:t>. </a:t>
            </a:r>
            <a:r>
              <a:rPr lang="ro-RO" altLang="en-US" sz="1600" dirty="0"/>
              <a:t>El</a:t>
            </a:r>
            <a:r>
              <a:rPr lang="en-US" altLang="en-US" sz="1600" dirty="0"/>
              <a:t> </a:t>
            </a:r>
            <a:r>
              <a:rPr lang="en-US" altLang="en-US" sz="1600" dirty="0" err="1"/>
              <a:t>ajut</a:t>
            </a:r>
            <a:r>
              <a:rPr lang="ro-RO" altLang="en-US" sz="1600" dirty="0"/>
              <a:t>ă</a:t>
            </a:r>
            <a:r>
              <a:rPr lang="en-US" altLang="en-US" sz="1600" dirty="0"/>
              <a:t> la </a:t>
            </a:r>
            <a:r>
              <a:rPr lang="en-US" altLang="en-US" sz="1600" dirty="0" err="1"/>
              <a:t>pierderea</a:t>
            </a:r>
            <a:r>
              <a:rPr lang="en-US" altLang="en-US" sz="1600" dirty="0"/>
              <a:t> de link juice. </a:t>
            </a:r>
            <a:r>
              <a:rPr lang="ro-RO" altLang="en-US" sz="1600" dirty="0"/>
              <a:t>P</a:t>
            </a:r>
            <a:r>
              <a:rPr lang="en-US" altLang="en-US" sz="1600" dirty="0" err="1"/>
              <a:t>roblema</a:t>
            </a:r>
            <a:r>
              <a:rPr lang="en-US" altLang="en-US" sz="1600" dirty="0"/>
              <a:t> se </a:t>
            </a:r>
            <a:r>
              <a:rPr lang="en-US" altLang="en-US" sz="1600" dirty="0" err="1"/>
              <a:t>rezolv</a:t>
            </a:r>
            <a:r>
              <a:rPr lang="ro-RO" altLang="en-US" sz="1600" dirty="0"/>
              <a:t>ă</a:t>
            </a:r>
            <a:r>
              <a:rPr lang="en-US" altLang="en-US" sz="1600" dirty="0"/>
              <a:t> </a:t>
            </a:r>
            <a:r>
              <a:rPr lang="en-US" altLang="en-US" sz="1600" dirty="0" err="1"/>
              <a:t>prin</a:t>
            </a:r>
            <a:r>
              <a:rPr lang="en-US" altLang="en-US" sz="1600" dirty="0"/>
              <a:t> </a:t>
            </a:r>
            <a:r>
              <a:rPr lang="en-US" altLang="en-US" sz="1600" dirty="0" err="1"/>
              <a:t>folosirea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nofollow</a:t>
            </a:r>
            <a:r>
              <a:rPr lang="en-US" altLang="en-US" sz="1600" dirty="0"/>
              <a:t>.</a:t>
            </a:r>
          </a:p>
          <a:p>
            <a:pPr eaLnBrk="1" hangingPunct="1"/>
            <a:endParaRPr lang="en-US" altLang="en-US" sz="16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9D9DCD73-AD0B-5642-A3D7-13E6B5F8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A3D209E-AFF6-8C44-909D-89691C708FC3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34</a:t>
            </a:fld>
            <a:endParaRPr lang="en-US" altLang="en-US" sz="1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9CB7-21F2-CC45-AF40-04BDD9ED7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Discutie</a:t>
            </a:r>
            <a:endParaRPr lang="en-US" dirty="0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29DE925C-8724-0F4B-9160-9FF423F5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en-US" altLang="en-RO" dirty="0"/>
              <a:t>Sa </a:t>
            </a:r>
            <a:r>
              <a:rPr lang="en-US" altLang="en-RO" dirty="0" err="1"/>
              <a:t>presupunem</a:t>
            </a:r>
            <a:r>
              <a:rPr lang="en-US" altLang="en-RO" dirty="0"/>
              <a:t> ca </a:t>
            </a:r>
            <a:r>
              <a:rPr lang="en-US" altLang="en-RO" dirty="0" err="1"/>
              <a:t>doriti</a:t>
            </a:r>
            <a:r>
              <a:rPr lang="en-US" altLang="en-RO" dirty="0"/>
              <a:t> </a:t>
            </a:r>
            <a:r>
              <a:rPr lang="en-US" altLang="en-RO" dirty="0" err="1"/>
              <a:t>sa</a:t>
            </a:r>
            <a:r>
              <a:rPr lang="en-US" altLang="en-RO" dirty="0"/>
              <a:t> </a:t>
            </a:r>
            <a:r>
              <a:rPr lang="en-US" altLang="en-RO" dirty="0" err="1"/>
              <a:t>dezvoltati</a:t>
            </a:r>
            <a:r>
              <a:rPr lang="en-US" altLang="en-RO" dirty="0"/>
              <a:t> o </a:t>
            </a:r>
            <a:r>
              <a:rPr lang="en-US" altLang="en-RO" dirty="0" err="1"/>
              <a:t>pagina</a:t>
            </a:r>
            <a:r>
              <a:rPr lang="en-US" altLang="en-RO" dirty="0"/>
              <a:t> Web </a:t>
            </a:r>
            <a:r>
              <a:rPr lang="en-US" altLang="en-RO" dirty="0" err="1"/>
              <a:t>pentru</a:t>
            </a:r>
            <a:r>
              <a:rPr lang="en-US" altLang="en-RO" dirty="0"/>
              <a:t> </a:t>
            </a:r>
            <a:r>
              <a:rPr lang="en-US" altLang="en-RO" dirty="0" err="1"/>
              <a:t>promovarea</a:t>
            </a:r>
            <a:r>
              <a:rPr lang="en-US" altLang="en-RO" dirty="0"/>
              <a:t> </a:t>
            </a:r>
            <a:r>
              <a:rPr lang="en-US" altLang="en-RO" dirty="0" err="1"/>
              <a:t>personala</a:t>
            </a:r>
            <a:r>
              <a:rPr lang="en-US" altLang="en-RO" dirty="0"/>
              <a:t>…</a:t>
            </a:r>
          </a:p>
          <a:p>
            <a:r>
              <a:rPr lang="en-US" altLang="en-RO" dirty="0" err="1"/>
              <a:t>Prezentati</a:t>
            </a:r>
            <a:r>
              <a:rPr lang="en-US" altLang="en-RO" dirty="0"/>
              <a:t> </a:t>
            </a:r>
            <a:r>
              <a:rPr lang="en-US" altLang="en-RO" dirty="0" err="1"/>
              <a:t>cateva</a:t>
            </a:r>
            <a:r>
              <a:rPr lang="en-US" altLang="en-RO" dirty="0"/>
              <a:t> </a:t>
            </a:r>
            <a:r>
              <a:rPr lang="en-US" altLang="en-RO" dirty="0" err="1"/>
              <a:t>idei</a:t>
            </a:r>
            <a:r>
              <a:rPr lang="en-US" altLang="en-RO" dirty="0"/>
              <a:t> care </a:t>
            </a:r>
            <a:r>
              <a:rPr lang="en-US" altLang="en-RO" dirty="0" err="1"/>
              <a:t>va</a:t>
            </a:r>
            <a:r>
              <a:rPr lang="en-US" altLang="en-RO" dirty="0"/>
              <a:t> </a:t>
            </a:r>
            <a:r>
              <a:rPr lang="en-US" altLang="en-RO" dirty="0" err="1"/>
              <a:t>vor</a:t>
            </a:r>
            <a:r>
              <a:rPr lang="en-US" altLang="en-RO" dirty="0"/>
              <a:t> </a:t>
            </a:r>
            <a:r>
              <a:rPr lang="en-US" altLang="en-RO" dirty="0" err="1"/>
              <a:t>ajuta</a:t>
            </a:r>
            <a:r>
              <a:rPr lang="en-US" altLang="en-RO" dirty="0"/>
              <a:t> </a:t>
            </a:r>
            <a:r>
              <a:rPr lang="en-US" altLang="en-RO" dirty="0" err="1"/>
              <a:t>sa</a:t>
            </a:r>
            <a:r>
              <a:rPr lang="en-US" altLang="en-RO" dirty="0"/>
              <a:t> </a:t>
            </a:r>
            <a:r>
              <a:rPr lang="en-US" altLang="en-RO" dirty="0" err="1"/>
              <a:t>ajungeti</a:t>
            </a:r>
            <a:r>
              <a:rPr lang="en-US" altLang="en-RO" dirty="0"/>
              <a:t> in </a:t>
            </a:r>
            <a:r>
              <a:rPr lang="en-US" altLang="en-RO" dirty="0" err="1"/>
              <a:t>primele</a:t>
            </a:r>
            <a:r>
              <a:rPr lang="en-US" altLang="en-RO" dirty="0"/>
              <a:t> </a:t>
            </a:r>
            <a:r>
              <a:rPr lang="en-US" altLang="en-RO" dirty="0" err="1"/>
              <a:t>rezultate</a:t>
            </a:r>
            <a:r>
              <a:rPr lang="en-US" altLang="en-RO" dirty="0"/>
              <a:t>, in </a:t>
            </a:r>
            <a:r>
              <a:rPr lang="en-US" altLang="en-RO" dirty="0" err="1"/>
              <a:t>cautarea</a:t>
            </a:r>
            <a:r>
              <a:rPr lang="en-US" altLang="en-RO" dirty="0"/>
              <a:t> </a:t>
            </a:r>
            <a:r>
              <a:rPr lang="en-US" altLang="en-RO" dirty="0" err="1"/>
              <a:t>unui</a:t>
            </a:r>
            <a:r>
              <a:rPr lang="en-US" altLang="en-RO" dirty="0"/>
              <a:t> potential </a:t>
            </a:r>
            <a:r>
              <a:rPr lang="en-US" altLang="en-RO" dirty="0" err="1"/>
              <a:t>angajator</a:t>
            </a:r>
            <a:r>
              <a:rPr lang="en-US" altLang="en-RO" dirty="0"/>
              <a:t>.</a:t>
            </a:r>
          </a:p>
          <a:p>
            <a:endParaRPr lang="en-US" altLang="en-RO" dirty="0"/>
          </a:p>
          <a:p>
            <a:r>
              <a:rPr lang="en-US" altLang="en-RO" dirty="0"/>
              <a:t>…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6" name="Slide Number Placeholder 5">
            <a:extLst>
              <a:ext uri="{FF2B5EF4-FFF2-40B4-BE49-F238E27FC236}">
                <a16:creationId xmlns:a16="http://schemas.microsoft.com/office/drawing/2014/main" id="{DC427D73-7B54-314C-8950-FE864F19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fld id="{72319A2C-4BE4-8044-ABF6-F521F9C12A79}" type="slidenum">
              <a:rPr lang="en-US" altLang="en-US"/>
              <a:pPr eaLnBrk="1" hangingPunct="1">
                <a:spcAft>
                  <a:spcPts val="600"/>
                </a:spcAft>
              </a:pPr>
              <a:t>35</a:t>
            </a:fld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64" y="484632"/>
            <a:ext cx="7453538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99810" name="Rectangle 2">
            <a:extLst>
              <a:ext uri="{FF2B5EF4-FFF2-40B4-BE49-F238E27FC236}">
                <a16:creationId xmlns:a16="http://schemas.microsoft.com/office/drawing/2014/main" id="{0B54C334-A18A-5C4C-B851-5A72A95C27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096" y="977900"/>
            <a:ext cx="6539558" cy="3327734"/>
          </a:xfrm>
        </p:spPr>
        <p:txBody>
          <a:bodyPr anchor="b">
            <a:normAutofit/>
          </a:bodyPr>
          <a:lstStyle/>
          <a:p>
            <a:pPr eaLnBrk="1" hangingPunct="1">
              <a:defRPr/>
            </a:pPr>
            <a:r>
              <a:rPr lang="ro-RO" altLang="en-US" sz="5400" b="0" dirty="0"/>
              <a:t>SPA SEO</a:t>
            </a:r>
            <a:endParaRPr lang="en-US" altLang="en-US" sz="5400" b="0" dirty="0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58680" y="4476657"/>
            <a:ext cx="537097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84632"/>
            <a:ext cx="3584224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D668A9ED-E1D9-1F46-9314-862D361D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1047EFD9-8BFC-0645-B0C1-40450D33844E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38321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2BB6-679A-584F-929A-13A375EE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4732244" cy="1499616"/>
          </a:xfrm>
        </p:spPr>
        <p:txBody>
          <a:bodyPr>
            <a:normAutofit/>
          </a:bodyPr>
          <a:lstStyle/>
          <a:p>
            <a:r>
              <a:rPr lang="ro-RO"/>
              <a:t>Probleme 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ED2F8-24DE-2848-A7E1-92AF29C3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656236" cy="4023360"/>
          </a:xfrm>
        </p:spPr>
        <p:txBody>
          <a:bodyPr>
            <a:normAutofit/>
          </a:bodyPr>
          <a:lstStyle/>
          <a:p>
            <a:pPr lvl="1"/>
            <a:r>
              <a:rPr lang="en-GB" dirty="0" err="1"/>
              <a:t>Într</a:t>
            </a:r>
            <a:r>
              <a:rPr lang="en-GB" dirty="0"/>
              <a:t>-o SPA </a:t>
            </a:r>
            <a:r>
              <a:rPr lang="en-GB" dirty="0" err="1"/>
              <a:t>conținutul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adăugat</a:t>
            </a:r>
            <a:r>
              <a:rPr lang="en-GB" dirty="0"/>
              <a:t> </a:t>
            </a:r>
            <a:r>
              <a:rPr lang="en-GB" dirty="0" err="1"/>
              <a:t>dinamic</a:t>
            </a:r>
            <a:r>
              <a:rPr lang="en-GB" dirty="0"/>
              <a:t>, </a:t>
            </a:r>
            <a:r>
              <a:rPr lang="en-GB" dirty="0" err="1"/>
              <a:t>folosind</a:t>
            </a:r>
            <a:r>
              <a:rPr lang="en-GB" dirty="0"/>
              <a:t> JavaScript</a:t>
            </a:r>
          </a:p>
          <a:p>
            <a:pPr lvl="1"/>
            <a:r>
              <a:rPr lang="en-GB" dirty="0" err="1"/>
              <a:t>În</a:t>
            </a:r>
            <a:r>
              <a:rPr lang="en-GB" dirty="0"/>
              <a:t> general, DOM-ul </a:t>
            </a:r>
            <a:r>
              <a:rPr lang="en-GB" dirty="0" err="1"/>
              <a:t>unei</a:t>
            </a:r>
            <a:r>
              <a:rPr lang="en-GB" dirty="0"/>
              <a:t> SPA </a:t>
            </a:r>
            <a:r>
              <a:rPr lang="en-GB" dirty="0" err="1"/>
              <a:t>este</a:t>
            </a:r>
            <a:r>
              <a:rPr lang="en-GB" dirty="0"/>
              <a:t> un container </a:t>
            </a:r>
            <a:r>
              <a:rPr lang="en-GB" dirty="0" err="1"/>
              <a:t>gol</a:t>
            </a:r>
            <a:endParaRPr lang="en-GB" dirty="0"/>
          </a:p>
          <a:p>
            <a:pPr lvl="1"/>
            <a:r>
              <a:rPr lang="en-GB" dirty="0"/>
              <a:t>Crawlers nu pot </a:t>
            </a:r>
            <a:r>
              <a:rPr lang="en-GB" dirty="0" err="1"/>
              <a:t>accesa</a:t>
            </a:r>
            <a:r>
              <a:rPr lang="en-GB" dirty="0"/>
              <a:t> </a:t>
            </a:r>
            <a:r>
              <a:rPr lang="en-GB" dirty="0" err="1"/>
              <a:t>conținutul</a:t>
            </a:r>
            <a:r>
              <a:rPr lang="en-GB" dirty="0"/>
              <a:t> </a:t>
            </a:r>
            <a:r>
              <a:rPr lang="en-GB" dirty="0" err="1"/>
              <a:t>încărcat</a:t>
            </a:r>
            <a:r>
              <a:rPr lang="en-GB" dirty="0"/>
              <a:t> </a:t>
            </a:r>
            <a:r>
              <a:rPr lang="en-GB" dirty="0" err="1"/>
              <a:t>asincron</a:t>
            </a:r>
            <a:endParaRPr lang="en-GB" dirty="0"/>
          </a:p>
          <a:p>
            <a:pPr marL="128016" lvl="1" indent="0">
              <a:buNone/>
            </a:pPr>
            <a:br>
              <a:rPr lang="en-GB" dirty="0"/>
            </a:br>
            <a:endParaRPr lang="en-GB" dirty="0"/>
          </a:p>
          <a:p>
            <a:pPr marL="128016" lvl="1" indent="0">
              <a:buNone/>
            </a:pPr>
            <a:r>
              <a:rPr lang="en-GB" sz="2000" dirty="0" err="1"/>
              <a:t>Rezolvare</a:t>
            </a:r>
            <a:r>
              <a:rPr lang="en-GB" sz="2000" dirty="0"/>
              <a:t>:</a:t>
            </a:r>
          </a:p>
          <a:p>
            <a:pPr marL="310896" lvl="2" indent="0">
              <a:buNone/>
            </a:pPr>
            <a:r>
              <a:rPr lang="en-GB" sz="1800" dirty="0"/>
              <a:t>Server-side rendering (SSR) </a:t>
            </a:r>
          </a:p>
          <a:p>
            <a:pPr marL="310896" lvl="2" indent="0">
              <a:buNone/>
            </a:pPr>
            <a:r>
              <a:rPr lang="en-GB" sz="1800" dirty="0"/>
              <a:t>Prerendering</a:t>
            </a:r>
          </a:p>
          <a:p>
            <a:pPr marL="128016" lvl="1" indent="0">
              <a:buNone/>
            </a:pPr>
            <a:endParaRPr lang="en-GB" dirty="0"/>
          </a:p>
          <a:p>
            <a:endParaRPr lang="ro-RO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D431EF2-5A31-4C05-AA3E-4580F5534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3275" y="0"/>
            <a:ext cx="610545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7678399-6817-4845-9B59-E82951B0B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009" y="321731"/>
            <a:ext cx="3932506" cy="36622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PA vs MPA: what is better, faster, stronger? — MindK Blog">
            <a:extLst>
              <a:ext uri="{FF2B5EF4-FFF2-40B4-BE49-F238E27FC236}">
                <a16:creationId xmlns:a16="http://schemas.microsoft.com/office/drawing/2014/main" id="{B6B1FE61-97AF-4147-A390-25E1D25C0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9894" y="1139579"/>
            <a:ext cx="3602736" cy="202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B044E73A-9DB7-46CD-9B4D-9DE9FB5E6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09128" y="321732"/>
            <a:ext cx="1352695" cy="3668542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8057F48-2FD4-4DD3-B887-FEE2B4475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008" y="4157447"/>
            <a:ext cx="2104750" cy="2312282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7A4469D8-5936-48B8-AF0C-37FF2AEE2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0625" y="4157447"/>
            <a:ext cx="3206709" cy="2312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A diagram that shows how dynamic rendering works. The diagram shows the server serving&#10;              initial HTML and JavaScript content directly to the browser. In contrast, the diagram&#10;              shows the server serving initial HTML and JavaScript to a renderer, which converts the&#10;              initial HTML and JavaScript to static HTML. Once the content is converted, the&#10;              renderer serves static HTML to the crawler.">
            <a:extLst>
              <a:ext uri="{FF2B5EF4-FFF2-40B4-BE49-F238E27FC236}">
                <a16:creationId xmlns:a16="http://schemas.microsoft.com/office/drawing/2014/main" id="{C9A98D9D-E32D-C645-86F5-0FC3D99CD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33799" y="4928340"/>
            <a:ext cx="2880360" cy="77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9339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44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8E2EF-6805-B243-96AB-DC7CC9B8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SERVER-SIDE RENDERING (SSR)</a:t>
            </a:r>
            <a:endParaRPr lang="ro-RO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7FEEC-3226-E246-A08C-3B9C8C0A9E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" r="-2" b="-2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E97F8-E70A-7C4C-8C15-8D9E2B940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Avantaje:</a:t>
            </a:r>
          </a:p>
          <a:p>
            <a:pPr lvl="1"/>
            <a:r>
              <a:rPr lang="en-GB">
                <a:solidFill>
                  <a:srgbClr val="FFFFFF"/>
                </a:solidFill>
              </a:rPr>
              <a:t>Logica de randare este făcută de un server web</a:t>
            </a:r>
          </a:p>
          <a:p>
            <a:pPr lvl="1"/>
            <a:r>
              <a:rPr lang="en-GB">
                <a:solidFill>
                  <a:srgbClr val="FFFFFF"/>
                </a:solidFill>
              </a:rPr>
              <a:t>Crawler-ul nu trebuie să ruleze cod JavaScript</a:t>
            </a:r>
          </a:p>
          <a:p>
            <a:r>
              <a:rPr lang="en-GB">
                <a:solidFill>
                  <a:srgbClr val="FFFFFF"/>
                </a:solidFill>
              </a:rPr>
              <a:t>Dezavantaje:</a:t>
            </a:r>
          </a:p>
          <a:p>
            <a:pPr lvl="1"/>
            <a:r>
              <a:rPr lang="en-GB">
                <a:solidFill>
                  <a:srgbClr val="FFFFFF"/>
                </a:solidFill>
              </a:rPr>
              <a:t>Crește complexitatea aplicației și timpul de development</a:t>
            </a:r>
          </a:p>
          <a:p>
            <a:pPr lvl="1"/>
            <a:r>
              <a:rPr lang="en-GB">
                <a:solidFill>
                  <a:srgbClr val="FFFFFF"/>
                </a:solidFill>
              </a:rPr>
              <a:t>Timp de răspuns mai mare</a:t>
            </a:r>
          </a:p>
          <a:p>
            <a:endParaRPr lang="ro-R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555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4403B-2728-4942-9813-C362EAA6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PRERENDERING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AB956-B589-6C4A-8268-DD1B980BD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06" y="3849539"/>
            <a:ext cx="3378098" cy="2367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HTTPS://PRERENDER.IO/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F6E260B-7612-EF4A-8548-B0D8F9385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84" y="981076"/>
            <a:ext cx="6896936" cy="489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3938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64" y="484632"/>
            <a:ext cx="7453538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AD748-C56A-7240-8697-E0B758E6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96" y="977900"/>
            <a:ext cx="653955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spc="200"/>
              <a:t>SOCIAL MEDIA SEO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58680" y="4476657"/>
            <a:ext cx="537097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84632"/>
            <a:ext cx="3584224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4597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5642-AAC5-784D-9558-49D0815D4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GB" dirty="0"/>
              <a:t>SOCIAL MEDIA SEO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D1A17-00E6-5B42-B746-EEF55279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en-GB" dirty="0"/>
              <a:t>Social media SEO are impact </a:t>
            </a:r>
            <a:r>
              <a:rPr lang="en-GB" dirty="0" err="1"/>
              <a:t>asupra</a:t>
            </a:r>
            <a:r>
              <a:rPr lang="en-GB" dirty="0"/>
              <a:t> </a:t>
            </a:r>
            <a:r>
              <a:rPr lang="en-GB" dirty="0" err="1"/>
              <a:t>traficului</a:t>
            </a:r>
            <a:r>
              <a:rPr lang="en-GB" dirty="0"/>
              <a:t> organic din </a:t>
            </a:r>
            <a:r>
              <a:rPr lang="en-GB" dirty="0" err="1"/>
              <a:t>motoarele</a:t>
            </a:r>
            <a:r>
              <a:rPr lang="en-GB" dirty="0"/>
              <a:t> de </a:t>
            </a:r>
            <a:r>
              <a:rPr lang="en-GB" dirty="0" err="1"/>
              <a:t>căutare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mărirea</a:t>
            </a:r>
            <a:r>
              <a:rPr lang="en-GB" dirty="0"/>
              <a:t> </a:t>
            </a:r>
            <a:r>
              <a:rPr lang="en-GB" dirty="0" err="1"/>
              <a:t>gradului</a:t>
            </a:r>
            <a:r>
              <a:rPr lang="en-GB" dirty="0"/>
              <a:t> de </a:t>
            </a:r>
            <a:r>
              <a:rPr lang="en-GB" dirty="0" err="1"/>
              <a:t>vizibilitate</a:t>
            </a:r>
            <a:r>
              <a:rPr lang="en-GB" dirty="0"/>
              <a:t> al </a:t>
            </a:r>
            <a:r>
              <a:rPr lang="en-GB" dirty="0" err="1"/>
              <a:t>paginii</a:t>
            </a:r>
            <a:r>
              <a:rPr lang="en-GB" dirty="0"/>
              <a:t> </a:t>
            </a:r>
          </a:p>
          <a:p>
            <a:r>
              <a:rPr lang="en-GB" dirty="0" err="1"/>
              <a:t>Platformele</a:t>
            </a:r>
            <a:r>
              <a:rPr lang="en-GB" dirty="0"/>
              <a:t> de social media sunt considerate </a:t>
            </a:r>
            <a:r>
              <a:rPr lang="en-GB" dirty="0" err="1"/>
              <a:t>autorități</a:t>
            </a:r>
            <a:endParaRPr lang="en-GB" dirty="0"/>
          </a:p>
          <a:p>
            <a:r>
              <a:rPr lang="en-GB" dirty="0" err="1"/>
              <a:t>Pagina</a:t>
            </a:r>
            <a:r>
              <a:rPr lang="en-GB" dirty="0"/>
              <a:t> </a:t>
            </a:r>
            <a:r>
              <a:rPr lang="en-GB" dirty="0" err="1"/>
              <a:t>va</a:t>
            </a:r>
            <a:r>
              <a:rPr lang="en-GB" dirty="0"/>
              <a:t> </a:t>
            </a:r>
            <a:r>
              <a:rPr lang="en-GB" dirty="0" err="1"/>
              <a:t>câștiga</a:t>
            </a:r>
            <a:r>
              <a:rPr lang="en-GB" dirty="0"/>
              <a:t> rank </a:t>
            </a:r>
            <a:r>
              <a:rPr lang="en-GB" dirty="0" err="1"/>
              <a:t>deoarece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referită</a:t>
            </a:r>
            <a:r>
              <a:rPr lang="en-GB" dirty="0"/>
              <a:t> de o </a:t>
            </a:r>
            <a:r>
              <a:rPr lang="en-GB" dirty="0" err="1"/>
              <a:t>autoritate</a:t>
            </a:r>
            <a:endParaRPr lang="en-GB" dirty="0"/>
          </a:p>
          <a:p>
            <a:r>
              <a:rPr lang="en-GB" dirty="0" err="1"/>
              <a:t>Deși</a:t>
            </a:r>
            <a:r>
              <a:rPr lang="en-GB" dirty="0"/>
              <a:t> </a:t>
            </a:r>
            <a:r>
              <a:rPr lang="en-GB" dirty="0" err="1"/>
              <a:t>numărul</a:t>
            </a:r>
            <a:r>
              <a:rPr lang="en-GB" dirty="0"/>
              <a:t> de shares </a:t>
            </a:r>
            <a:r>
              <a:rPr lang="en-GB" dirty="0" err="1"/>
              <a:t>sau</a:t>
            </a:r>
            <a:r>
              <a:rPr lang="en-GB" dirty="0"/>
              <a:t> followers nu </a:t>
            </a:r>
            <a:r>
              <a:rPr lang="en-GB" dirty="0" err="1"/>
              <a:t>influențează</a:t>
            </a:r>
            <a:r>
              <a:rPr lang="en-GB" dirty="0"/>
              <a:t> rank-ul </a:t>
            </a:r>
            <a:r>
              <a:rPr lang="en-GB" dirty="0" err="1"/>
              <a:t>unei</a:t>
            </a:r>
            <a:r>
              <a:rPr lang="en-GB" dirty="0"/>
              <a:t> </a:t>
            </a:r>
            <a:r>
              <a:rPr lang="en-GB" dirty="0" err="1"/>
              <a:t>pagini</a:t>
            </a:r>
            <a:r>
              <a:rPr lang="en-GB" dirty="0"/>
              <a:t>,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probabil</a:t>
            </a:r>
            <a:r>
              <a:rPr lang="en-GB" dirty="0"/>
              <a:t> ca o </a:t>
            </a:r>
            <a:r>
              <a:rPr lang="en-GB" dirty="0" err="1"/>
              <a:t>pagină</a:t>
            </a:r>
            <a:r>
              <a:rPr lang="en-GB" dirty="0"/>
              <a:t> cu </a:t>
            </a:r>
            <a:r>
              <a:rPr lang="en-GB" dirty="0" err="1"/>
              <a:t>număr</a:t>
            </a:r>
            <a:r>
              <a:rPr lang="en-GB" dirty="0"/>
              <a:t> mare de </a:t>
            </a:r>
            <a:r>
              <a:rPr lang="en-GB" dirty="0" err="1"/>
              <a:t>vizualizări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fie </a:t>
            </a:r>
            <a:r>
              <a:rPr lang="en-GB" dirty="0" err="1"/>
              <a:t>referită</a:t>
            </a:r>
            <a:r>
              <a:rPr lang="en-GB" dirty="0"/>
              <a:t> de </a:t>
            </a:r>
            <a:r>
              <a:rPr lang="en-GB" dirty="0" err="1"/>
              <a:t>pagini</a:t>
            </a:r>
            <a:r>
              <a:rPr lang="en-GB" dirty="0"/>
              <a:t> </a:t>
            </a:r>
            <a:r>
              <a:rPr lang="en-GB" dirty="0" err="1"/>
              <a:t>importante</a:t>
            </a:r>
            <a:endParaRPr lang="en-GB" dirty="0"/>
          </a:p>
          <a:p>
            <a:endParaRPr lang="ro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097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7A1E-2AF9-0046-B4B9-937C3D7C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SOCIAL MEDIA SEO (2)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92625-C61C-5843-A9AC-34EA23191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07628"/>
            <a:ext cx="6291071" cy="455619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o-RO" dirty="0" err="1"/>
              <a:t>Twitter</a:t>
            </a:r>
            <a:r>
              <a:rPr lang="ro-RO" dirty="0"/>
              <a:t> </a:t>
            </a:r>
            <a:r>
              <a:rPr lang="ro-RO" dirty="0" err="1"/>
              <a:t>Cards</a:t>
            </a:r>
            <a:r>
              <a:rPr lang="ro-RO" dirty="0"/>
              <a:t> - marcaj structurat pe care îl puteți adăuga documentelor HTML pentru a explica contextul conținutului și pentru a obține controlul asupra fragmentelor afișate atunci când adresele URL sunt partajate pe </a:t>
            </a:r>
            <a:r>
              <a:rPr lang="ro-RO" dirty="0" err="1"/>
              <a:t>Twitter</a:t>
            </a:r>
            <a:r>
              <a:rPr lang="ro-RO" dirty="0"/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o-RO" dirty="0"/>
              <a:t>Paginile optimizate cu carduri </a:t>
            </a:r>
            <a:r>
              <a:rPr lang="ro-RO" dirty="0" err="1"/>
              <a:t>Twitter</a:t>
            </a:r>
            <a:r>
              <a:rPr lang="ro-RO" dirty="0"/>
              <a:t> primesc mai multe clicuri, aprecieri și </a:t>
            </a:r>
            <a:r>
              <a:rPr lang="ro-RO" dirty="0" err="1"/>
              <a:t>retweet</a:t>
            </a:r>
            <a:r>
              <a:rPr lang="ro-RO" dirty="0"/>
              <a:t>-uri.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o-RO" dirty="0"/>
              <a:t>A avea o imagine atrăgătoare atrage atenția.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o-RO" dirty="0"/>
              <a:t>A avea un titlu și o descriere grozave atrag oamenii să facă clic pe link.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o-RO" dirty="0" err="1"/>
              <a:t>Twitter</a:t>
            </a:r>
            <a:r>
              <a:rPr lang="ro-RO" dirty="0"/>
              <a:t> nu le generează automat?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o-RO" dirty="0"/>
              <a:t>Într-o oarecare măsură. Dar în 99% din timp, </a:t>
            </a:r>
            <a:r>
              <a:rPr lang="ro-RO" dirty="0" err="1"/>
              <a:t>Twitter</a:t>
            </a:r>
            <a:r>
              <a:rPr lang="ro-RO" dirty="0"/>
              <a:t> alege o imagine mai puțin decât ideală și arată un titlu și o descriere trunchiate.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o-RO" dirty="0"/>
              <a:t>Similar cu marcajul Open </a:t>
            </a:r>
            <a:r>
              <a:rPr lang="ro-RO" dirty="0" err="1"/>
              <a:t>Graph</a:t>
            </a:r>
            <a:r>
              <a:rPr lang="ro-RO" dirty="0"/>
              <a:t> pentru platforme precum Facebook și </a:t>
            </a:r>
            <a:r>
              <a:rPr lang="ro-RO" dirty="0" err="1"/>
              <a:t>LinkedIn</a:t>
            </a:r>
            <a:r>
              <a:rPr lang="ro-RO" dirty="0"/>
              <a:t>, </a:t>
            </a:r>
            <a:r>
              <a:rPr lang="ro-RO" dirty="0" err="1"/>
              <a:t>Twitter</a:t>
            </a:r>
            <a:r>
              <a:rPr lang="ro-RO" dirty="0"/>
              <a:t> </a:t>
            </a:r>
            <a:r>
              <a:rPr lang="ro-RO" dirty="0" err="1"/>
              <a:t>Cards</a:t>
            </a:r>
            <a:r>
              <a:rPr lang="ro-RO" dirty="0"/>
              <a:t> permite obținerea controlului asupra modului în care sunt afișate fragmentele URL-urilor pe </a:t>
            </a:r>
            <a:r>
              <a:rPr lang="ro-RO" dirty="0" err="1"/>
              <a:t>Twitter</a:t>
            </a:r>
            <a:r>
              <a:rPr lang="ro-RO" dirty="0"/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6A6F2-1712-FC45-A491-9C6041898535}"/>
              </a:ext>
            </a:extLst>
          </p:cNvPr>
          <p:cNvSpPr/>
          <p:nvPr/>
        </p:nvSpPr>
        <p:spPr>
          <a:xfrm>
            <a:off x="6096000" y="394174"/>
            <a:ext cx="6096000" cy="10656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o-RO" dirty="0"/>
              <a:t>Iată un exemplu de CNN care folosește cardurile </a:t>
            </a:r>
            <a:r>
              <a:rPr lang="ro-RO" dirty="0" err="1"/>
              <a:t>Twitter</a:t>
            </a:r>
            <a:r>
              <a:rPr lang="ro-RO" dirty="0"/>
              <a:t> pentru a prelua controlul asupra modului în care arată postarea lor pe </a:t>
            </a:r>
            <a:r>
              <a:rPr lang="ro-RO" dirty="0" err="1"/>
              <a:t>Twitter</a:t>
            </a:r>
            <a:r>
              <a:rPr lang="ro-RO" dirty="0"/>
              <a:t>:</a:t>
            </a:r>
          </a:p>
        </p:txBody>
      </p:sp>
      <p:pic>
        <p:nvPicPr>
          <p:cNvPr id="3074" name="Picture 2" descr="Twitter Card example tweet">
            <a:extLst>
              <a:ext uri="{FF2B5EF4-FFF2-40B4-BE49-F238E27FC236}">
                <a16:creationId xmlns:a16="http://schemas.microsoft.com/office/drawing/2014/main" id="{F0C53EF3-4EBF-3348-A510-98C104D89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035" y="1312197"/>
            <a:ext cx="4276725" cy="423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194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FF0C-9B25-8145-9730-D627B526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Twitter</a:t>
            </a:r>
            <a:r>
              <a:rPr lang="ro-RO" dirty="0"/>
              <a:t> </a:t>
            </a:r>
            <a:r>
              <a:rPr lang="ro-RO" dirty="0" err="1"/>
              <a:t>CarDS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F472E-50A3-AE4E-B080-18B13D9C7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849575"/>
            <a:ext cx="4590099" cy="4023360"/>
          </a:xfrm>
        </p:spPr>
        <p:txBody>
          <a:bodyPr/>
          <a:lstStyle/>
          <a:p>
            <a:r>
              <a:rPr lang="ro-RO" dirty="0"/>
              <a:t>Există patru tipuri de carduri </a:t>
            </a:r>
            <a:r>
              <a:rPr lang="ro-RO" dirty="0" err="1"/>
              <a:t>Twitter</a:t>
            </a:r>
            <a:r>
              <a:rPr lang="ro-RO" dirty="0"/>
              <a:t> pe care le puteți utiliza:</a:t>
            </a:r>
          </a:p>
          <a:p>
            <a:pPr lvl="1"/>
            <a:r>
              <a:rPr lang="ro-RO" dirty="0">
                <a:solidFill>
                  <a:srgbClr val="FF0000"/>
                </a:solidFill>
              </a:rPr>
              <a:t>Card rezumat</a:t>
            </a:r>
          </a:p>
          <a:p>
            <a:pPr lvl="1"/>
            <a:r>
              <a:rPr lang="ro-RO" dirty="0"/>
              <a:t>Card rezumat cu imagine mare</a:t>
            </a:r>
          </a:p>
          <a:p>
            <a:pPr lvl="1"/>
            <a:r>
              <a:rPr lang="ro-RO" dirty="0"/>
              <a:t>Card de aplicație</a:t>
            </a:r>
          </a:p>
          <a:p>
            <a:pPr lvl="1"/>
            <a:r>
              <a:rPr lang="ro-RO" dirty="0"/>
              <a:t>Card de jucător</a:t>
            </a:r>
          </a:p>
        </p:txBody>
      </p:sp>
      <p:pic>
        <p:nvPicPr>
          <p:cNvPr id="4098" name="Picture 2" descr="Twitter Card Summary Card source code example">
            <a:extLst>
              <a:ext uri="{FF2B5EF4-FFF2-40B4-BE49-F238E27FC236}">
                <a16:creationId xmlns:a16="http://schemas.microsoft.com/office/drawing/2014/main" id="{AD07DFB9-768E-974E-978A-EDC98AFFC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" y="5736233"/>
            <a:ext cx="11135360" cy="87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Twitter Card Summary Card example">
            <a:extLst>
              <a:ext uri="{FF2B5EF4-FFF2-40B4-BE49-F238E27FC236}">
                <a16:creationId xmlns:a16="http://schemas.microsoft.com/office/drawing/2014/main" id="{00624657-62AA-C54E-ABF7-EF58ECFCC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299" y="1121767"/>
            <a:ext cx="6179501" cy="430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0637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FF0C-9B25-8145-9730-D627B526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Twitter</a:t>
            </a:r>
            <a:r>
              <a:rPr lang="ro-RO" dirty="0"/>
              <a:t> </a:t>
            </a:r>
            <a:r>
              <a:rPr lang="ro-RO" dirty="0" err="1"/>
              <a:t>CarDS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F472E-50A3-AE4E-B080-18B13D9C7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849575"/>
            <a:ext cx="4590099" cy="4023360"/>
          </a:xfrm>
        </p:spPr>
        <p:txBody>
          <a:bodyPr/>
          <a:lstStyle/>
          <a:p>
            <a:r>
              <a:rPr lang="ro-RO" dirty="0"/>
              <a:t>Există patru tipuri de carduri </a:t>
            </a:r>
            <a:r>
              <a:rPr lang="ro-RO" dirty="0" err="1"/>
              <a:t>Twitter</a:t>
            </a:r>
            <a:r>
              <a:rPr lang="ro-RO" dirty="0"/>
              <a:t> pe care le puteți utiliza:</a:t>
            </a:r>
          </a:p>
          <a:p>
            <a:pPr lvl="1"/>
            <a:r>
              <a:rPr lang="ro-RO" dirty="0"/>
              <a:t>Card rezumat</a:t>
            </a:r>
          </a:p>
          <a:p>
            <a:pPr lvl="1"/>
            <a:r>
              <a:rPr lang="ro-RO" dirty="0">
                <a:solidFill>
                  <a:srgbClr val="FF0000"/>
                </a:solidFill>
              </a:rPr>
              <a:t>Card rezumat cu imagine mare</a:t>
            </a:r>
          </a:p>
          <a:p>
            <a:pPr lvl="1"/>
            <a:r>
              <a:rPr lang="ro-RO" dirty="0"/>
              <a:t>Card de aplicație</a:t>
            </a:r>
          </a:p>
          <a:p>
            <a:pPr lvl="1"/>
            <a:r>
              <a:rPr lang="ro-RO" dirty="0"/>
              <a:t>Card de jucător</a:t>
            </a:r>
          </a:p>
        </p:txBody>
      </p:sp>
      <p:pic>
        <p:nvPicPr>
          <p:cNvPr id="5124" name="Picture 4" descr="Twitter Card Summary Card Large Image example">
            <a:extLst>
              <a:ext uri="{FF2B5EF4-FFF2-40B4-BE49-F238E27FC236}">
                <a16:creationId xmlns:a16="http://schemas.microsoft.com/office/drawing/2014/main" id="{FACAA451-0178-6049-9CBA-F2B82535C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525" y="210332"/>
            <a:ext cx="4346257" cy="50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witter Card Summary Card Large Image source code example">
            <a:extLst>
              <a:ext uri="{FF2B5EF4-FFF2-40B4-BE49-F238E27FC236}">
                <a16:creationId xmlns:a16="http://schemas.microsoft.com/office/drawing/2014/main" id="{F40A3AC3-8BCB-4846-A1A0-749E02530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2" y="5754472"/>
            <a:ext cx="11824016" cy="81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332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0E6D-A214-7445-96D5-172651AB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SOCIAL MEDIA SEO (3)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32FAC-D269-9C49-8DFE-6E7AE1857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084832"/>
            <a:ext cx="9720073" cy="4023360"/>
          </a:xfrm>
        </p:spPr>
        <p:txBody>
          <a:bodyPr>
            <a:normAutofit/>
          </a:bodyPr>
          <a:lstStyle/>
          <a:p>
            <a:r>
              <a:rPr lang="en-GB" dirty="0"/>
              <a:t>Twitter</a:t>
            </a:r>
          </a:p>
          <a:p>
            <a:pPr lvl="1"/>
            <a:r>
              <a:rPr lang="en-GB" dirty="0"/>
              <a:t>&lt;meta name="</a:t>
            </a:r>
            <a:r>
              <a:rPr lang="en-GB" dirty="0" err="1"/>
              <a:t>twitter:card</a:t>
            </a:r>
            <a:r>
              <a:rPr lang="en-GB" dirty="0"/>
              <a:t>" content="summary"&gt;</a:t>
            </a:r>
          </a:p>
          <a:p>
            <a:pPr lvl="1"/>
            <a:r>
              <a:rPr lang="en-GB" dirty="0"/>
              <a:t>&lt;meta name="</a:t>
            </a:r>
            <a:r>
              <a:rPr lang="en-GB" dirty="0" err="1"/>
              <a:t>twitter:site</a:t>
            </a:r>
            <a:r>
              <a:rPr lang="en-GB" dirty="0"/>
              <a:t>" content="@</a:t>
            </a:r>
            <a:r>
              <a:rPr lang="en-GB" dirty="0" err="1"/>
              <a:t>publisher_handle</a:t>
            </a:r>
            <a:r>
              <a:rPr lang="en-GB" dirty="0"/>
              <a:t>"&gt;</a:t>
            </a:r>
          </a:p>
          <a:p>
            <a:pPr lvl="1"/>
            <a:r>
              <a:rPr lang="en-GB" dirty="0"/>
              <a:t>&lt;meta name="</a:t>
            </a:r>
            <a:r>
              <a:rPr lang="en-GB" dirty="0" err="1"/>
              <a:t>twitter:title</a:t>
            </a:r>
            <a:r>
              <a:rPr lang="en-GB" dirty="0"/>
              <a:t>" content="Page Title"&gt;</a:t>
            </a:r>
          </a:p>
          <a:p>
            <a:pPr lvl="1"/>
            <a:r>
              <a:rPr lang="en-GB" dirty="0"/>
              <a:t>&lt;meta name="</a:t>
            </a:r>
            <a:r>
              <a:rPr lang="en-GB" dirty="0" err="1"/>
              <a:t>twitter:description</a:t>
            </a:r>
            <a:r>
              <a:rPr lang="en-GB" dirty="0"/>
              <a:t>" content="Page description less than 200 characters"&gt;</a:t>
            </a:r>
          </a:p>
          <a:p>
            <a:pPr lvl="1"/>
            <a:r>
              <a:rPr lang="en-GB" dirty="0"/>
              <a:t>&lt;meta name="</a:t>
            </a:r>
            <a:r>
              <a:rPr lang="en-GB" dirty="0" err="1"/>
              <a:t>twitter:creator</a:t>
            </a:r>
            <a:r>
              <a:rPr lang="en-GB" dirty="0"/>
              <a:t>" content="@</a:t>
            </a:r>
            <a:r>
              <a:rPr lang="en-GB" dirty="0" err="1"/>
              <a:t>author_handle</a:t>
            </a:r>
            <a:r>
              <a:rPr lang="en-GB" dirty="0"/>
              <a:t>"&gt;</a:t>
            </a:r>
          </a:p>
          <a:p>
            <a:r>
              <a:rPr lang="en-GB" dirty="0"/>
              <a:t>Open Graph</a:t>
            </a:r>
          </a:p>
          <a:p>
            <a:pPr lvl="1"/>
            <a:r>
              <a:rPr lang="en-GB" dirty="0"/>
              <a:t>&lt;meta property="</a:t>
            </a:r>
            <a:r>
              <a:rPr lang="en-GB" dirty="0" err="1"/>
              <a:t>og:title</a:t>
            </a:r>
            <a:r>
              <a:rPr lang="en-GB" dirty="0"/>
              <a:t>" content="Title Here" /&gt;</a:t>
            </a:r>
          </a:p>
          <a:p>
            <a:pPr lvl="1"/>
            <a:r>
              <a:rPr lang="en-GB" dirty="0"/>
              <a:t>&lt;meta property="</a:t>
            </a:r>
            <a:r>
              <a:rPr lang="en-GB" dirty="0" err="1"/>
              <a:t>og:type</a:t>
            </a:r>
            <a:r>
              <a:rPr lang="en-GB" dirty="0"/>
              <a:t>" content="article" /&gt;</a:t>
            </a:r>
          </a:p>
          <a:p>
            <a:pPr lvl="1"/>
            <a:r>
              <a:rPr lang="en-GB" dirty="0"/>
              <a:t>&lt;meta property="</a:t>
            </a:r>
            <a:r>
              <a:rPr lang="en-GB" dirty="0" err="1"/>
              <a:t>og:description</a:t>
            </a:r>
            <a:r>
              <a:rPr lang="en-GB" dirty="0"/>
              <a:t>" content="Description Here" /&gt;</a:t>
            </a:r>
          </a:p>
          <a:p>
            <a:r>
              <a:rPr lang="en-GB" dirty="0"/>
              <a:t>Mai </a:t>
            </a:r>
            <a:r>
              <a:rPr lang="en-GB" dirty="0" err="1"/>
              <a:t>multe</a:t>
            </a:r>
            <a:r>
              <a:rPr lang="en-GB" dirty="0"/>
              <a:t> </a:t>
            </a:r>
            <a:r>
              <a:rPr lang="en-GB" dirty="0" err="1"/>
              <a:t>detalii</a:t>
            </a:r>
            <a:r>
              <a:rPr lang="en-GB" dirty="0"/>
              <a:t>: </a:t>
            </a:r>
            <a:r>
              <a:rPr lang="en-GB" dirty="0">
                <a:hlinkClick r:id="rId2"/>
              </a:rPr>
              <a:t>https://moz.com/blog/meta-data-templates-123</a:t>
            </a:r>
            <a:r>
              <a:rPr lang="en-GB" dirty="0"/>
              <a:t>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70358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64" y="484632"/>
            <a:ext cx="7453538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12098" name="Rectangle 2">
            <a:extLst>
              <a:ext uri="{FF2B5EF4-FFF2-40B4-BE49-F238E27FC236}">
                <a16:creationId xmlns:a16="http://schemas.microsoft.com/office/drawing/2014/main" id="{FD23757E-AA38-DC47-9895-12AD2E40AD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096" y="977900"/>
            <a:ext cx="6539558" cy="3327734"/>
          </a:xfrm>
        </p:spPr>
        <p:txBody>
          <a:bodyPr anchor="b">
            <a:normAutofit/>
          </a:bodyPr>
          <a:lstStyle/>
          <a:p>
            <a:r>
              <a:rPr lang="en-GB" dirty="0"/>
              <a:t>RECOMANDĂRI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58680" y="4476657"/>
            <a:ext cx="537097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84632"/>
            <a:ext cx="3584224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035" name="Slide Number Placeholder 5">
            <a:extLst>
              <a:ext uri="{FF2B5EF4-FFF2-40B4-BE49-F238E27FC236}">
                <a16:creationId xmlns:a16="http://schemas.microsoft.com/office/drawing/2014/main" id="{A5092318-5E67-C942-BD8E-653CEB77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B2979EEF-4DDE-7641-8A07-7E2171C05459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46</a:t>
            </a:fld>
            <a:endParaRPr lang="en-US" altLang="en-US" sz="13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618" name="Rectangle 2">
            <a:extLst>
              <a:ext uri="{FF2B5EF4-FFF2-40B4-BE49-F238E27FC236}">
                <a16:creationId xmlns:a16="http://schemas.microsoft.com/office/drawing/2014/main" id="{067C1CA6-2B9D-3444-B791-FEA1EA830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Schema de navigare în site</a:t>
            </a:r>
            <a:endParaRPr lang="en-US" altLang="en-US"/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CDCED309-28A1-4B4B-B835-6B51686F2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/>
              <a:t>Legături </a:t>
            </a:r>
            <a:r>
              <a:rPr lang="en-US" altLang="en-US"/>
              <a:t>Text</a:t>
            </a:r>
          </a:p>
          <a:p>
            <a:pPr lvl="1">
              <a:spcAft>
                <a:spcPts val="600"/>
              </a:spcAft>
            </a:pPr>
            <a:r>
              <a:rPr lang="ro-RO" altLang="en-US"/>
              <a:t>Sunt “</a:t>
            </a:r>
            <a:r>
              <a:rPr lang="en-US" altLang="en-US"/>
              <a:t>search engine friendly</a:t>
            </a:r>
            <a:r>
              <a:rPr lang="ro-RO" altLang="en-US"/>
              <a:t>”</a:t>
            </a:r>
            <a:endParaRPr lang="en-US" altLang="en-US"/>
          </a:p>
          <a:p>
            <a:pPr>
              <a:spcAft>
                <a:spcPts val="600"/>
              </a:spcAft>
            </a:pPr>
            <a:r>
              <a:rPr lang="ro-RO" altLang="en-US"/>
              <a:t>Problemele cu Legăturile Text</a:t>
            </a:r>
            <a:endParaRPr lang="en-US" altLang="en-US"/>
          </a:p>
          <a:p>
            <a:pPr lvl="1">
              <a:spcAft>
                <a:spcPts val="600"/>
              </a:spcAft>
            </a:pPr>
            <a:r>
              <a:rPr lang="ro-RO" altLang="en-US"/>
              <a:t>Pot influenţa negativ densitatea de cuvinte cheie</a:t>
            </a:r>
          </a:p>
          <a:p>
            <a:pPr>
              <a:spcAft>
                <a:spcPts val="600"/>
              </a:spcAft>
            </a:pPr>
            <a:r>
              <a:rPr lang="ro-RO" altLang="en-US"/>
              <a:t>Butoanele de Navigare</a:t>
            </a:r>
            <a:endParaRPr lang="en-US" altLang="en-US"/>
          </a:p>
          <a:p>
            <a:pPr lvl="1">
              <a:spcAft>
                <a:spcPts val="600"/>
              </a:spcAft>
            </a:pPr>
            <a:r>
              <a:rPr lang="ro-RO" altLang="en-US"/>
              <a:t>Folositoare (dar cu includerea de </a:t>
            </a:r>
            <a:r>
              <a:rPr lang="en-US" altLang="en-US"/>
              <a:t>alt text</a:t>
            </a:r>
            <a:r>
              <a:rPr lang="ro-RO" altLang="en-US"/>
              <a:t>)</a:t>
            </a:r>
            <a:endParaRPr lang="en-US" altLang="en-US"/>
          </a:p>
          <a:p>
            <a:pPr lvl="1">
              <a:spcAft>
                <a:spcPts val="600"/>
              </a:spcAft>
            </a:pPr>
            <a:r>
              <a:rPr lang="ro-RO" altLang="en-US"/>
              <a:t>Evitaţi </a:t>
            </a:r>
            <a:r>
              <a:rPr lang="en-US" altLang="en-US"/>
              <a:t>JavaScript, </a:t>
            </a:r>
            <a:r>
              <a:rPr lang="ro-RO" altLang="en-US"/>
              <a:t>exceptând cazul în care furnizaţi o formă de navigare pe care </a:t>
            </a:r>
            <a:r>
              <a:rPr lang="en-US" altLang="en-US"/>
              <a:t>crawler</a:t>
            </a:r>
            <a:r>
              <a:rPr lang="ro-RO" altLang="en-US"/>
              <a:t>ele o pot urma</a:t>
            </a:r>
            <a:endParaRPr lang="en-US" altLang="en-US"/>
          </a:p>
          <a:p>
            <a:pPr lvl="1">
              <a:spcAft>
                <a:spcPts val="600"/>
              </a:spcAft>
            </a:pPr>
            <a:r>
              <a:rPr lang="ro-RO" altLang="en-US"/>
              <a:t>Recomandare</a:t>
            </a:r>
            <a:r>
              <a:rPr lang="en-US" altLang="en-US"/>
              <a:t>: </a:t>
            </a:r>
            <a:r>
              <a:rPr lang="ro-RO" altLang="en-US"/>
              <a:t>folosiţi </a:t>
            </a:r>
            <a:r>
              <a:rPr lang="en-US" altLang="en-US"/>
              <a:t>alt text </a:t>
            </a:r>
            <a:r>
              <a:rPr lang="ro-RO" altLang="en-US"/>
              <a:t>şi </a:t>
            </a:r>
            <a:r>
              <a:rPr lang="en-US" altLang="en-US"/>
              <a:t>text </a:t>
            </a:r>
            <a:r>
              <a:rPr lang="ro-RO" altLang="en-US"/>
              <a:t>de navigare la sfârşitul paginii </a:t>
            </a:r>
            <a:r>
              <a:rPr lang="en-US" altLang="en-US"/>
              <a:t>– </a:t>
            </a:r>
            <a:r>
              <a:rPr lang="ro-RO" altLang="en-US"/>
              <a:t>vă permite plasarea de cuvinte cheie în mai multe locuri</a:t>
            </a:r>
            <a:endParaRPr lang="en-US" altLang="en-US"/>
          </a:p>
          <a:p>
            <a:pPr lvl="1"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10A982C8-D1A0-D24B-8860-89CE0C7E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12296123-5270-9C4A-9B4F-857A43F3B6C0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47</a:t>
            </a:fld>
            <a:endParaRPr lang="en-US" altLang="en-US" sz="13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666" name="Rectangle 2">
            <a:extLst>
              <a:ext uri="{FF2B5EF4-FFF2-40B4-BE49-F238E27FC236}">
                <a16:creationId xmlns:a16="http://schemas.microsoft.com/office/drawing/2014/main" id="{27A36015-4073-0042-B9D8-0AFB02D4C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Schema de navigare în site</a:t>
            </a:r>
            <a:endParaRPr lang="en-US" altLang="en-US"/>
          </a:p>
        </p:txBody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0404393A-58A6-E54E-833B-639C6ACEF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Image Map</a:t>
            </a:r>
          </a:p>
          <a:p>
            <a:pPr lvl="1" eaLnBrk="1" hangingPunct="1"/>
            <a:r>
              <a:rPr lang="en-US" altLang="en-US"/>
              <a:t>Crawler</a:t>
            </a:r>
            <a:r>
              <a:rPr lang="ro-RO" altLang="en-US"/>
              <a:t>ele</a:t>
            </a:r>
            <a:r>
              <a:rPr lang="en-US" altLang="en-US"/>
              <a:t> ignor</a:t>
            </a:r>
            <a:r>
              <a:rPr lang="ro-RO" altLang="en-US"/>
              <a:t>ă</a:t>
            </a:r>
            <a:r>
              <a:rPr lang="en-US" altLang="en-US"/>
              <a:t> </a:t>
            </a:r>
            <a:r>
              <a:rPr lang="ro-RO" altLang="en-US"/>
              <a:t>legăturile din </a:t>
            </a:r>
            <a:r>
              <a:rPr lang="en-US" altLang="en-US"/>
              <a:t>image map</a:t>
            </a:r>
            <a:r>
              <a:rPr lang="ro-RO" altLang="en-US"/>
              <a:t>-uri</a:t>
            </a:r>
            <a:endParaRPr lang="en-US" altLang="en-US"/>
          </a:p>
          <a:p>
            <a:pPr lvl="1" eaLnBrk="1" hangingPunct="1"/>
            <a:r>
              <a:rPr lang="ro-RO" altLang="en-US"/>
              <a:t>Adăugaţi legături text sau butoane de navigare suplimentare</a:t>
            </a:r>
            <a:endParaRPr lang="en-US" altLang="en-US"/>
          </a:p>
          <a:p>
            <a:pPr eaLnBrk="1" hangingPunct="1"/>
            <a:r>
              <a:rPr lang="ro-RO" altLang="en-US"/>
              <a:t>Meniuri </a:t>
            </a:r>
            <a:r>
              <a:rPr lang="en-US" altLang="en-US"/>
              <a:t>Pull Down</a:t>
            </a:r>
          </a:p>
          <a:p>
            <a:pPr lvl="1" eaLnBrk="1" hangingPunct="1"/>
            <a:r>
              <a:rPr lang="ro-RO" altLang="en-US"/>
              <a:t>În general nu sunt “</a:t>
            </a:r>
            <a:r>
              <a:rPr lang="en-US" altLang="en-US"/>
              <a:t>crawler friendly</a:t>
            </a:r>
            <a:r>
              <a:rPr lang="ro-RO" altLang="en-US"/>
              <a:t>”</a:t>
            </a:r>
            <a:r>
              <a:rPr lang="en-US" altLang="en-US"/>
              <a:t> </a:t>
            </a:r>
            <a:r>
              <a:rPr lang="ro-RO" altLang="en-US"/>
              <a:t>pentru că necesită </a:t>
            </a:r>
            <a:r>
              <a:rPr lang="en-US" altLang="en-US"/>
              <a:t>JavaScript </a:t>
            </a:r>
            <a:r>
              <a:rPr lang="ro-RO" altLang="en-US"/>
              <a:t>sau un program </a:t>
            </a:r>
            <a:r>
              <a:rPr lang="en-US" altLang="en-US"/>
              <a:t>CGI </a:t>
            </a:r>
          </a:p>
          <a:p>
            <a:pPr lvl="1" eaLnBrk="1" hangingPunct="1"/>
            <a:r>
              <a:rPr lang="ro-RO" altLang="en-US"/>
              <a:t>Întotdeauna furnizaţi două forme de navigare: una pentru utilizatori şi una pentru </a:t>
            </a:r>
            <a:r>
              <a:rPr lang="en-US" altLang="en-US"/>
              <a:t>crawler</a:t>
            </a:r>
            <a:r>
              <a:rPr lang="ro-RO" altLang="en-US"/>
              <a:t>e</a:t>
            </a: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83" name="Slide Number Placeholder 5">
            <a:extLst>
              <a:ext uri="{FF2B5EF4-FFF2-40B4-BE49-F238E27FC236}">
                <a16:creationId xmlns:a16="http://schemas.microsoft.com/office/drawing/2014/main" id="{CD6E8D81-FDC1-F64B-A367-E79CD13C8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4F2947A5-DD5F-484D-A981-FE8AF0779483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48</a:t>
            </a:fld>
            <a:endParaRPr lang="en-US" altLang="en-US" sz="1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0C591-BC34-D64B-AF15-8AEE108D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CONȚINUT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DB0C4-0D58-B34B-9E22-7993622F6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767840"/>
            <a:ext cx="10143745" cy="4663440"/>
          </a:xfrm>
        </p:spPr>
        <p:txBody>
          <a:bodyPr>
            <a:normAutofit fontScale="92500" lnSpcReduction="10000"/>
          </a:bodyPr>
          <a:lstStyle/>
          <a:p>
            <a:br>
              <a:rPr lang="en-GB" dirty="0"/>
            </a:br>
            <a:r>
              <a:rPr lang="en-GB" dirty="0"/>
              <a:t>Content de </a:t>
            </a:r>
            <a:r>
              <a:rPr lang="en-GB" dirty="0" err="1"/>
              <a:t>calitate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poate</a:t>
            </a:r>
            <a:r>
              <a:rPr lang="en-GB" dirty="0"/>
              <a:t> fi </a:t>
            </a:r>
            <a:r>
              <a:rPr lang="en-GB" dirty="0" err="1"/>
              <a:t>descoperit</a:t>
            </a:r>
            <a:r>
              <a:rPr lang="en-GB" dirty="0"/>
              <a:t> de crawlers</a:t>
            </a:r>
          </a:p>
          <a:p>
            <a:pPr lvl="1"/>
            <a:r>
              <a:rPr lang="en-GB" sz="2000" dirty="0"/>
              <a:t>Meta tags</a:t>
            </a:r>
          </a:p>
          <a:p>
            <a:pPr lvl="2"/>
            <a:r>
              <a:rPr lang="en-GB" sz="1800" dirty="0" err="1"/>
              <a:t>Titlu</a:t>
            </a:r>
            <a:r>
              <a:rPr lang="en-GB" sz="1800" dirty="0"/>
              <a:t> – </a:t>
            </a:r>
            <a:r>
              <a:rPr lang="en-GB" sz="1800" dirty="0" err="1"/>
              <a:t>trebuie</a:t>
            </a:r>
            <a:r>
              <a:rPr lang="en-GB" sz="1800" dirty="0"/>
              <a:t> </a:t>
            </a:r>
            <a:r>
              <a:rPr lang="en-GB" sz="1800" dirty="0" err="1"/>
              <a:t>să</a:t>
            </a:r>
            <a:r>
              <a:rPr lang="en-GB" sz="1800" dirty="0"/>
              <a:t> </a:t>
            </a:r>
            <a:r>
              <a:rPr lang="en-GB" sz="1800" dirty="0" err="1"/>
              <a:t>conțină</a:t>
            </a:r>
            <a:r>
              <a:rPr lang="en-GB" sz="1800" dirty="0"/>
              <a:t> un </a:t>
            </a:r>
            <a:r>
              <a:rPr lang="en-GB" sz="1800" dirty="0" err="1"/>
              <a:t>cuvânt</a:t>
            </a:r>
            <a:r>
              <a:rPr lang="en-GB" sz="1800" dirty="0"/>
              <a:t> </a:t>
            </a:r>
            <a:r>
              <a:rPr lang="en-GB" sz="1800" dirty="0" err="1"/>
              <a:t>cheie</a:t>
            </a:r>
            <a:r>
              <a:rPr lang="en-GB" sz="1800" dirty="0"/>
              <a:t> important, </a:t>
            </a:r>
            <a:r>
              <a:rPr lang="en-GB" sz="1800" dirty="0" err="1"/>
              <a:t>să</a:t>
            </a:r>
            <a:r>
              <a:rPr lang="en-GB" sz="1800" dirty="0"/>
              <a:t> </a:t>
            </a:r>
            <a:r>
              <a:rPr lang="en-GB" sz="1800" dirty="0" err="1"/>
              <a:t>aibă</a:t>
            </a:r>
            <a:r>
              <a:rPr lang="en-GB" sz="1800" dirty="0"/>
              <a:t> </a:t>
            </a:r>
            <a:r>
              <a:rPr lang="en-GB" sz="1800" dirty="0" err="1"/>
              <a:t>mai</a:t>
            </a:r>
            <a:r>
              <a:rPr lang="en-GB" sz="1800" dirty="0"/>
              <a:t> </a:t>
            </a:r>
            <a:r>
              <a:rPr lang="en-GB" sz="1800" dirty="0" err="1"/>
              <a:t>puțin</a:t>
            </a:r>
            <a:r>
              <a:rPr lang="en-GB" sz="1800" dirty="0"/>
              <a:t> de 70 de </a:t>
            </a:r>
            <a:r>
              <a:rPr lang="en-GB" sz="1800" dirty="0" err="1"/>
              <a:t>caractere</a:t>
            </a:r>
            <a:r>
              <a:rPr lang="en-GB" sz="1800" dirty="0"/>
              <a:t>, </a:t>
            </a:r>
            <a:r>
              <a:rPr lang="en-GB" sz="1800" dirty="0" err="1"/>
              <a:t>să</a:t>
            </a:r>
            <a:r>
              <a:rPr lang="en-GB" sz="1800" dirty="0"/>
              <a:t> se </a:t>
            </a:r>
            <a:r>
              <a:rPr lang="en-GB" sz="1800" dirty="0" err="1"/>
              <a:t>diferențieze</a:t>
            </a:r>
            <a:r>
              <a:rPr lang="en-GB" sz="1800" dirty="0"/>
              <a:t> de </a:t>
            </a:r>
            <a:r>
              <a:rPr lang="en-GB" sz="1800" dirty="0" err="1"/>
              <a:t>alte</a:t>
            </a:r>
            <a:r>
              <a:rPr lang="en-GB" sz="1800" dirty="0"/>
              <a:t> </a:t>
            </a:r>
            <a:r>
              <a:rPr lang="en-GB" sz="1800" dirty="0" err="1"/>
              <a:t>titluri</a:t>
            </a:r>
            <a:r>
              <a:rPr lang="en-GB" sz="1800" dirty="0"/>
              <a:t> ale </a:t>
            </a:r>
            <a:r>
              <a:rPr lang="en-GB" sz="1800" dirty="0" err="1"/>
              <a:t>competiției</a:t>
            </a:r>
            <a:r>
              <a:rPr lang="en-GB" sz="1800" dirty="0"/>
              <a:t>, </a:t>
            </a:r>
            <a:r>
              <a:rPr lang="en-GB" sz="1800" dirty="0" err="1"/>
              <a:t>să</a:t>
            </a:r>
            <a:r>
              <a:rPr lang="en-GB" sz="1800" dirty="0"/>
              <a:t> </a:t>
            </a:r>
            <a:r>
              <a:rPr lang="en-GB" sz="1800" dirty="0" err="1"/>
              <a:t>conțină</a:t>
            </a:r>
            <a:r>
              <a:rPr lang="en-GB" sz="1800" dirty="0"/>
              <a:t> </a:t>
            </a:r>
            <a:r>
              <a:rPr lang="en-GB" sz="1800" dirty="0" err="1"/>
              <a:t>numele</a:t>
            </a:r>
            <a:r>
              <a:rPr lang="en-GB" sz="1800" dirty="0"/>
              <a:t> </a:t>
            </a:r>
            <a:r>
              <a:rPr lang="en-GB" sz="1800" dirty="0" err="1"/>
              <a:t>brandului</a:t>
            </a:r>
            <a:endParaRPr lang="en-GB" sz="1800" dirty="0"/>
          </a:p>
          <a:p>
            <a:pPr lvl="2"/>
            <a:r>
              <a:rPr lang="en-GB" sz="1800" dirty="0" err="1"/>
              <a:t>Descriere</a:t>
            </a:r>
            <a:r>
              <a:rPr lang="en-GB" sz="1800" dirty="0"/>
              <a:t> – </a:t>
            </a:r>
            <a:r>
              <a:rPr lang="en-GB" sz="1800" dirty="0" err="1"/>
              <a:t>trebuie</a:t>
            </a:r>
            <a:r>
              <a:rPr lang="en-GB" sz="1800" dirty="0"/>
              <a:t> </a:t>
            </a:r>
            <a:r>
              <a:rPr lang="en-GB" sz="1800" dirty="0" err="1"/>
              <a:t>să</a:t>
            </a:r>
            <a:r>
              <a:rPr lang="en-GB" sz="1800" dirty="0"/>
              <a:t> </a:t>
            </a:r>
            <a:r>
              <a:rPr lang="en-GB" sz="1800" dirty="0" err="1"/>
              <a:t>conțină</a:t>
            </a:r>
            <a:r>
              <a:rPr lang="en-GB" sz="1800" dirty="0"/>
              <a:t> 1-2 </a:t>
            </a:r>
            <a:r>
              <a:rPr lang="en-GB" sz="1800" dirty="0" err="1"/>
              <a:t>cuvinte</a:t>
            </a:r>
            <a:r>
              <a:rPr lang="en-GB" sz="1800" dirty="0"/>
              <a:t> </a:t>
            </a:r>
            <a:r>
              <a:rPr lang="en-GB" sz="1800" dirty="0" err="1"/>
              <a:t>cheie</a:t>
            </a:r>
            <a:r>
              <a:rPr lang="en-GB" sz="1800" dirty="0"/>
              <a:t>, </a:t>
            </a:r>
            <a:r>
              <a:rPr lang="en-GB" sz="1800" dirty="0" err="1"/>
              <a:t>să</a:t>
            </a:r>
            <a:r>
              <a:rPr lang="en-GB" sz="1800" dirty="0"/>
              <a:t> </a:t>
            </a:r>
            <a:r>
              <a:rPr lang="en-GB" sz="1800" dirty="0" err="1"/>
              <a:t>aibă</a:t>
            </a:r>
            <a:r>
              <a:rPr lang="en-GB" sz="1800" dirty="0"/>
              <a:t> </a:t>
            </a:r>
            <a:r>
              <a:rPr lang="en-GB" sz="1800" dirty="0" err="1"/>
              <a:t>mai</a:t>
            </a:r>
            <a:r>
              <a:rPr lang="en-GB" sz="1800" dirty="0"/>
              <a:t> </a:t>
            </a:r>
            <a:r>
              <a:rPr lang="en-GB" sz="1800" dirty="0" err="1"/>
              <a:t>puțin</a:t>
            </a:r>
            <a:r>
              <a:rPr lang="en-GB" sz="1800" dirty="0"/>
              <a:t> de 140 de </a:t>
            </a:r>
            <a:r>
              <a:rPr lang="en-GB" sz="1800" dirty="0" err="1"/>
              <a:t>caractere</a:t>
            </a:r>
            <a:r>
              <a:rPr lang="en-GB" sz="1800" dirty="0"/>
              <a:t>, </a:t>
            </a:r>
            <a:r>
              <a:rPr lang="en-GB" sz="1800" dirty="0" err="1"/>
              <a:t>să</a:t>
            </a:r>
            <a:r>
              <a:rPr lang="en-GB" sz="1800" dirty="0"/>
              <a:t> </a:t>
            </a:r>
            <a:r>
              <a:rPr lang="en-GB" sz="1800" dirty="0" err="1"/>
              <a:t>arate</a:t>
            </a:r>
            <a:r>
              <a:rPr lang="en-GB" sz="1800" dirty="0"/>
              <a:t> de </a:t>
            </a:r>
            <a:r>
              <a:rPr lang="en-GB" sz="1800" dirty="0" err="1"/>
              <a:t>ce</a:t>
            </a:r>
            <a:r>
              <a:rPr lang="en-GB" sz="1800" dirty="0"/>
              <a:t> </a:t>
            </a:r>
            <a:r>
              <a:rPr lang="en-GB" sz="1800" dirty="0" err="1"/>
              <a:t>corespunde</a:t>
            </a:r>
            <a:r>
              <a:rPr lang="en-GB" sz="1800" dirty="0"/>
              <a:t> </a:t>
            </a:r>
            <a:r>
              <a:rPr lang="en-GB" sz="1800" dirty="0" err="1"/>
              <a:t>cererii</a:t>
            </a:r>
            <a:r>
              <a:rPr lang="en-GB" sz="1800" dirty="0"/>
              <a:t> </a:t>
            </a:r>
            <a:r>
              <a:rPr lang="en-GB" sz="1800" dirty="0" err="1"/>
              <a:t>utilizatorului</a:t>
            </a:r>
            <a:r>
              <a:rPr lang="en-GB" sz="1800" dirty="0"/>
              <a:t>   </a:t>
            </a:r>
          </a:p>
          <a:p>
            <a:pPr lvl="2"/>
            <a:r>
              <a:rPr lang="en-GB" sz="1800" dirty="0"/>
              <a:t>Taguri social media</a:t>
            </a:r>
          </a:p>
          <a:p>
            <a:r>
              <a:rPr lang="en-GB" dirty="0" err="1"/>
              <a:t>Optimizare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mobile</a:t>
            </a:r>
          </a:p>
          <a:p>
            <a:r>
              <a:rPr lang="en-GB" dirty="0" err="1"/>
              <a:t>Performanță</a:t>
            </a:r>
            <a:endParaRPr lang="en-GB" dirty="0"/>
          </a:p>
          <a:p>
            <a:pPr lvl="1"/>
            <a:r>
              <a:rPr lang="en-GB" dirty="0"/>
              <a:t>Site-urile </a:t>
            </a:r>
            <a:r>
              <a:rPr lang="en-GB" dirty="0" err="1"/>
              <a:t>ce</a:t>
            </a:r>
            <a:r>
              <a:rPr lang="en-GB" dirty="0"/>
              <a:t> se </a:t>
            </a:r>
            <a:r>
              <a:rPr lang="en-GB" dirty="0" err="1"/>
              <a:t>încarcă</a:t>
            </a:r>
            <a:r>
              <a:rPr lang="en-GB" dirty="0"/>
              <a:t> </a:t>
            </a:r>
            <a:r>
              <a:rPr lang="en-GB" dirty="0" err="1"/>
              <a:t>încet</a:t>
            </a:r>
            <a:r>
              <a:rPr lang="en-GB" dirty="0"/>
              <a:t> sunt </a:t>
            </a:r>
            <a:r>
              <a:rPr lang="en-GB" dirty="0" err="1"/>
              <a:t>penalizate</a:t>
            </a:r>
            <a:r>
              <a:rPr lang="en-GB" dirty="0"/>
              <a:t> de crawlers</a:t>
            </a:r>
          </a:p>
          <a:p>
            <a:pPr lvl="1"/>
            <a:r>
              <a:rPr lang="en-GB" dirty="0" err="1"/>
              <a:t>În</a:t>
            </a:r>
            <a:r>
              <a:rPr lang="en-GB" dirty="0"/>
              <a:t> general crawlers au un </a:t>
            </a:r>
            <a:r>
              <a:rPr lang="en-GB" dirty="0" err="1"/>
              <a:t>timeoutde</a:t>
            </a:r>
            <a:r>
              <a:rPr lang="en-GB" dirty="0"/>
              <a:t> 5 </a:t>
            </a:r>
            <a:r>
              <a:rPr lang="en-GB" dirty="0" err="1"/>
              <a:t>secunde</a:t>
            </a:r>
            <a:endParaRPr lang="en-GB" dirty="0"/>
          </a:p>
          <a:p>
            <a:r>
              <a:rPr lang="en-GB" dirty="0"/>
              <a:t>User engagement</a:t>
            </a:r>
          </a:p>
          <a:p>
            <a:r>
              <a:rPr lang="en-GB" dirty="0"/>
              <a:t>Content </a:t>
            </a:r>
            <a:r>
              <a:rPr lang="en-GB" dirty="0" err="1"/>
              <a:t>securizat</a:t>
            </a:r>
            <a:endParaRPr lang="en-GB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36390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714" name="Rectangle 2">
            <a:extLst>
              <a:ext uri="{FF2B5EF4-FFF2-40B4-BE49-F238E27FC236}">
                <a16:creationId xmlns:a16="http://schemas.microsoft.com/office/drawing/2014/main" id="{94504217-C05F-304A-8392-6A3E3B5DE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Consideraţii legate de Design</a:t>
            </a:r>
            <a:endParaRPr lang="en-US" altLang="en-US"/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0F6DAFA1-5B51-8B4C-A2BE-14A1A45E0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/>
              <a:t>Artificiile de design </a:t>
            </a:r>
            <a:r>
              <a:rPr lang="en-US" altLang="en-US"/>
              <a:t>(</a:t>
            </a:r>
            <a:r>
              <a:rPr lang="ro-RO" altLang="en-US"/>
              <a:t>animaţiile </a:t>
            </a:r>
            <a:r>
              <a:rPr lang="en-US" altLang="en-US"/>
              <a:t>Flash, JavaScript) </a:t>
            </a:r>
            <a:r>
              <a:rPr lang="ro-RO" altLang="en-US"/>
              <a:t>îmbunătăţesc experienţa utilizatorului dar influenţează negativ vizibilitatea de căutare</a:t>
            </a:r>
            <a:endParaRPr lang="en-US" altLang="en-US"/>
          </a:p>
          <a:p>
            <a:pPr>
              <a:spcAft>
                <a:spcPts val="600"/>
              </a:spcAft>
            </a:pPr>
            <a:r>
              <a:rPr lang="ro-RO" altLang="en-US"/>
              <a:t>Implementaţi cu grijă site-ul pentru a ajuta şi păstra rankingul acordat de motoarele de căutare</a:t>
            </a:r>
            <a:endParaRPr lang="en-US" altLang="en-US"/>
          </a:p>
          <a:p>
            <a:pPr>
              <a:spcAft>
                <a:spcPts val="600"/>
              </a:spcAft>
            </a:pPr>
            <a:r>
              <a:rPr lang="ro-RO" altLang="en-US"/>
              <a:t>Asiguraţi-vă că echipa de design înţelege conceptele </a:t>
            </a:r>
            <a:r>
              <a:rPr lang="en-US" altLang="en-US"/>
              <a:t>SEM</a:t>
            </a:r>
          </a:p>
          <a:p>
            <a:pPr eaLnBrk="1" hangingPunct="1"/>
            <a:endParaRPr lang="en-US" alt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C23AEAA2-1EA2-4546-88C7-D7087725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A6A7E94-CE29-9F4A-8275-5FD775CE4CC3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50</a:t>
            </a:fld>
            <a:endParaRPr lang="en-US" altLang="en-US" sz="13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738" name="Rectangle 2">
            <a:extLst>
              <a:ext uri="{FF2B5EF4-FFF2-40B4-BE49-F238E27FC236}">
                <a16:creationId xmlns:a16="http://schemas.microsoft.com/office/drawing/2014/main" id="{7FD93716-CB4E-7B48-9785-71A7B41B2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Folosirea JavaScript şi CSS externe</a:t>
            </a:r>
            <a:endParaRPr lang="en-US" altLang="en-US"/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6948CADB-924B-7449-9223-D0408B266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/>
              <a:t>Utilizarea JavaScript pentru navigare în cadrul site-ului poate influenţa negativ posibilitatea crawlerelor de navigare</a:t>
            </a:r>
          </a:p>
          <a:p>
            <a:pPr>
              <a:spcAft>
                <a:spcPts val="600"/>
              </a:spcAft>
            </a:pPr>
            <a:r>
              <a:rPr lang="ro-RO" altLang="en-US"/>
              <a:t>Crawlerele nu urmează legăturile incluse în codul JavaScript; sau limitează tipurile de legături interne pe care le pot vizita</a:t>
            </a:r>
          </a:p>
          <a:p>
            <a:pPr>
              <a:spcAft>
                <a:spcPts val="600"/>
              </a:spcAft>
            </a:pPr>
            <a:r>
              <a:rPr lang="ro-RO" altLang="en-US"/>
              <a:t>În plus </a:t>
            </a:r>
            <a:r>
              <a:rPr lang="en-US" altLang="en-US"/>
              <a:t>JavaScript </a:t>
            </a:r>
            <a:r>
              <a:rPr lang="ro-RO" altLang="en-US"/>
              <a:t>î</a:t>
            </a:r>
            <a:r>
              <a:rPr lang="en-US" altLang="en-US"/>
              <a:t>n &lt;body&gt; </a:t>
            </a:r>
            <a:r>
              <a:rPr lang="ro-RO" altLang="en-US"/>
              <a:t>poate descreşte timpul de încărcare a paginii</a:t>
            </a:r>
            <a:endParaRPr lang="en-US" altLang="en-US"/>
          </a:p>
          <a:p>
            <a:pPr>
              <a:spcAft>
                <a:spcPts val="600"/>
              </a:spcAft>
            </a:pPr>
            <a:r>
              <a:rPr lang="ro-RO" altLang="en-US"/>
              <a:t>Timpul lung de încărcare a paginii poate indica că respectivul site este spam şi crawlerele pot ajunge să ignore acea pagină</a:t>
            </a:r>
          </a:p>
          <a:p>
            <a:pPr>
              <a:spcAft>
                <a:spcPts val="600"/>
              </a:spcAft>
            </a:pPr>
            <a:endParaRPr lang="en-US" alt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79" name="Slide Number Placeholder 5">
            <a:extLst>
              <a:ext uri="{FF2B5EF4-FFF2-40B4-BE49-F238E27FC236}">
                <a16:creationId xmlns:a16="http://schemas.microsoft.com/office/drawing/2014/main" id="{5385E6E2-DDED-1142-98C8-5E460D63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8C67EF82-A767-154B-9326-CE7E13BAEACF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51</a:t>
            </a:fld>
            <a:endParaRPr lang="en-US" altLang="en-US" sz="13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62" name="Rectangle 2">
            <a:extLst>
              <a:ext uri="{FF2B5EF4-FFF2-40B4-BE49-F238E27FC236}">
                <a16:creationId xmlns:a16="http://schemas.microsoft.com/office/drawing/2014/main" id="{5D65837C-5449-A74E-8F84-37AFA3EBB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Folosirea de JavaScript şi CSS externe</a:t>
            </a:r>
            <a:endParaRPr lang="en-US" altLang="en-US"/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54B8F203-6324-8541-B840-5EA13A705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/>
              <a:t>Fişierele externe pot duce la o descreştere a timpului de încărcare pentru vizitatori</a:t>
            </a:r>
          </a:p>
          <a:p>
            <a:pPr eaLnBrk="1" hangingPunct="1"/>
            <a:r>
              <a:rPr lang="ro-RO" altLang="en-US"/>
              <a:t>Fişierele externe duc la îmbunătăţirea timpului de descărcare şi pentru crawlere</a:t>
            </a:r>
          </a:p>
          <a:p>
            <a:pPr lvl="1" eaLnBrk="1" hangingPunct="1"/>
            <a:r>
              <a:rPr lang="ro-RO" altLang="en-US"/>
              <a:t>Reţineţi că trebuie să dezactivaţi scripturile de crawling din </a:t>
            </a:r>
            <a:r>
              <a:rPr lang="en-US" altLang="en-US"/>
              <a:t>robots.txt</a:t>
            </a:r>
          </a:p>
          <a:p>
            <a:pPr eaLnBrk="1" hangingPunct="1"/>
            <a:r>
              <a:rPr lang="ro-RO" altLang="en-US"/>
              <a:t>Scripturile externe sunt şi mai uşor de refolosit</a:t>
            </a:r>
          </a:p>
          <a:p>
            <a:pPr eaLnBrk="1" hangingPunct="1"/>
            <a:endParaRPr lang="en-US" alt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AE044BF6-7D36-A64C-B300-458A0C33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7A5395F5-CE97-3945-B6C0-F78ED8D706B6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52</a:t>
            </a:fld>
            <a:endParaRPr lang="en-US" altLang="en-US" sz="1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954" name="Rectangle 2">
            <a:extLst>
              <a:ext uri="{FF2B5EF4-FFF2-40B4-BE49-F238E27FC236}">
                <a16:creationId xmlns:a16="http://schemas.microsoft.com/office/drawing/2014/main" id="{D45040B0-C7EB-A54F-AA5B-C27B6BEFA6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Optimizarea documentelor PDF</a:t>
            </a:r>
            <a:endParaRPr lang="en-US" altLang="en-US"/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986EFF30-5537-1A4E-AAA6-A2A11F06B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/>
              <a:t>PDF-urile trebuie să conţină chiar text, nu imagini ale textului</a:t>
            </a:r>
          </a:p>
          <a:p>
            <a:pPr eaLnBrk="1" hangingPunct="1"/>
            <a:r>
              <a:rPr lang="ro-RO" altLang="en-US"/>
              <a:t>Aceleaşi reguli de folosire a cuvintelor cheie şi a frazelor</a:t>
            </a:r>
          </a:p>
          <a:p>
            <a:pPr eaLnBrk="1" hangingPunct="1"/>
            <a:r>
              <a:rPr lang="ro-RO" altLang="en-US"/>
              <a:t>Puneţi cel mai important text în titlu şi headline</a:t>
            </a:r>
          </a:p>
          <a:p>
            <a:pPr eaLnBrk="1" hangingPunct="1"/>
            <a:r>
              <a:rPr lang="ro-RO" altLang="en-US"/>
              <a:t>Minimizaţi dimensiunea documentului </a:t>
            </a:r>
            <a:r>
              <a:rPr lang="en-US" altLang="en-US"/>
              <a:t>(&gt; 100K)</a:t>
            </a:r>
          </a:p>
          <a:p>
            <a:pPr eaLnBrk="1" hangingPunct="1"/>
            <a:r>
              <a:rPr lang="ro-RO" altLang="en-US"/>
              <a:t>Creaţi pagini </a:t>
            </a:r>
            <a:r>
              <a:rPr lang="en-US" altLang="en-US"/>
              <a:t>HTML </a:t>
            </a:r>
            <a:r>
              <a:rPr lang="ro-RO" altLang="en-US"/>
              <a:t>optimizate pentru </a:t>
            </a:r>
            <a:r>
              <a:rPr lang="en-US" altLang="en-US"/>
              <a:t>PDF</a:t>
            </a:r>
            <a:r>
              <a:rPr lang="ro-RO" altLang="en-US"/>
              <a:t>-uri</a:t>
            </a: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71" name="Slide Number Placeholder 5">
            <a:extLst>
              <a:ext uri="{FF2B5EF4-FFF2-40B4-BE49-F238E27FC236}">
                <a16:creationId xmlns:a16="http://schemas.microsoft.com/office/drawing/2014/main" id="{7EA5DC0F-8E27-5F4F-9E1C-9E6C37A5A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344A7B5-FA31-E649-A605-3D199FB2FDEC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53</a:t>
            </a:fld>
            <a:endParaRPr lang="en-US" altLang="en-US" sz="13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050" name="Rectangle 2">
            <a:extLst>
              <a:ext uri="{FF2B5EF4-FFF2-40B4-BE49-F238E27FC236}">
                <a16:creationId xmlns:a16="http://schemas.microsoft.com/office/drawing/2014/main" id="{745098E1-5A93-9242-87D3-E5F4372DE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Strategii pentru legăturile externe</a:t>
            </a:r>
            <a:endParaRPr lang="en-US" altLang="en-US"/>
          </a:p>
        </p:txBody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99B38FAA-3FC2-D74A-97ED-ED7D9CEDA2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ro-RO" altLang="en-US"/>
              <a:t>Nu creaţi pagini având mai multe legături externe decât interne</a:t>
            </a:r>
          </a:p>
          <a:p>
            <a:r>
              <a:rPr lang="ro-RO" altLang="en-US"/>
              <a:t>Creaţi legături spre site-uri de calitate, având subiecte înrudite – ajută la stabilirea site-ului ca unul de autoritate sau hub pentru alte site-uri</a:t>
            </a:r>
          </a:p>
          <a:p>
            <a:r>
              <a:rPr lang="ro-RO" altLang="en-US"/>
              <a:t>Dacă o pagină conţine legături externe, adăugaţi legături şi spre paginile interne site-ului</a:t>
            </a:r>
          </a:p>
          <a:p>
            <a:r>
              <a:rPr lang="ro-RO" altLang="en-US"/>
              <a:t>Nu vă fie frică să adăugaţi legături spre site-uri având un PR mai mic, dar conţinut de calitate</a:t>
            </a:r>
          </a:p>
          <a:p>
            <a:pPr lvl="1">
              <a:spcAft>
                <a:spcPts val="200"/>
              </a:spcAft>
            </a:pPr>
            <a:r>
              <a:rPr lang="ro-RO" altLang="en-US"/>
              <a:t>Strategia bursieră – </a:t>
            </a:r>
            <a:r>
              <a:rPr lang="ro-RO" altLang="en-US" i="1"/>
              <a:t>bet on small candidates for tommo</a:t>
            </a:r>
            <a:r>
              <a:rPr lang="en-US" altLang="en-US" i="1"/>
              <a:t>row’s gold</a:t>
            </a:r>
            <a:endParaRPr lang="ro-RO" altLang="en-US" i="1"/>
          </a:p>
          <a:p>
            <a:pPr eaLnBrk="1" hangingPunct="1"/>
            <a:endParaRPr lang="en-US" alt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67" name="Slide Number Placeholder 5">
            <a:extLst>
              <a:ext uri="{FF2B5EF4-FFF2-40B4-BE49-F238E27FC236}">
                <a16:creationId xmlns:a16="http://schemas.microsoft.com/office/drawing/2014/main" id="{E1FE4D26-9FB8-CE47-A6C8-B67A91E3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4DA34102-3BF2-6746-8B39-E05339E8E518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54</a:t>
            </a:fld>
            <a:endParaRPr lang="en-US" altLang="en-US" sz="13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FF3D6-5467-5946-BE5E-9922B90A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Discutie</a:t>
            </a:r>
            <a:endParaRPr lang="en-US" dirty="0"/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6E1D6A17-4516-D84B-8B21-2ADA7810E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en-US" altLang="en-RO" dirty="0"/>
              <a:t>Sa </a:t>
            </a:r>
            <a:r>
              <a:rPr lang="en-US" altLang="en-RO" dirty="0" err="1"/>
              <a:t>presupunem</a:t>
            </a:r>
            <a:r>
              <a:rPr lang="en-US" altLang="en-RO" dirty="0"/>
              <a:t> ca </a:t>
            </a:r>
            <a:r>
              <a:rPr lang="en-US" altLang="en-RO" dirty="0" err="1"/>
              <a:t>doriti</a:t>
            </a:r>
            <a:r>
              <a:rPr lang="en-US" altLang="en-RO" dirty="0"/>
              <a:t> </a:t>
            </a:r>
            <a:r>
              <a:rPr lang="en-US" altLang="en-RO" dirty="0" err="1"/>
              <a:t>sa</a:t>
            </a:r>
            <a:r>
              <a:rPr lang="en-US" altLang="en-RO" dirty="0"/>
              <a:t> </a:t>
            </a:r>
            <a:r>
              <a:rPr lang="en-US" altLang="en-RO" dirty="0" err="1"/>
              <a:t>dezvoltati</a:t>
            </a:r>
            <a:r>
              <a:rPr lang="en-US" altLang="en-RO" dirty="0"/>
              <a:t> o </a:t>
            </a:r>
            <a:r>
              <a:rPr lang="en-US" altLang="en-RO" dirty="0" err="1"/>
              <a:t>pagina</a:t>
            </a:r>
            <a:r>
              <a:rPr lang="en-US" altLang="en-RO" dirty="0"/>
              <a:t> Web </a:t>
            </a:r>
            <a:r>
              <a:rPr lang="en-US" altLang="en-RO" dirty="0" err="1"/>
              <a:t>pentru</a:t>
            </a:r>
            <a:r>
              <a:rPr lang="en-US" altLang="en-RO" dirty="0"/>
              <a:t> </a:t>
            </a:r>
            <a:r>
              <a:rPr lang="en-US" altLang="en-RO" dirty="0" err="1"/>
              <a:t>promovarea</a:t>
            </a:r>
            <a:r>
              <a:rPr lang="en-US" altLang="en-RO" dirty="0"/>
              <a:t> </a:t>
            </a:r>
            <a:r>
              <a:rPr lang="en-US" altLang="en-RO" dirty="0" err="1"/>
              <a:t>unui</a:t>
            </a:r>
            <a:r>
              <a:rPr lang="en-US" altLang="en-RO" dirty="0"/>
              <a:t> concurs </a:t>
            </a:r>
            <a:r>
              <a:rPr lang="en-US" altLang="en-RO" dirty="0" err="1"/>
              <a:t>studentesc</a:t>
            </a:r>
            <a:r>
              <a:rPr lang="en-US" altLang="en-RO" dirty="0"/>
              <a:t> …</a:t>
            </a:r>
          </a:p>
          <a:p>
            <a:r>
              <a:rPr lang="en-US" altLang="en-RO" dirty="0" err="1"/>
              <a:t>Prezentati</a:t>
            </a:r>
            <a:r>
              <a:rPr lang="en-US" altLang="en-RO" dirty="0"/>
              <a:t> </a:t>
            </a:r>
            <a:r>
              <a:rPr lang="en-US" altLang="en-RO" dirty="0" err="1"/>
              <a:t>cateva</a:t>
            </a:r>
            <a:r>
              <a:rPr lang="en-US" altLang="en-RO" dirty="0"/>
              <a:t> </a:t>
            </a:r>
            <a:r>
              <a:rPr lang="en-US" altLang="en-RO" dirty="0" err="1"/>
              <a:t>idei</a:t>
            </a:r>
            <a:r>
              <a:rPr lang="en-US" altLang="en-RO" dirty="0"/>
              <a:t> care </a:t>
            </a:r>
            <a:r>
              <a:rPr lang="en-US" altLang="en-RO" dirty="0" err="1"/>
              <a:t>va</a:t>
            </a:r>
            <a:r>
              <a:rPr lang="en-US" altLang="en-RO" dirty="0"/>
              <a:t> </a:t>
            </a:r>
            <a:r>
              <a:rPr lang="en-US" altLang="en-RO" dirty="0" err="1"/>
              <a:t>vor</a:t>
            </a:r>
            <a:r>
              <a:rPr lang="en-US" altLang="en-RO" dirty="0"/>
              <a:t> </a:t>
            </a:r>
            <a:r>
              <a:rPr lang="en-US" altLang="en-RO" dirty="0" err="1"/>
              <a:t>ajuta</a:t>
            </a:r>
            <a:r>
              <a:rPr lang="en-US" altLang="en-RO" dirty="0"/>
              <a:t> </a:t>
            </a:r>
            <a:r>
              <a:rPr lang="en-US" altLang="en-RO" dirty="0" err="1"/>
              <a:t>sa</a:t>
            </a:r>
            <a:r>
              <a:rPr lang="en-US" altLang="en-RO" dirty="0"/>
              <a:t> </a:t>
            </a:r>
            <a:r>
              <a:rPr lang="en-US" altLang="en-RO" dirty="0" err="1"/>
              <a:t>ajungeti</a:t>
            </a:r>
            <a:r>
              <a:rPr lang="en-US" altLang="en-RO" dirty="0"/>
              <a:t> in </a:t>
            </a:r>
            <a:r>
              <a:rPr lang="en-US" altLang="en-RO" dirty="0" err="1"/>
              <a:t>primele</a:t>
            </a:r>
            <a:r>
              <a:rPr lang="en-US" altLang="en-RO" dirty="0"/>
              <a:t> </a:t>
            </a:r>
            <a:r>
              <a:rPr lang="en-US" altLang="en-RO" dirty="0" err="1"/>
              <a:t>rezultate</a:t>
            </a:r>
            <a:r>
              <a:rPr lang="en-US" altLang="en-RO" dirty="0"/>
              <a:t>, in </a:t>
            </a:r>
            <a:r>
              <a:rPr lang="en-US" altLang="en-RO" dirty="0" err="1"/>
              <a:t>cautarile</a:t>
            </a:r>
            <a:r>
              <a:rPr lang="en-US" altLang="en-RO" dirty="0"/>
              <a:t> </a:t>
            </a:r>
            <a:r>
              <a:rPr lang="en-US" altLang="en-RO" dirty="0" err="1"/>
              <a:t>studentilor</a:t>
            </a:r>
            <a:r>
              <a:rPr lang="en-US" altLang="en-RO" dirty="0"/>
              <a:t> …</a:t>
            </a:r>
          </a:p>
          <a:p>
            <a:endParaRPr lang="en-US" altLang="en-RO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638" name="Slide Number Placeholder 5">
            <a:extLst>
              <a:ext uri="{FF2B5EF4-FFF2-40B4-BE49-F238E27FC236}">
                <a16:creationId xmlns:a16="http://schemas.microsoft.com/office/drawing/2014/main" id="{EDDA6CE4-CCB5-1F47-BD0B-0D2F53AB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fld id="{9B4484E0-AB60-CB4C-8674-F5701153900D}" type="slidenum">
              <a:rPr lang="en-US" altLang="en-US"/>
              <a:pPr eaLnBrk="1" hangingPunct="1">
                <a:spcAft>
                  <a:spcPts val="600"/>
                </a:spcAft>
              </a:pPr>
              <a:t>55</a:t>
            </a:fld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6A5AB136-1321-47B3-8AF9-A8140222B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9442" name="Rectangle 2">
            <a:extLst>
              <a:ext uri="{FF2B5EF4-FFF2-40B4-BE49-F238E27FC236}">
                <a16:creationId xmlns:a16="http://schemas.microsoft.com/office/drawing/2014/main" id="{0E78147C-D797-E746-B6EB-AD3FB302F3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43466" y="1534475"/>
            <a:ext cx="6992351" cy="3861558"/>
          </a:xfrm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ro-RO" altLang="en-US" sz="6000" b="0" dirty="0"/>
              <a:t>Resurse</a:t>
            </a:r>
            <a:endParaRPr lang="en-US" altLang="en-US" sz="6000" b="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A29AB2E-91A6-4F11-8765-A410A013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0"/>
            <a:ext cx="407213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0659" name="Slide Number Placeholder 5">
            <a:extLst>
              <a:ext uri="{FF2B5EF4-FFF2-40B4-BE49-F238E27FC236}">
                <a16:creationId xmlns:a16="http://schemas.microsoft.com/office/drawing/2014/main" id="{979F3998-4E87-6A42-A37D-4A3441CAB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A8833B22-CC38-3E43-8E50-D46E96A5C1F5}" type="slidenum">
              <a:rPr lang="en-US" altLang="en-US" sz="1300">
                <a:solidFill>
                  <a:srgbClr val="FFFFFF"/>
                </a:solidFill>
              </a:rPr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56</a:t>
            </a:fld>
            <a:endParaRPr lang="en-US" altLang="en-US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491" name="Rectangle 3">
            <a:extLst>
              <a:ext uri="{FF2B5EF4-FFF2-40B4-BE49-F238E27FC236}">
                <a16:creationId xmlns:a16="http://schemas.microsoft.com/office/drawing/2014/main" id="{BE1B10C7-D43C-8E44-BDE5-0A8F3F025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 dirty="0"/>
              <a:t>Resurse</a:t>
            </a:r>
            <a:endParaRPr lang="en-US" altLang="en-US" dirty="0"/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EF1A74B3-9C13-D245-A9F6-7222A6281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b="1"/>
              <a:t>Citiţi Forumurile Industriale</a:t>
            </a:r>
            <a:endParaRPr lang="en-US" altLang="en-US" b="1"/>
          </a:p>
          <a:p>
            <a:pPr lvl="1">
              <a:spcAft>
                <a:spcPts val="600"/>
              </a:spcAft>
              <a:buNone/>
            </a:pPr>
            <a:r>
              <a:rPr lang="en-US" altLang="en-US"/>
              <a:t>Webmaster World: </a:t>
            </a:r>
            <a:r>
              <a:rPr lang="en-US" altLang="en-US">
                <a:hlinkClick r:id="rId3"/>
              </a:rPr>
              <a:t>http://www.webmasterworld.com/</a:t>
            </a:r>
            <a:endParaRPr lang="en-US" altLang="en-US"/>
          </a:p>
          <a:p>
            <a:pPr lvl="1">
              <a:spcAft>
                <a:spcPts val="600"/>
              </a:spcAft>
              <a:buNone/>
            </a:pPr>
            <a:r>
              <a:rPr lang="en-US" altLang="en-US"/>
              <a:t>Search Engine Watch: </a:t>
            </a:r>
            <a:r>
              <a:rPr lang="en-US" altLang="en-US">
                <a:hlinkClick r:id="rId4"/>
              </a:rPr>
              <a:t>http://www.searchenginewatch.com/</a:t>
            </a:r>
            <a:endParaRPr lang="en-US" altLang="en-US"/>
          </a:p>
          <a:p>
            <a:pPr lvl="1">
              <a:spcAft>
                <a:spcPts val="600"/>
              </a:spcAft>
              <a:buNone/>
            </a:pPr>
            <a:r>
              <a:rPr lang="en-US" altLang="en-US"/>
              <a:t>Digital Point Forums: </a:t>
            </a:r>
            <a:r>
              <a:rPr lang="en-US" altLang="en-US">
                <a:hlinkClick r:id="rId5"/>
              </a:rPr>
              <a:t>http://forums.digitalpoint.com/</a:t>
            </a:r>
            <a:endParaRPr lang="en-US" altLang="en-US"/>
          </a:p>
          <a:p>
            <a:pPr lvl="1">
              <a:spcAft>
                <a:spcPts val="600"/>
              </a:spcAft>
              <a:buNone/>
            </a:pPr>
            <a:r>
              <a:rPr lang="en-US" altLang="en-US"/>
              <a:t>High Rankings: </a:t>
            </a:r>
            <a:r>
              <a:rPr lang="en-US" altLang="en-US">
                <a:hlinkClick r:id="rId6"/>
              </a:rPr>
              <a:t>http://www.highrankings.com/forum/</a:t>
            </a:r>
            <a:endParaRPr lang="en-US" altLang="en-US"/>
          </a:p>
          <a:p>
            <a:pPr>
              <a:spcAft>
                <a:spcPts val="600"/>
              </a:spcAft>
            </a:pPr>
            <a:r>
              <a:rPr lang="ro-RO" altLang="en-US" b="1"/>
              <a:t>Dacă aveţi timp, consultaţi chiar Evenimentele Industriale (lucrurile se schimbă încotinuu :=</a:t>
            </a:r>
            <a:endParaRPr lang="en-US" altLang="en-US" b="1"/>
          </a:p>
          <a:p>
            <a:pPr lvl="1">
              <a:spcAft>
                <a:spcPts val="600"/>
              </a:spcAft>
              <a:buNone/>
            </a:pPr>
            <a:r>
              <a:rPr lang="en-US" altLang="en-US"/>
              <a:t>Search Engine Strategies: </a:t>
            </a:r>
            <a:r>
              <a:rPr lang="en-US" altLang="en-US">
                <a:hlinkClick r:id="rId7"/>
              </a:rPr>
              <a:t>http://www.searchenginestrategies.com/</a:t>
            </a:r>
            <a:endParaRPr lang="en-US" altLang="en-US"/>
          </a:p>
          <a:p>
            <a:pPr lvl="1">
              <a:spcAft>
                <a:spcPts val="600"/>
              </a:spcAft>
              <a:buNone/>
            </a:pPr>
            <a:endParaRPr lang="en-US" altLang="en-US"/>
          </a:p>
          <a:p>
            <a:pPr lvl="1">
              <a:spcAft>
                <a:spcPts val="600"/>
              </a:spcAft>
              <a:buNone/>
            </a:pPr>
            <a:endParaRPr lang="en-US" alt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83" name="Slide Number Placeholder 5">
            <a:extLst>
              <a:ext uri="{FF2B5EF4-FFF2-40B4-BE49-F238E27FC236}">
                <a16:creationId xmlns:a16="http://schemas.microsoft.com/office/drawing/2014/main" id="{931F7F81-503F-3345-9E9C-293394E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E98C62AC-62AA-E34F-8054-94699116BB5C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57</a:t>
            </a:fld>
            <a:endParaRPr lang="en-US" altLang="en-US" sz="13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539" name="Rectangle 3">
            <a:extLst>
              <a:ext uri="{FF2B5EF4-FFF2-40B4-BE49-F238E27FC236}">
                <a16:creationId xmlns:a16="http://schemas.microsoft.com/office/drawing/2014/main" id="{AA4058F8-AEF6-D548-8C78-46DE98770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Bibliografie Recomandată</a:t>
            </a:r>
            <a:endParaRPr lang="en-US" altLang="en-US"/>
          </a:p>
        </p:txBody>
      </p:sp>
      <p:sp>
        <p:nvSpPr>
          <p:cNvPr id="72708" name="Rectangle 2">
            <a:extLst>
              <a:ext uri="{FF2B5EF4-FFF2-40B4-BE49-F238E27FC236}">
                <a16:creationId xmlns:a16="http://schemas.microsoft.com/office/drawing/2014/main" id="{D82974C7-E6BF-6743-8C70-C782DADF9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Battelle, John. </a:t>
            </a:r>
            <a:r>
              <a:rPr lang="en-US" altLang="en-US" u="sng"/>
              <a:t>The Search: How Google and Its Rivals Rewrote the Rules of Business and Transformed our Culture</a:t>
            </a:r>
            <a:r>
              <a:rPr lang="en-US" altLang="en-US"/>
              <a:t>. New York. Penguin, 2005.</a:t>
            </a:r>
          </a:p>
          <a:p>
            <a:pPr eaLnBrk="1" hangingPunct="1"/>
            <a:r>
              <a:rPr lang="en-US" altLang="en-US"/>
              <a:t>Kent, Peter. </a:t>
            </a:r>
            <a:r>
              <a:rPr lang="en-US" altLang="en-US" u="sng"/>
              <a:t>Search Engine Optimization for Dummies.</a:t>
            </a:r>
            <a:r>
              <a:rPr lang="en-US" altLang="en-US"/>
              <a:t> Hoboken, NJ. Wiley, 2004.</a:t>
            </a:r>
          </a:p>
          <a:p>
            <a:pPr eaLnBrk="1" hangingPunct="1"/>
            <a:r>
              <a:rPr lang="en-US" altLang="en-US"/>
              <a:t>Moran, Mike, Hunt, Bill. </a:t>
            </a:r>
            <a:r>
              <a:rPr lang="en-US" altLang="en-US" u="sng"/>
              <a:t>Search Engine Marketing, Inc.</a:t>
            </a:r>
            <a:r>
              <a:rPr lang="en-US" altLang="en-US"/>
              <a:t> Upper Saddle River, NJ. IBM Press, 2006.</a:t>
            </a:r>
          </a:p>
          <a:p>
            <a:pPr eaLnBrk="1" hangingPunct="1"/>
            <a:r>
              <a:rPr lang="en-US" altLang="en-US"/>
              <a:t>Thurow, Shari. </a:t>
            </a:r>
            <a:r>
              <a:rPr lang="en-US" altLang="en-US" u="sng"/>
              <a:t>Search Engine Visibility.</a:t>
            </a:r>
            <a:r>
              <a:rPr lang="en-US" altLang="en-US" i="1"/>
              <a:t> </a:t>
            </a:r>
            <a:r>
              <a:rPr lang="en-US" altLang="en-US"/>
              <a:t>Indianapolis, IN: New Riders, 2003.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07" name="Slide Number Placeholder 5">
            <a:extLst>
              <a:ext uri="{FF2B5EF4-FFF2-40B4-BE49-F238E27FC236}">
                <a16:creationId xmlns:a16="http://schemas.microsoft.com/office/drawing/2014/main" id="{E53591F6-803C-264A-85CD-BCDF45327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32545E3D-93B1-9E49-AB6E-05A00FCF91E3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58</a:t>
            </a:fld>
            <a:endParaRPr lang="en-US" altLang="en-US" sz="13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22" name="Rectangle 2">
            <a:extLst>
              <a:ext uri="{FF2B5EF4-FFF2-40B4-BE49-F238E27FC236}">
                <a16:creationId xmlns:a16="http://schemas.microsoft.com/office/drawing/2014/main" id="{D96FEE75-CD5E-4444-9CB5-00FBBBB38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Concluzii</a:t>
            </a:r>
            <a:endParaRPr lang="en-US" altLang="en-US"/>
          </a:p>
        </p:txBody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64873A67-1EE7-9E42-A831-DCE842821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Un site optimizat pentru motoarele de c</a:t>
            </a:r>
            <a:r>
              <a:rPr lang="ro-RO" altLang="en-US"/>
              <a:t>ă</a:t>
            </a:r>
            <a:r>
              <a:rPr lang="en-US" altLang="en-US"/>
              <a:t>utare este u</a:t>
            </a:r>
            <a:r>
              <a:rPr lang="ro-RO" altLang="en-US"/>
              <a:t>ş</a:t>
            </a:r>
            <a:r>
              <a:rPr lang="en-US" altLang="en-US"/>
              <a:t>or de g</a:t>
            </a:r>
            <a:r>
              <a:rPr lang="ro-RO" altLang="en-US"/>
              <a:t>ă</a:t>
            </a:r>
            <a:r>
              <a:rPr lang="en-US" altLang="en-US"/>
              <a:t>sit.</a:t>
            </a:r>
          </a:p>
          <a:p>
            <a:pPr eaLnBrk="1" hangingPunct="1"/>
            <a:r>
              <a:rPr lang="en-US" altLang="en-US"/>
              <a:t>Site-ul optimiz</a:t>
            </a:r>
            <a:r>
              <a:rPr lang="ro-RO" altLang="en-US"/>
              <a:t>a</a:t>
            </a:r>
            <a:r>
              <a:rPr lang="en-US" altLang="en-US"/>
              <a:t>t va r</a:t>
            </a:r>
            <a:r>
              <a:rPr lang="ro-RO" altLang="en-US"/>
              <a:t>ă</a:t>
            </a:r>
            <a:r>
              <a:rPr lang="en-US" altLang="en-US"/>
              <a:t>spunde </a:t>
            </a:r>
            <a:r>
              <a:rPr lang="ro-RO" altLang="en-US"/>
              <a:t>î</a:t>
            </a:r>
            <a:r>
              <a:rPr lang="en-US" altLang="en-US"/>
              <a:t>ntreb</a:t>
            </a:r>
            <a:r>
              <a:rPr lang="ro-RO" altLang="en-US"/>
              <a:t>ă</a:t>
            </a:r>
            <a:r>
              <a:rPr lang="en-US" altLang="en-US"/>
              <a:t>rilor vizitatorilor noi care se pot transforma </a:t>
            </a:r>
            <a:r>
              <a:rPr lang="ro-RO" altLang="en-US"/>
              <a:t>î</a:t>
            </a:r>
            <a:r>
              <a:rPr lang="en-US" altLang="en-US"/>
              <a:t>n vizitatori fideli</a:t>
            </a:r>
            <a:r>
              <a:rPr lang="ro-RO" altLang="en-US"/>
              <a:t>.</a:t>
            </a:r>
            <a:endParaRPr lang="en-US" altLang="en-US"/>
          </a:p>
          <a:p>
            <a:pPr eaLnBrk="1" hangingPunct="1"/>
            <a:r>
              <a:rPr lang="en-US" altLang="en-US"/>
              <a:t>O optim</a:t>
            </a:r>
            <a:r>
              <a:rPr lang="ro-RO" altLang="en-US"/>
              <a:t>i</a:t>
            </a:r>
            <a:r>
              <a:rPr lang="en-US" altLang="en-US"/>
              <a:t>zare exagerat</a:t>
            </a:r>
            <a:r>
              <a:rPr lang="ro-RO" altLang="en-US"/>
              <a:t>ă</a:t>
            </a:r>
            <a:r>
              <a:rPr lang="en-US" altLang="en-US"/>
              <a:t> sau </a:t>
            </a:r>
            <a:r>
              <a:rPr lang="ro-RO" altLang="en-US"/>
              <a:t>î</a:t>
            </a:r>
            <a:r>
              <a:rPr lang="en-US" altLang="en-US"/>
              <a:t>ncercarile de a ‘p</a:t>
            </a:r>
            <a:r>
              <a:rPr lang="ro-RO" altLang="en-US"/>
              <a:t>ă</a:t>
            </a:r>
            <a:r>
              <a:rPr lang="en-US" altLang="en-US"/>
              <a:t>c</a:t>
            </a:r>
            <a:r>
              <a:rPr lang="ro-RO" altLang="en-US"/>
              <a:t>ă</a:t>
            </a:r>
            <a:r>
              <a:rPr lang="en-US" altLang="en-US"/>
              <a:t>li’ motoarele de c</a:t>
            </a:r>
            <a:r>
              <a:rPr lang="ro-RO" altLang="en-US"/>
              <a:t>ă</a:t>
            </a:r>
            <a:r>
              <a:rPr lang="en-US" altLang="en-US"/>
              <a:t>utare duc la penaliz</a:t>
            </a:r>
            <a:r>
              <a:rPr lang="ro-RO" altLang="en-US"/>
              <a:t>ă</a:t>
            </a:r>
            <a:r>
              <a:rPr lang="en-US" altLang="en-US"/>
              <a:t>ri</a:t>
            </a:r>
          </a:p>
          <a:p>
            <a:pPr eaLnBrk="1" hangingPunct="1"/>
            <a:r>
              <a:rPr lang="en-US" altLang="en-US"/>
              <a:t>Investi</a:t>
            </a:r>
            <a:r>
              <a:rPr lang="ro-RO" altLang="en-US"/>
              <a:t>ţ</a:t>
            </a:r>
            <a:r>
              <a:rPr lang="en-US" altLang="en-US"/>
              <a:t>ii</a:t>
            </a:r>
            <a:r>
              <a:rPr lang="ro-RO" altLang="en-US"/>
              <a:t>l</a:t>
            </a:r>
            <a:r>
              <a:rPr lang="en-US" altLang="en-US"/>
              <a:t>e de bani </a:t>
            </a:r>
            <a:r>
              <a:rPr lang="ro-RO" altLang="en-US"/>
              <a:t>î</a:t>
            </a:r>
            <a:r>
              <a:rPr lang="en-US" altLang="en-US"/>
              <a:t>n promovarea site-lui pot fi controlate ca buget </a:t>
            </a:r>
            <a:r>
              <a:rPr lang="ro-RO" altLang="en-US"/>
              <a:t>î</a:t>
            </a:r>
            <a:r>
              <a:rPr lang="en-US" altLang="en-US"/>
              <a:t>n func</a:t>
            </a:r>
            <a:r>
              <a:rPr lang="ro-RO" altLang="en-US"/>
              <a:t>ţ</a:t>
            </a:r>
            <a:r>
              <a:rPr lang="en-US" altLang="en-US"/>
              <a:t>ie de rezultate</a:t>
            </a:r>
            <a:r>
              <a:rPr lang="ro-RO" altLang="en-US"/>
              <a:t>le preconizate</a:t>
            </a: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69866DE1-F5FA-0044-970F-990F6935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EB854C4-B3A0-EC4F-A354-EEE6C4440476}" type="slidenum">
              <a:rPr lang="en-US" altLang="en-US" sz="13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59</a:t>
            </a:fld>
            <a:endParaRPr lang="en-US" altLang="en-US" sz="13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3381</Words>
  <Application>Microsoft Macintosh PowerPoint</Application>
  <PresentationFormat>Widescreen</PresentationFormat>
  <Paragraphs>381</Paragraphs>
  <Slides>59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Calibri</vt:lpstr>
      <vt:lpstr>Comic Sans MS</vt:lpstr>
      <vt:lpstr>Tw Cen MT</vt:lpstr>
      <vt:lpstr>Tw Cen MT Condensed</vt:lpstr>
      <vt:lpstr>Wingdings</vt:lpstr>
      <vt:lpstr>Wingdings 3</vt:lpstr>
      <vt:lpstr>Integral</vt:lpstr>
      <vt:lpstr>Administrarea conţinutului  site-urilor Web</vt:lpstr>
      <vt:lpstr>Conţinut</vt:lpstr>
      <vt:lpstr>Alphabet Soup: SEO, SEM</vt:lpstr>
      <vt:lpstr>SEM  - Search Engine Marketing</vt:lpstr>
      <vt:lpstr>CALITATE, CANTITATE SI REZULTATE ORGANICE</vt:lpstr>
      <vt:lpstr>Motoare de CĂUTARE</vt:lpstr>
      <vt:lpstr>Anatomia unui motor de căutare</vt:lpstr>
      <vt:lpstr>Discutie</vt:lpstr>
      <vt:lpstr>Cum funcționează un motor de căutare?</vt:lpstr>
      <vt:lpstr>CUM FUNCȚIONEAZĂ UN MOTOR DE CĂUTARE?</vt:lpstr>
      <vt:lpstr>CEI MAI POPULARI CRAWLERS</vt:lpstr>
      <vt:lpstr>FACTORI DE VIZIBILITATE  (SAU CUM SĂ DETERMINI GOOGLE SĂ-ŢI PLACĂ PAGINA)</vt:lpstr>
      <vt:lpstr>Discutie</vt:lpstr>
      <vt:lpstr>NEVOI SEO</vt:lpstr>
      <vt:lpstr>Componentele de bază ale unei pagini</vt:lpstr>
      <vt:lpstr>Text: Densitatea de cuvinte cheie (keywords)</vt:lpstr>
      <vt:lpstr>Text: Evidenţierea cuvintelor cheie</vt:lpstr>
      <vt:lpstr>TEXT: EVIDENTIEREA CUVINTELOR CHEIE</vt:lpstr>
      <vt:lpstr>Componenta Legături</vt:lpstr>
      <vt:lpstr>SITEMAP</vt:lpstr>
      <vt:lpstr>CÂND AVEM NEVOIE DE UN SITEMAP</vt:lpstr>
      <vt:lpstr>Crearea de legături</vt:lpstr>
      <vt:lpstr>ROBOTS</vt:lpstr>
      <vt:lpstr>ROBOTS</vt:lpstr>
      <vt:lpstr>ROBOTS</vt:lpstr>
      <vt:lpstr>Componenta Popularitate</vt:lpstr>
      <vt:lpstr>Link juice</vt:lpstr>
      <vt:lpstr>LINK JUICE </vt:lpstr>
      <vt:lpstr>LINK JUICE</vt:lpstr>
      <vt:lpstr>Una din problemele cu care se confruntă magazinele online este diluarea link juice-ului trimis spre paginile interioare. </vt:lpstr>
      <vt:lpstr>Probleme</vt:lpstr>
      <vt:lpstr>Atributul nofollow</vt:lpstr>
      <vt:lpstr>Linkuri ce pot fi publicate cu nofollow </vt:lpstr>
      <vt:lpstr>Linkuri ce pot fi publicate cu nofollow</vt:lpstr>
      <vt:lpstr>Discutie</vt:lpstr>
      <vt:lpstr>SPA SEO</vt:lpstr>
      <vt:lpstr>Probleme SPA</vt:lpstr>
      <vt:lpstr>SERVER-SIDE RENDERING (SSR)</vt:lpstr>
      <vt:lpstr>PRERENDERING</vt:lpstr>
      <vt:lpstr>SOCIAL MEDIA SEO</vt:lpstr>
      <vt:lpstr>SOCIAL MEDIA SEO</vt:lpstr>
      <vt:lpstr>SOCIAL MEDIA SEO (2)</vt:lpstr>
      <vt:lpstr>Twitter CarDS</vt:lpstr>
      <vt:lpstr>Twitter CarDS</vt:lpstr>
      <vt:lpstr>SOCIAL MEDIA SEO (3)</vt:lpstr>
      <vt:lpstr>RECOMANDĂRI</vt:lpstr>
      <vt:lpstr>Schema de navigare în site</vt:lpstr>
      <vt:lpstr>Schema de navigare în site</vt:lpstr>
      <vt:lpstr>CONȚINUT</vt:lpstr>
      <vt:lpstr>Consideraţii legate de Design</vt:lpstr>
      <vt:lpstr>Folosirea JavaScript şi CSS externe</vt:lpstr>
      <vt:lpstr>Folosirea de JavaScript şi CSS externe</vt:lpstr>
      <vt:lpstr>Optimizarea documentelor PDF</vt:lpstr>
      <vt:lpstr>Strategii pentru legăturile externe</vt:lpstr>
      <vt:lpstr>Discutie</vt:lpstr>
      <vt:lpstr>Resurse</vt:lpstr>
      <vt:lpstr>Resurse</vt:lpstr>
      <vt:lpstr>Bibliografie Recomandată</vt:lpstr>
      <vt:lpstr>Concluzii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2019-06-12T17:39:09Z</dcterms:created>
  <dcterms:modified xsi:type="dcterms:W3CDTF">2025-03-01T17:17:46Z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