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48" r:id="rId4"/>
  </p:sldMasterIdLst>
  <p:notesMasterIdLst>
    <p:notesMasterId r:id="rId143"/>
  </p:notesMasterIdLst>
  <p:sldIdLst>
    <p:sldId id="256" r:id="rId5"/>
    <p:sldId id="482" r:id="rId6"/>
    <p:sldId id="483" r:id="rId7"/>
    <p:sldId id="484" r:id="rId8"/>
    <p:sldId id="485" r:id="rId9"/>
    <p:sldId id="486" r:id="rId10"/>
    <p:sldId id="360" r:id="rId11"/>
    <p:sldId id="361" r:id="rId12"/>
    <p:sldId id="362" r:id="rId13"/>
    <p:sldId id="363" r:id="rId14"/>
    <p:sldId id="372" r:id="rId15"/>
    <p:sldId id="488" r:id="rId16"/>
    <p:sldId id="489" r:id="rId17"/>
    <p:sldId id="374" r:id="rId18"/>
    <p:sldId id="375" r:id="rId19"/>
    <p:sldId id="376" r:id="rId20"/>
    <p:sldId id="487" r:id="rId21"/>
    <p:sldId id="379" r:id="rId22"/>
    <p:sldId id="380" r:id="rId23"/>
    <p:sldId id="381" r:id="rId24"/>
    <p:sldId id="384" r:id="rId25"/>
    <p:sldId id="387" r:id="rId26"/>
    <p:sldId id="395" r:id="rId27"/>
    <p:sldId id="399" r:id="rId28"/>
    <p:sldId id="400" r:id="rId29"/>
    <p:sldId id="401" r:id="rId30"/>
    <p:sldId id="527" r:id="rId31"/>
    <p:sldId id="402" r:id="rId32"/>
    <p:sldId id="403" r:id="rId33"/>
    <p:sldId id="528" r:id="rId34"/>
    <p:sldId id="404" r:id="rId35"/>
    <p:sldId id="405" r:id="rId36"/>
    <p:sldId id="406" r:id="rId37"/>
    <p:sldId id="407" r:id="rId38"/>
    <p:sldId id="408" r:id="rId39"/>
    <p:sldId id="409" r:id="rId40"/>
    <p:sldId id="410" r:id="rId41"/>
    <p:sldId id="536" r:id="rId42"/>
    <p:sldId id="412" r:id="rId43"/>
    <p:sldId id="413" r:id="rId44"/>
    <p:sldId id="420" r:id="rId45"/>
    <p:sldId id="421" r:id="rId46"/>
    <p:sldId id="422" r:id="rId47"/>
    <p:sldId id="423" r:id="rId48"/>
    <p:sldId id="427" r:id="rId49"/>
    <p:sldId id="529" r:id="rId50"/>
    <p:sldId id="276" r:id="rId51"/>
    <p:sldId id="284" r:id="rId52"/>
    <p:sldId id="286" r:id="rId53"/>
    <p:sldId id="287" r:id="rId54"/>
    <p:sldId id="294" r:id="rId55"/>
    <p:sldId id="295" r:id="rId56"/>
    <p:sldId id="296" r:id="rId57"/>
    <p:sldId id="297" r:id="rId58"/>
    <p:sldId id="298" r:id="rId59"/>
    <p:sldId id="542" r:id="rId60"/>
    <p:sldId id="299" r:id="rId61"/>
    <p:sldId id="303" r:id="rId62"/>
    <p:sldId id="546" r:id="rId63"/>
    <p:sldId id="304" r:id="rId64"/>
    <p:sldId id="305" r:id="rId65"/>
    <p:sldId id="547" r:id="rId66"/>
    <p:sldId id="306" r:id="rId67"/>
    <p:sldId id="307" r:id="rId68"/>
    <p:sldId id="548" r:id="rId69"/>
    <p:sldId id="549" r:id="rId70"/>
    <p:sldId id="308" r:id="rId71"/>
    <p:sldId id="309" r:id="rId72"/>
    <p:sldId id="550" r:id="rId73"/>
    <p:sldId id="311" r:id="rId74"/>
    <p:sldId id="312" r:id="rId75"/>
    <p:sldId id="551" r:id="rId76"/>
    <p:sldId id="313" r:id="rId77"/>
    <p:sldId id="314" r:id="rId78"/>
    <p:sldId id="315" r:id="rId79"/>
    <p:sldId id="316" r:id="rId80"/>
    <p:sldId id="319" r:id="rId81"/>
    <p:sldId id="320" r:id="rId82"/>
    <p:sldId id="321" r:id="rId83"/>
    <p:sldId id="322" r:id="rId84"/>
    <p:sldId id="323" r:id="rId85"/>
    <p:sldId id="324" r:id="rId86"/>
    <p:sldId id="325" r:id="rId87"/>
    <p:sldId id="329" r:id="rId88"/>
    <p:sldId id="330" r:id="rId89"/>
    <p:sldId id="332" r:id="rId90"/>
    <p:sldId id="557" r:id="rId91"/>
    <p:sldId id="411" r:id="rId92"/>
    <p:sldId id="561" r:id="rId93"/>
    <p:sldId id="346" r:id="rId94"/>
    <p:sldId id="347" r:id="rId95"/>
    <p:sldId id="348" r:id="rId96"/>
    <p:sldId id="349" r:id="rId97"/>
    <p:sldId id="352" r:id="rId98"/>
    <p:sldId id="353" r:id="rId99"/>
    <p:sldId id="564" r:id="rId100"/>
    <p:sldId id="566" r:id="rId101"/>
    <p:sldId id="447" r:id="rId102"/>
    <p:sldId id="567" r:id="rId103"/>
    <p:sldId id="568" r:id="rId104"/>
    <p:sldId id="569" r:id="rId105"/>
    <p:sldId id="570" r:id="rId106"/>
    <p:sldId id="370" r:id="rId107"/>
    <p:sldId id="373" r:id="rId108"/>
    <p:sldId id="576" r:id="rId109"/>
    <p:sldId id="577" r:id="rId110"/>
    <p:sldId id="579" r:id="rId111"/>
    <p:sldId id="580" r:id="rId112"/>
    <p:sldId id="591" r:id="rId113"/>
    <p:sldId id="592" r:id="rId114"/>
    <p:sldId id="593" r:id="rId115"/>
    <p:sldId id="594" r:id="rId116"/>
    <p:sldId id="595" r:id="rId117"/>
    <p:sldId id="448" r:id="rId118"/>
    <p:sldId id="452" r:id="rId119"/>
    <p:sldId id="449" r:id="rId120"/>
    <p:sldId id="459" r:id="rId121"/>
    <p:sldId id="461" r:id="rId122"/>
    <p:sldId id="463" r:id="rId123"/>
    <p:sldId id="465" r:id="rId124"/>
    <p:sldId id="596" r:id="rId125"/>
    <p:sldId id="598" r:id="rId126"/>
    <p:sldId id="599" r:id="rId127"/>
    <p:sldId id="601" r:id="rId128"/>
    <p:sldId id="602" r:id="rId129"/>
    <p:sldId id="603" r:id="rId130"/>
    <p:sldId id="605" r:id="rId131"/>
    <p:sldId id="606" r:id="rId132"/>
    <p:sldId id="607" r:id="rId133"/>
    <p:sldId id="608" r:id="rId134"/>
    <p:sldId id="525" r:id="rId135"/>
    <p:sldId id="609" r:id="rId136"/>
    <p:sldId id="531" r:id="rId137"/>
    <p:sldId id="532" r:id="rId138"/>
    <p:sldId id="533" r:id="rId139"/>
    <p:sldId id="623" r:id="rId140"/>
    <p:sldId id="624" r:id="rId141"/>
    <p:sldId id="450" r:id="rId1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345" autoAdjust="0"/>
    <p:restoredTop sz="94660"/>
  </p:normalViewPr>
  <p:slideViewPr>
    <p:cSldViewPr snapToGrid="0">
      <p:cViewPr varScale="1">
        <p:scale>
          <a:sx n="88" d="100"/>
          <a:sy n="88" d="100"/>
        </p:scale>
        <p:origin x="200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theme" Target="theme/theme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52ADB1-275D-430A-89EE-5C7E6CFF6FF2}" type="datetimeFigureOut">
              <a:rPr lang="en-US" smtClean="0"/>
              <a:t>3/1/25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725628-3A68-42F4-BA86-9818179531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Image Placeholder 1">
            <a:extLst>
              <a:ext uri="{FF2B5EF4-FFF2-40B4-BE49-F238E27FC236}">
                <a16:creationId xmlns:a16="http://schemas.microsoft.com/office/drawing/2014/main" id="{59F38944-638D-239F-6C8E-19B08EB7F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6" name="Notes Placeholder 2">
            <a:extLst>
              <a:ext uri="{FF2B5EF4-FFF2-40B4-BE49-F238E27FC236}">
                <a16:creationId xmlns:a16="http://schemas.microsoft.com/office/drawing/2014/main" id="{549311AA-F86A-20BB-80CE-31780484E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ro-RO" altLang="en-US"/>
          </a:p>
        </p:txBody>
      </p:sp>
      <p:sp>
        <p:nvSpPr>
          <p:cNvPr id="62467" name="Slide Number Placeholder 3">
            <a:extLst>
              <a:ext uri="{FF2B5EF4-FFF2-40B4-BE49-F238E27FC236}">
                <a16:creationId xmlns:a16="http://schemas.microsoft.com/office/drawing/2014/main" id="{DE3CF6BB-DC79-D047-231F-0A6E6C3F4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C35AADC-02FD-714E-AE6D-E87B430C14FB}" type="slidenum">
              <a:rPr lang="en-US" altLang="en-US" sz="1300"/>
              <a:pPr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6A8AE3A7-6060-6920-37F5-0713C0E1DC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F01E38F-C13B-E545-8008-9ADBCF3C328D}" type="slidenum">
              <a:rPr lang="en-US" altLang="en-US" sz="1300"/>
              <a:pPr>
                <a:spcBef>
                  <a:spcPct val="0"/>
                </a:spcBef>
              </a:pPr>
              <a:t>47</a:t>
            </a:fld>
            <a:endParaRPr lang="en-US" altLang="en-US" sz="1300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1E45CE75-B412-A853-B885-2F967C62A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6228F406-92F8-30B0-6BA2-9BB22166F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1F3C6597-43B4-75CD-ED7C-A36D4F6BFE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D72A4A2-54A8-A847-8682-A17B81D5BA5B}" type="slidenum">
              <a:rPr lang="en-US" altLang="en-US" sz="1300"/>
              <a:pPr>
                <a:spcBef>
                  <a:spcPct val="0"/>
                </a:spcBef>
              </a:pPr>
              <a:t>50</a:t>
            </a:fld>
            <a:endParaRPr lang="en-US" altLang="en-US" sz="13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AB964539-B591-527A-9CA8-6A7AF110AC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8005161-0BEE-85DD-6D69-B50E02340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2513"/>
            <a:ext cx="5207000" cy="4603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Slide Image Placeholder 1">
            <a:extLst>
              <a:ext uri="{FF2B5EF4-FFF2-40B4-BE49-F238E27FC236}">
                <a16:creationId xmlns:a16="http://schemas.microsoft.com/office/drawing/2014/main" id="{48DD52CA-9101-9B25-34D6-5CA6ACC0E1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7394" name="Notes Placeholder 2">
            <a:extLst>
              <a:ext uri="{FF2B5EF4-FFF2-40B4-BE49-F238E27FC236}">
                <a16:creationId xmlns:a16="http://schemas.microsoft.com/office/drawing/2014/main" id="{573DE16E-960C-26B4-1ACB-9C88BB8C2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Last, first, odd, even, previous, first n, last n</a:t>
            </a:r>
          </a:p>
        </p:txBody>
      </p:sp>
      <p:sp>
        <p:nvSpPr>
          <p:cNvPr id="187395" name="Date Placeholder 3">
            <a:extLst>
              <a:ext uri="{FF2B5EF4-FFF2-40B4-BE49-F238E27FC236}">
                <a16:creationId xmlns:a16="http://schemas.microsoft.com/office/drawing/2014/main" id="{53A63BD8-605B-5B0A-D63E-4722C69D31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07975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6663" indent="-246063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1963" indent="-246063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7263" indent="-246063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44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16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988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560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CE55A8B-2541-B54F-89D5-434FB1400E36}" type="datetime1">
              <a:rPr lang="en-US" altLang="en-US" sz="1300" smtClean="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3/1/25</a:t>
            </a:fld>
            <a:endParaRPr lang="en-US" altLang="en-US" sz="1300">
              <a:cs typeface="Arial" panose="020B0604020202020204" pitchFamily="34" charset="0"/>
            </a:endParaRPr>
          </a:p>
        </p:txBody>
      </p:sp>
      <p:sp>
        <p:nvSpPr>
          <p:cNvPr id="187396" name="Slide Number Placeholder 4">
            <a:extLst>
              <a:ext uri="{FF2B5EF4-FFF2-40B4-BE49-F238E27FC236}">
                <a16:creationId xmlns:a16="http://schemas.microsoft.com/office/drawing/2014/main" id="{BB6C47A4-BB6B-775C-CCC8-23C1D0402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3275" indent="-307975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36663" indent="-246063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31963" indent="-246063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27263" indent="-246063" defTabSz="990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844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1416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988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56063" indent="-246063" defTabSz="990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A054238-9B44-8949-9A13-5A2981B77621}" type="slidenum">
              <a:rPr lang="en-US" altLang="en-US" sz="1300">
                <a:cs typeface="Arial" panose="020B0604020202020204" pitchFamily="34" charset="0"/>
              </a:rPr>
              <a:pPr>
                <a:spcBef>
                  <a:spcPct val="0"/>
                </a:spcBef>
              </a:pPr>
              <a:t>116</a:t>
            </a:fld>
            <a:endParaRPr lang="en-US" altLang="en-US" sz="1300"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005E26E-BCB2-4FD5-8FD5-81A5EAE94C21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5C470-CD19-455C-B830-6D252EAD7FE5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85C43C-50D9-4F49-A136-0EFF292F93ED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3B1A3-0AEF-4064-A724-D27D660C865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D0F2-BF66-4A24-9384-A0129B196518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18A6C-4F6B-48D2-BDB0-D7413B3FDB0A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1ECED-6ECE-4989-B917-9D4D7E6D3C76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70E1-CB40-488E-8C6F-EF4211DFFCB0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EB6AF-9F5C-43BE-879E-CB9514111250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C2E9B8-0487-42E4-B571-744A3D775783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2E32D-1E84-43FD-8158-FFFE757EB0E8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7EE424C-FCA3-4EDD-B274-8E055D649B7D}" type="datetime1">
              <a:rPr lang="en-US" smtClean="0"/>
              <a:t>3/1/25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3.org/1999/xhtml" TargetMode="External"/><Relationship Id="rId2" Type="http://schemas.openxmlformats.org/officeDocument/2006/relationships/hyperlink" Target="http://www.w3.org/TR/xhtml1/DTD/xhtml1-transitional.dt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anchor="b">
            <a:normAutofit/>
          </a:bodyPr>
          <a:lstStyle/>
          <a:p>
            <a:pPr algn="l"/>
            <a:r>
              <a:rPr lang="en-US" dirty="0" err="1">
                <a:solidFill>
                  <a:srgbClr val="FFFFFF"/>
                </a:solidFill>
              </a:rPr>
              <a:t>Tehnologii</a:t>
            </a:r>
            <a:r>
              <a:rPr lang="en-US" dirty="0">
                <a:solidFill>
                  <a:srgbClr val="FFFFFF"/>
                </a:solidFill>
              </a:rPr>
              <a:t> WEB – HTML </a:t>
            </a:r>
            <a:r>
              <a:rPr lang="en-US" dirty="0" err="1">
                <a:solidFill>
                  <a:srgbClr val="FFFFFF"/>
                </a:solidFill>
              </a:rPr>
              <a:t>si</a:t>
            </a:r>
            <a:r>
              <a:rPr lang="en-US" dirty="0">
                <a:solidFill>
                  <a:srgbClr val="FFFFFF"/>
                </a:solidFill>
              </a:rPr>
              <a:t> 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2"/>
            <a:ext cx="7501650" cy="667329"/>
          </a:xfrm>
        </p:spPr>
        <p:txBody>
          <a:bodyPr anchor="t">
            <a:normAutofit lnSpcReduction="10000"/>
          </a:bodyPr>
          <a:lstStyle/>
          <a:p>
            <a:r>
              <a:rPr lang="en-US" sz="1900" dirty="0">
                <a:solidFill>
                  <a:srgbClr val="FFFFFF"/>
                </a:solidFill>
              </a:rPr>
              <a:t>Ciprian DOBRE </a:t>
            </a:r>
          </a:p>
          <a:p>
            <a:r>
              <a:rPr lang="en-US" dirty="0" err="1">
                <a:solidFill>
                  <a:srgbClr val="FFFFFF"/>
                </a:solidFill>
              </a:rPr>
              <a:t>ciprian.dobre@upb.ro</a:t>
            </a:r>
            <a:endParaRPr lang="en-US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:a16="http://schemas.microsoft.com/office/drawing/2014/main" id="{59A7DE00-3FB8-4ECF-942B-DF5DE9E794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70638"/>
            <a:ext cx="4967984" cy="1867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AF48-DBC5-F442-91FE-AF021C9A5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/>
              <a:t>Client-side</a:t>
            </a:r>
            <a:endParaRPr lang="en-US"/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9E3224F5-AFF8-F8AC-F651-AABC565CAF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025596"/>
            <a:ext cx="9720073" cy="402336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ro-RO" altLang="en-US" sz="3000" dirty="0"/>
              <a:t>Părțile dezvoltării Web client-</a:t>
            </a:r>
            <a:r>
              <a:rPr lang="ro-RO" altLang="en-US" sz="3000" dirty="0" err="1"/>
              <a:t>side</a:t>
            </a:r>
            <a:endParaRPr lang="ro-RO" altLang="en-US" sz="3000" dirty="0"/>
          </a:p>
          <a:p>
            <a:pPr>
              <a:lnSpc>
                <a:spcPct val="90000"/>
              </a:lnSpc>
            </a:pPr>
            <a:r>
              <a:rPr lang="en-US" altLang="en-US" sz="3000" dirty="0"/>
              <a:t>Markup (XHTML, HTML)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Structure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Content</a:t>
            </a:r>
          </a:p>
          <a:p>
            <a:pPr>
              <a:lnSpc>
                <a:spcPct val="90000"/>
              </a:lnSpc>
            </a:pPr>
            <a:r>
              <a:rPr lang="en-US" altLang="en-US" sz="3000" dirty="0"/>
              <a:t>Style (CSS)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Style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Presentation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Appearance</a:t>
            </a:r>
          </a:p>
          <a:p>
            <a:pPr>
              <a:lnSpc>
                <a:spcPct val="90000"/>
              </a:lnSpc>
            </a:pPr>
            <a:r>
              <a:rPr lang="en-US" altLang="en-US" sz="3000" dirty="0"/>
              <a:t>Function (</a:t>
            </a:r>
            <a:r>
              <a:rPr lang="en-US" altLang="en-US" sz="3000" dirty="0" err="1"/>
              <a:t>Javascript</a:t>
            </a:r>
            <a:r>
              <a:rPr lang="en-US" altLang="en-US" sz="3000" dirty="0"/>
              <a:t>)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Actions</a:t>
            </a:r>
          </a:p>
          <a:p>
            <a:pPr lvl="1">
              <a:lnSpc>
                <a:spcPct val="90000"/>
              </a:lnSpc>
            </a:pPr>
            <a:r>
              <a:rPr lang="en-US" altLang="en-US" sz="2600" dirty="0"/>
              <a:t>Manipulations</a:t>
            </a:r>
          </a:p>
          <a:p>
            <a:pPr>
              <a:lnSpc>
                <a:spcPct val="90000"/>
              </a:lnSpc>
            </a:pPr>
            <a:endParaRPr lang="ro-RO" altLang="en-US" sz="3000" dirty="0"/>
          </a:p>
          <a:p>
            <a:pPr>
              <a:lnSpc>
                <a:spcPct val="90000"/>
              </a:lnSpc>
              <a:buFontTx/>
              <a:buNone/>
            </a:pPr>
            <a:endParaRPr lang="en-US" altLang="en-US" sz="3000" dirty="0"/>
          </a:p>
        </p:txBody>
      </p:sp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69CC6FD5-3072-7CC8-8097-3DBE30078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16388" name="Slide Number Placeholder 5">
            <a:extLst>
              <a:ext uri="{FF2B5EF4-FFF2-40B4-BE49-F238E27FC236}">
                <a16:creationId xmlns:a16="http://schemas.microsoft.com/office/drawing/2014/main" id="{EE4C52A7-DF17-958D-9E63-8A399F5A8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0D39D4F-DB05-3549-9285-77ADD04ACAA6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6389" name="Picture 2" descr="web parts">
            <a:extLst>
              <a:ext uri="{FF2B5EF4-FFF2-40B4-BE49-F238E27FC236}">
                <a16:creationId xmlns:a16="http://schemas.microsoft.com/office/drawing/2014/main" id="{ADEA9D58-3A33-9540-D6E3-5B2F2E69D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2286000"/>
            <a:ext cx="4073525" cy="392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7" name="Rectangle 17416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419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7421" name="Straight Connector 17420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423" name="Rectangle 17422">
            <a:extLst>
              <a:ext uri="{FF2B5EF4-FFF2-40B4-BE49-F238E27FC236}">
                <a16:creationId xmlns:a16="http://schemas.microsoft.com/office/drawing/2014/main" id="{2A85F7B3-F4E6-4FBF-B74E-43CAB468F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E2E750-FF40-2840-B166-3E660764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4809406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Solar System: Markup</a:t>
            </a:r>
          </a:p>
        </p:txBody>
      </p:sp>
      <p:cxnSp>
        <p:nvCxnSpPr>
          <p:cNvPr id="17425" name="Straight Connector 17424">
            <a:extLst>
              <a:ext uri="{FF2B5EF4-FFF2-40B4-BE49-F238E27FC236}">
                <a16:creationId xmlns:a16="http://schemas.microsoft.com/office/drawing/2014/main" id="{73741D5B-1709-4CDB-963A-CC3C74941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475488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12" name="Picture 2" descr="markup">
            <a:extLst>
              <a:ext uri="{FF2B5EF4-FFF2-40B4-BE49-F238E27FC236}">
                <a16:creationId xmlns:a16="http://schemas.microsoft.com/office/drawing/2014/main" id="{C3FBB3A9-9B97-DAF5-9EE6-7B89F929F9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4648" y="640080"/>
            <a:ext cx="3015576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0" name="Footer Placeholder 4">
            <a:extLst>
              <a:ext uri="{FF2B5EF4-FFF2-40B4-BE49-F238E27FC236}">
                <a16:creationId xmlns:a16="http://schemas.microsoft.com/office/drawing/2014/main" id="{50B483F0-DC08-7D63-8AB4-71D5FBFA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000" kern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rPr>
              <a:t>Programare Web– Curs 2</a:t>
            </a:r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2258809E-D8CD-7440-FCE0-4F1148BD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DBD6D738-9B57-4940-BA11-357E9C8C3C76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" name="Rectangle 1844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443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8445" name="Straight Connector 1844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447" name="Rectangle 18446">
            <a:extLst>
              <a:ext uri="{FF2B5EF4-FFF2-40B4-BE49-F238E27FC236}">
                <a16:creationId xmlns:a16="http://schemas.microsoft.com/office/drawing/2014/main" id="{070784CE-9DD4-4C2D-88B9-D219730A4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74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61492F-080E-E043-B6BE-FF1B29827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34" y="640080"/>
            <a:ext cx="6293689" cy="365240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sz="44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Solar System: Markup + Style</a:t>
            </a:r>
          </a:p>
        </p:txBody>
      </p:sp>
      <p:pic>
        <p:nvPicPr>
          <p:cNvPr id="18436" name="Picture 2" descr="markup + style">
            <a:extLst>
              <a:ext uri="{FF2B5EF4-FFF2-40B4-BE49-F238E27FC236}">
                <a16:creationId xmlns:a16="http://schemas.microsoft.com/office/drawing/2014/main" id="{8192AFD3-FB4C-BD95-90B8-F149A4CAB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687214"/>
            <a:ext cx="3993942" cy="346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449" name="Straight Connector 18448">
            <a:extLst>
              <a:ext uri="{FF2B5EF4-FFF2-40B4-BE49-F238E27FC236}">
                <a16:creationId xmlns:a16="http://schemas.microsoft.com/office/drawing/2014/main" id="{640A410A-1838-4131-95A6-2BE4F8D41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09640" y="4388141"/>
            <a:ext cx="58521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4" name="Footer Placeholder 4">
            <a:extLst>
              <a:ext uri="{FF2B5EF4-FFF2-40B4-BE49-F238E27FC236}">
                <a16:creationId xmlns:a16="http://schemas.microsoft.com/office/drawing/2014/main" id="{52360AE4-4F73-0703-8112-7C2A5F43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000" kern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rPr>
              <a:t>Programare Web– Curs 2</a:t>
            </a:r>
          </a:p>
        </p:txBody>
      </p:sp>
      <p:sp>
        <p:nvSpPr>
          <p:cNvPr id="18435" name="Slide Number Placeholder 5">
            <a:extLst>
              <a:ext uri="{FF2B5EF4-FFF2-40B4-BE49-F238E27FC236}">
                <a16:creationId xmlns:a16="http://schemas.microsoft.com/office/drawing/2014/main" id="{FE72EC5E-CA7A-F3A1-E727-4553C134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30EEE467-F6B0-2244-8A3F-D28BEC8C130E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5" name="Rectangle 19464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467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469" name="Straight Connector 19468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471" name="Rectangle 19470">
            <a:extLst>
              <a:ext uri="{FF2B5EF4-FFF2-40B4-BE49-F238E27FC236}">
                <a16:creationId xmlns:a16="http://schemas.microsoft.com/office/drawing/2014/main" id="{070784CE-9DD4-4C2D-88B9-D219730A4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74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C0C091-05EC-A64A-BD1C-9F44FEB5E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34" y="640080"/>
            <a:ext cx="6293689" cy="3652405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/>
            </a:pPr>
            <a:r>
              <a:rPr lang="en-US" sz="44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Solar System: Markup + Style + Function</a:t>
            </a:r>
          </a:p>
        </p:txBody>
      </p:sp>
      <p:pic>
        <p:nvPicPr>
          <p:cNvPr id="19460" name="Picture 2" descr="markup + style + function">
            <a:extLst>
              <a:ext uri="{FF2B5EF4-FFF2-40B4-BE49-F238E27FC236}">
                <a16:creationId xmlns:a16="http://schemas.microsoft.com/office/drawing/2014/main" id="{99F68F77-D677-82F9-6B08-C4A882C7D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1687214"/>
            <a:ext cx="3993942" cy="3464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473" name="Straight Connector 19472">
            <a:extLst>
              <a:ext uri="{FF2B5EF4-FFF2-40B4-BE49-F238E27FC236}">
                <a16:creationId xmlns:a16="http://schemas.microsoft.com/office/drawing/2014/main" id="{640A410A-1838-4131-95A6-2BE4F8D41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09640" y="4388141"/>
            <a:ext cx="58521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8" name="Footer Placeholder 4">
            <a:extLst>
              <a:ext uri="{FF2B5EF4-FFF2-40B4-BE49-F238E27FC236}">
                <a16:creationId xmlns:a16="http://schemas.microsoft.com/office/drawing/2014/main" id="{62C8EC3D-F373-370C-653D-8DF0E4B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000" kern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rPr>
              <a:t>Programare Web– Curs 2</a:t>
            </a:r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E4DF7402-72C2-CB86-41F3-F66214105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4FF1184C-6D22-7D49-9BE2-82AC54895B82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9" name="Rectangle 20488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49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493" name="Straight Connector 20492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495" name="Rectangle 20494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8FD95-05B0-EF44-B830-9D98F5202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Markup Evolution</a:t>
            </a:r>
          </a:p>
        </p:txBody>
      </p:sp>
      <p:cxnSp>
        <p:nvCxnSpPr>
          <p:cNvPr id="20497" name="Straight Connector 20496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4" name="Picture 2" descr="markup evolution">
            <a:extLst>
              <a:ext uri="{FF2B5EF4-FFF2-40B4-BE49-F238E27FC236}">
                <a16:creationId xmlns:a16="http://schemas.microsoft.com/office/drawing/2014/main" id="{A9DB47CC-DE68-605B-DAAA-85A184F12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22588" y="640080"/>
            <a:ext cx="5761727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2" name="Footer Placeholder 4">
            <a:extLst>
              <a:ext uri="{FF2B5EF4-FFF2-40B4-BE49-F238E27FC236}">
                <a16:creationId xmlns:a16="http://schemas.microsoft.com/office/drawing/2014/main" id="{1BBDB6BB-5940-C99B-28CF-FD5BB971A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000" kern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rPr>
              <a:t>Programare Web– Curs 2</a:t>
            </a:r>
          </a:p>
        </p:txBody>
      </p:sp>
      <p:sp>
        <p:nvSpPr>
          <p:cNvPr id="20483" name="Slide Number Placeholder 5">
            <a:extLst>
              <a:ext uri="{FF2B5EF4-FFF2-40B4-BE49-F238E27FC236}">
                <a16:creationId xmlns:a16="http://schemas.microsoft.com/office/drawing/2014/main" id="{1F7C6DBF-F2F5-1FA7-1897-EBBD50D1A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EEA15FC9-027F-D843-823C-76479B9976AE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6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CDE6-5008-4345-8B3C-EA9205132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Limbajul</a:t>
            </a:r>
            <a:r>
              <a:rPr lang="en-US" dirty="0"/>
              <a:t> HTML</a:t>
            </a:r>
          </a:p>
        </p:txBody>
      </p:sp>
      <p:sp>
        <p:nvSpPr>
          <p:cNvPr id="21506" name="Content Placeholder 2">
            <a:extLst>
              <a:ext uri="{FF2B5EF4-FFF2-40B4-BE49-F238E27FC236}">
                <a16:creationId xmlns:a16="http://schemas.microsoft.com/office/drawing/2014/main" id="{533359C1-E5B2-9A94-5CC4-9113CA3A04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o-RO" altLang="en-US"/>
              <a:t>Serverul Web livrează la cerere fișiere HTML.</a:t>
            </a:r>
          </a:p>
          <a:p>
            <a:pPr>
              <a:spcAft>
                <a:spcPts val="1200"/>
              </a:spcAft>
            </a:pPr>
            <a:r>
              <a:rPr lang="en-US" altLang="en-US"/>
              <a:t>F</a:t>
            </a:r>
            <a:r>
              <a:rPr lang="ro-RO" altLang="en-US" err="1"/>
              <a:t>işiere</a:t>
            </a:r>
            <a:r>
              <a:rPr lang="ro-RO" altLang="en-US"/>
              <a:t> text </a:t>
            </a:r>
            <a:r>
              <a:rPr lang="ro-RO" altLang="en-US" err="1"/>
              <a:t>conţinând</a:t>
            </a:r>
            <a:r>
              <a:rPr lang="ro-RO" altLang="en-US"/>
              <a:t> </a:t>
            </a:r>
            <a:r>
              <a:rPr lang="ro-RO" altLang="en-US" err="1"/>
              <a:t>şi</a:t>
            </a:r>
            <a:r>
              <a:rPr lang="ro-RO" altLang="en-US"/>
              <a:t> directive care sunt folosite de browser pentru </a:t>
            </a:r>
            <a:r>
              <a:rPr lang="ro-RO" altLang="en-US" err="1"/>
              <a:t>afişarea</a:t>
            </a:r>
            <a:r>
              <a:rPr lang="ro-RO" altLang="en-US"/>
              <a:t> pe ecran a textelor, imaginilor, tabelelor, formularelor, ferestrelor </a:t>
            </a:r>
            <a:r>
              <a:rPr lang="ro-RO" altLang="en-US" err="1"/>
              <a:t>şi</a:t>
            </a:r>
            <a:r>
              <a:rPr lang="ro-RO" altLang="en-US"/>
              <a:t> a celorlalte elemente pe care cel care a compus </a:t>
            </a:r>
            <a:r>
              <a:rPr lang="ro-RO" altLang="en-US" err="1"/>
              <a:t>fişierul</a:t>
            </a:r>
            <a:r>
              <a:rPr lang="ro-RO" altLang="en-US"/>
              <a:t> le-a utilizat.</a:t>
            </a:r>
          </a:p>
          <a:p>
            <a:pPr>
              <a:spcAft>
                <a:spcPts val="1200"/>
              </a:spcAft>
            </a:pPr>
            <a:r>
              <a:rPr lang="ro-RO" altLang="en-US"/>
              <a:t>Aceste directive le putem vedea doar dacă vizualizam sursa documentului </a:t>
            </a:r>
            <a:r>
              <a:rPr lang="ro-RO" altLang="en-US" err="1"/>
              <a:t>şi</a:t>
            </a:r>
            <a:r>
              <a:rPr lang="ro-RO" altLang="en-US"/>
              <a:t> de regulă nu apar pe ecran.</a:t>
            </a:r>
          </a:p>
        </p:txBody>
      </p:sp>
      <p:sp>
        <p:nvSpPr>
          <p:cNvPr id="21513" name="Rectangle 2151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515" name="Rectangle 2151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07" name="Footer Placeholder 4">
            <a:extLst>
              <a:ext uri="{FF2B5EF4-FFF2-40B4-BE49-F238E27FC236}">
                <a16:creationId xmlns:a16="http://schemas.microsoft.com/office/drawing/2014/main" id="{00268546-2D2B-773C-1330-420CD3758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21508" name="Slide Number Placeholder 5">
            <a:extLst>
              <a:ext uri="{FF2B5EF4-FFF2-40B4-BE49-F238E27FC236}">
                <a16:creationId xmlns:a16="http://schemas.microsoft.com/office/drawing/2014/main" id="{5AFE4040-BBFF-2FBF-2937-009E2B789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8BE1189-55DD-A344-B7B4-DBEA5E5E0B9C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</a:t>
            </a:fld>
            <a:endParaRPr lang="en-US" altLang="en-US" sz="13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535B-EE54-4745-BFBD-E84921FBD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r>
              <a:rPr lang="ro-RO" altLang="ro-RO"/>
              <a:t>Generalități</a:t>
            </a:r>
            <a:endParaRPr lang="en-US" altLang="ro-RO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F270C1EC-6216-011D-EBD5-655F831D34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r>
              <a:rPr lang="ro-RO" altLang="en-US" dirty="0"/>
              <a:t>În HTML pentru a diferenția directivele de restul elementelor acestea se pun între paranteze ascuțite:</a:t>
            </a:r>
          </a:p>
          <a:p>
            <a:pPr>
              <a:buFontTx/>
              <a:buNone/>
            </a:pPr>
            <a:r>
              <a:rPr lang="en-US" altLang="en-US">
                <a:latin typeface="Comic Sans MS" panose="030F0902030302020204" pitchFamily="66" charset="0"/>
              </a:rPr>
              <a:t>&lt;</a:t>
            </a:r>
            <a:r>
              <a:rPr lang="en-US" altLang="en-US" err="1">
                <a:latin typeface="Comic Sans MS" panose="030F0902030302020204" pitchFamily="66" charset="0"/>
              </a:rPr>
              <a:t>directiva</a:t>
            </a:r>
            <a:r>
              <a:rPr lang="en-US" altLang="en-US">
                <a:latin typeface="Comic Sans MS" panose="030F0902030302020204" pitchFamily="66" charset="0"/>
              </a:rPr>
              <a:t>&gt;</a:t>
            </a:r>
            <a:endParaRPr lang="ro-RO" altLang="en-US">
              <a:latin typeface="Comic Sans MS" panose="030F0902030302020204" pitchFamily="66" charset="0"/>
            </a:endParaRPr>
          </a:p>
          <a:p>
            <a:r>
              <a:rPr lang="ro-RO" altLang="en-US" dirty="0"/>
              <a:t>O mare parte a lor au efect asupra unei întregi porțiuni de fișier, încadrată de început-sfârșit:</a:t>
            </a:r>
            <a:endParaRPr lang="en-US" altLang="en-US" dirty="0"/>
          </a:p>
          <a:p>
            <a:pPr>
              <a:buFontTx/>
              <a:buNone/>
            </a:pPr>
            <a:r>
              <a:rPr lang="en-US" altLang="en-US">
                <a:latin typeface="Comic Sans MS" panose="030F0902030302020204" pitchFamily="66" charset="0"/>
              </a:rPr>
              <a:t>&lt;</a:t>
            </a:r>
            <a:r>
              <a:rPr lang="en-US" altLang="en-US" err="1">
                <a:latin typeface="Comic Sans MS" panose="030F0902030302020204" pitchFamily="66" charset="0"/>
              </a:rPr>
              <a:t>directiva</a:t>
            </a:r>
            <a:r>
              <a:rPr lang="en-US" altLang="en-US">
                <a:latin typeface="Comic Sans MS" panose="030F0902030302020204" pitchFamily="66" charset="0"/>
              </a:rPr>
              <a:t>&gt;</a:t>
            </a:r>
          </a:p>
          <a:p>
            <a:pPr>
              <a:buFontTx/>
              <a:buNone/>
            </a:pPr>
            <a:r>
              <a:rPr lang="en-US" altLang="en-US">
                <a:latin typeface="Comic Sans MS" panose="030F0902030302020204" pitchFamily="66" charset="0"/>
              </a:rPr>
              <a:t>….</a:t>
            </a:r>
          </a:p>
          <a:p>
            <a:pPr>
              <a:buFontTx/>
              <a:buNone/>
            </a:pPr>
            <a:r>
              <a:rPr lang="en-US" altLang="en-US">
                <a:latin typeface="Comic Sans MS" panose="030F0902030302020204" pitchFamily="66" charset="0"/>
              </a:rPr>
              <a:t>&lt;/</a:t>
            </a:r>
            <a:r>
              <a:rPr lang="en-US" altLang="en-US" err="1">
                <a:latin typeface="Comic Sans MS" panose="030F0902030302020204" pitchFamily="66" charset="0"/>
              </a:rPr>
              <a:t>directiva</a:t>
            </a:r>
            <a:r>
              <a:rPr lang="en-US" altLang="en-US">
                <a:latin typeface="Comic Sans MS" panose="030F0902030302020204" pitchFamily="66" charset="0"/>
              </a:rPr>
              <a:t>&gt;</a:t>
            </a:r>
          </a:p>
        </p:txBody>
      </p:sp>
      <p:sp>
        <p:nvSpPr>
          <p:cNvPr id="22537" name="Rectangle 2253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39" name="Rectangle 2253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531" name="Footer Placeholder 4">
            <a:extLst>
              <a:ext uri="{FF2B5EF4-FFF2-40B4-BE49-F238E27FC236}">
                <a16:creationId xmlns:a16="http://schemas.microsoft.com/office/drawing/2014/main" id="{B9523812-5DCC-6B6C-CA40-A16A606E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22532" name="Slide Number Placeholder 5">
            <a:extLst>
              <a:ext uri="{FF2B5EF4-FFF2-40B4-BE49-F238E27FC236}">
                <a16:creationId xmlns:a16="http://schemas.microsoft.com/office/drawing/2014/main" id="{0BE8A56A-1BC2-D5F9-1E19-DF9EA93D8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7C1F7BE7-F2E1-0748-A61F-77B169729C5A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</a:t>
            </a:fld>
            <a:endParaRPr lang="en-US" alt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FCDE-CB0B-1348-BB23-85BD02D20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Format general</a:t>
            </a:r>
          </a:p>
        </p:txBody>
      </p:sp>
      <p:sp>
        <p:nvSpPr>
          <p:cNvPr id="23554" name="Content Placeholder 2">
            <a:extLst>
              <a:ext uri="{FF2B5EF4-FFF2-40B4-BE49-F238E27FC236}">
                <a16:creationId xmlns:a16="http://schemas.microsoft.com/office/drawing/2014/main" id="{88A930BC-5655-AE7E-DEAC-5FFBB871CB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0327" y="1926336"/>
            <a:ext cx="9720073" cy="4023360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2400" dirty="0"/>
              <a:t>&lt;html&gt;</a:t>
            </a:r>
          </a:p>
          <a:p>
            <a:pPr>
              <a:buFontTx/>
              <a:buNone/>
            </a:pPr>
            <a:r>
              <a:rPr lang="en-US" altLang="en-US" sz="2400" dirty="0"/>
              <a:t>&lt;head&gt;</a:t>
            </a:r>
          </a:p>
          <a:p>
            <a:pPr>
              <a:buFontTx/>
              <a:buNone/>
            </a:pPr>
            <a:r>
              <a:rPr lang="en-US" altLang="en-US" sz="2400" dirty="0"/>
              <a:t>Directive </a:t>
            </a:r>
            <a:r>
              <a:rPr lang="en-US" altLang="en-US" sz="2400" dirty="0" err="1"/>
              <a:t>continând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informaţii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generale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despre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pagina</a:t>
            </a:r>
            <a:endParaRPr lang="en-US" altLang="en-US" sz="2400" dirty="0"/>
          </a:p>
          <a:p>
            <a:pPr>
              <a:buFontTx/>
              <a:buNone/>
            </a:pPr>
            <a:r>
              <a:rPr lang="en-US" altLang="en-US" sz="2400" dirty="0"/>
              <a:t>&lt;/head&gt;</a:t>
            </a:r>
          </a:p>
          <a:p>
            <a:pPr>
              <a:buFontTx/>
              <a:buNone/>
            </a:pPr>
            <a:r>
              <a:rPr lang="en-US" altLang="en-US" sz="2400" dirty="0"/>
              <a:t>&lt;body&gt;</a:t>
            </a:r>
          </a:p>
          <a:p>
            <a:pPr>
              <a:buFontTx/>
              <a:buNone/>
            </a:pPr>
            <a:r>
              <a:rPr lang="en-US" altLang="en-US" sz="2400" dirty="0"/>
              <a:t>	</a:t>
            </a:r>
            <a:r>
              <a:rPr lang="en-US" altLang="en-US" sz="2400" dirty="0" err="1"/>
              <a:t>Conţinutul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paginii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incluzând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texte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directive</a:t>
            </a:r>
          </a:p>
          <a:p>
            <a:pPr>
              <a:buFontTx/>
              <a:buNone/>
            </a:pPr>
            <a:r>
              <a:rPr lang="en-US" altLang="en-US" sz="2400" dirty="0"/>
              <a:t>&lt;/body&gt;</a:t>
            </a:r>
          </a:p>
          <a:p>
            <a:pPr>
              <a:buFontTx/>
              <a:buNone/>
            </a:pPr>
            <a:r>
              <a:rPr lang="en-US" altLang="en-US" sz="2400" dirty="0"/>
              <a:t>&lt;/html&gt;</a:t>
            </a:r>
          </a:p>
        </p:txBody>
      </p:sp>
      <p:sp>
        <p:nvSpPr>
          <p:cNvPr id="23555" name="Footer Placeholder 4">
            <a:extLst>
              <a:ext uri="{FF2B5EF4-FFF2-40B4-BE49-F238E27FC236}">
                <a16:creationId xmlns:a16="http://schemas.microsoft.com/office/drawing/2014/main" id="{BA4CBEE0-DE15-F2A6-6E2E-494E005F5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172200"/>
            <a:ext cx="38862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23556" name="Slide Number Placeholder 5">
            <a:extLst>
              <a:ext uri="{FF2B5EF4-FFF2-40B4-BE49-F238E27FC236}">
                <a16:creationId xmlns:a16="http://schemas.microsoft.com/office/drawing/2014/main" id="{3D13AD57-4238-9228-B06F-C29BC0C3A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339312-5343-8C4E-A37A-132C5AC84843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23557" name="Footer Placeholder 4">
            <a:extLst>
              <a:ext uri="{FF2B5EF4-FFF2-40B4-BE49-F238E27FC236}">
                <a16:creationId xmlns:a16="http://schemas.microsoft.com/office/drawing/2014/main" id="{40931720-E4DC-4443-8C6D-DB2A7069618A}"/>
              </a:ext>
            </a:extLst>
          </p:cNvPr>
          <p:cNvSpPr txBox="1">
            <a:spLocks/>
          </p:cNvSpPr>
          <p:nvPr/>
        </p:nvSpPr>
        <p:spPr bwMode="auto">
          <a:xfrm>
            <a:off x="4038600" y="6553200"/>
            <a:ext cx="3886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23558" name="Slide Number Placeholder 5">
            <a:extLst>
              <a:ext uri="{FF2B5EF4-FFF2-40B4-BE49-F238E27FC236}">
                <a16:creationId xmlns:a16="http://schemas.microsoft.com/office/drawing/2014/main" id="{57F0A860-67F8-671B-4F98-D7D16EBA2CBC}"/>
              </a:ext>
            </a:extLst>
          </p:cNvPr>
          <p:cNvSpPr txBox="1">
            <a:spLocks/>
          </p:cNvSpPr>
          <p:nvPr/>
        </p:nvSpPr>
        <p:spPr bwMode="auto">
          <a:xfrm>
            <a:off x="8686800" y="6754814"/>
            <a:ext cx="21336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2EEAEFE-BED3-9542-8BDE-F7990170544C}" type="slidenum">
              <a:rPr lang="en-US" altLang="en-US" sz="900">
                <a:solidFill>
                  <a:schemeClr val="bg1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6" name="Rectangle 24585">
            <a:extLst>
              <a:ext uri="{FF2B5EF4-FFF2-40B4-BE49-F238E27FC236}">
                <a16:creationId xmlns:a16="http://schemas.microsoft.com/office/drawing/2014/main" id="{6109556B-EAE9-4435-B409-0519F2CBD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52267" cy="6858000"/>
          </a:xfrm>
          <a:prstGeom prst="rect">
            <a:avLst/>
          </a:prstGeom>
          <a:solidFill>
            <a:srgbClr val="7E58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92950-8D24-2340-A813-6ED74E365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07027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Hello World</a:t>
            </a:r>
          </a:p>
        </p:txBody>
      </p:sp>
      <p:cxnSp>
        <p:nvCxnSpPr>
          <p:cNvPr id="24588" name="Straight Connector 24587">
            <a:extLst>
              <a:ext uri="{FF2B5EF4-FFF2-40B4-BE49-F238E27FC236}">
                <a16:creationId xmlns:a16="http://schemas.microsoft.com/office/drawing/2014/main" id="{5814CCBE-423E-41B2-A9F3-82679F490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3A686C4D-C4DD-90C0-23A3-A4D7E876F7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788412"/>
            <a:ext cx="6140601" cy="4187952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&lt;html&gt;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&lt;head&gt;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&lt;title&gt;Hello world title&lt;/title&gt;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&lt;/head&gt;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&lt;body&gt;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HELLO WORLD!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&lt;/body&gt;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&lt;/html&gt;</a:t>
            </a:r>
          </a:p>
          <a:p>
            <a:pPr>
              <a:buFontTx/>
              <a:buNone/>
            </a:pPr>
            <a:endParaRPr lang="en-US" altLang="en-US" sz="1800">
              <a:solidFill>
                <a:srgbClr val="FFFFFF"/>
              </a:solidFill>
            </a:endParaRP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</a:rPr>
              <a:t>Sau, mai simplu:</a:t>
            </a:r>
          </a:p>
          <a:p>
            <a:pPr>
              <a:buFontTx/>
              <a:buNone/>
            </a:pPr>
            <a:r>
              <a:rPr lang="en-US" altLang="en-US" sz="1800">
                <a:solidFill>
                  <a:srgbClr val="FFFFFF"/>
                </a:solidFill>
                <a:latin typeface="Comic Sans MS" panose="030F0902030302020204" pitchFamily="66" charset="0"/>
              </a:rPr>
              <a:t>HELLO WORLD!</a:t>
            </a:r>
          </a:p>
        </p:txBody>
      </p:sp>
      <p:sp>
        <p:nvSpPr>
          <p:cNvPr id="24579" name="Footer Placeholder 4">
            <a:extLst>
              <a:ext uri="{FF2B5EF4-FFF2-40B4-BE49-F238E27FC236}">
                <a16:creationId xmlns:a16="http://schemas.microsoft.com/office/drawing/2014/main" id="{C83F4F54-8931-9F50-8824-58041B57B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18103" y="6470704"/>
            <a:ext cx="3913051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>
                <a:solidFill>
                  <a:srgbClr val="FFFFFF"/>
                </a:solidFill>
              </a:rPr>
              <a:t>Programare Web– Curs 2</a:t>
            </a:r>
          </a:p>
        </p:txBody>
      </p:sp>
      <p:pic>
        <p:nvPicPr>
          <p:cNvPr id="24582" name="Picture 24581" descr="A person holding a globe">
            <a:extLst>
              <a:ext uri="{FF2B5EF4-FFF2-40B4-BE49-F238E27FC236}">
                <a16:creationId xmlns:a16="http://schemas.microsoft.com/office/drawing/2014/main" id="{4387EA91-1083-4526-6185-61C0A23B1E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38" r="29707"/>
          <a:stretch/>
        </p:blipFill>
        <p:spPr>
          <a:xfrm>
            <a:off x="7552266" y="10"/>
            <a:ext cx="4639734" cy="6857990"/>
          </a:xfrm>
          <a:prstGeom prst="rect">
            <a:avLst/>
          </a:prstGeom>
        </p:spPr>
      </p:pic>
      <p:sp>
        <p:nvSpPr>
          <p:cNvPr id="24580" name="Slide Number Placeholder 5">
            <a:extLst>
              <a:ext uri="{FF2B5EF4-FFF2-40B4-BE49-F238E27FC236}">
                <a16:creationId xmlns:a16="http://schemas.microsoft.com/office/drawing/2014/main" id="{D2A4C155-0EE1-444A-1F6A-244FC63A6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5ADFFA23-D91F-7149-950F-9D7A817B6EE7}" type="slidenum">
              <a:rPr lang="en-US" altLang="en-US" sz="1300">
                <a:solidFill>
                  <a:srgbClr val="FFFFFF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10</a:t>
            </a:fld>
            <a:endParaRPr lang="en-US" altLang="en-US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CD91-5A22-4845-9CAD-57E205E6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/>
              <a:t>Exemplu</a:t>
            </a:r>
            <a:endParaRPr lang="en-US"/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E4D3A84C-8554-2734-A1EE-B49EEAEE93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736198"/>
            <a:ext cx="9720073" cy="402336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en-US">
                <a:latin typeface="Comic Sans MS" panose="030F0902030302020204" pitchFamily="66" charset="0"/>
              </a:rPr>
              <a:t>Text &lt;u&gt;subliniat&lt;/u&gt;, &lt;i&gt;caractere</a:t>
            </a:r>
            <a:r>
              <a:rPr lang="ro-RO" altLang="en-US">
                <a:latin typeface="Comic Sans MS" panose="030F0902030302020204" pitchFamily="66" charset="0"/>
              </a:rPr>
              <a:t> </a:t>
            </a:r>
            <a:r>
              <a:rPr lang="en-US" altLang="en-US">
                <a:latin typeface="Comic Sans MS" panose="030F0902030302020204" pitchFamily="66" charset="0"/>
              </a:rPr>
              <a:t>italice&lt;/i&gt;, &lt;b&gt;ingrosat&lt;/b&gt; sau</a:t>
            </a:r>
          </a:p>
          <a:p>
            <a:pPr>
              <a:buFontTx/>
              <a:buNone/>
            </a:pPr>
            <a:r>
              <a:rPr lang="en-US" altLang="en-US">
                <a:latin typeface="Comic Sans MS" panose="030F0902030302020204" pitchFamily="66" charset="0"/>
              </a:rPr>
              <a:t>Toate cele trei</a:t>
            </a:r>
            <a:r>
              <a:rPr lang="ro-RO" altLang="en-US">
                <a:latin typeface="Comic Sans MS" panose="030F0902030302020204" pitchFamily="66" charset="0"/>
              </a:rPr>
              <a:t> </a:t>
            </a:r>
            <a:r>
              <a:rPr lang="en-US" altLang="en-US">
                <a:latin typeface="Comic Sans MS" panose="030F0902030302020204" pitchFamily="66" charset="0"/>
              </a:rPr>
              <a:t>&lt;u&gt;&lt;i&gt;&lt;b&gt;combinate&lt;/b&gt;&lt;/i&gt;&lt;/u&gt;.</a:t>
            </a:r>
            <a:endParaRPr lang="en-US" altLang="en-US" dirty="0">
              <a:latin typeface="Comic Sans MS" panose="030F0902030302020204" pitchFamily="66" charset="0"/>
            </a:endParaRPr>
          </a:p>
        </p:txBody>
      </p:sp>
      <p:sp>
        <p:nvSpPr>
          <p:cNvPr id="32771" name="Footer Placeholder 4">
            <a:extLst>
              <a:ext uri="{FF2B5EF4-FFF2-40B4-BE49-F238E27FC236}">
                <a16:creationId xmlns:a16="http://schemas.microsoft.com/office/drawing/2014/main" id="{D4556EB2-DEF1-AB71-B8E5-B63CF36E6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32772" name="Slide Number Placeholder 5">
            <a:extLst>
              <a:ext uri="{FF2B5EF4-FFF2-40B4-BE49-F238E27FC236}">
                <a16:creationId xmlns:a16="http://schemas.microsoft.com/office/drawing/2014/main" id="{53260EC0-242E-491C-D5CB-4F6E6A440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8730FDA-8351-5D44-BE7D-56C8D94F55C4}" type="slidenum">
              <a:rPr lang="en-US" altLang="en-US" sz="9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2773" name="Picture 2">
            <a:extLst>
              <a:ext uri="{FF2B5EF4-FFF2-40B4-BE49-F238E27FC236}">
                <a16:creationId xmlns:a16="http://schemas.microsoft.com/office/drawing/2014/main" id="{E5607EE1-EC56-219D-E9AC-10F967AB4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758936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BE720-52EE-0D45-AEA4-08F404F84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3794" name="Footer Placeholder 4">
            <a:extLst>
              <a:ext uri="{FF2B5EF4-FFF2-40B4-BE49-F238E27FC236}">
                <a16:creationId xmlns:a16="http://schemas.microsoft.com/office/drawing/2014/main" id="{EA2BD7F4-7387-D49B-9A17-139A23B88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33795" name="Slide Number Placeholder 5">
            <a:extLst>
              <a:ext uri="{FF2B5EF4-FFF2-40B4-BE49-F238E27FC236}">
                <a16:creationId xmlns:a16="http://schemas.microsoft.com/office/drawing/2014/main" id="{C4380E36-43E2-F76A-C89B-489E6622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897250-C781-6E4F-9953-5A7AA5A7710A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33796" name="Picture 2">
            <a:extLst>
              <a:ext uri="{FF2B5EF4-FFF2-40B4-BE49-F238E27FC236}">
                <a16:creationId xmlns:a16="http://schemas.microsoft.com/office/drawing/2014/main" id="{90EE70C8-78CA-5A14-D196-9B6C4467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8" y="609601"/>
            <a:ext cx="9296401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797" name="Picture 3">
            <a:extLst>
              <a:ext uri="{FF2B5EF4-FFF2-40B4-BE49-F238E27FC236}">
                <a16:creationId xmlns:a16="http://schemas.microsoft.com/office/drawing/2014/main" id="{AA62B2ED-F94F-2336-B972-0B5CB8D4D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775" y="4325938"/>
            <a:ext cx="10210800" cy="206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BB98C1B4-6D67-BD4E-B879-98698693AE9F}"/>
              </a:ext>
            </a:extLst>
          </p:cNvPr>
          <p:cNvSpPr/>
          <p:nvPr/>
        </p:nvSpPr>
        <p:spPr>
          <a:xfrm>
            <a:off x="5486400" y="3352800"/>
            <a:ext cx="685800" cy="838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8419D-7677-0F4F-8DC9-E474A1A87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Elementul</a:t>
            </a:r>
            <a:r>
              <a:rPr lang="en-US" dirty="0"/>
              <a:t> &lt;div&gt;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B77499A5-3F95-81E3-0A56-EC62D6C2CE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7260" y="1630018"/>
            <a:ext cx="9720073" cy="4023360"/>
          </a:xfrm>
        </p:spPr>
        <p:txBody>
          <a:bodyPr/>
          <a:lstStyle/>
          <a:p>
            <a:r>
              <a:rPr lang="en-US" altLang="en-US" sz="2400" dirty="0" err="1"/>
              <a:t>Folosit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adesea</a:t>
            </a:r>
            <a:r>
              <a:rPr lang="en-US" altLang="en-US" sz="2400" dirty="0"/>
              <a:t> </a:t>
            </a:r>
            <a:r>
              <a:rPr lang="ro-RO" altLang="en-US" sz="2400" dirty="0"/>
              <a:t>în conjuncție cu CSS pentru a defini stiluri specifice pentru secțiuni</a:t>
            </a:r>
            <a:endParaRPr lang="en-US" altLang="en-US" sz="2400" dirty="0"/>
          </a:p>
        </p:txBody>
      </p:sp>
      <p:sp>
        <p:nvSpPr>
          <p:cNvPr id="34819" name="Footer Placeholder 4">
            <a:extLst>
              <a:ext uri="{FF2B5EF4-FFF2-40B4-BE49-F238E27FC236}">
                <a16:creationId xmlns:a16="http://schemas.microsoft.com/office/drawing/2014/main" id="{AE162482-DDFA-EF0C-03D6-694E05DF0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34820" name="Slide Number Placeholder 5">
            <a:extLst>
              <a:ext uri="{FF2B5EF4-FFF2-40B4-BE49-F238E27FC236}">
                <a16:creationId xmlns:a16="http://schemas.microsoft.com/office/drawing/2014/main" id="{CE5300F1-AF1F-715A-03D8-1CD859C24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19E006B-C685-434B-B92E-9D1ACC4335EB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33799" name="Rectangle 1">
            <a:extLst>
              <a:ext uri="{FF2B5EF4-FFF2-40B4-BE49-F238E27FC236}">
                <a16:creationId xmlns:a16="http://schemas.microsoft.com/office/drawing/2014/main" id="{70E59889-41AA-EF47-9E82-283F2CEE2A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301" y="2173805"/>
            <a:ext cx="5021262" cy="452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Arial Unicode MS" charset="0"/>
              </a:rPr>
              <a:t>&lt;!DOCTYPE html PUBLIC "-//W3C//DTD XHTML 1.0 Transitional//EN" 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</a:t>
            </a:r>
            <a:r>
              <a:rPr lang="en-US" altLang="en-US" sz="1600" dirty="0">
                <a:latin typeface="Arial Unicode MS" charset="0"/>
              </a:rPr>
              <a:t>"</a:t>
            </a:r>
            <a:r>
              <a:rPr lang="en-US" altLang="en-US" sz="1600" dirty="0">
                <a:latin typeface="Arial Unicode MS" charset="0"/>
                <a:hlinkClick r:id="rId2"/>
              </a:rPr>
              <a:t>http://www.w3.org/TR/xhtml1/DTD/xhtml1-transitional.dtd</a:t>
            </a:r>
            <a:r>
              <a:rPr lang="en-US" altLang="en-US" sz="1600" dirty="0">
                <a:latin typeface="Arial Unicode MS" charset="0"/>
              </a:rPr>
              <a:t>"&gt;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Arial Unicode MS" charset="0"/>
              </a:rPr>
              <a:t>&lt;html</a:t>
            </a:r>
            <a:r>
              <a:rPr lang="en-US" altLang="en-US" sz="1100" dirty="0"/>
              <a:t> </a:t>
            </a:r>
            <a:r>
              <a:rPr lang="en-US" altLang="en-US" sz="1600" dirty="0" err="1">
                <a:latin typeface="Arial Unicode MS" charset="0"/>
              </a:rPr>
              <a:t>xmlns</a:t>
            </a:r>
            <a:r>
              <a:rPr lang="en-US" altLang="en-US" sz="1600" dirty="0">
                <a:latin typeface="Arial Unicode MS" charset="0"/>
              </a:rPr>
              <a:t>="</a:t>
            </a:r>
            <a:r>
              <a:rPr lang="en-US" altLang="en-US" sz="1600" dirty="0">
                <a:latin typeface="Arial Unicode MS" charset="0"/>
                <a:hlinkClick r:id="rId3"/>
              </a:rPr>
              <a:t>http://www.w3.org/1999/xhtml</a:t>
            </a:r>
            <a:r>
              <a:rPr lang="en-US" altLang="en-US" sz="1600" dirty="0">
                <a:latin typeface="Arial Unicode MS" charset="0"/>
              </a:rPr>
              <a:t>"&gt;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</a:t>
            </a:r>
            <a:r>
              <a:rPr lang="en-US" altLang="en-US" sz="1600" dirty="0">
                <a:latin typeface="Arial Unicode MS" charset="0"/>
              </a:rPr>
              <a:t>&lt;head&gt;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  </a:t>
            </a:r>
            <a:r>
              <a:rPr lang="en-US" altLang="en-US" sz="1600" dirty="0">
                <a:latin typeface="Arial Unicode MS" charset="0"/>
              </a:rPr>
              <a:t>&lt;meta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http-</a:t>
            </a:r>
            <a:r>
              <a:rPr lang="en-US" altLang="en-US" sz="1600" dirty="0" err="1">
                <a:latin typeface="Arial Unicode MS" charset="0"/>
              </a:rPr>
              <a:t>equiv</a:t>
            </a:r>
            <a:r>
              <a:rPr lang="en-US" altLang="en-US" sz="1600" dirty="0">
                <a:latin typeface="Arial Unicode MS" charset="0"/>
              </a:rPr>
              <a:t>="Content-Type"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content="text/html; charset=utf-8"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/&gt;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  </a:t>
            </a:r>
            <a:r>
              <a:rPr lang="en-US" altLang="en-US" sz="1600" dirty="0">
                <a:latin typeface="Arial Unicode MS" charset="0"/>
              </a:rPr>
              <a:t>&lt;title&gt;Untitled Document&lt;/title&gt;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</a:t>
            </a:r>
            <a:r>
              <a:rPr lang="en-US" altLang="en-US" sz="1600" dirty="0">
                <a:latin typeface="Arial Unicode MS" charset="0"/>
              </a:rPr>
              <a:t>&lt;/head&gt;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</a:t>
            </a:r>
            <a:r>
              <a:rPr lang="en-US" altLang="en-US" sz="1600" dirty="0">
                <a:latin typeface="Arial Unicode MS" charset="0"/>
              </a:rPr>
              <a:t>&lt;body&gt;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  </a:t>
            </a:r>
            <a:r>
              <a:rPr lang="en-US" altLang="en-US" sz="1600" dirty="0">
                <a:latin typeface="Arial Unicode MS" charset="0"/>
              </a:rPr>
              <a:t>&lt;div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id="header"&gt;...header...&lt;/div&gt;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  </a:t>
            </a:r>
            <a:r>
              <a:rPr lang="en-US" altLang="en-US" sz="1600" dirty="0">
                <a:latin typeface="Arial Unicode MS" charset="0"/>
              </a:rPr>
              <a:t>&lt;div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id="main"&gt;...main content...&lt;/div&gt;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  </a:t>
            </a:r>
            <a:r>
              <a:rPr lang="en-US" altLang="en-US" sz="1600" dirty="0">
                <a:latin typeface="Arial Unicode MS" charset="0"/>
              </a:rPr>
              <a:t>&lt;div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id="navigation"&gt;...navigation...&lt;/div&gt;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  </a:t>
            </a:r>
            <a:r>
              <a:rPr lang="en-US" altLang="en-US" sz="1600" dirty="0">
                <a:latin typeface="Arial Unicode MS" charset="0"/>
              </a:rPr>
              <a:t>&lt;div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id="sidebar"&gt;...sidebar...&lt;/div&gt;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  </a:t>
            </a:r>
            <a:r>
              <a:rPr lang="en-US" altLang="en-US" sz="1600" dirty="0">
                <a:latin typeface="Arial Unicode MS" charset="0"/>
              </a:rPr>
              <a:t>&lt;div</a:t>
            </a:r>
            <a:r>
              <a:rPr lang="en-US" altLang="en-US" sz="1100" dirty="0"/>
              <a:t> </a:t>
            </a:r>
            <a:r>
              <a:rPr lang="en-US" altLang="en-US" sz="1600" dirty="0">
                <a:latin typeface="Arial Unicode MS" charset="0"/>
              </a:rPr>
              <a:t>id="footer"&gt;...footer...&lt;/div&gt;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/>
              <a:t>  </a:t>
            </a:r>
            <a:r>
              <a:rPr lang="en-US" altLang="en-US" sz="1600" dirty="0">
                <a:latin typeface="Arial Unicode MS" charset="0"/>
              </a:rPr>
              <a:t>&lt;/body&gt;</a:t>
            </a:r>
            <a:endParaRPr lang="en-US" altLang="en-US" sz="1100" dirty="0"/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600" dirty="0">
                <a:latin typeface="Arial Unicode MS" charset="0"/>
              </a:rPr>
              <a:t>&lt;/html&gt;</a:t>
            </a:r>
            <a:r>
              <a:rPr lang="en-US" altLang="en-US" sz="1600" dirty="0"/>
              <a:t>     </a:t>
            </a:r>
            <a:r>
              <a:rPr lang="en-US" altLang="en-US" sz="1600" dirty="0">
                <a:latin typeface="Arial Unicode MS" charset="0"/>
              </a:rPr>
              <a:t> </a:t>
            </a:r>
            <a:endParaRPr lang="en-US" altLang="en-US" sz="3600" dirty="0"/>
          </a:p>
        </p:txBody>
      </p:sp>
      <p:pic>
        <p:nvPicPr>
          <p:cNvPr id="34822" name="Picture 3" descr="Harvard div">
            <a:extLst>
              <a:ext uri="{FF2B5EF4-FFF2-40B4-BE49-F238E27FC236}">
                <a16:creationId xmlns:a16="http://schemas.microsoft.com/office/drawing/2014/main" id="{B475F5A3-CCB9-43AE-9902-4B4B8594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471" y="2163003"/>
            <a:ext cx="3253137" cy="4665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id="{5777C69E-BCAF-6842-80E7-6EEF0ABE4B0F}"/>
              </a:ext>
            </a:extLst>
          </p:cNvPr>
          <p:cNvSpPr/>
          <p:nvPr/>
        </p:nvSpPr>
        <p:spPr>
          <a:xfrm>
            <a:off x="6601502" y="3641698"/>
            <a:ext cx="685800" cy="381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76190-C339-7948-9403-43A3941D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/>
              <a:t>Ancora (link)</a:t>
            </a:r>
            <a:endParaRPr lang="en-US"/>
          </a:p>
        </p:txBody>
      </p:sp>
      <p:sp>
        <p:nvSpPr>
          <p:cNvPr id="35842" name="Content Placeholder 2">
            <a:extLst>
              <a:ext uri="{FF2B5EF4-FFF2-40B4-BE49-F238E27FC236}">
                <a16:creationId xmlns:a16="http://schemas.microsoft.com/office/drawing/2014/main" id="{6FBB903D-1D30-A754-2493-03216AB1EC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43609" y="1827290"/>
            <a:ext cx="11148391" cy="53340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400" dirty="0" err="1"/>
              <a:t>Acest</a:t>
            </a:r>
            <a:r>
              <a:rPr lang="en-US" altLang="en-US" sz="2400" dirty="0"/>
              <a:t> tip de </a:t>
            </a:r>
            <a:r>
              <a:rPr lang="en-US" altLang="en-US" sz="2400" dirty="0" err="1"/>
              <a:t>directiv</a:t>
            </a:r>
            <a:r>
              <a:rPr lang="ro-RO" altLang="en-US" sz="2400" dirty="0"/>
              <a:t>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esenţial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cel</a:t>
            </a:r>
            <a:r>
              <a:rPr lang="en-US" altLang="en-US" sz="2400" dirty="0"/>
              <a:t> care</a:t>
            </a:r>
            <a:r>
              <a:rPr lang="ro-RO" altLang="en-US" sz="2400" dirty="0"/>
              <a:t> </a:t>
            </a:r>
            <a:r>
              <a:rPr lang="en-US" altLang="en-US" sz="2400" dirty="0" err="1"/>
              <a:t>implementeaz</a:t>
            </a:r>
            <a:r>
              <a:rPr lang="ro-RO" altLang="en-US" sz="2400" dirty="0"/>
              <a:t>ă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fapt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conceptul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hipertext</a:t>
            </a:r>
            <a:r>
              <a:rPr lang="en-US" alt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altLang="en-US" sz="2400" dirty="0" err="1"/>
              <a:t>În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cadrul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unei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pagini</a:t>
            </a:r>
            <a:r>
              <a:rPr lang="en-US" altLang="en-US" sz="2400" dirty="0"/>
              <a:t> HTML </a:t>
            </a:r>
            <a:r>
              <a:rPr lang="en-US" altLang="en-US" sz="2400" dirty="0" err="1"/>
              <a:t>unul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sau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multe</a:t>
            </a:r>
            <a:r>
              <a:rPr lang="ro-RO" altLang="en-US" sz="2400" dirty="0"/>
              <a:t> </a:t>
            </a:r>
            <a:r>
              <a:rPr lang="en-US" altLang="en-US" sz="2400" dirty="0" err="1"/>
              <a:t>cuvinte</a:t>
            </a:r>
            <a:r>
              <a:rPr lang="en-US" altLang="en-US" sz="2400" dirty="0"/>
              <a:t> consecutive pot </a:t>
            </a:r>
            <a:r>
              <a:rPr lang="ro-RO" altLang="en-US" sz="2400" dirty="0"/>
              <a:t>avea </a:t>
            </a:r>
            <a:r>
              <a:rPr lang="en-US" altLang="en-US" sz="2400" dirty="0" err="1"/>
              <a:t>asociat</a:t>
            </a:r>
            <a:r>
              <a:rPr lang="ro-RO" altLang="en-US" sz="2400" dirty="0"/>
              <a:t>ă</a:t>
            </a:r>
            <a:r>
              <a:rPr lang="en-US" altLang="en-US" sz="2400" dirty="0"/>
              <a:t> o alt</a:t>
            </a:r>
            <a:r>
              <a:rPr lang="ro-RO" altLang="en-US" sz="2400" dirty="0"/>
              <a:t>ă </a:t>
            </a:r>
            <a:r>
              <a:rPr lang="en-US" altLang="en-US" sz="2400" dirty="0" err="1"/>
              <a:t>pagin</a:t>
            </a:r>
            <a:r>
              <a:rPr lang="ro-RO" altLang="en-US" sz="2400" dirty="0"/>
              <a:t>ă</a:t>
            </a:r>
            <a:r>
              <a:rPr lang="en-US" altLang="en-US" sz="2400" dirty="0"/>
              <a:t> HTML.</a:t>
            </a:r>
          </a:p>
          <a:p>
            <a:pPr>
              <a:spcAft>
                <a:spcPts val="1200"/>
              </a:spcAft>
            </a:pPr>
            <a:r>
              <a:rPr lang="en-US" altLang="en-US" sz="2400" dirty="0" err="1"/>
              <a:t>În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momentul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în</a:t>
            </a:r>
            <a:r>
              <a:rPr lang="en-US" altLang="en-US" sz="2400" dirty="0"/>
              <a:t> care </a:t>
            </a:r>
            <a:r>
              <a:rPr lang="en-US" altLang="en-US" sz="2400" dirty="0" err="1"/>
              <a:t>utilizatorul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selecteaz</a:t>
            </a:r>
            <a:r>
              <a:rPr lang="ro-RO" altLang="en-US" sz="2400" dirty="0"/>
              <a:t>ă</a:t>
            </a:r>
            <a:r>
              <a:rPr lang="en-US" altLang="en-US" sz="2400" dirty="0"/>
              <a:t> (click)</a:t>
            </a:r>
            <a:r>
              <a:rPr lang="ro-RO" altLang="en-US" sz="2400" dirty="0"/>
              <a:t> </a:t>
            </a:r>
            <a:r>
              <a:rPr lang="en-US" altLang="en-US" sz="2400" dirty="0"/>
              <a:t>zona </a:t>
            </a:r>
            <a:r>
              <a:rPr lang="en-US" altLang="en-US" sz="2400" dirty="0" err="1"/>
              <a:t>respectiv</a:t>
            </a:r>
            <a:r>
              <a:rPr lang="ro-RO" altLang="en-US" sz="2400" dirty="0"/>
              <a:t>ă</a:t>
            </a:r>
            <a:r>
              <a:rPr lang="en-US" altLang="en-US" sz="2400" dirty="0"/>
              <a:t>, automat </a:t>
            </a:r>
            <a:r>
              <a:rPr lang="en-US" altLang="en-US" sz="2400" dirty="0" err="1"/>
              <a:t>browserul</a:t>
            </a:r>
            <a:r>
              <a:rPr lang="en-US" altLang="en-US" sz="2400" dirty="0"/>
              <a:t> cere</a:t>
            </a:r>
            <a:r>
              <a:rPr lang="ro-RO" altLang="en-US" sz="2400" dirty="0"/>
              <a:t> </a:t>
            </a:r>
            <a:r>
              <a:rPr lang="en-US" altLang="en-US" sz="2400" dirty="0" err="1"/>
              <a:t>documentul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asociat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îl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afişeaz</a:t>
            </a:r>
            <a:r>
              <a:rPr lang="ro-RO" altLang="en-US" sz="2400" dirty="0"/>
              <a:t>ă</a:t>
            </a:r>
            <a:r>
              <a:rPr lang="en-US" altLang="en-US" sz="2400" dirty="0"/>
              <a:t> pe </a:t>
            </a:r>
            <a:r>
              <a:rPr lang="en-US" altLang="en-US" sz="2400" dirty="0" err="1"/>
              <a:t>ecran</a:t>
            </a:r>
            <a:r>
              <a:rPr lang="en-US" altLang="en-US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Forma </a:t>
            </a:r>
            <a:r>
              <a:rPr lang="en-US" altLang="en-US" sz="2400" dirty="0" err="1"/>
              <a:t>cea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simpla</a:t>
            </a:r>
            <a:r>
              <a:rPr lang="en-US" altLang="en-US" sz="2400" dirty="0"/>
              <a:t> a </a:t>
            </a:r>
            <a:r>
              <a:rPr lang="en-US" altLang="en-US" sz="2400" dirty="0" err="1"/>
              <a:t>unei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astfel</a:t>
            </a:r>
            <a:r>
              <a:rPr lang="en-US" altLang="en-US" sz="2400" dirty="0"/>
              <a:t> de directive</a:t>
            </a:r>
            <a:r>
              <a:rPr lang="ro-RO" altLang="en-US" sz="2400" dirty="0"/>
              <a:t>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: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400" dirty="0"/>
              <a:t>&lt;a </a:t>
            </a:r>
            <a:r>
              <a:rPr lang="en-US" altLang="en-US" sz="2400" dirty="0" err="1"/>
              <a:t>href</a:t>
            </a:r>
            <a:r>
              <a:rPr lang="en-US" altLang="en-US" sz="2400" dirty="0"/>
              <a:t>=”URL-</a:t>
            </a:r>
            <a:r>
              <a:rPr lang="en-US" altLang="en-US" sz="2400" dirty="0" err="1"/>
              <a:t>adresa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paginii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asociate</a:t>
            </a:r>
            <a:r>
              <a:rPr lang="en-US" altLang="en-US" sz="2400" dirty="0"/>
              <a:t>”&gt;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400" dirty="0"/>
              <a:t>		</a:t>
            </a:r>
            <a:r>
              <a:rPr lang="en-US" altLang="en-US" sz="2400" dirty="0" err="1"/>
              <a:t>Cuvinte</a:t>
            </a:r>
            <a:r>
              <a:rPr lang="en-US" altLang="en-US" sz="2400" dirty="0"/>
              <a:t> care se pot selecta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400" dirty="0"/>
              <a:t>&lt;/a&gt;</a:t>
            </a:r>
          </a:p>
        </p:txBody>
      </p:sp>
      <p:sp>
        <p:nvSpPr>
          <p:cNvPr id="35843" name="Footer Placeholder 4">
            <a:extLst>
              <a:ext uri="{FF2B5EF4-FFF2-40B4-BE49-F238E27FC236}">
                <a16:creationId xmlns:a16="http://schemas.microsoft.com/office/drawing/2014/main" id="{CDD4FCC2-4DCF-FF08-2C4D-31F61B4A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35844" name="Slide Number Placeholder 5">
            <a:extLst>
              <a:ext uri="{FF2B5EF4-FFF2-40B4-BE49-F238E27FC236}">
                <a16:creationId xmlns:a16="http://schemas.microsoft.com/office/drawing/2014/main" id="{32C9E39E-6F18-9A8E-2FE6-62EF56496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1B14D3-4BAD-2B45-9A6D-BA3CB02AD9F2}" type="slidenum">
              <a:rPr lang="en-US" altLang="en-US" sz="9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873" name="Rectangle 36872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75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36876" name="Rectangle 36876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880" name="Rectangle 36878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637F9D-AAC6-9A42-9907-D6791BFFB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14702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/>
              <a:t>URL</a:t>
            </a:r>
            <a:endParaRPr lang="en-US"/>
          </a:p>
        </p:txBody>
      </p:sp>
      <p:cxnSp>
        <p:nvCxnSpPr>
          <p:cNvPr id="36881" name="Straight Connector 36880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82" name="Content Placeholder 2">
            <a:extLst>
              <a:ext uri="{FF2B5EF4-FFF2-40B4-BE49-F238E27FC236}">
                <a16:creationId xmlns:a16="http://schemas.microsoft.com/office/drawing/2014/main" id="{6241EE75-3F94-39AE-8312-F7AB0DDA5A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47043" y="2773885"/>
            <a:ext cx="6676469" cy="3141013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ro-RO" altLang="en-US"/>
              <a:t>Adresa specificată prin </a:t>
            </a:r>
            <a:r>
              <a:rPr lang="ro-RO" altLang="en-US" i="1" err="1"/>
              <a:t>href</a:t>
            </a:r>
            <a:r>
              <a:rPr lang="ro-RO" altLang="en-US"/>
              <a:t> poate fi:</a:t>
            </a:r>
          </a:p>
          <a:p>
            <a:pPr marL="0" indent="0">
              <a:buNone/>
            </a:pPr>
            <a:r>
              <a:rPr lang="ro-RO" altLang="en-US"/>
              <a:t>Relativă la pagina curentă:</a:t>
            </a:r>
          </a:p>
          <a:p>
            <a:pPr>
              <a:buFontTx/>
              <a:buAutoNum type="arabicPeriod"/>
            </a:pPr>
            <a:endParaRPr lang="ro-RO" altLang="en-US"/>
          </a:p>
          <a:p>
            <a:pPr marL="0" indent="0">
              <a:buNone/>
            </a:pPr>
            <a:r>
              <a:rPr lang="ro-RO" altLang="en-US"/>
              <a:t>Exemplul 1: &lt;a </a:t>
            </a:r>
            <a:r>
              <a:rPr lang="ro-RO" altLang="en-US" err="1"/>
              <a:t>href</a:t>
            </a:r>
            <a:r>
              <a:rPr lang="ro-RO" altLang="en-US"/>
              <a:t>=”pag1.html”&gt;Pagina 1&lt;/a&gt;&lt;</a:t>
            </a:r>
            <a:r>
              <a:rPr lang="ro-RO" altLang="en-US" err="1"/>
              <a:t>br</a:t>
            </a:r>
            <a:r>
              <a:rPr lang="ro-RO" altLang="en-US"/>
              <a:t>&gt;</a:t>
            </a:r>
          </a:p>
          <a:p>
            <a:pPr marL="0" indent="0">
              <a:buNone/>
            </a:pPr>
            <a:r>
              <a:rPr lang="ro-RO" altLang="en-US"/>
              <a:t>Exemplul 2: &lt;a </a:t>
            </a:r>
            <a:r>
              <a:rPr lang="ro-RO" altLang="en-US" err="1"/>
              <a:t>href</a:t>
            </a:r>
            <a:r>
              <a:rPr lang="ro-RO" altLang="en-US"/>
              <a:t>=”documente/pag2.html”&gt;Pagina 2&lt;/a&gt;&lt;</a:t>
            </a:r>
            <a:r>
              <a:rPr lang="ro-RO" altLang="en-US" err="1"/>
              <a:t>br</a:t>
            </a:r>
            <a:r>
              <a:rPr lang="ro-RO" altLang="en-US"/>
              <a:t>&gt;</a:t>
            </a:r>
          </a:p>
        </p:txBody>
      </p:sp>
      <p:sp>
        <p:nvSpPr>
          <p:cNvPr id="36867" name="Footer Placeholder 4">
            <a:extLst>
              <a:ext uri="{FF2B5EF4-FFF2-40B4-BE49-F238E27FC236}">
                <a16:creationId xmlns:a16="http://schemas.microsoft.com/office/drawing/2014/main" id="{4B26BB19-B4D0-21FC-434A-10D7CD3C6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36868" name="Slide Number Placeholder 5">
            <a:extLst>
              <a:ext uri="{FF2B5EF4-FFF2-40B4-BE49-F238E27FC236}">
                <a16:creationId xmlns:a16="http://schemas.microsoft.com/office/drawing/2014/main" id="{93B81DCB-E1CD-BEC8-13D8-6F7E87B77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CAF1CF0E-CFE1-2041-8DE8-CA1A2EA49099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15</a:t>
            </a:fld>
            <a:endParaRPr lang="en-US" altLang="en-US" sz="13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hade val="85000"/>
            <a:satMod val="1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897" name="Rectangle 37896">
            <a:extLst>
              <a:ext uri="{FF2B5EF4-FFF2-40B4-BE49-F238E27FC236}">
                <a16:creationId xmlns:a16="http://schemas.microsoft.com/office/drawing/2014/main" id="{A43280A9-E265-46D1-8575-622906D20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899" name="Freeform 16">
            <a:extLst>
              <a:ext uri="{FF2B5EF4-FFF2-40B4-BE49-F238E27FC236}">
                <a16:creationId xmlns:a16="http://schemas.microsoft.com/office/drawing/2014/main" id="{4DE20B70-4750-4280-B3AC-512C05EEF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37901" name="Rectangle 37900">
            <a:extLst>
              <a:ext uri="{FF2B5EF4-FFF2-40B4-BE49-F238E27FC236}">
                <a16:creationId xmlns:a16="http://schemas.microsoft.com/office/drawing/2014/main" id="{98D95174-B5F2-424A-8183-654A5064D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903" name="Rectangle 37902">
            <a:extLst>
              <a:ext uri="{FF2B5EF4-FFF2-40B4-BE49-F238E27FC236}">
                <a16:creationId xmlns:a16="http://schemas.microsoft.com/office/drawing/2014/main" id="{DD368A96-A16E-42CE-842C-9166E567B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092DA-5BB8-AE44-8E40-5C2610B3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2188" y="942449"/>
            <a:ext cx="6681323" cy="147024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/>
              <a:t>URL</a:t>
            </a:r>
            <a:endParaRPr lang="en-US"/>
          </a:p>
        </p:txBody>
      </p:sp>
      <p:cxnSp>
        <p:nvCxnSpPr>
          <p:cNvPr id="37905" name="Straight Connector 37904">
            <a:extLst>
              <a:ext uri="{FF2B5EF4-FFF2-40B4-BE49-F238E27FC236}">
                <a16:creationId xmlns:a16="http://schemas.microsoft.com/office/drawing/2014/main" id="{E350D170-418B-4A22-8B98-15EF799F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98367" y="2573573"/>
            <a:ext cx="658368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0" name="Content Placeholder 2">
            <a:extLst>
              <a:ext uri="{FF2B5EF4-FFF2-40B4-BE49-F238E27FC236}">
                <a16:creationId xmlns:a16="http://schemas.microsoft.com/office/drawing/2014/main" id="{99D4B9BF-DCB7-FB2E-7BF3-2D3FC7E2C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47043" y="2773885"/>
            <a:ext cx="6676469" cy="3141013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None/>
            </a:pPr>
            <a:r>
              <a:rPr lang="ro-RO" altLang="en-US" sz="1900"/>
              <a:t>Sau poate fi: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o-RO" altLang="en-US" sz="1900"/>
              <a:t>Absolută, în care caz se specifică o cale completa pe </a:t>
            </a:r>
            <a:r>
              <a:rPr lang="ro-RO" altLang="en-US" sz="1900" err="1"/>
              <a:t>acelaşi</a:t>
            </a:r>
            <a:r>
              <a:rPr lang="ro-RO" altLang="en-US" sz="1900"/>
              <a:t> server de web (exemplul 3) sau o adresă completă (exemplul 4)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o-RO" altLang="en-US" sz="1900"/>
              <a:t>Exemplul 3: &lt;a </a:t>
            </a:r>
            <a:r>
              <a:rPr lang="ro-RO" altLang="en-US" sz="1900" err="1"/>
              <a:t>href</a:t>
            </a:r>
            <a:r>
              <a:rPr lang="ro-RO" altLang="en-US" sz="1900"/>
              <a:t>=”/documente/pag3.html”&gt;Pagina 3&lt;/a&gt;&lt;</a:t>
            </a:r>
            <a:r>
              <a:rPr lang="ro-RO" altLang="en-US" sz="1900" err="1"/>
              <a:t>br</a:t>
            </a:r>
            <a:r>
              <a:rPr lang="ro-RO" altLang="en-US" sz="1900"/>
              <a:t>&gt;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ro-RO" altLang="en-US" sz="1900"/>
              <a:t>Exemplul 4: &lt;a </a:t>
            </a:r>
            <a:r>
              <a:rPr lang="ro-RO" altLang="en-US" sz="1900" err="1"/>
              <a:t>href</a:t>
            </a:r>
            <a:r>
              <a:rPr lang="ro-RO" altLang="en-US" sz="1900"/>
              <a:t>= ”</a:t>
            </a:r>
            <a:r>
              <a:rPr lang="ro-RO" altLang="en-US" sz="1900" err="1"/>
              <a:t>http</a:t>
            </a:r>
            <a:r>
              <a:rPr lang="ro-RO" altLang="en-US" sz="1900"/>
              <a:t>://</a:t>
            </a:r>
            <a:r>
              <a:rPr lang="ro-RO" altLang="en-US" sz="1900" err="1"/>
              <a:t>www.un.server.web</a:t>
            </a:r>
            <a:r>
              <a:rPr lang="ro-RO" altLang="en-US" sz="1900"/>
              <a:t>/doc/pag4.html”&gt;Pagina 4&lt;/a&gt;&lt;</a:t>
            </a:r>
            <a:r>
              <a:rPr lang="ro-RO" altLang="en-US" sz="1900" err="1"/>
              <a:t>br</a:t>
            </a:r>
            <a:r>
              <a:rPr lang="ro-RO" altLang="en-US" sz="1900"/>
              <a:t>&gt;</a:t>
            </a:r>
          </a:p>
        </p:txBody>
      </p:sp>
      <p:sp>
        <p:nvSpPr>
          <p:cNvPr id="37891" name="Footer Placeholder 4">
            <a:extLst>
              <a:ext uri="{FF2B5EF4-FFF2-40B4-BE49-F238E27FC236}">
                <a16:creationId xmlns:a16="http://schemas.microsoft.com/office/drawing/2014/main" id="{59EC4808-336B-E5CC-8277-C1B5436C5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5EA1D430-ABDC-CC1A-1394-7797F6DA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33268BBC-ADE1-7F48-B2B1-9F4FCB2C7A3C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16</a:t>
            </a:fld>
            <a:endParaRPr lang="en-US" altLang="en-US" sz="13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5D822-0EDC-3445-A523-CEC938A1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Hypertext</a:t>
            </a:r>
          </a:p>
        </p:txBody>
      </p:sp>
      <p:sp>
        <p:nvSpPr>
          <p:cNvPr id="40962" name="Footer Placeholder 4">
            <a:extLst>
              <a:ext uri="{FF2B5EF4-FFF2-40B4-BE49-F238E27FC236}">
                <a16:creationId xmlns:a16="http://schemas.microsoft.com/office/drawing/2014/main" id="{C55736EE-72EB-9418-D9E5-B777ED0D7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89E54172-F706-2D9E-A587-6A1DE7157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1A3048-83C1-4E4D-93A2-8AF960362514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40964" name="Picture 2">
            <a:extLst>
              <a:ext uri="{FF2B5EF4-FFF2-40B4-BE49-F238E27FC236}">
                <a16:creationId xmlns:a16="http://schemas.microsoft.com/office/drawing/2014/main" id="{0BA8FA7B-4AFE-64D1-3EEA-458059C893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1" y="1046164"/>
            <a:ext cx="10829925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3">
            <a:extLst>
              <a:ext uri="{FF2B5EF4-FFF2-40B4-BE49-F238E27FC236}">
                <a16:creationId xmlns:a16="http://schemas.microsoft.com/office/drawing/2014/main" id="{CD3DDB31-329A-C9C9-8B7F-252ED1C6E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4452938"/>
            <a:ext cx="929640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B09C920B-ECED-E94D-ACB7-44BAFCCEE15A}"/>
              </a:ext>
            </a:extLst>
          </p:cNvPr>
          <p:cNvSpPr/>
          <p:nvPr/>
        </p:nvSpPr>
        <p:spPr>
          <a:xfrm>
            <a:off x="5638801" y="3589338"/>
            <a:ext cx="569913" cy="67786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4FECF-F6B1-594C-840A-BCE08B1F0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/>
              <a:t>Bookmark</a:t>
            </a:r>
            <a:endParaRPr lang="en-US"/>
          </a:p>
        </p:txBody>
      </p:sp>
      <p:sp>
        <p:nvSpPr>
          <p:cNvPr id="41986" name="Content Placeholder 2">
            <a:extLst>
              <a:ext uri="{FF2B5EF4-FFF2-40B4-BE49-F238E27FC236}">
                <a16:creationId xmlns:a16="http://schemas.microsoft.com/office/drawing/2014/main" id="{453C11EC-1AD6-B206-C37B-451EFB0FF8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4379" y="1694683"/>
            <a:ext cx="8405792" cy="4578101"/>
          </a:xfrm>
        </p:spPr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altLang="en-US" sz="1800" dirty="0" err="1"/>
              <a:t>Trimiteri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în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interiorul</a:t>
            </a:r>
            <a:r>
              <a:rPr lang="en-US" altLang="en-US" sz="1800" dirty="0"/>
              <a:t> </a:t>
            </a:r>
            <a:r>
              <a:rPr lang="en-US" altLang="en-US" sz="1800" dirty="0" err="1"/>
              <a:t>unui</a:t>
            </a:r>
            <a:r>
              <a:rPr lang="en-US" altLang="en-US" sz="1800" dirty="0"/>
              <a:t> document:</a:t>
            </a:r>
          </a:p>
          <a:p>
            <a:r>
              <a:rPr lang="en-US" altLang="en-US" sz="1800" dirty="0" err="1"/>
              <a:t>În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acest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caz</a:t>
            </a:r>
            <a:r>
              <a:rPr lang="en-US" altLang="en-US" sz="1800" dirty="0"/>
              <a:t> </a:t>
            </a:r>
            <a:r>
              <a:rPr lang="en-US" altLang="en-US" sz="1800" dirty="0" err="1"/>
              <a:t>marcarea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locului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referit</a:t>
            </a:r>
            <a:r>
              <a:rPr lang="en-US" altLang="en-US" sz="1800" dirty="0"/>
              <a:t> se face cu:</a:t>
            </a:r>
          </a:p>
          <a:p>
            <a:pPr>
              <a:buFontTx/>
              <a:buNone/>
            </a:pPr>
            <a:r>
              <a:rPr lang="ro-RO" altLang="en-US" sz="1800" dirty="0"/>
              <a:t>	</a:t>
            </a:r>
            <a:r>
              <a:rPr lang="en-US" altLang="en-US" sz="1800" dirty="0"/>
              <a:t>&lt;a name=”</a:t>
            </a:r>
            <a:r>
              <a:rPr lang="en-US" altLang="en-US" sz="1800" dirty="0" err="1"/>
              <a:t>marcaj-tinta</a:t>
            </a:r>
            <a:r>
              <a:rPr lang="en-US" altLang="en-US" sz="1800" dirty="0"/>
              <a:t>”&gt;. . . &lt;/a&gt;</a:t>
            </a:r>
          </a:p>
          <a:p>
            <a:r>
              <a:rPr lang="en-US" altLang="en-US" sz="1800" dirty="0" err="1"/>
              <a:t>Referinţa</a:t>
            </a:r>
            <a:r>
              <a:rPr lang="en-US" altLang="en-US" sz="1800" dirty="0"/>
              <a:t> are forma</a:t>
            </a:r>
          </a:p>
          <a:p>
            <a:pPr>
              <a:buFontTx/>
              <a:buNone/>
            </a:pPr>
            <a:r>
              <a:rPr lang="ro-RO" altLang="en-US" sz="1800" dirty="0"/>
              <a:t>	</a:t>
            </a:r>
            <a:r>
              <a:rPr lang="en-US" altLang="en-US" sz="1800" dirty="0"/>
              <a:t>&lt;a </a:t>
            </a:r>
            <a:r>
              <a:rPr lang="en-US" altLang="en-US" sz="1800" dirty="0" err="1"/>
              <a:t>href</a:t>
            </a:r>
            <a:r>
              <a:rPr lang="en-US" altLang="en-US" sz="1800" dirty="0"/>
              <a:t>=”</a:t>
            </a:r>
            <a:r>
              <a:rPr lang="en-US" altLang="en-US" sz="1800" dirty="0" err="1"/>
              <a:t>adresa-document#marcaj-tinta</a:t>
            </a:r>
            <a:r>
              <a:rPr lang="en-US" altLang="en-US" sz="1800" dirty="0"/>
              <a:t>&gt; . . . &lt;/a&gt;</a:t>
            </a:r>
          </a:p>
          <a:p>
            <a:pPr>
              <a:buFontTx/>
              <a:buNone/>
            </a:pPr>
            <a:r>
              <a:rPr lang="ro-RO" altLang="en-US" sz="1800" dirty="0"/>
              <a:t>	</a:t>
            </a:r>
            <a:r>
              <a:rPr lang="en-US" altLang="en-US" sz="1800" dirty="0" err="1"/>
              <a:t>unde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adresa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documentului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poate</a:t>
            </a:r>
            <a:r>
              <a:rPr lang="en-US" altLang="en-US" sz="1800" dirty="0"/>
              <a:t> fi </a:t>
            </a:r>
            <a:r>
              <a:rPr lang="en-US" altLang="en-US" sz="1800" dirty="0" err="1"/>
              <a:t>relativ</a:t>
            </a:r>
            <a:r>
              <a:rPr lang="ro-RO" altLang="en-US" sz="1800" dirty="0"/>
              <a:t>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sau</a:t>
            </a:r>
            <a:r>
              <a:rPr lang="ro-RO" altLang="en-US" sz="1800" dirty="0"/>
              <a:t> </a:t>
            </a:r>
            <a:r>
              <a:rPr lang="en-US" altLang="en-US" sz="1800" dirty="0" err="1"/>
              <a:t>absolut</a:t>
            </a:r>
            <a:r>
              <a:rPr lang="ro-RO" altLang="en-US" sz="1800" dirty="0"/>
              <a:t>ă</a:t>
            </a:r>
            <a:r>
              <a:rPr lang="en-US" altLang="en-US" sz="1800" dirty="0"/>
              <a:t>.</a:t>
            </a:r>
          </a:p>
          <a:p>
            <a:r>
              <a:rPr lang="ro-RO" altLang="en-US" sz="1800" dirty="0"/>
              <a:t>E</a:t>
            </a:r>
            <a:r>
              <a:rPr lang="en-US" altLang="en-US" sz="1800" dirty="0" err="1"/>
              <a:t>xemplu</a:t>
            </a:r>
            <a:r>
              <a:rPr lang="en-US" altLang="en-US" sz="1800" dirty="0"/>
              <a:t> cu </a:t>
            </a:r>
            <a:r>
              <a:rPr lang="en-US" altLang="en-US" sz="1800" dirty="0" err="1"/>
              <a:t>dou</a:t>
            </a:r>
            <a:r>
              <a:rPr lang="ro-RO" altLang="en-US" sz="1800" dirty="0"/>
              <a:t>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documente</a:t>
            </a:r>
            <a:r>
              <a:rPr lang="en-US" altLang="en-US" sz="1800" dirty="0"/>
              <a:t> HTML </a:t>
            </a:r>
            <a:r>
              <a:rPr lang="en-US" altLang="en-US" sz="1800" dirty="0" err="1"/>
              <a:t>în</a:t>
            </a:r>
            <a:r>
              <a:rPr lang="en-US" altLang="en-US" sz="1800" dirty="0"/>
              <a:t> care</a:t>
            </a:r>
            <a:r>
              <a:rPr lang="ro-RO" altLang="en-US" sz="1800" dirty="0"/>
              <a:t> </a:t>
            </a:r>
            <a:r>
              <a:rPr lang="en-US" altLang="en-US" sz="1800" dirty="0" err="1"/>
              <a:t>primul</a:t>
            </a:r>
            <a:r>
              <a:rPr lang="en-US" altLang="en-US" sz="1800" dirty="0"/>
              <a:t> </a:t>
            </a:r>
            <a:r>
              <a:rPr lang="en-US" altLang="en-US" sz="1800" dirty="0" err="1"/>
              <a:t>reprezint</a:t>
            </a:r>
            <a:r>
              <a:rPr lang="ro-RO" altLang="en-US" sz="1800" dirty="0"/>
              <a:t>ă</a:t>
            </a:r>
            <a:r>
              <a:rPr lang="en-US" altLang="en-US" sz="1800" dirty="0"/>
              <a:t> </a:t>
            </a:r>
            <a:r>
              <a:rPr lang="en-US" altLang="en-US" sz="1800" dirty="0" err="1"/>
              <a:t>cuprinsul</a:t>
            </a:r>
            <a:r>
              <a:rPr lang="en-US" altLang="en-US" sz="1800" dirty="0"/>
              <a:t> (</a:t>
            </a:r>
            <a:r>
              <a:rPr lang="en-US" altLang="en-US" sz="1800" dirty="0" err="1"/>
              <a:t>tabla</a:t>
            </a:r>
            <a:r>
              <a:rPr lang="en-US" altLang="en-US" sz="1800" dirty="0"/>
              <a:t> de </a:t>
            </a:r>
            <a:r>
              <a:rPr lang="en-US" altLang="en-US" sz="1800" dirty="0" err="1"/>
              <a:t>materii</a:t>
            </a:r>
            <a:r>
              <a:rPr lang="en-US" altLang="en-US" sz="1800" dirty="0"/>
              <a:t>)</a:t>
            </a:r>
            <a:r>
              <a:rPr lang="ro-RO" altLang="en-US" sz="1800" dirty="0"/>
              <a:t> </a:t>
            </a:r>
            <a:r>
              <a:rPr lang="en-US" altLang="en-US" sz="1800" dirty="0" err="1"/>
              <a:t>pentru</a:t>
            </a:r>
            <a:r>
              <a:rPr lang="en-US" altLang="en-US" sz="1800" dirty="0"/>
              <a:t> al </a:t>
            </a:r>
            <a:r>
              <a:rPr lang="en-US" altLang="en-US" sz="1800" dirty="0" err="1"/>
              <a:t>doilea</a:t>
            </a:r>
            <a:r>
              <a:rPr lang="en-US" altLang="en-US" sz="1800" dirty="0"/>
              <a:t>.</a:t>
            </a:r>
          </a:p>
          <a:p>
            <a:r>
              <a:rPr lang="ro-RO" altLang="en-US" sz="1800" dirty="0"/>
              <a:t>P</a:t>
            </a:r>
            <a:r>
              <a:rPr lang="en-US" altLang="en-US" sz="1800" dirty="0" err="1"/>
              <a:t>rin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selectarea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unei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ancore</a:t>
            </a:r>
            <a:r>
              <a:rPr lang="en-US" altLang="en-US" sz="1800" dirty="0"/>
              <a:t> care</a:t>
            </a:r>
            <a:r>
              <a:rPr lang="ro-RO" altLang="en-US" sz="1800" dirty="0"/>
              <a:t> </a:t>
            </a:r>
            <a:r>
              <a:rPr lang="en-US" altLang="en-US" sz="1800" dirty="0" err="1"/>
              <a:t>trimite</a:t>
            </a:r>
            <a:r>
              <a:rPr lang="en-US" altLang="en-US" sz="1800" dirty="0"/>
              <a:t> </a:t>
            </a:r>
            <a:r>
              <a:rPr lang="en-US" altLang="en-US" sz="1800" dirty="0" err="1"/>
              <a:t>spre</a:t>
            </a:r>
            <a:r>
              <a:rPr lang="en-US" altLang="en-US" sz="1800" dirty="0"/>
              <a:t> o </a:t>
            </a:r>
            <a:r>
              <a:rPr lang="en-US" altLang="en-US" sz="1800" dirty="0" err="1"/>
              <a:t>porţiune</a:t>
            </a:r>
            <a:r>
              <a:rPr lang="en-US" altLang="en-US" sz="1800" dirty="0"/>
              <a:t> a </a:t>
            </a:r>
            <a:r>
              <a:rPr lang="en-US" altLang="en-US" sz="1800" dirty="0" err="1"/>
              <a:t>unui</a:t>
            </a:r>
            <a:r>
              <a:rPr lang="en-US" altLang="en-US" sz="1800" dirty="0"/>
              <a:t> document </a:t>
            </a:r>
            <a:r>
              <a:rPr lang="en-US" altLang="en-US" sz="1800" dirty="0" err="1"/>
              <a:t>acesta</a:t>
            </a:r>
            <a:r>
              <a:rPr lang="en-US" altLang="en-US" sz="1800" dirty="0"/>
              <a:t> </a:t>
            </a:r>
            <a:r>
              <a:rPr lang="en-US" altLang="en-US" sz="1800" dirty="0" err="1"/>
              <a:t>este</a:t>
            </a:r>
            <a:r>
              <a:rPr lang="ro-RO" altLang="en-US" sz="1800" dirty="0"/>
              <a:t> </a:t>
            </a:r>
            <a:r>
              <a:rPr lang="en-US" altLang="en-US" sz="1800" dirty="0" err="1"/>
              <a:t>înc</a:t>
            </a:r>
            <a:r>
              <a:rPr lang="ro-RO" altLang="en-US" sz="1800" dirty="0"/>
              <a:t>ă</a:t>
            </a:r>
            <a:r>
              <a:rPr lang="en-US" altLang="en-US" sz="1800" dirty="0" err="1"/>
              <a:t>rcat</a:t>
            </a:r>
            <a:r>
              <a:rPr lang="en-US" altLang="en-US" sz="1800" dirty="0"/>
              <a:t> </a:t>
            </a:r>
            <a:r>
              <a:rPr lang="en-US" altLang="en-US" sz="1800" dirty="0" err="1"/>
              <a:t>în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întregime</a:t>
            </a:r>
            <a:r>
              <a:rPr lang="en-US" altLang="en-US" sz="1800" dirty="0"/>
              <a:t> de browser </a:t>
            </a:r>
            <a:r>
              <a:rPr lang="en-US" altLang="en-US" sz="1800" dirty="0" err="1"/>
              <a:t>dar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poziţionarea</a:t>
            </a:r>
            <a:r>
              <a:rPr lang="ro-RO" altLang="en-US" sz="1800" dirty="0"/>
              <a:t> </a:t>
            </a:r>
            <a:r>
              <a:rPr lang="en-US" altLang="en-US" sz="1800" dirty="0"/>
              <a:t>se face nu la </a:t>
            </a:r>
            <a:r>
              <a:rPr lang="en-US" altLang="en-US" sz="1800" dirty="0" err="1"/>
              <a:t>începutul</a:t>
            </a:r>
            <a:r>
              <a:rPr lang="en-US" altLang="en-US" sz="1800" dirty="0"/>
              <a:t> s</a:t>
            </a:r>
            <a:r>
              <a:rPr lang="ro-RO" altLang="en-US" sz="1800" dirty="0"/>
              <a:t>ă</a:t>
            </a:r>
            <a:r>
              <a:rPr lang="en-US" altLang="en-US" sz="1800" dirty="0"/>
              <a:t>u ci </a:t>
            </a:r>
            <a:r>
              <a:rPr lang="en-US" altLang="en-US" sz="1800" dirty="0" err="1"/>
              <a:t>în</a:t>
            </a:r>
            <a:r>
              <a:rPr lang="en-US" altLang="en-US" sz="1800" dirty="0"/>
              <a:t> </a:t>
            </a:r>
            <a:r>
              <a:rPr lang="en-US" altLang="en-US" sz="1800" dirty="0" err="1"/>
              <a:t>punctul</a:t>
            </a:r>
            <a:r>
              <a:rPr lang="en-US" altLang="en-US" sz="1800" dirty="0"/>
              <a:t> </a:t>
            </a:r>
            <a:r>
              <a:rPr lang="en-US" altLang="en-US" sz="1800" dirty="0" err="1"/>
              <a:t>ţint</a:t>
            </a:r>
            <a:r>
              <a:rPr lang="ro-RO" altLang="en-US" sz="1800" dirty="0"/>
              <a:t>ă </a:t>
            </a:r>
            <a:r>
              <a:rPr lang="en-US" altLang="en-US" sz="1800" dirty="0" err="1"/>
              <a:t>marcat</a:t>
            </a:r>
            <a:r>
              <a:rPr lang="en-US" altLang="en-US" sz="1800" dirty="0"/>
              <a:t>.</a:t>
            </a:r>
          </a:p>
        </p:txBody>
      </p:sp>
      <p:sp>
        <p:nvSpPr>
          <p:cNvPr id="41997" name="Rectangle 4199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998" name="Rectangle 4199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7" name="Footer Placeholder 4">
            <a:extLst>
              <a:ext uri="{FF2B5EF4-FFF2-40B4-BE49-F238E27FC236}">
                <a16:creationId xmlns:a16="http://schemas.microsoft.com/office/drawing/2014/main" id="{D470D650-E27A-DDC4-F78F-DEB5CF7F5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41988" name="Slide Number Placeholder 5">
            <a:extLst>
              <a:ext uri="{FF2B5EF4-FFF2-40B4-BE49-F238E27FC236}">
                <a16:creationId xmlns:a16="http://schemas.microsoft.com/office/drawing/2014/main" id="{86214A76-4777-260C-E572-5E1526465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7B27618C-5210-864B-B72D-60DDE65F03E3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18</a:t>
            </a:fld>
            <a:endParaRPr lang="en-US" altLang="en-US" sz="13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7F5F-3D3A-BD4C-9E44-0CC4A5758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/>
              <a:t>Exemplu - cuprins</a:t>
            </a:r>
            <a:endParaRPr lang="en-US" dirty="0"/>
          </a:p>
        </p:txBody>
      </p:sp>
      <p:sp>
        <p:nvSpPr>
          <p:cNvPr id="43010" name="Content Placeholder 2">
            <a:extLst>
              <a:ext uri="{FF2B5EF4-FFF2-40B4-BE49-F238E27FC236}">
                <a16:creationId xmlns:a16="http://schemas.microsoft.com/office/drawing/2014/main" id="{3E7BFB5B-1023-65B6-9A56-71C1FC6CF4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666754"/>
            <a:ext cx="8559220" cy="4642606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None/>
            </a:pPr>
            <a:r>
              <a:rPr lang="en-US" altLang="en-US" sz="1800" dirty="0"/>
              <a:t>&lt;html&gt;</a:t>
            </a:r>
          </a:p>
          <a:p>
            <a:pPr>
              <a:buFontTx/>
              <a:buNone/>
            </a:pPr>
            <a:r>
              <a:rPr lang="en-US" altLang="en-US" sz="1800" dirty="0"/>
              <a:t>&lt;head&gt;</a:t>
            </a:r>
          </a:p>
          <a:p>
            <a:pPr>
              <a:buFontTx/>
              <a:buNone/>
            </a:pPr>
            <a:r>
              <a:rPr lang="ro-RO" altLang="en-US" sz="1800" dirty="0"/>
              <a:t>	</a:t>
            </a:r>
            <a:r>
              <a:rPr lang="en-US" altLang="en-US" sz="1800" dirty="0"/>
              <a:t>&lt;title&gt;</a:t>
            </a:r>
            <a:r>
              <a:rPr lang="en-US" altLang="en-US" sz="1800" dirty="0" err="1"/>
              <a:t>Cuprins</a:t>
            </a:r>
            <a:r>
              <a:rPr lang="en-US" altLang="en-US" sz="1800" dirty="0"/>
              <a:t>&lt;/title&gt;</a:t>
            </a:r>
          </a:p>
          <a:p>
            <a:pPr>
              <a:buFontTx/>
              <a:buNone/>
            </a:pPr>
            <a:r>
              <a:rPr lang="en-US" altLang="en-US" sz="1800" dirty="0"/>
              <a:t>&lt;/head&gt;</a:t>
            </a:r>
          </a:p>
          <a:p>
            <a:pPr>
              <a:buFontTx/>
              <a:buNone/>
            </a:pPr>
            <a:r>
              <a:rPr lang="en-US" altLang="en-US" sz="1800" dirty="0"/>
              <a:t>&lt;body&gt;</a:t>
            </a:r>
          </a:p>
          <a:p>
            <a:pPr lvl="1">
              <a:buFontTx/>
              <a:buNone/>
            </a:pPr>
            <a:r>
              <a:rPr lang="en-US" altLang="en-US" dirty="0"/>
              <a:t>&lt;h1&gt;</a:t>
            </a:r>
            <a:r>
              <a:rPr lang="en-US" altLang="en-US" dirty="0" err="1"/>
              <a:t>Cuprinsul</a:t>
            </a:r>
            <a:r>
              <a:rPr lang="en-US" altLang="en-US" dirty="0"/>
              <a:t> </a:t>
            </a:r>
            <a:r>
              <a:rPr lang="en-US" altLang="en-US" dirty="0" err="1"/>
              <a:t>lucrarii</a:t>
            </a:r>
            <a:r>
              <a:rPr lang="en-US" altLang="en-US" dirty="0"/>
              <a:t>&lt;/h1&gt;</a:t>
            </a:r>
          </a:p>
          <a:p>
            <a:pPr lvl="1">
              <a:buFontTx/>
              <a:buNone/>
            </a:pPr>
            <a:r>
              <a:rPr lang="en-US" altLang="en-US" dirty="0"/>
              <a:t>&lt;</a:t>
            </a:r>
            <a:r>
              <a:rPr lang="en-US" altLang="en-US" dirty="0" err="1"/>
              <a:t>hr</a:t>
            </a:r>
            <a:r>
              <a:rPr lang="en-US" altLang="en-US" dirty="0"/>
              <a:t>&gt;</a:t>
            </a:r>
          </a:p>
          <a:p>
            <a:pPr lvl="1">
              <a:buFontTx/>
              <a:buNone/>
            </a:pPr>
            <a:r>
              <a:rPr lang="en-US" altLang="en-US" dirty="0"/>
              <a:t>&lt;</a:t>
            </a:r>
            <a:r>
              <a:rPr lang="en-US" altLang="en-US" dirty="0" err="1"/>
              <a:t>ul</a:t>
            </a:r>
            <a:r>
              <a:rPr lang="en-US" altLang="en-US" dirty="0"/>
              <a:t>&gt;</a:t>
            </a:r>
          </a:p>
          <a:p>
            <a:pPr lvl="1">
              <a:buFontTx/>
              <a:buNone/>
            </a:pPr>
            <a:r>
              <a:rPr lang="it-IT" altLang="en-US" dirty="0"/>
              <a:t>&lt;li&gt;&lt;a </a:t>
            </a:r>
            <a:r>
              <a:rPr lang="it-IT" altLang="en-US" dirty="0" err="1"/>
              <a:t>href</a:t>
            </a:r>
            <a:r>
              <a:rPr lang="it-IT" altLang="en-US" dirty="0"/>
              <a:t>=”Continut.html#cap1”&gt;</a:t>
            </a:r>
            <a:r>
              <a:rPr lang="it-IT" altLang="en-US" dirty="0" err="1"/>
              <a:t>Capitolul</a:t>
            </a:r>
            <a:r>
              <a:rPr lang="it-IT" altLang="en-US" dirty="0"/>
              <a:t> 1&lt;/a&gt;</a:t>
            </a:r>
          </a:p>
          <a:p>
            <a:pPr lvl="1">
              <a:buFontTx/>
              <a:buNone/>
            </a:pPr>
            <a:r>
              <a:rPr lang="it-IT" altLang="en-US" dirty="0"/>
              <a:t>&lt;li&gt;&lt;a </a:t>
            </a:r>
            <a:r>
              <a:rPr lang="it-IT" altLang="en-US" dirty="0" err="1"/>
              <a:t>href</a:t>
            </a:r>
            <a:r>
              <a:rPr lang="it-IT" altLang="en-US" dirty="0"/>
              <a:t>=”Continut.html#cap2”&gt;</a:t>
            </a:r>
            <a:r>
              <a:rPr lang="it-IT" altLang="en-US" dirty="0" err="1"/>
              <a:t>Capitolul</a:t>
            </a:r>
            <a:r>
              <a:rPr lang="it-IT" altLang="en-US" dirty="0"/>
              <a:t> 2&lt;/a&gt;</a:t>
            </a:r>
          </a:p>
          <a:p>
            <a:pPr lvl="1">
              <a:buFontTx/>
              <a:buNone/>
            </a:pPr>
            <a:r>
              <a:rPr lang="it-IT" altLang="en-US" dirty="0"/>
              <a:t>&lt;li&gt;&lt;a </a:t>
            </a:r>
            <a:r>
              <a:rPr lang="it-IT" altLang="en-US" dirty="0" err="1"/>
              <a:t>href</a:t>
            </a:r>
            <a:r>
              <a:rPr lang="it-IT" altLang="en-US" dirty="0"/>
              <a:t>=”Continut.html#cap3”&gt;</a:t>
            </a:r>
            <a:r>
              <a:rPr lang="it-IT" altLang="en-US" dirty="0" err="1"/>
              <a:t>Capitolul</a:t>
            </a:r>
            <a:r>
              <a:rPr lang="it-IT" altLang="en-US" dirty="0"/>
              <a:t> 3&lt;/a&gt;</a:t>
            </a:r>
          </a:p>
          <a:p>
            <a:pPr lvl="1">
              <a:buFontTx/>
              <a:buNone/>
            </a:pPr>
            <a:r>
              <a:rPr lang="en-US" altLang="en-US" dirty="0"/>
              <a:t>&lt;/</a:t>
            </a:r>
            <a:r>
              <a:rPr lang="en-US" altLang="en-US" dirty="0" err="1"/>
              <a:t>ul</a:t>
            </a:r>
            <a:r>
              <a:rPr lang="en-US" altLang="en-US" dirty="0"/>
              <a:t>&gt;</a:t>
            </a:r>
          </a:p>
          <a:p>
            <a:pPr>
              <a:buFontTx/>
              <a:buNone/>
            </a:pPr>
            <a:r>
              <a:rPr lang="en-US" altLang="en-US" sz="1800" dirty="0"/>
              <a:t>&lt;/body&gt;</a:t>
            </a:r>
          </a:p>
          <a:p>
            <a:pPr>
              <a:buFontTx/>
              <a:buNone/>
            </a:pPr>
            <a:r>
              <a:rPr lang="en-US" altLang="en-US" sz="1800" dirty="0"/>
              <a:t>&lt;/html&gt;</a:t>
            </a:r>
          </a:p>
        </p:txBody>
      </p:sp>
      <p:sp>
        <p:nvSpPr>
          <p:cNvPr id="43017" name="Rectangle 4301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019" name="Rectangle 4301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011" name="Footer Placeholder 4">
            <a:extLst>
              <a:ext uri="{FF2B5EF4-FFF2-40B4-BE49-F238E27FC236}">
                <a16:creationId xmlns:a16="http://schemas.microsoft.com/office/drawing/2014/main" id="{37335A47-749E-043B-BA0E-CC7A5C8E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43012" name="Slide Number Placeholder 5">
            <a:extLst>
              <a:ext uri="{FF2B5EF4-FFF2-40B4-BE49-F238E27FC236}">
                <a16:creationId xmlns:a16="http://schemas.microsoft.com/office/drawing/2014/main" id="{AB8A3402-03B3-2D4E-B0B6-7319DF1F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0E3348D-40CE-D446-BC66-899DA4ECED63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19</a:t>
            </a:fld>
            <a:endParaRPr lang="en-US" altLang="en-US" sz="1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70B11-6959-A241-B4E7-E11650DD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/>
              <a:t>Exemplu - documentul</a:t>
            </a:r>
            <a:endParaRPr lang="en-US"/>
          </a:p>
        </p:txBody>
      </p:sp>
      <p:sp>
        <p:nvSpPr>
          <p:cNvPr id="44034" name="Content Placeholder 2">
            <a:extLst>
              <a:ext uri="{FF2B5EF4-FFF2-40B4-BE49-F238E27FC236}">
                <a16:creationId xmlns:a16="http://schemas.microsoft.com/office/drawing/2014/main" id="{A5DDA730-D797-8E3C-B041-05394BCED6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5568" y="1728216"/>
            <a:ext cx="6066818" cy="402336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altLang="en-US" sz="1800" b="1" dirty="0"/>
              <a:t>&lt;html&gt;</a:t>
            </a:r>
          </a:p>
          <a:p>
            <a:pPr>
              <a:buFontTx/>
              <a:buNone/>
            </a:pPr>
            <a:r>
              <a:rPr lang="en-US" altLang="en-US" sz="1800" b="1" dirty="0"/>
              <a:t>&lt;head&gt;</a:t>
            </a:r>
          </a:p>
          <a:p>
            <a:pPr>
              <a:buFontTx/>
              <a:buNone/>
            </a:pPr>
            <a:r>
              <a:rPr lang="ro-RO" altLang="en-US" sz="1800" b="1" dirty="0"/>
              <a:t>	</a:t>
            </a:r>
            <a:r>
              <a:rPr lang="en-US" altLang="en-US" sz="1800" b="1" dirty="0"/>
              <a:t>&lt;title&gt;</a:t>
            </a:r>
            <a:r>
              <a:rPr lang="en-US" altLang="en-US" sz="1800" b="1" dirty="0" err="1"/>
              <a:t>Lucrare</a:t>
            </a:r>
            <a:r>
              <a:rPr lang="en-US" altLang="en-US" sz="1800" b="1" dirty="0"/>
              <a:t>&lt;/title&gt;</a:t>
            </a:r>
          </a:p>
          <a:p>
            <a:pPr>
              <a:buFontTx/>
              <a:buNone/>
            </a:pPr>
            <a:r>
              <a:rPr lang="en-US" altLang="en-US" sz="1800" b="1" dirty="0"/>
              <a:t>&lt;/head&gt;</a:t>
            </a:r>
          </a:p>
          <a:p>
            <a:pPr>
              <a:buFontTx/>
              <a:buNone/>
            </a:pPr>
            <a:r>
              <a:rPr lang="en-US" altLang="en-US" sz="1800" b="1" dirty="0"/>
              <a:t>&lt;body&gt;</a:t>
            </a:r>
          </a:p>
          <a:p>
            <a:pPr lvl="1">
              <a:buFontTx/>
              <a:buNone/>
            </a:pPr>
            <a:r>
              <a:rPr lang="pt-BR" altLang="en-US" b="1" dirty="0"/>
              <a:t>&lt;h1&gt;&lt;a </a:t>
            </a:r>
            <a:r>
              <a:rPr lang="pt-BR" altLang="en-US" b="1" dirty="0" err="1"/>
              <a:t>name</a:t>
            </a:r>
            <a:r>
              <a:rPr lang="pt-BR" altLang="en-US" b="1" dirty="0"/>
              <a:t>=”cap1”&gt;</a:t>
            </a:r>
            <a:r>
              <a:rPr lang="pt-BR" altLang="en-US" b="1" dirty="0" err="1"/>
              <a:t>Capitolul</a:t>
            </a:r>
            <a:r>
              <a:rPr lang="pt-BR" altLang="en-US" b="1" dirty="0"/>
              <a:t> 1&lt;/a&gt;&lt;/h1&gt;</a:t>
            </a:r>
          </a:p>
          <a:p>
            <a:pPr lvl="1">
              <a:buFontTx/>
              <a:buNone/>
            </a:pPr>
            <a:r>
              <a:rPr lang="en-US" altLang="en-US" b="1" dirty="0"/>
              <a:t>. . . </a:t>
            </a:r>
            <a:r>
              <a:rPr lang="en-US" altLang="en-US" b="1" dirty="0" err="1"/>
              <a:t>Continutul</a:t>
            </a:r>
            <a:r>
              <a:rPr lang="en-US" altLang="en-US" b="1" dirty="0"/>
              <a:t> </a:t>
            </a:r>
            <a:r>
              <a:rPr lang="en-US" altLang="en-US" b="1" dirty="0" err="1"/>
              <a:t>capitolului</a:t>
            </a:r>
            <a:r>
              <a:rPr lang="en-US" altLang="en-US" b="1" dirty="0"/>
              <a:t> 1</a:t>
            </a:r>
          </a:p>
          <a:p>
            <a:pPr lvl="1">
              <a:buFontTx/>
              <a:buNone/>
            </a:pPr>
            <a:r>
              <a:rPr lang="pt-BR" altLang="en-US" b="1" dirty="0"/>
              <a:t>&lt;h1&gt;&lt;a </a:t>
            </a:r>
            <a:r>
              <a:rPr lang="pt-BR" altLang="en-US" b="1" dirty="0" err="1"/>
              <a:t>name</a:t>
            </a:r>
            <a:r>
              <a:rPr lang="pt-BR" altLang="en-US" b="1" dirty="0"/>
              <a:t>=”cap2”&gt;</a:t>
            </a:r>
            <a:r>
              <a:rPr lang="pt-BR" altLang="en-US" b="1" dirty="0" err="1"/>
              <a:t>Capitolul</a:t>
            </a:r>
            <a:r>
              <a:rPr lang="pt-BR" altLang="en-US" b="1" dirty="0"/>
              <a:t> 2&lt;/a&gt;&lt;/h1&gt;</a:t>
            </a:r>
          </a:p>
          <a:p>
            <a:pPr lvl="1">
              <a:buFontTx/>
              <a:buNone/>
            </a:pPr>
            <a:r>
              <a:rPr lang="en-US" altLang="en-US" b="1" dirty="0"/>
              <a:t>. . . </a:t>
            </a:r>
            <a:r>
              <a:rPr lang="en-US" altLang="en-US" b="1" dirty="0" err="1"/>
              <a:t>Continutul</a:t>
            </a:r>
            <a:r>
              <a:rPr lang="en-US" altLang="en-US" b="1" dirty="0"/>
              <a:t> </a:t>
            </a:r>
            <a:r>
              <a:rPr lang="en-US" altLang="en-US" b="1" dirty="0" err="1"/>
              <a:t>capitolului</a:t>
            </a:r>
            <a:r>
              <a:rPr lang="en-US" altLang="en-US" b="1" dirty="0"/>
              <a:t> 2</a:t>
            </a:r>
          </a:p>
          <a:p>
            <a:pPr lvl="1">
              <a:buFontTx/>
              <a:buNone/>
            </a:pPr>
            <a:r>
              <a:rPr lang="pt-BR" altLang="en-US" b="1" dirty="0"/>
              <a:t>&lt;h1&gt;&lt;a </a:t>
            </a:r>
            <a:r>
              <a:rPr lang="pt-BR" altLang="en-US" b="1" dirty="0" err="1"/>
              <a:t>name</a:t>
            </a:r>
            <a:r>
              <a:rPr lang="pt-BR" altLang="en-US" b="1" dirty="0"/>
              <a:t>=”cap3”&gt;</a:t>
            </a:r>
            <a:r>
              <a:rPr lang="pt-BR" altLang="en-US" b="1" dirty="0" err="1"/>
              <a:t>Capitolul</a:t>
            </a:r>
            <a:r>
              <a:rPr lang="pt-BR" altLang="en-US" b="1" dirty="0"/>
              <a:t> 3&lt;/a&gt;&lt;/h1&gt;</a:t>
            </a:r>
          </a:p>
          <a:p>
            <a:pPr lvl="1">
              <a:buFontTx/>
              <a:buNone/>
            </a:pPr>
            <a:r>
              <a:rPr lang="en-US" altLang="en-US" b="1" dirty="0"/>
              <a:t>. . . </a:t>
            </a:r>
            <a:r>
              <a:rPr lang="en-US" altLang="en-US" b="1" dirty="0" err="1"/>
              <a:t>Continutul</a:t>
            </a:r>
            <a:r>
              <a:rPr lang="en-US" altLang="en-US" b="1" dirty="0"/>
              <a:t> </a:t>
            </a:r>
            <a:r>
              <a:rPr lang="en-US" altLang="en-US" b="1" dirty="0" err="1"/>
              <a:t>capitolului</a:t>
            </a:r>
            <a:r>
              <a:rPr lang="en-US" altLang="en-US" b="1" dirty="0"/>
              <a:t> 3</a:t>
            </a:r>
          </a:p>
          <a:p>
            <a:pPr>
              <a:buFontTx/>
              <a:buNone/>
            </a:pPr>
            <a:r>
              <a:rPr lang="en-US" altLang="en-US" sz="1800" b="1" dirty="0"/>
              <a:t>&lt;/body&gt;</a:t>
            </a:r>
          </a:p>
          <a:p>
            <a:pPr>
              <a:buFontTx/>
              <a:buNone/>
            </a:pPr>
            <a:r>
              <a:rPr lang="en-US" altLang="en-US" sz="1800" b="1" dirty="0"/>
              <a:t>&lt;/html&gt;</a:t>
            </a:r>
            <a:endParaRPr lang="en-US" altLang="en-US" sz="1800" dirty="0"/>
          </a:p>
        </p:txBody>
      </p:sp>
      <p:sp>
        <p:nvSpPr>
          <p:cNvPr id="44035" name="Footer Placeholder 4">
            <a:extLst>
              <a:ext uri="{FF2B5EF4-FFF2-40B4-BE49-F238E27FC236}">
                <a16:creationId xmlns:a16="http://schemas.microsoft.com/office/drawing/2014/main" id="{E6A52E4E-22B5-E0C0-AB27-76EF3181F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148" y="6470704"/>
            <a:ext cx="3875798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pic>
        <p:nvPicPr>
          <p:cNvPr id="44038" name="Picture 44037" descr="Magnifying glass on clear background">
            <a:extLst>
              <a:ext uri="{FF2B5EF4-FFF2-40B4-BE49-F238E27FC236}">
                <a16:creationId xmlns:a16="http://schemas.microsoft.com/office/drawing/2014/main" id="{FAE0EAAA-BE2A-2832-8B58-0F55C1C539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560" r="14280" b="-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5E8A5B2B-BCE4-C409-933B-7B38F262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68B7AE4B-9E8B-C14E-ADB7-0C78A461DA32}" type="slidenum">
              <a:rPr lang="en-US" altLang="en-US" sz="1300">
                <a:solidFill>
                  <a:srgbClr val="FFFFFF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20</a:t>
            </a:fld>
            <a:endParaRPr lang="en-US" altLang="en-US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9123C-9117-6949-A38A-99A485BA2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/>
              <a:t>Imagini</a:t>
            </a:r>
            <a:endParaRPr lang="en-US"/>
          </a:p>
        </p:txBody>
      </p:sp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8D4B848B-19F1-3EB5-A01A-82E88BD58C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9264" y="1844566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dirty="0"/>
              <a:t>Documentele HTML pot </a:t>
            </a:r>
            <a:r>
              <a:rPr lang="ro-RO" altLang="en-US" dirty="0" err="1"/>
              <a:t>conţine</a:t>
            </a:r>
            <a:r>
              <a:rPr lang="ro-RO" altLang="en-US" dirty="0"/>
              <a:t> directive de includere imagini (includerea imaginii în document se face la afișarea acestuia).</a:t>
            </a:r>
          </a:p>
          <a:p>
            <a:pPr>
              <a:spcAft>
                <a:spcPts val="600"/>
              </a:spcAft>
            </a:pPr>
            <a:r>
              <a:rPr lang="ro-RO" altLang="en-US" dirty="0"/>
              <a:t>Sintaxa (simplificată) este: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dirty="0"/>
              <a:t>&lt;</a:t>
            </a:r>
            <a:r>
              <a:rPr lang="ro-RO" altLang="en-US" dirty="0" err="1"/>
              <a:t>img</a:t>
            </a:r>
            <a:r>
              <a:rPr lang="ro-RO" altLang="en-US" dirty="0"/>
              <a:t> </a:t>
            </a:r>
            <a:r>
              <a:rPr lang="ro-RO" altLang="en-US" dirty="0" err="1"/>
              <a:t>src</a:t>
            </a:r>
            <a:r>
              <a:rPr lang="ro-RO" altLang="en-US" dirty="0"/>
              <a:t>="foto2.jpeg" </a:t>
            </a:r>
            <a:r>
              <a:rPr lang="ro-RO" altLang="en-US" dirty="0" err="1"/>
              <a:t>width</a:t>
            </a:r>
            <a:r>
              <a:rPr lang="ro-RO" altLang="en-US" dirty="0"/>
              <a:t>="200“ </a:t>
            </a:r>
            <a:r>
              <a:rPr lang="ro-RO" altLang="en-US" dirty="0" err="1"/>
              <a:t>height</a:t>
            </a:r>
            <a:r>
              <a:rPr lang="ro-RO" altLang="en-US" dirty="0"/>
              <a:t>="150" alt="Fotografia mea"&gt;</a:t>
            </a:r>
          </a:p>
          <a:p>
            <a:pPr>
              <a:spcAft>
                <a:spcPts val="600"/>
              </a:spcAft>
            </a:pPr>
            <a:r>
              <a:rPr lang="ro-RO" altLang="en-US" i="1" dirty="0" err="1"/>
              <a:t>src</a:t>
            </a:r>
            <a:r>
              <a:rPr lang="ro-RO" altLang="en-US" i="1" dirty="0"/>
              <a:t> </a:t>
            </a:r>
            <a:r>
              <a:rPr lang="ro-RO" altLang="en-US" dirty="0"/>
              <a:t>specifică adresa </a:t>
            </a:r>
            <a:r>
              <a:rPr lang="ro-RO" altLang="en-US" dirty="0" err="1"/>
              <a:t>fişierului</a:t>
            </a:r>
            <a:r>
              <a:rPr lang="ro-RO" altLang="en-US" dirty="0"/>
              <a:t> </a:t>
            </a:r>
            <a:r>
              <a:rPr lang="ro-RO" altLang="en-US" dirty="0" err="1"/>
              <a:t>conţinând</a:t>
            </a:r>
            <a:r>
              <a:rPr lang="ro-RO" altLang="en-US" dirty="0"/>
              <a:t> imaginea (relativa sau absoluta), </a:t>
            </a:r>
            <a:r>
              <a:rPr lang="ro-RO" altLang="en-US" i="1" dirty="0" err="1"/>
              <a:t>width</a:t>
            </a:r>
            <a:r>
              <a:rPr lang="ro-RO" altLang="en-US" i="1" dirty="0"/>
              <a:t> </a:t>
            </a:r>
            <a:r>
              <a:rPr lang="ro-RO" altLang="en-US" dirty="0" err="1"/>
              <a:t>şi</a:t>
            </a:r>
            <a:r>
              <a:rPr lang="ro-RO" altLang="en-US" dirty="0"/>
              <a:t> </a:t>
            </a:r>
            <a:r>
              <a:rPr lang="ro-RO" altLang="en-US" i="1" dirty="0" err="1"/>
              <a:t>height</a:t>
            </a:r>
            <a:r>
              <a:rPr lang="ro-RO" altLang="en-US" i="1" dirty="0"/>
              <a:t> </a:t>
            </a:r>
            <a:r>
              <a:rPr lang="ro-RO" altLang="en-US" dirty="0"/>
              <a:t>elemente de scalare a imaginii </a:t>
            </a:r>
            <a:r>
              <a:rPr lang="ro-RO" altLang="en-US" dirty="0" err="1"/>
              <a:t>şi</a:t>
            </a:r>
            <a:r>
              <a:rPr lang="ro-RO" altLang="en-US" dirty="0"/>
              <a:t> </a:t>
            </a:r>
            <a:r>
              <a:rPr lang="ro-RO" altLang="en-US" i="1" dirty="0"/>
              <a:t>alt </a:t>
            </a:r>
            <a:r>
              <a:rPr lang="ro-RO" altLang="en-US" dirty="0"/>
              <a:t>un text alternativ pentru </a:t>
            </a:r>
            <a:r>
              <a:rPr lang="ro-RO" altLang="en-US" dirty="0" err="1"/>
              <a:t>browserele</a:t>
            </a:r>
            <a:r>
              <a:rPr lang="ro-RO" altLang="en-US" dirty="0"/>
              <a:t> care nu afișează imagini.</a:t>
            </a:r>
          </a:p>
        </p:txBody>
      </p:sp>
      <p:sp>
        <p:nvSpPr>
          <p:cNvPr id="45065" name="Rectangle 4506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067" name="Rectangle 4506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9" name="Footer Placeholder 4">
            <a:extLst>
              <a:ext uri="{FF2B5EF4-FFF2-40B4-BE49-F238E27FC236}">
                <a16:creationId xmlns:a16="http://schemas.microsoft.com/office/drawing/2014/main" id="{8DC2F7CA-B97B-A83D-4874-50851A521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45060" name="Slide Number Placeholder 5">
            <a:extLst>
              <a:ext uri="{FF2B5EF4-FFF2-40B4-BE49-F238E27FC236}">
                <a16:creationId xmlns:a16="http://schemas.microsoft.com/office/drawing/2014/main" id="{55F89FC2-4429-26FB-8EB7-9682F22EB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7CE00341-2D86-0A4D-A302-520BCE61E6FA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21</a:t>
            </a:fld>
            <a:endParaRPr lang="en-US" altLang="en-US" sz="13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D3E0-DC03-734A-BB8D-F0FA8C495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/>
              <a:t>Imaginea Link</a:t>
            </a:r>
            <a:endParaRPr lang="en-US"/>
          </a:p>
        </p:txBody>
      </p:sp>
      <p:sp>
        <p:nvSpPr>
          <p:cNvPr id="48130" name="Content Placeholder 2">
            <a:extLst>
              <a:ext uri="{FF2B5EF4-FFF2-40B4-BE49-F238E27FC236}">
                <a16:creationId xmlns:a16="http://schemas.microsoft.com/office/drawing/2014/main" id="{06FC5900-2A47-6975-D256-9D61619AD7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9" y="1939158"/>
            <a:ext cx="8193443" cy="4333626"/>
          </a:xfrm>
        </p:spPr>
        <p:txBody>
          <a:bodyPr>
            <a:normAutofit/>
          </a:bodyPr>
          <a:lstStyle/>
          <a:p>
            <a:r>
              <a:rPr lang="ro-RO" altLang="en-US" sz="2000" dirty="0"/>
              <a:t>O imagine poate fi folosita ca link:</a:t>
            </a:r>
          </a:p>
          <a:p>
            <a:pPr>
              <a:buFontTx/>
              <a:buNone/>
            </a:pPr>
            <a:r>
              <a:rPr lang="ro-RO" altLang="en-US" sz="2000" dirty="0"/>
              <a:t>&lt;body&gt;</a:t>
            </a:r>
          </a:p>
          <a:p>
            <a:pPr lvl="1">
              <a:buFontTx/>
              <a:buNone/>
            </a:pPr>
            <a:r>
              <a:rPr lang="ro-RO" altLang="en-US" sz="2000" dirty="0"/>
              <a:t>&lt;a </a:t>
            </a:r>
            <a:r>
              <a:rPr lang="ro-RO" altLang="en-US" sz="2000" dirty="0" err="1"/>
              <a:t>href</a:t>
            </a:r>
            <a:r>
              <a:rPr lang="ro-RO" altLang="en-US" sz="2000" dirty="0"/>
              <a:t>="test2.html"&gt;&lt;</a:t>
            </a:r>
            <a:r>
              <a:rPr lang="ro-RO" altLang="en-US" sz="2000" dirty="0" err="1"/>
              <a:t>img</a:t>
            </a:r>
            <a:r>
              <a:rPr lang="ro-RO" altLang="en-US" sz="2000" dirty="0"/>
              <a:t> </a:t>
            </a:r>
            <a:r>
              <a:rPr lang="ro-RO" altLang="en-US" sz="2000" dirty="0" err="1"/>
              <a:t>src</a:t>
            </a:r>
            <a:r>
              <a:rPr lang="ro-RO" altLang="en-US" sz="2000" dirty="0"/>
              <a:t>="foto2.jpg” </a:t>
            </a:r>
            <a:r>
              <a:rPr lang="ro-RO" altLang="en-US" sz="2000" dirty="0" err="1"/>
              <a:t>width</a:t>
            </a:r>
            <a:r>
              <a:rPr lang="ro-RO" altLang="en-US" sz="2000" dirty="0"/>
              <a:t>="100" </a:t>
            </a:r>
            <a:r>
              <a:rPr lang="ro-RO" altLang="en-US" sz="2000" dirty="0" err="1"/>
              <a:t>height</a:t>
            </a:r>
            <a:r>
              <a:rPr lang="ro-RO" altLang="en-US" sz="2000" dirty="0"/>
              <a:t>="200" </a:t>
            </a:r>
            <a:r>
              <a:rPr lang="ro-RO" altLang="en-US" sz="2000" dirty="0" err="1"/>
              <a:t>border</a:t>
            </a:r>
            <a:r>
              <a:rPr lang="ro-RO" altLang="en-US" sz="2000" dirty="0"/>
              <a:t>="0” alt="Fotografia mea"&gt;&lt;/a&gt;</a:t>
            </a:r>
          </a:p>
          <a:p>
            <a:pPr lvl="1">
              <a:buFontTx/>
              <a:buNone/>
            </a:pPr>
            <a:r>
              <a:rPr lang="ro-RO" altLang="en-US" sz="2000" dirty="0"/>
              <a:t>      Fotografia mea</a:t>
            </a:r>
          </a:p>
          <a:p>
            <a:pPr>
              <a:buFontTx/>
              <a:buNone/>
            </a:pPr>
            <a:r>
              <a:rPr lang="ro-RO" altLang="en-US" sz="2000" dirty="0"/>
              <a:t>&lt;/body&gt;</a:t>
            </a:r>
          </a:p>
          <a:p>
            <a:pPr>
              <a:buFontTx/>
              <a:buNone/>
            </a:pPr>
            <a:endParaRPr lang="ro-RO" altLang="en-US" sz="2000" dirty="0"/>
          </a:p>
          <a:p>
            <a:pPr>
              <a:buFontTx/>
              <a:buNone/>
            </a:pPr>
            <a:r>
              <a:rPr lang="ro-RO" altLang="en-US" sz="2000" dirty="0" err="1"/>
              <a:t>border</a:t>
            </a:r>
            <a:r>
              <a:rPr lang="ro-RO" altLang="en-US" sz="2000" dirty="0"/>
              <a:t>=“0” elimină chenarul plasat de browser automat</a:t>
            </a:r>
          </a:p>
          <a:p>
            <a:pPr>
              <a:buFontTx/>
              <a:buNone/>
            </a:pPr>
            <a:r>
              <a:rPr lang="ro-RO" altLang="en-US" sz="2000" dirty="0"/>
              <a:t>în jurul imaginii-link.</a:t>
            </a:r>
          </a:p>
        </p:txBody>
      </p:sp>
      <p:sp>
        <p:nvSpPr>
          <p:cNvPr id="48137" name="Rectangle 4813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139" name="Rectangle 4813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131" name="Footer Placeholder 4">
            <a:extLst>
              <a:ext uri="{FF2B5EF4-FFF2-40B4-BE49-F238E27FC236}">
                <a16:creationId xmlns:a16="http://schemas.microsoft.com/office/drawing/2014/main" id="{B2BDE715-5CD3-8913-CE68-9385347A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48132" name="Slide Number Placeholder 5">
            <a:extLst>
              <a:ext uri="{FF2B5EF4-FFF2-40B4-BE49-F238E27FC236}">
                <a16:creationId xmlns:a16="http://schemas.microsoft.com/office/drawing/2014/main" id="{00EFD9A0-88D1-0C7E-BD84-B6AD9C062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3083E8C5-D04B-8F44-A9AC-B8854CB95F16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22</a:t>
            </a:fld>
            <a:endParaRPr lang="en-US" altLang="en-US" sz="1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9AF3-9A29-6B48-9F50-F2E38733E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Zona</a:t>
            </a:r>
            <a:r>
              <a:rPr lang="en-US" dirty="0"/>
              <a:t> HEAD</a:t>
            </a:r>
          </a:p>
        </p:txBody>
      </p:sp>
      <p:sp>
        <p:nvSpPr>
          <p:cNvPr id="57346" name="Content Placeholder 2">
            <a:extLst>
              <a:ext uri="{FF2B5EF4-FFF2-40B4-BE49-F238E27FC236}">
                <a16:creationId xmlns:a16="http://schemas.microsoft.com/office/drawing/2014/main" id="{BE56A534-BCEC-B9E0-1784-1B76455A19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68556"/>
            <a:ext cx="9720073" cy="4023360"/>
          </a:xfrm>
        </p:spPr>
        <p:txBody>
          <a:bodyPr/>
          <a:lstStyle/>
          <a:p>
            <a:r>
              <a:rPr lang="ro-RO" altLang="en-US" dirty="0"/>
              <a:t>Î</a:t>
            </a:r>
            <a:r>
              <a:rPr lang="it-IT" altLang="en-US" dirty="0" err="1"/>
              <a:t>n</a:t>
            </a:r>
            <a:r>
              <a:rPr lang="it-IT" altLang="en-US" dirty="0"/>
              <a:t> zona de </a:t>
            </a:r>
            <a:r>
              <a:rPr lang="it-IT" altLang="en-US" dirty="0" err="1"/>
              <a:t>header</a:t>
            </a:r>
            <a:r>
              <a:rPr lang="it-IT" altLang="en-US" dirty="0"/>
              <a:t> a </a:t>
            </a:r>
            <a:r>
              <a:rPr lang="it-IT" altLang="en-US" dirty="0" err="1"/>
              <a:t>paginii</a:t>
            </a:r>
            <a:r>
              <a:rPr lang="it-IT" altLang="en-US" dirty="0"/>
              <a:t> (</a:t>
            </a:r>
            <a:r>
              <a:rPr lang="ro-RO" altLang="en-US" dirty="0"/>
              <a:t>î</a:t>
            </a:r>
            <a:r>
              <a:rPr lang="it-IT" altLang="en-US" dirty="0" err="1"/>
              <a:t>ntre</a:t>
            </a:r>
            <a:r>
              <a:rPr lang="ro-RO" altLang="en-US" dirty="0"/>
              <a:t> </a:t>
            </a:r>
            <a:r>
              <a:rPr lang="en-US" altLang="en-US" dirty="0">
                <a:latin typeface="Comic Sans MS" panose="030F0902030302020204" pitchFamily="66" charset="0"/>
              </a:rPr>
              <a:t>&lt;head&gt; </a:t>
            </a:r>
            <a:r>
              <a:rPr lang="ro-RO" altLang="en-US" dirty="0"/>
              <a:t>ș</a:t>
            </a:r>
            <a:r>
              <a:rPr lang="en-US" altLang="en-US" dirty="0" err="1"/>
              <a:t>i</a:t>
            </a:r>
            <a:r>
              <a:rPr lang="en-US" altLang="en-US" dirty="0"/>
              <a:t> </a:t>
            </a:r>
            <a:r>
              <a:rPr lang="en-US" altLang="en-US" dirty="0">
                <a:latin typeface="Comic Sans MS" panose="030F0902030302020204" pitchFamily="66" charset="0"/>
              </a:rPr>
              <a:t>&lt;/head&gt;</a:t>
            </a:r>
            <a:r>
              <a:rPr lang="en-US" altLang="en-US" dirty="0"/>
              <a:t>) </a:t>
            </a:r>
            <a:r>
              <a:rPr lang="en-US" altLang="en-US" dirty="0" err="1"/>
              <a:t>putem</a:t>
            </a:r>
            <a:r>
              <a:rPr lang="en-US" altLang="en-US" dirty="0"/>
              <a:t> </a:t>
            </a:r>
            <a:r>
              <a:rPr lang="en-US" altLang="en-US" dirty="0" err="1"/>
              <a:t>pune</a:t>
            </a:r>
            <a:r>
              <a:rPr lang="en-US" altLang="en-US" dirty="0"/>
              <a:t> o</a:t>
            </a:r>
            <a:r>
              <a:rPr lang="ro-RO" altLang="en-US" dirty="0"/>
              <a:t> </a:t>
            </a:r>
            <a:r>
              <a:rPr lang="en-US" altLang="en-US" dirty="0" err="1"/>
              <a:t>serie</a:t>
            </a:r>
            <a:r>
              <a:rPr lang="en-US" altLang="en-US" dirty="0"/>
              <a:t> de directive de </a:t>
            </a:r>
            <a:r>
              <a:rPr lang="en-US" altLang="en-US" dirty="0" err="1"/>
              <a:t>descriere</a:t>
            </a:r>
            <a:r>
              <a:rPr lang="en-US" altLang="en-US" dirty="0"/>
              <a:t> a</a:t>
            </a:r>
            <a:r>
              <a:rPr lang="ro-RO" altLang="en-US" dirty="0"/>
              <a:t> </a:t>
            </a:r>
            <a:r>
              <a:rPr lang="en-US" altLang="en-US" dirty="0" err="1"/>
              <a:t>documentului</a:t>
            </a:r>
            <a:r>
              <a:rPr lang="en-US" altLang="en-US" dirty="0"/>
              <a:t>.</a:t>
            </a:r>
          </a:p>
        </p:txBody>
      </p:sp>
      <p:sp>
        <p:nvSpPr>
          <p:cNvPr id="57347" name="Footer Placeholder 4">
            <a:extLst>
              <a:ext uri="{FF2B5EF4-FFF2-40B4-BE49-F238E27FC236}">
                <a16:creationId xmlns:a16="http://schemas.microsoft.com/office/drawing/2014/main" id="{9251755C-FC07-35E8-81C0-05E1ACD59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57348" name="Slide Number Placeholder 5">
            <a:extLst>
              <a:ext uri="{FF2B5EF4-FFF2-40B4-BE49-F238E27FC236}">
                <a16:creationId xmlns:a16="http://schemas.microsoft.com/office/drawing/2014/main" id="{74BF5A74-CDCA-899E-E662-38BCA9E50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C550DF-B06F-E14B-BB4D-AD9443D22FB0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7A6EE-D6FD-1FF1-6C26-1A8B1B68E081}"/>
              </a:ext>
            </a:extLst>
          </p:cNvPr>
          <p:cNvSpPr txBox="1">
            <a:spLocks noChangeArrowheads="1"/>
          </p:cNvSpPr>
          <p:nvPr/>
        </p:nvSpPr>
        <p:spPr>
          <a:xfrm>
            <a:off x="1024128" y="2761489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altLang="en-US" sz="2400" dirty="0"/>
              <a:t>TITLE: </a:t>
            </a:r>
            <a:r>
              <a:rPr lang="it-IT" altLang="en-US" sz="2400" dirty="0" err="1"/>
              <a:t>titlul</a:t>
            </a:r>
            <a:r>
              <a:rPr lang="it-IT" altLang="en-US" sz="2400" dirty="0"/>
              <a:t> </a:t>
            </a:r>
            <a:r>
              <a:rPr lang="it-IT" altLang="en-US" sz="2400" dirty="0" err="1"/>
              <a:t>unei</a:t>
            </a:r>
            <a:r>
              <a:rPr lang="it-IT" altLang="en-US" sz="2400" dirty="0"/>
              <a:t> pagini. </a:t>
            </a:r>
            <a:r>
              <a:rPr lang="it-IT" altLang="en-US" sz="2400" dirty="0" err="1"/>
              <a:t>Sintaxa</a:t>
            </a:r>
            <a:r>
              <a:rPr lang="it-IT" altLang="en-US" sz="2400" dirty="0"/>
              <a:t> este:</a:t>
            </a:r>
          </a:p>
          <a:p>
            <a:pPr>
              <a:buFontTx/>
              <a:buNone/>
            </a:pPr>
            <a:r>
              <a:rPr lang="en-US" altLang="en-US" sz="2400" dirty="0"/>
              <a:t>&lt;title&gt;</a:t>
            </a:r>
            <a:r>
              <a:rPr lang="en-US" altLang="en-US" sz="2400" dirty="0" err="1"/>
              <a:t>titlu</a:t>
            </a:r>
            <a:r>
              <a:rPr lang="en-US" altLang="en-US" sz="2400" dirty="0"/>
              <a:t>&lt;/title&gt;</a:t>
            </a:r>
          </a:p>
          <a:p>
            <a:r>
              <a:rPr lang="en-US" altLang="en-US" sz="2400" dirty="0" err="1"/>
              <a:t>Titlul</a:t>
            </a:r>
            <a:r>
              <a:rPr lang="en-US" altLang="en-US" sz="2400" dirty="0"/>
              <a:t> nu se </a:t>
            </a:r>
            <a:r>
              <a:rPr lang="en-US" altLang="en-US" sz="2400" dirty="0" err="1"/>
              <a:t>formateaz</a:t>
            </a:r>
            <a:r>
              <a:rPr lang="ro-RO" altLang="en-US" sz="2400" dirty="0"/>
              <a:t>ă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el</a:t>
            </a:r>
            <a:r>
              <a:rPr lang="en-US" altLang="en-US" sz="2400" dirty="0"/>
              <a:t> nu </a:t>
            </a:r>
            <a:r>
              <a:rPr lang="en-US" altLang="en-US" sz="2400" dirty="0" err="1"/>
              <a:t>apare</a:t>
            </a:r>
            <a:r>
              <a:rPr lang="en-US" altLang="en-US" sz="2400" dirty="0"/>
              <a:t> </a:t>
            </a:r>
            <a:r>
              <a:rPr lang="ro-RO" altLang="en-US" sz="2400" dirty="0"/>
              <a:t>î</a:t>
            </a:r>
            <a:r>
              <a:rPr lang="en-US" altLang="en-US" sz="2400" dirty="0"/>
              <a:t>n</a:t>
            </a:r>
            <a:r>
              <a:rPr lang="ro-RO" altLang="en-US" sz="2400" dirty="0"/>
              <a:t> </a:t>
            </a:r>
            <a:r>
              <a:rPr lang="en-US" altLang="en-US" sz="2400" dirty="0" err="1"/>
              <a:t>fereastra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browserului</a:t>
            </a:r>
            <a:r>
              <a:rPr lang="en-US" altLang="en-US" sz="2400" dirty="0"/>
              <a:t>.</a:t>
            </a:r>
          </a:p>
          <a:p>
            <a:r>
              <a:rPr lang="en-US" altLang="en-US" sz="2400" dirty="0"/>
              <a:t>De </a:t>
            </a:r>
            <a:r>
              <a:rPr lang="en-US" altLang="en-US" sz="2400" dirty="0" err="1"/>
              <a:t>exemplu</a:t>
            </a:r>
            <a:r>
              <a:rPr lang="en-US" altLang="en-US" sz="2400" dirty="0"/>
              <a:t>:</a:t>
            </a:r>
          </a:p>
          <a:p>
            <a:pPr>
              <a:buFontTx/>
              <a:buNone/>
            </a:pPr>
            <a:r>
              <a:rPr lang="ro-RO" altLang="en-US" sz="2400" dirty="0"/>
              <a:t>	</a:t>
            </a:r>
            <a:r>
              <a:rPr lang="en-US" altLang="en-US" sz="2400" dirty="0"/>
              <a:t>&lt;title&gt;&lt;b&gt;</a:t>
            </a:r>
            <a:r>
              <a:rPr lang="en-US" altLang="en-US" sz="2400" dirty="0" err="1"/>
              <a:t>Ceva</a:t>
            </a:r>
            <a:r>
              <a:rPr lang="en-US" altLang="en-US" sz="2400" dirty="0"/>
              <a:t>&lt;/b&gt;&lt;/title&gt;</a:t>
            </a:r>
          </a:p>
          <a:p>
            <a:pPr>
              <a:buFontTx/>
              <a:buNone/>
            </a:pPr>
            <a:r>
              <a:rPr lang="ro-RO" altLang="en-US" sz="2400" dirty="0"/>
              <a:t>	</a:t>
            </a:r>
            <a:r>
              <a:rPr lang="en-US" altLang="en-US" sz="2400" dirty="0"/>
              <a:t>are </a:t>
            </a:r>
            <a:r>
              <a:rPr lang="en-US" altLang="en-US" sz="2400" dirty="0" err="1"/>
              <a:t>efectul</a:t>
            </a:r>
            <a:r>
              <a:rPr lang="en-US" altLang="en-US" sz="2400" dirty="0"/>
              <a:t> al</a:t>
            </a:r>
            <a:r>
              <a:rPr lang="ro-RO" altLang="en-US" sz="2400" dirty="0"/>
              <a:t>ă</a:t>
            </a:r>
            <a:r>
              <a:rPr lang="en-US" altLang="en-US" sz="2400" dirty="0" err="1"/>
              <a:t>turat</a:t>
            </a:r>
            <a:endParaRPr lang="en-US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C7009-4A22-7747-AD9E-A7F4EC02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HEAD - META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C921D978-075E-04E5-50F6-149A82EED4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68556"/>
            <a:ext cx="9720073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ro-RO" sz="2400" dirty="0"/>
              <a:t>Directiva &lt;meta&gt;: Este folosită pentru a specifica “meta-</a:t>
            </a:r>
            <a:r>
              <a:rPr lang="ro-RO" altLang="ro-RO" sz="2400" dirty="0" err="1"/>
              <a:t>informaţii</a:t>
            </a:r>
            <a:r>
              <a:rPr lang="en-US" altLang="ro-RO" sz="2400" dirty="0"/>
              <a:t>”</a:t>
            </a:r>
            <a:r>
              <a:rPr lang="ro-RO" altLang="ro-RO" sz="2400" dirty="0"/>
              <a:t> despre pagina respectivă.</a:t>
            </a:r>
          </a:p>
          <a:p>
            <a:pPr>
              <a:spcAft>
                <a:spcPts val="600"/>
              </a:spcAft>
            </a:pPr>
            <a:r>
              <a:rPr lang="ro-RO" altLang="ro-RO" sz="2400" dirty="0"/>
              <a:t> Formatul acesteia este: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2400" dirty="0"/>
              <a:t>&lt;META [HTTP-EQUIV | NAME]= "ceva“ CONTENT= "altceva" &gt;</a:t>
            </a:r>
          </a:p>
          <a:p>
            <a:pPr>
              <a:spcAft>
                <a:spcPts val="600"/>
              </a:spcAft>
            </a:pPr>
            <a:r>
              <a:rPr lang="ro-RO" altLang="ro-RO" sz="2400" dirty="0"/>
              <a:t>În cazul în care serverul face o inspecție a documentelor cerute se poate folosi </a:t>
            </a:r>
            <a:r>
              <a:rPr lang="ro-RO" altLang="ro-RO" sz="2400" i="1" dirty="0" err="1"/>
              <a:t>http-equiv</a:t>
            </a:r>
            <a:r>
              <a:rPr lang="ro-RO" altLang="ro-RO" sz="2400" dirty="0"/>
              <a:t>, care are efectul de a instrui serverul să trimită un element de preambul al paginii definit de directiva respectivă.</a:t>
            </a:r>
          </a:p>
          <a:p>
            <a:pPr>
              <a:spcAft>
                <a:spcPts val="600"/>
              </a:spcAft>
            </a:pPr>
            <a:r>
              <a:rPr lang="ro-RO" altLang="ro-RO" sz="2400" dirty="0"/>
              <a:t>Iată un exemplu:</a:t>
            </a:r>
          </a:p>
        </p:txBody>
      </p:sp>
      <p:sp>
        <p:nvSpPr>
          <p:cNvPr id="61443" name="Footer Placeholder 4">
            <a:extLst>
              <a:ext uri="{FF2B5EF4-FFF2-40B4-BE49-F238E27FC236}">
                <a16:creationId xmlns:a16="http://schemas.microsoft.com/office/drawing/2014/main" id="{2A040D4B-CF1C-3126-3EB7-279BEC61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61444" name="Slide Number Placeholder 5">
            <a:extLst>
              <a:ext uri="{FF2B5EF4-FFF2-40B4-BE49-F238E27FC236}">
                <a16:creationId xmlns:a16="http://schemas.microsoft.com/office/drawing/2014/main" id="{3E27D9D7-F183-D3E9-34B5-A6EE1196D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32724F-A742-3845-BDF2-6056F09F062E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3A55B-B21F-1940-8A85-4AF783FF4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63490" name="Content Placeholder 2">
            <a:extLst>
              <a:ext uri="{FF2B5EF4-FFF2-40B4-BE49-F238E27FC236}">
                <a16:creationId xmlns:a16="http://schemas.microsoft.com/office/drawing/2014/main" id="{B1BAAD75-27D1-F084-AACA-625FF9F72A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17260" y="1918252"/>
            <a:ext cx="9720073" cy="4023360"/>
          </a:xfrm>
        </p:spPr>
        <p:txBody>
          <a:bodyPr>
            <a:normAutofit fontScale="92500" lnSpcReduction="10000"/>
          </a:bodyPr>
          <a:lstStyle/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&lt;html&gt; &lt;head&gt;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&lt;title&gt; </a:t>
            </a:r>
            <a:r>
              <a:rPr lang="en-US" altLang="en-US" sz="2000" dirty="0" err="1">
                <a:latin typeface="Comic Sans MS" panose="030F0902030302020204" pitchFamily="66" charset="0"/>
              </a:rPr>
              <a:t>Programul</a:t>
            </a:r>
            <a:r>
              <a:rPr lang="en-US" altLang="en-US" sz="2000" dirty="0">
                <a:latin typeface="Comic Sans MS" panose="030F0902030302020204" pitchFamily="66" charset="0"/>
              </a:rPr>
              <a:t> </a:t>
            </a:r>
            <a:r>
              <a:rPr lang="en-US" altLang="en-US" sz="2000" dirty="0" err="1">
                <a:latin typeface="Comic Sans MS" panose="030F0902030302020204" pitchFamily="66" charset="0"/>
              </a:rPr>
              <a:t>conferintei</a:t>
            </a:r>
            <a:r>
              <a:rPr lang="en-US" altLang="en-US" sz="2000" dirty="0">
                <a:latin typeface="Comic Sans MS" panose="030F0902030302020204" pitchFamily="66" charset="0"/>
              </a:rPr>
              <a:t> &lt;title&gt;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&lt;meta http-</a:t>
            </a:r>
            <a:r>
              <a:rPr lang="en-US" altLang="en-US" sz="2000" dirty="0" err="1">
                <a:solidFill>
                  <a:srgbClr val="FF0000"/>
                </a:solidFill>
                <a:latin typeface="Comic Sans MS" panose="030F0902030302020204" pitchFamily="66" charset="0"/>
              </a:rPr>
              <a:t>equiv</a:t>
            </a: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="Expires“</a:t>
            </a:r>
            <a:r>
              <a:rPr lang="ro-RO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content="Sat, 30 Dec 2000 10:00:00 GMT"&gt;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&lt;/head&gt;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&lt;body&gt;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&lt;h1&gt;Program&lt;/h1&gt;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. . . . . .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&lt;/body&gt;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latin typeface="Comic Sans MS" panose="030F0902030302020204" pitchFamily="66" charset="0"/>
              </a:rPr>
              <a:t>&lt;/html&gt;</a:t>
            </a:r>
          </a:p>
          <a:p>
            <a:pPr>
              <a:spcAft>
                <a:spcPts val="600"/>
              </a:spcAft>
            </a:pPr>
            <a:r>
              <a:rPr lang="fr-FR" altLang="en-US" sz="2000" dirty="0" err="1"/>
              <a:t>Serverul</a:t>
            </a:r>
            <a:r>
              <a:rPr lang="fr-FR" altLang="en-US" sz="2000" dirty="0"/>
              <a:t> va </a:t>
            </a:r>
            <a:r>
              <a:rPr lang="fr-FR" altLang="en-US" sz="2000" dirty="0" err="1"/>
              <a:t>trimite</a:t>
            </a:r>
            <a:r>
              <a:rPr lang="fr-FR" altLang="en-US" sz="2000" dirty="0"/>
              <a:t> un </a:t>
            </a:r>
            <a:r>
              <a:rPr lang="fr-FR" altLang="en-US" sz="2000" dirty="0" err="1"/>
              <a:t>element</a:t>
            </a:r>
            <a:r>
              <a:rPr lang="fr-FR" altLang="en-US" sz="2000" dirty="0"/>
              <a:t> de </a:t>
            </a:r>
            <a:r>
              <a:rPr lang="fr-FR" altLang="en-US" sz="2000" dirty="0" err="1"/>
              <a:t>preambul</a:t>
            </a:r>
            <a:r>
              <a:rPr lang="fr-FR" altLang="en-US" sz="2000" dirty="0"/>
              <a:t> de</a:t>
            </a:r>
            <a:r>
              <a:rPr lang="ro-RO" altLang="en-US" sz="2000" dirty="0"/>
              <a:t> </a:t>
            </a:r>
            <a:r>
              <a:rPr lang="en-US" altLang="en-US" sz="2000" dirty="0"/>
              <a:t>forma: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sz="2000" dirty="0"/>
              <a:t>	</a:t>
            </a:r>
            <a:r>
              <a:rPr lang="da-DK" altLang="en-US" sz="2000" dirty="0" err="1">
                <a:solidFill>
                  <a:srgbClr val="FF0000"/>
                </a:solidFill>
                <a:latin typeface="Comic Sans MS" panose="030F0902030302020204" pitchFamily="66" charset="0"/>
              </a:rPr>
              <a:t>Expires</a:t>
            </a:r>
            <a:r>
              <a:rPr lang="da-DK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: Sat, 30 </a:t>
            </a:r>
            <a:r>
              <a:rPr lang="da-DK" altLang="en-US" sz="2000" dirty="0" err="1">
                <a:solidFill>
                  <a:srgbClr val="FF0000"/>
                </a:solidFill>
                <a:latin typeface="Comic Sans MS" panose="030F0902030302020204" pitchFamily="66" charset="0"/>
              </a:rPr>
              <a:t>Dec</a:t>
            </a:r>
            <a:r>
              <a:rPr lang="da-DK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 2000 10:00:00 GMT</a:t>
            </a:r>
            <a:endParaRPr lang="en-US" altLang="en-US" sz="2000" dirty="0">
              <a:solidFill>
                <a:srgbClr val="FF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63491" name="Footer Placeholder 4">
            <a:extLst>
              <a:ext uri="{FF2B5EF4-FFF2-40B4-BE49-F238E27FC236}">
                <a16:creationId xmlns:a16="http://schemas.microsoft.com/office/drawing/2014/main" id="{196ACF2E-2B85-CEFD-F853-89494D223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63492" name="Slide Number Placeholder 5">
            <a:extLst>
              <a:ext uri="{FF2B5EF4-FFF2-40B4-BE49-F238E27FC236}">
                <a16:creationId xmlns:a16="http://schemas.microsoft.com/office/drawing/2014/main" id="{2D371944-7102-02EB-CD3F-63CAF5AAB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2C2992-4081-7141-A1E1-75279585D72D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8AE5D-6D5E-604F-84A5-660225D63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/>
              <a:t>Alt exemplu</a:t>
            </a:r>
            <a:endParaRPr lang="en-US"/>
          </a:p>
        </p:txBody>
      </p:sp>
      <p:sp>
        <p:nvSpPr>
          <p:cNvPr id="64514" name="Content Placeholder 2">
            <a:extLst>
              <a:ext uri="{FF2B5EF4-FFF2-40B4-BE49-F238E27FC236}">
                <a16:creationId xmlns:a16="http://schemas.microsoft.com/office/drawing/2014/main" id="{546A0B32-07FE-BBAD-2365-BF782DC267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3796" y="1991711"/>
            <a:ext cx="8018271" cy="4023360"/>
          </a:xfrm>
        </p:spPr>
        <p:txBody>
          <a:bodyPr>
            <a:normAutofit/>
          </a:bodyPr>
          <a:lstStyle/>
          <a:p>
            <a:r>
              <a:rPr lang="ro-RO" altLang="ro-RO" sz="2400" dirty="0"/>
              <a:t>Pentru a specifica setul de caractere folosit – de exemplu UTF-8 - se poate folosi:</a:t>
            </a:r>
          </a:p>
          <a:p>
            <a:pPr lvl="1">
              <a:buFontTx/>
              <a:buNone/>
            </a:pPr>
            <a:endParaRPr lang="ro-RO" altLang="ro-RO" sz="2400" dirty="0"/>
          </a:p>
          <a:p>
            <a:pPr lvl="1">
              <a:buFontTx/>
              <a:buNone/>
            </a:pPr>
            <a:r>
              <a:rPr lang="ro-RO" altLang="ro-RO" sz="2400" dirty="0"/>
              <a:t>&lt;meta </a:t>
            </a:r>
            <a:r>
              <a:rPr lang="ro-RO" altLang="ro-RO" sz="2400" dirty="0" err="1"/>
              <a:t>http-equiv</a:t>
            </a:r>
            <a:r>
              <a:rPr lang="ro-RO" altLang="ro-RO" sz="2400" dirty="0"/>
              <a:t>="content-</a:t>
            </a:r>
            <a:r>
              <a:rPr lang="ro-RO" altLang="ro-RO" sz="2400" dirty="0" err="1"/>
              <a:t>type</a:t>
            </a:r>
            <a:r>
              <a:rPr lang="ro-RO" altLang="ro-RO" sz="2400" dirty="0"/>
              <a:t>” content="text/</a:t>
            </a:r>
            <a:r>
              <a:rPr lang="ro-RO" altLang="ro-RO" sz="2400" dirty="0" err="1"/>
              <a:t>html</a:t>
            </a:r>
            <a:r>
              <a:rPr lang="ro-RO" altLang="ro-RO" sz="2400" dirty="0"/>
              <a:t>; </a:t>
            </a:r>
            <a:r>
              <a:rPr lang="ro-RO" altLang="ro-RO" sz="2400" dirty="0" err="1"/>
              <a:t>charset</a:t>
            </a:r>
            <a:r>
              <a:rPr lang="ro-RO" altLang="ro-RO" sz="2400" dirty="0"/>
              <a:t>=UTF-8"&gt;</a:t>
            </a:r>
          </a:p>
          <a:p>
            <a:r>
              <a:rPr lang="ro-RO" altLang="ro-RO" sz="2400" dirty="0"/>
              <a:t>În felul acesta putem adăuga diacritice în pagini web</a:t>
            </a:r>
          </a:p>
          <a:p>
            <a:r>
              <a:rPr lang="ro-RO" altLang="ro-RO" sz="2400" dirty="0"/>
              <a:t>Documentul sursă trebuie salvat ca document UTF-8</a:t>
            </a:r>
          </a:p>
        </p:txBody>
      </p:sp>
      <p:sp>
        <p:nvSpPr>
          <p:cNvPr id="64521" name="Rectangle 6452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523" name="Rectangle 6452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515" name="Footer Placeholder 4">
            <a:extLst>
              <a:ext uri="{FF2B5EF4-FFF2-40B4-BE49-F238E27FC236}">
                <a16:creationId xmlns:a16="http://schemas.microsoft.com/office/drawing/2014/main" id="{3CA3F489-AEFE-0C00-8E4F-F8959660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64516" name="Slide Number Placeholder 5">
            <a:extLst>
              <a:ext uri="{FF2B5EF4-FFF2-40B4-BE49-F238E27FC236}">
                <a16:creationId xmlns:a16="http://schemas.microsoft.com/office/drawing/2014/main" id="{5BA2E906-67C5-3EAE-9A04-7B064689F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016B3F83-2086-E44F-94E0-97CC69C1B7E4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26</a:t>
            </a:fld>
            <a:endParaRPr lang="en-US" altLang="en-US"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634CA-9D95-9845-8CAF-EB3B6F78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2133601"/>
            <a:ext cx="2743200" cy="487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dirty="0"/>
              <a:t>Exemple de alte seturi de caractere</a:t>
            </a:r>
            <a:endParaRPr lang="en-US" dirty="0"/>
          </a:p>
        </p:txBody>
      </p:sp>
      <p:sp>
        <p:nvSpPr>
          <p:cNvPr id="65538" name="Date Placeholder 3">
            <a:extLst>
              <a:ext uri="{FF2B5EF4-FFF2-40B4-BE49-F238E27FC236}">
                <a16:creationId xmlns:a16="http://schemas.microsoft.com/office/drawing/2014/main" id="{A92DCF0F-C248-FA73-D477-829F5DBC86F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04.03.2010</a:t>
            </a:r>
          </a:p>
        </p:txBody>
      </p:sp>
      <p:sp>
        <p:nvSpPr>
          <p:cNvPr id="65539" name="Footer Placeholder 4">
            <a:extLst>
              <a:ext uri="{FF2B5EF4-FFF2-40B4-BE49-F238E27FC236}">
                <a16:creationId xmlns:a16="http://schemas.microsoft.com/office/drawing/2014/main" id="{DCED4C13-59B4-CD6E-43C5-28F2C8B7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65540" name="Slide Number Placeholder 5">
            <a:extLst>
              <a:ext uri="{FF2B5EF4-FFF2-40B4-BE49-F238E27FC236}">
                <a16:creationId xmlns:a16="http://schemas.microsoft.com/office/drawing/2014/main" id="{92B48903-A426-E4B2-6C28-A1184CC86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BB3751-6751-8941-8FF7-317D5423FC59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65541" name="Picture 2" descr="character encoding d9">
            <a:extLst>
              <a:ext uri="{FF2B5EF4-FFF2-40B4-BE49-F238E27FC236}">
                <a16:creationId xmlns:a16="http://schemas.microsoft.com/office/drawing/2014/main" id="{D7364AD4-D474-A40C-12F5-63BBF1EF6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-22225"/>
            <a:ext cx="4738688" cy="680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E43A-EBE3-424E-9BEA-BE849D9C8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Formulare</a:t>
            </a:r>
            <a:endParaRPr lang="en-US" dirty="0"/>
          </a:p>
        </p:txBody>
      </p:sp>
      <p:sp>
        <p:nvSpPr>
          <p:cNvPr id="66562" name="Content Placeholder 2">
            <a:extLst>
              <a:ext uri="{FF2B5EF4-FFF2-40B4-BE49-F238E27FC236}">
                <a16:creationId xmlns:a16="http://schemas.microsoft.com/office/drawing/2014/main" id="{5223833E-2353-631D-F315-79E04D8CE6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76097"/>
            <a:ext cx="8018271" cy="402336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o-RO" altLang="en-US" dirty="0"/>
              <a:t>Majoritatea directivelor HTML servesc pentru formatarea textului paginii.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o-RO" altLang="en-US" dirty="0"/>
              <a:t>Formularele sunt cele care pot face ca o pagina să fie interactivă (să intre în dialog cu utilizatorul).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o-RO" altLang="en-US" dirty="0"/>
              <a:t>Un formular trebuie sa aibă în principiu: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o-RO" altLang="en-US" dirty="0"/>
              <a:t>O </a:t>
            </a:r>
            <a:r>
              <a:rPr lang="ro-RO" altLang="en-US" dirty="0" err="1"/>
              <a:t>acţiune</a:t>
            </a:r>
            <a:r>
              <a:rPr lang="ro-RO" altLang="en-US" dirty="0"/>
              <a:t> asociată </a:t>
            </a:r>
            <a:r>
              <a:rPr lang="en-US" altLang="en-US" dirty="0" err="1"/>
              <a:t>numit</a:t>
            </a:r>
            <a:r>
              <a:rPr lang="ro-RO" altLang="en-US" dirty="0"/>
              <a:t>ă</a:t>
            </a:r>
            <a:r>
              <a:rPr lang="en-US" altLang="en-US" dirty="0"/>
              <a:t> </a:t>
            </a:r>
            <a:r>
              <a:rPr lang="en-US" altLang="en-US" i="1" dirty="0"/>
              <a:t>script CGI</a:t>
            </a:r>
            <a:r>
              <a:rPr lang="ro-RO" altLang="en-US" dirty="0"/>
              <a:t>. Datele completate de utilizator sunt preluate de acest script </a:t>
            </a:r>
            <a:r>
              <a:rPr lang="ro-RO" altLang="en-US" dirty="0" err="1"/>
              <a:t>şi</a:t>
            </a:r>
            <a:r>
              <a:rPr lang="ro-RO" altLang="en-US" dirty="0"/>
              <a:t> prelucrate. Rezultatul scriptului este trimis ca răspuns utilizatorului. Această </a:t>
            </a:r>
            <a:r>
              <a:rPr lang="ro-RO" altLang="en-US" dirty="0" err="1"/>
              <a:t>acţiune</a:t>
            </a:r>
            <a:r>
              <a:rPr lang="ro-RO" altLang="en-US" dirty="0"/>
              <a:t> se </a:t>
            </a:r>
            <a:r>
              <a:rPr lang="ro-RO" altLang="en-US" dirty="0" err="1"/>
              <a:t>găseşte</a:t>
            </a:r>
            <a:r>
              <a:rPr lang="ro-RO" altLang="en-US" dirty="0"/>
              <a:t> în directiva </a:t>
            </a:r>
            <a:r>
              <a:rPr lang="ro-RO" altLang="en-US" i="1" dirty="0"/>
              <a:t>&lt;</a:t>
            </a:r>
            <a:r>
              <a:rPr lang="ro-RO" altLang="en-US" i="1" dirty="0" err="1"/>
              <a:t>form</a:t>
            </a:r>
            <a:r>
              <a:rPr lang="ro-RO" altLang="en-US" i="1" dirty="0"/>
              <a:t>&gt;</a:t>
            </a:r>
          </a:p>
        </p:txBody>
      </p:sp>
      <p:sp>
        <p:nvSpPr>
          <p:cNvPr id="66569" name="Rectangle 6656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571" name="Rectangle 6657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563" name="Footer Placeholder 4">
            <a:extLst>
              <a:ext uri="{FF2B5EF4-FFF2-40B4-BE49-F238E27FC236}">
                <a16:creationId xmlns:a16="http://schemas.microsoft.com/office/drawing/2014/main" id="{6C73264E-C050-4819-A5BC-44443D927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66564" name="Slide Number Placeholder 5">
            <a:extLst>
              <a:ext uri="{FF2B5EF4-FFF2-40B4-BE49-F238E27FC236}">
                <a16:creationId xmlns:a16="http://schemas.microsoft.com/office/drawing/2014/main" id="{FD3DC87C-B184-E0EB-45A7-CCD27E80D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D187CAD3-11E5-8440-85E2-465A5D7F940E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28</a:t>
            </a:fld>
            <a:endParaRPr lang="en-US" altLang="en-US" sz="13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3335-F3D3-0044-B5F8-74AD15592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Formulare</a:t>
            </a:r>
            <a:endParaRPr lang="en-US" dirty="0"/>
          </a:p>
        </p:txBody>
      </p:sp>
      <p:sp>
        <p:nvSpPr>
          <p:cNvPr id="67586" name="Content Placeholder 2">
            <a:extLst>
              <a:ext uri="{FF2B5EF4-FFF2-40B4-BE49-F238E27FC236}">
                <a16:creationId xmlns:a16="http://schemas.microsoft.com/office/drawing/2014/main" id="{C80FEAF3-5265-1ED7-AA4F-FFC148A67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0045" y="1897117"/>
            <a:ext cx="8018271" cy="4023360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ro-RO" altLang="en-US" sz="2400" dirty="0"/>
              <a:t>Unul sau mai multe câmpuri de tip text, buton, </a:t>
            </a:r>
            <a:r>
              <a:rPr lang="ro-RO" altLang="en-US" sz="2400" dirty="0" err="1"/>
              <a:t>check</a:t>
            </a:r>
            <a:r>
              <a:rPr lang="ro-RO" altLang="en-US" sz="2400" dirty="0"/>
              <a:t>-box, lista de alegere etc. </a:t>
            </a:r>
          </a:p>
          <a:p>
            <a:pPr marL="457200" indent="-457200">
              <a:spcAft>
                <a:spcPts val="600"/>
              </a:spcAft>
              <a:buNone/>
            </a:pPr>
            <a:r>
              <a:rPr lang="ro-RO" altLang="en-US" sz="2400" dirty="0"/>
              <a:t>	Acestea sunt introduse prin directivele </a:t>
            </a:r>
            <a:r>
              <a:rPr lang="ro-RO" altLang="en-US" sz="2400" i="1" dirty="0"/>
              <a:t>&lt;input&gt;</a:t>
            </a:r>
            <a:r>
              <a:rPr lang="ro-RO" altLang="en-US" sz="2400" dirty="0"/>
              <a:t> din interiorul formularului.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ro-RO" altLang="en-US" sz="2400" dirty="0"/>
              <a:t>Un buton prin selectarea căruia valorile completate sunt trimise serverului de web. </a:t>
            </a:r>
          </a:p>
          <a:p>
            <a:pPr marL="457200" indent="-457200">
              <a:spcAft>
                <a:spcPts val="600"/>
              </a:spcAft>
              <a:buNone/>
            </a:pPr>
            <a:r>
              <a:rPr lang="ro-RO" altLang="en-US" sz="2400" dirty="0"/>
              <a:t>	El va lansa scriptul CGI </a:t>
            </a:r>
            <a:r>
              <a:rPr lang="ro-RO" altLang="en-US" sz="2400" dirty="0" err="1"/>
              <a:t>şi</a:t>
            </a:r>
            <a:r>
              <a:rPr lang="ro-RO" altLang="en-US" sz="2400" dirty="0"/>
              <a:t> va trimite rezultatele către browser. Acest buton se implementează tot prin intermediul unei directive &lt;input&gt;.</a:t>
            </a:r>
          </a:p>
        </p:txBody>
      </p:sp>
      <p:sp>
        <p:nvSpPr>
          <p:cNvPr id="67593" name="Rectangle 6759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595" name="Rectangle 6759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587" name="Footer Placeholder 4">
            <a:extLst>
              <a:ext uri="{FF2B5EF4-FFF2-40B4-BE49-F238E27FC236}">
                <a16:creationId xmlns:a16="http://schemas.microsoft.com/office/drawing/2014/main" id="{7394CE0D-480A-B716-E50F-BFF0560F8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67588" name="Slide Number Placeholder 5">
            <a:extLst>
              <a:ext uri="{FF2B5EF4-FFF2-40B4-BE49-F238E27FC236}">
                <a16:creationId xmlns:a16="http://schemas.microsoft.com/office/drawing/2014/main" id="{4D4EB35F-888D-A386-DD40-AEFE4F33E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8E657A0-7F1D-454C-8185-35D08DDFF07E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29</a:t>
            </a:fld>
            <a:endParaRPr lang="en-US" altLang="en-US" sz="13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0717-5604-7848-ABBD-855408B3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dirty="0"/>
              <a:t>Exemple</a:t>
            </a:r>
            <a:endParaRPr lang="en-US" dirty="0"/>
          </a:p>
        </p:txBody>
      </p:sp>
      <p:sp>
        <p:nvSpPr>
          <p:cNvPr id="68611" name="Footer Placeholder 4">
            <a:extLst>
              <a:ext uri="{FF2B5EF4-FFF2-40B4-BE49-F238E27FC236}">
                <a16:creationId xmlns:a16="http://schemas.microsoft.com/office/drawing/2014/main" id="{D9ABCB69-316B-0077-E3D5-D851C613E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68612" name="Slide Number Placeholder 5">
            <a:extLst>
              <a:ext uri="{FF2B5EF4-FFF2-40B4-BE49-F238E27FC236}">
                <a16:creationId xmlns:a16="http://schemas.microsoft.com/office/drawing/2014/main" id="{3B4C6EB9-5AF0-C3C8-161F-2D76EBEF9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5FF31A-1B94-844B-AF93-C65F6C9E0FB5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68613" name="Picture 2" descr="oreilly register for webcast form">
            <a:extLst>
              <a:ext uri="{FF2B5EF4-FFF2-40B4-BE49-F238E27FC236}">
                <a16:creationId xmlns:a16="http://schemas.microsoft.com/office/drawing/2014/main" id="{F82E4DF4-9955-07C5-8EF7-873B85C4E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591" y="1527229"/>
            <a:ext cx="4943475" cy="494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14" name="Picture 4" descr="library advanced search form">
            <a:extLst>
              <a:ext uri="{FF2B5EF4-FFF2-40B4-BE49-F238E27FC236}">
                <a16:creationId xmlns:a16="http://schemas.microsoft.com/office/drawing/2014/main" id="{CBD1E091-643A-FFD7-6BEE-8CB67BD22A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609" y="1719191"/>
            <a:ext cx="3744501" cy="4914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0635F-E9F7-584E-80A2-827E92F24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E55203C2-DE0E-344B-7328-BC7FD7A551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682576"/>
            <a:ext cx="8193444" cy="4590208"/>
          </a:xfrm>
        </p:spPr>
        <p:txBody>
          <a:bodyPr>
            <a:normAutofit/>
          </a:bodyPr>
          <a:lstStyle/>
          <a:p>
            <a:r>
              <a:rPr lang="ro-RO" altLang="ro-RO" sz="1800"/>
              <a:t>Formă generică a unui </a:t>
            </a:r>
            <a:r>
              <a:rPr lang="ro-RO" altLang="ro-RO" sz="1800" err="1"/>
              <a:t>fişier</a:t>
            </a:r>
            <a:r>
              <a:rPr lang="ro-RO" altLang="ro-RO" sz="1800"/>
              <a:t> HTML care </a:t>
            </a:r>
            <a:r>
              <a:rPr lang="ro-RO" altLang="ro-RO" sz="1800" err="1"/>
              <a:t>conţine</a:t>
            </a:r>
            <a:r>
              <a:rPr lang="ro-RO" altLang="ro-RO" sz="1800"/>
              <a:t> un formular este următoarea:</a:t>
            </a:r>
          </a:p>
          <a:p>
            <a:pPr lvl="1">
              <a:buFontTx/>
              <a:buNone/>
            </a:pPr>
            <a:r>
              <a:rPr lang="ro-RO" altLang="ro-RO"/>
              <a:t>&lt;</a:t>
            </a:r>
            <a:r>
              <a:rPr lang="ro-RO" altLang="ro-RO" err="1"/>
              <a:t>html</a:t>
            </a:r>
            <a:r>
              <a:rPr lang="ro-RO" altLang="ro-RO"/>
              <a:t>&gt;</a:t>
            </a:r>
          </a:p>
          <a:p>
            <a:pPr lvl="1">
              <a:buFontTx/>
              <a:buNone/>
            </a:pPr>
            <a:r>
              <a:rPr lang="ro-RO" altLang="ro-RO"/>
              <a:t>&lt;</a:t>
            </a:r>
            <a:r>
              <a:rPr lang="ro-RO" altLang="ro-RO" err="1"/>
              <a:t>head</a:t>
            </a:r>
            <a:r>
              <a:rPr lang="ro-RO" altLang="ro-RO"/>
              <a:t>&gt;</a:t>
            </a:r>
          </a:p>
          <a:p>
            <a:pPr lvl="1">
              <a:buFontTx/>
              <a:buNone/>
            </a:pPr>
            <a:r>
              <a:rPr lang="ro-RO" altLang="ro-RO"/>
              <a:t>	&lt;</a:t>
            </a:r>
            <a:r>
              <a:rPr lang="ro-RO" altLang="ro-RO" err="1"/>
              <a:t>title</a:t>
            </a:r>
            <a:r>
              <a:rPr lang="ro-RO" altLang="ro-RO"/>
              <a:t>&gt;Titlu&lt;/</a:t>
            </a:r>
            <a:r>
              <a:rPr lang="ro-RO" altLang="ro-RO" err="1"/>
              <a:t>title</a:t>
            </a:r>
            <a:r>
              <a:rPr lang="ro-RO" altLang="ro-RO"/>
              <a:t>&gt;</a:t>
            </a:r>
          </a:p>
          <a:p>
            <a:pPr lvl="1">
              <a:buFontTx/>
              <a:buNone/>
            </a:pPr>
            <a:r>
              <a:rPr lang="ro-RO" altLang="ro-RO"/>
              <a:t>&lt;/</a:t>
            </a:r>
            <a:r>
              <a:rPr lang="ro-RO" altLang="ro-RO" err="1"/>
              <a:t>head</a:t>
            </a:r>
            <a:r>
              <a:rPr lang="ro-RO" altLang="ro-RO"/>
              <a:t>&gt;</a:t>
            </a:r>
          </a:p>
          <a:p>
            <a:pPr lvl="1">
              <a:buFontTx/>
              <a:buNone/>
            </a:pPr>
            <a:r>
              <a:rPr lang="ro-RO" altLang="ro-RO"/>
              <a:t>&lt;body&gt;</a:t>
            </a:r>
          </a:p>
          <a:p>
            <a:pPr lvl="2">
              <a:buFontTx/>
              <a:buNone/>
            </a:pPr>
            <a:r>
              <a:rPr lang="ro-RO" altLang="ro-RO" sz="1800"/>
              <a:t>&lt;</a:t>
            </a:r>
            <a:r>
              <a:rPr lang="ro-RO" altLang="ro-RO" sz="1800" err="1"/>
              <a:t>form</a:t>
            </a:r>
            <a:r>
              <a:rPr lang="ro-RO" altLang="ro-RO" sz="1800"/>
              <a:t>&gt;</a:t>
            </a:r>
          </a:p>
          <a:p>
            <a:pPr lvl="2">
              <a:buFontTx/>
              <a:buNone/>
            </a:pPr>
            <a:r>
              <a:rPr lang="ro-RO" altLang="ro-RO" sz="1800"/>
              <a:t>&lt;input. . . &gt;</a:t>
            </a:r>
          </a:p>
          <a:p>
            <a:pPr lvl="2">
              <a:buFontTx/>
              <a:buNone/>
            </a:pPr>
            <a:r>
              <a:rPr lang="ro-RO" altLang="ro-RO" sz="1800"/>
              <a:t>&lt;select&gt; &lt;</a:t>
            </a:r>
            <a:r>
              <a:rPr lang="ro-RO" altLang="ro-RO" sz="1800" err="1"/>
              <a:t>option</a:t>
            </a:r>
            <a:r>
              <a:rPr lang="ro-RO" altLang="ro-RO" sz="1800"/>
              <a:t>&gt; . . . &lt;/select&gt;</a:t>
            </a:r>
          </a:p>
          <a:p>
            <a:pPr lvl="2">
              <a:buFontTx/>
              <a:buNone/>
            </a:pPr>
            <a:r>
              <a:rPr lang="ro-RO" altLang="ro-RO" sz="1800"/>
              <a:t>&lt;</a:t>
            </a:r>
            <a:r>
              <a:rPr lang="ro-RO" altLang="ro-RO" sz="1800" err="1"/>
              <a:t>textarea</a:t>
            </a:r>
            <a:r>
              <a:rPr lang="ro-RO" altLang="ro-RO" sz="1800"/>
              <a:t>&gt; &lt;/</a:t>
            </a:r>
            <a:r>
              <a:rPr lang="ro-RO" altLang="ro-RO" sz="1800" err="1"/>
              <a:t>textarea</a:t>
            </a:r>
            <a:r>
              <a:rPr lang="ro-RO" altLang="ro-RO" sz="1800"/>
              <a:t>&gt;</a:t>
            </a:r>
          </a:p>
          <a:p>
            <a:pPr lvl="2">
              <a:buFontTx/>
              <a:buNone/>
            </a:pPr>
            <a:r>
              <a:rPr lang="ro-RO" altLang="ro-RO" sz="1800"/>
              <a:t>. . . . . . .</a:t>
            </a:r>
          </a:p>
          <a:p>
            <a:pPr lvl="2">
              <a:buFontTx/>
              <a:buNone/>
            </a:pPr>
            <a:r>
              <a:rPr lang="ro-RO" altLang="ro-RO" sz="1800"/>
              <a:t>&lt;input </a:t>
            </a:r>
            <a:r>
              <a:rPr lang="ro-RO" altLang="ro-RO" sz="1800" err="1"/>
              <a:t>type</a:t>
            </a:r>
            <a:r>
              <a:rPr lang="ro-RO" altLang="ro-RO" sz="1800"/>
              <a:t>=</a:t>
            </a:r>
            <a:r>
              <a:rPr lang="ro-RO" altLang="ro-RO" sz="1800" err="1"/>
              <a:t>submit</a:t>
            </a:r>
            <a:r>
              <a:rPr lang="ro-RO" altLang="ro-RO" sz="1800"/>
              <a:t>&gt;</a:t>
            </a:r>
          </a:p>
          <a:p>
            <a:pPr lvl="2">
              <a:buFontTx/>
              <a:buNone/>
            </a:pPr>
            <a:r>
              <a:rPr lang="ro-RO" altLang="ro-RO" sz="1800"/>
              <a:t>&lt;/</a:t>
            </a:r>
            <a:r>
              <a:rPr lang="ro-RO" altLang="ro-RO" sz="1800" err="1"/>
              <a:t>form</a:t>
            </a:r>
            <a:r>
              <a:rPr lang="ro-RO" altLang="ro-RO" sz="1800"/>
              <a:t>&gt;</a:t>
            </a:r>
          </a:p>
          <a:p>
            <a:pPr lvl="1">
              <a:buFontTx/>
              <a:buNone/>
            </a:pPr>
            <a:r>
              <a:rPr lang="ro-RO" altLang="ro-RO"/>
              <a:t>&lt;/body&gt; &lt;/</a:t>
            </a:r>
            <a:r>
              <a:rPr lang="ro-RO" altLang="ro-RO" err="1"/>
              <a:t>html</a:t>
            </a:r>
            <a:r>
              <a:rPr lang="ro-RO" altLang="ro-RO"/>
              <a:t>&gt;</a:t>
            </a:r>
          </a:p>
        </p:txBody>
      </p:sp>
      <p:sp>
        <p:nvSpPr>
          <p:cNvPr id="69641" name="Rectangle 6964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643" name="Rectangle 6964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635" name="Footer Placeholder 4">
            <a:extLst>
              <a:ext uri="{FF2B5EF4-FFF2-40B4-BE49-F238E27FC236}">
                <a16:creationId xmlns:a16="http://schemas.microsoft.com/office/drawing/2014/main" id="{379F1102-D75A-14A8-464A-962262FAF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69636" name="Slide Number Placeholder 5">
            <a:extLst>
              <a:ext uri="{FF2B5EF4-FFF2-40B4-BE49-F238E27FC236}">
                <a16:creationId xmlns:a16="http://schemas.microsoft.com/office/drawing/2014/main" id="{2F6942D6-2019-D68F-27DF-C8250073A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EBA7885-9728-3345-A30D-147E08C1B7BB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31</a:t>
            </a:fld>
            <a:endParaRPr lang="en-US" altLang="en-US"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34694-6D89-B64C-B1DF-0052A00D3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Exemplu</a:t>
            </a:r>
            <a:endParaRPr lang="en-US" dirty="0"/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1335283A-0544-B07C-49EE-D8E7DA5FF8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50556" y="1907628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ro-RO" altLang="en-US"/>
              <a:t>&lt;</a:t>
            </a:r>
            <a:r>
              <a:rPr lang="ro-RO" altLang="en-US" err="1"/>
              <a:t>form</a:t>
            </a:r>
            <a:r>
              <a:rPr lang="ro-RO" altLang="en-US"/>
              <a:t>&gt; </a:t>
            </a:r>
            <a:r>
              <a:rPr lang="ro-RO" altLang="en-US" err="1"/>
              <a:t>şi</a:t>
            </a:r>
            <a:r>
              <a:rPr lang="ro-RO" altLang="en-US"/>
              <a:t> &lt;/</a:t>
            </a:r>
            <a:r>
              <a:rPr lang="ro-RO" altLang="en-US" err="1"/>
              <a:t>form</a:t>
            </a:r>
            <a:r>
              <a:rPr lang="ro-RO" altLang="en-US"/>
              <a:t>&gt; încadrează elementele constitutive ale formularului,</a:t>
            </a:r>
          </a:p>
          <a:p>
            <a:pPr>
              <a:spcAft>
                <a:spcPts val="1200"/>
              </a:spcAft>
            </a:pPr>
            <a:r>
              <a:rPr lang="ro-RO" altLang="en-US"/>
              <a:t>&lt;input&gt;, &lt;select&gt; și &lt;</a:t>
            </a:r>
            <a:r>
              <a:rPr lang="ro-RO" altLang="en-US" err="1"/>
              <a:t>textarea</a:t>
            </a:r>
            <a:r>
              <a:rPr lang="ro-RO" altLang="en-US"/>
              <a:t>&gt; introduc câmpurile formularului  </a:t>
            </a:r>
          </a:p>
          <a:p>
            <a:pPr>
              <a:spcAft>
                <a:spcPts val="1200"/>
              </a:spcAft>
            </a:pPr>
            <a:r>
              <a:rPr lang="ro-RO" altLang="en-US"/>
              <a:t>prin directivele &lt;input </a:t>
            </a:r>
            <a:r>
              <a:rPr lang="ro-RO" altLang="en-US" err="1"/>
              <a:t>type</a:t>
            </a:r>
            <a:r>
              <a:rPr lang="ro-RO" altLang="en-US"/>
              <a:t> = </a:t>
            </a:r>
            <a:r>
              <a:rPr lang="ro-RO" altLang="en-US" err="1"/>
              <a:t>submit</a:t>
            </a:r>
            <a:r>
              <a:rPr lang="ro-RO" altLang="en-US"/>
              <a:t>&gt; se definesc butoane a căror selectare trimite datele completate în </a:t>
            </a:r>
            <a:r>
              <a:rPr lang="ro-RO" altLang="en-US" err="1"/>
              <a:t>form</a:t>
            </a:r>
            <a:r>
              <a:rPr lang="ro-RO" altLang="en-US"/>
              <a:t> către serverul de web (pentru a fi transferate scriptului CGI care le prelucrează).</a:t>
            </a:r>
          </a:p>
        </p:txBody>
      </p:sp>
      <p:sp>
        <p:nvSpPr>
          <p:cNvPr id="70665" name="Rectangle 7066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667" name="Rectangle 7066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659" name="Footer Placeholder 4">
            <a:extLst>
              <a:ext uri="{FF2B5EF4-FFF2-40B4-BE49-F238E27FC236}">
                <a16:creationId xmlns:a16="http://schemas.microsoft.com/office/drawing/2014/main" id="{0E771D8E-FE64-1887-EFC1-D98AB318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70660" name="Slide Number Placeholder 5">
            <a:extLst>
              <a:ext uri="{FF2B5EF4-FFF2-40B4-BE49-F238E27FC236}">
                <a16:creationId xmlns:a16="http://schemas.microsoft.com/office/drawing/2014/main" id="{EEB30D1E-5905-032D-22BE-6E50156C9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812BDDF0-AE9B-9A43-99E4-5EEE805AE9C3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32</a:t>
            </a:fld>
            <a:endParaRPr lang="en-US" altLang="en-US" sz="13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9DE1-21C1-E848-87F3-C01F22036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FORM</a:t>
            </a:r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825CCE4E-DC46-3653-BC7C-E6C1F08D74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9812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ro-RO" sz="1700" dirty="0"/>
              <a:t>Sintaxa acestei directive este următoarea:</a:t>
            </a:r>
          </a:p>
          <a:p>
            <a:pPr>
              <a:spcAft>
                <a:spcPts val="600"/>
              </a:spcAft>
              <a:buNone/>
            </a:pPr>
            <a:r>
              <a:rPr lang="ro-RO" altLang="ro-RO" sz="1700" dirty="0"/>
              <a:t>	</a:t>
            </a:r>
            <a:r>
              <a:rPr lang="ro-RO" altLang="ro-RO" sz="1700" dirty="0">
                <a:latin typeface="Comic Sans MS" panose="030F0902030302020204" pitchFamily="66" charset="0"/>
              </a:rPr>
              <a:t>&lt;FORM ACTION="</a:t>
            </a:r>
            <a:r>
              <a:rPr lang="ro-RO" altLang="ro-RO" sz="1700" dirty="0" err="1">
                <a:latin typeface="Comic Sans MS" panose="030F0902030302020204" pitchFamily="66" charset="0"/>
              </a:rPr>
              <a:t>url</a:t>
            </a:r>
            <a:r>
              <a:rPr lang="ro-RO" altLang="ro-RO" sz="1700" dirty="0">
                <a:latin typeface="Comic Sans MS" panose="030F0902030302020204" pitchFamily="66" charset="0"/>
              </a:rPr>
              <a:t>" METHOD=[POST | GET] [ENCTYPE="..." ]&gt;</a:t>
            </a:r>
          </a:p>
          <a:p>
            <a:pPr>
              <a:spcAft>
                <a:spcPts val="600"/>
              </a:spcAft>
              <a:buNone/>
            </a:pPr>
            <a:r>
              <a:rPr lang="ro-RO" altLang="ro-RO" sz="1700" dirty="0"/>
              <a:t>	unde:</a:t>
            </a:r>
          </a:p>
          <a:p>
            <a:pPr>
              <a:spcAft>
                <a:spcPts val="600"/>
              </a:spcAft>
            </a:pPr>
            <a:r>
              <a:rPr lang="ro-RO" altLang="ro-RO" sz="1700" dirty="0" err="1">
                <a:latin typeface="Comic Sans MS" panose="030F0902030302020204" pitchFamily="66" charset="0"/>
              </a:rPr>
              <a:t>url</a:t>
            </a:r>
            <a:r>
              <a:rPr lang="ro-RO" altLang="ro-RO" sz="1700" dirty="0">
                <a:latin typeface="Comic Sans MS" panose="030F0902030302020204" pitchFamily="66" charset="0"/>
              </a:rPr>
              <a:t> </a:t>
            </a:r>
            <a:r>
              <a:rPr lang="ro-RO" altLang="ro-RO" sz="1700" dirty="0"/>
              <a:t>este adresa relativă sau absolută la care se </a:t>
            </a:r>
            <a:r>
              <a:rPr lang="ro-RO" altLang="ro-RO" sz="1700" dirty="0" err="1"/>
              <a:t>găseşte</a:t>
            </a:r>
            <a:r>
              <a:rPr lang="ro-RO" altLang="ro-RO" sz="1700" dirty="0"/>
              <a:t> scriptul CGI asociat formularului,</a:t>
            </a:r>
          </a:p>
          <a:p>
            <a:pPr>
              <a:spcAft>
                <a:spcPts val="600"/>
              </a:spcAft>
            </a:pPr>
            <a:r>
              <a:rPr lang="ro-RO" altLang="ro-RO" sz="1700" dirty="0" err="1">
                <a:latin typeface="Comic Sans MS" panose="030F0902030302020204" pitchFamily="66" charset="0"/>
              </a:rPr>
              <a:t>method</a:t>
            </a:r>
            <a:r>
              <a:rPr lang="ro-RO" altLang="ro-RO" sz="1700" dirty="0"/>
              <a:t> arată modul în care scriptul CGI </a:t>
            </a:r>
            <a:r>
              <a:rPr lang="ro-RO" altLang="ro-RO" sz="1700" dirty="0" err="1"/>
              <a:t>primeşte</a:t>
            </a:r>
            <a:r>
              <a:rPr lang="ro-RO" altLang="ro-RO" sz="1700" dirty="0"/>
              <a:t> datele din formular: </a:t>
            </a:r>
          </a:p>
          <a:p>
            <a:pPr lvl="1">
              <a:spcAft>
                <a:spcPts val="600"/>
              </a:spcAft>
            </a:pPr>
            <a:r>
              <a:rPr lang="ro-RO" altLang="ro-RO" sz="1700" dirty="0"/>
              <a:t>GET - sunt primite într-o variabila de mediu numita </a:t>
            </a:r>
            <a:r>
              <a:rPr lang="ro-RO" altLang="ro-RO" sz="1700" dirty="0">
                <a:latin typeface="Comic Sans MS" panose="030F0902030302020204" pitchFamily="66" charset="0"/>
              </a:rPr>
              <a:t>QUERY_STRING</a:t>
            </a:r>
            <a:r>
              <a:rPr lang="ro-RO" altLang="ro-RO" sz="1700" dirty="0"/>
              <a:t> având lungimea </a:t>
            </a:r>
            <a:r>
              <a:rPr lang="ro-RO" altLang="ro-RO" sz="1700" dirty="0">
                <a:latin typeface="Comic Sans MS" panose="030F0902030302020204" pitchFamily="66" charset="0"/>
              </a:rPr>
              <a:t>CONTENT_LENGTH</a:t>
            </a:r>
            <a:r>
              <a:rPr lang="ro-RO" altLang="ro-RO" sz="1700" dirty="0"/>
              <a:t> </a:t>
            </a:r>
          </a:p>
          <a:p>
            <a:pPr lvl="1">
              <a:spcAft>
                <a:spcPts val="600"/>
              </a:spcAft>
            </a:pPr>
            <a:r>
              <a:rPr lang="ro-RO" altLang="ro-RO" sz="1700" dirty="0"/>
              <a:t>POST - datele sunt primite la intrarea standard (</a:t>
            </a:r>
            <a:r>
              <a:rPr lang="ro-RO" altLang="ro-RO" sz="1700" dirty="0" err="1"/>
              <a:t>stdin</a:t>
            </a:r>
            <a:r>
              <a:rPr lang="ro-RO" altLang="ro-RO" sz="1700" dirty="0"/>
              <a:t>).</a:t>
            </a:r>
          </a:p>
        </p:txBody>
      </p:sp>
      <p:sp>
        <p:nvSpPr>
          <p:cNvPr id="71689" name="Rectangle 7168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691" name="Rectangle 7169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3" name="Footer Placeholder 4">
            <a:extLst>
              <a:ext uri="{FF2B5EF4-FFF2-40B4-BE49-F238E27FC236}">
                <a16:creationId xmlns:a16="http://schemas.microsoft.com/office/drawing/2014/main" id="{99A851CD-737B-6BDD-5B60-CE47E5DD2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71684" name="Slide Number Placeholder 5">
            <a:extLst>
              <a:ext uri="{FF2B5EF4-FFF2-40B4-BE49-F238E27FC236}">
                <a16:creationId xmlns:a16="http://schemas.microsoft.com/office/drawing/2014/main" id="{BA8B2CEF-FF15-A0B5-AC9E-82EFB333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59D76278-DDC0-BB46-9913-221B78174F2A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33</a:t>
            </a:fld>
            <a:endParaRPr lang="en-US" altLang="en-US" sz="13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0DE66-D2EA-1E4E-A8E7-FE4B242D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FORM</a:t>
            </a:r>
          </a:p>
        </p:txBody>
      </p:sp>
      <p:sp>
        <p:nvSpPr>
          <p:cNvPr id="72706" name="Content Placeholder 2">
            <a:extLst>
              <a:ext uri="{FF2B5EF4-FFF2-40B4-BE49-F238E27FC236}">
                <a16:creationId xmlns:a16="http://schemas.microsoft.com/office/drawing/2014/main" id="{2064D1D9-55E0-E427-78DF-378282E581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9025" y="1897116"/>
            <a:ext cx="8424672" cy="437566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dirty="0"/>
              <a:t>Metoda POST este preferabilă atunci când volumul acestor date este mare.</a:t>
            </a:r>
          </a:p>
          <a:p>
            <a:pPr>
              <a:spcAft>
                <a:spcPts val="600"/>
              </a:spcAft>
            </a:pPr>
            <a:r>
              <a:rPr lang="ro-RO" altLang="en-US" dirty="0"/>
              <a:t>Daca metoda nu este specificata, automat va fi considerată GET.</a:t>
            </a:r>
          </a:p>
          <a:p>
            <a:pPr>
              <a:spcAft>
                <a:spcPts val="600"/>
              </a:spcAft>
            </a:pPr>
            <a:r>
              <a:rPr lang="ro-RO" altLang="en-US" i="1" dirty="0" err="1"/>
              <a:t>enctype</a:t>
            </a:r>
            <a:r>
              <a:rPr lang="ro-RO" altLang="en-US" dirty="0"/>
              <a:t> arata modul în care </a:t>
            </a:r>
            <a:r>
              <a:rPr lang="ro-RO" altLang="en-US" dirty="0" err="1"/>
              <a:t>browserul</a:t>
            </a:r>
            <a:r>
              <a:rPr lang="ro-RO" altLang="en-US" dirty="0"/>
              <a:t> codifică </a:t>
            </a:r>
            <a:r>
              <a:rPr lang="ro-RO" altLang="en-US" dirty="0" err="1"/>
              <a:t>informaţia</a:t>
            </a:r>
            <a:r>
              <a:rPr lang="ro-RO" altLang="en-US" dirty="0"/>
              <a:t> din formular pentru a o trimite serverului.</a:t>
            </a:r>
          </a:p>
          <a:p>
            <a:pPr>
              <a:spcAft>
                <a:spcPts val="600"/>
              </a:spcAft>
            </a:pPr>
            <a:r>
              <a:rPr lang="ro-RO" altLang="en-US" dirty="0"/>
              <a:t>Aceasta </a:t>
            </a:r>
            <a:r>
              <a:rPr lang="ro-RO" altLang="en-US" dirty="0" err="1"/>
              <a:t>opţiune</a:t>
            </a:r>
            <a:r>
              <a:rPr lang="ro-RO" altLang="en-US" dirty="0"/>
              <a:t> este în general </a:t>
            </a:r>
            <a:r>
              <a:rPr lang="ro-RO" altLang="en-US" dirty="0" err="1"/>
              <a:t>puţin</a:t>
            </a:r>
            <a:r>
              <a:rPr lang="ro-RO" altLang="en-US" dirty="0"/>
              <a:t> folosita, în lipsă considerându-se tipul standard </a:t>
            </a:r>
            <a:r>
              <a:rPr lang="ro-RO" altLang="en-US" dirty="0" err="1">
                <a:latin typeface="Comic Sans MS" panose="030F0902030302020204" pitchFamily="66" charset="0"/>
              </a:rPr>
              <a:t>application</a:t>
            </a:r>
            <a:r>
              <a:rPr lang="ro-RO" altLang="en-US" dirty="0">
                <a:latin typeface="Comic Sans MS" panose="030F0902030302020204" pitchFamily="66" charset="0"/>
              </a:rPr>
              <a:t>/x-www-</a:t>
            </a:r>
            <a:r>
              <a:rPr lang="ro-RO" altLang="en-US" dirty="0" err="1">
                <a:latin typeface="Comic Sans MS" panose="030F0902030302020204" pitchFamily="66" charset="0"/>
              </a:rPr>
              <a:t>form</a:t>
            </a:r>
            <a:r>
              <a:rPr lang="ro-RO" altLang="en-US" dirty="0">
                <a:latin typeface="Comic Sans MS" panose="030F0902030302020204" pitchFamily="66" charset="0"/>
              </a:rPr>
              <a:t>-</a:t>
            </a:r>
            <a:r>
              <a:rPr lang="ro-RO" altLang="en-US" dirty="0" err="1">
                <a:latin typeface="Comic Sans MS" panose="030F0902030302020204" pitchFamily="66" charset="0"/>
              </a:rPr>
              <a:t>urlencoded</a:t>
            </a:r>
            <a:r>
              <a:rPr lang="ro-RO" altLang="en-US" dirty="0"/>
              <a:t>.</a:t>
            </a:r>
          </a:p>
        </p:txBody>
      </p:sp>
      <p:sp>
        <p:nvSpPr>
          <p:cNvPr id="72713" name="Rectangle 7271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715" name="Rectangle 7271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07" name="Footer Placeholder 4">
            <a:extLst>
              <a:ext uri="{FF2B5EF4-FFF2-40B4-BE49-F238E27FC236}">
                <a16:creationId xmlns:a16="http://schemas.microsoft.com/office/drawing/2014/main" id="{9740F6AB-69E7-185F-DBD2-444220267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72708" name="Slide Number Placeholder 5">
            <a:extLst>
              <a:ext uri="{FF2B5EF4-FFF2-40B4-BE49-F238E27FC236}">
                <a16:creationId xmlns:a16="http://schemas.microsoft.com/office/drawing/2014/main" id="{AA99DEE2-5662-9FCA-1947-CE162DA0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76AA91D0-F123-F644-ABD2-3A7F99C59D50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34</a:t>
            </a:fld>
            <a:endParaRPr lang="en-US" altLang="en-US" sz="13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3EF6-7CD5-184E-9AA3-1E3C16962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INPUT</a:t>
            </a:r>
          </a:p>
        </p:txBody>
      </p:sp>
      <p:sp>
        <p:nvSpPr>
          <p:cNvPr id="73730" name="Content Placeholder 2">
            <a:extLst>
              <a:ext uri="{FF2B5EF4-FFF2-40B4-BE49-F238E27FC236}">
                <a16:creationId xmlns:a16="http://schemas.microsoft.com/office/drawing/2014/main" id="{7699FBB8-8352-22B7-F1C0-61E96E1A7A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3807" y="1709708"/>
            <a:ext cx="6147139" cy="4563076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en-US" altLang="en-US" sz="2400" dirty="0" err="1"/>
              <a:t>Sintaxa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acestei</a:t>
            </a:r>
            <a:r>
              <a:rPr lang="en-US" altLang="en-US" sz="2400" dirty="0"/>
              <a:t> directive </a:t>
            </a:r>
            <a:r>
              <a:rPr lang="en-US" altLang="en-US" sz="2400" dirty="0" err="1"/>
              <a:t>este</a:t>
            </a:r>
            <a:r>
              <a:rPr lang="en-US" altLang="en-US" sz="2400" dirty="0"/>
              <a:t>:</a:t>
            </a:r>
          </a:p>
          <a:p>
            <a:pPr>
              <a:spcAft>
                <a:spcPts val="1200"/>
              </a:spcAft>
              <a:buNone/>
            </a:pPr>
            <a:r>
              <a:rPr lang="ro-RO" altLang="en-US" sz="2400" dirty="0"/>
              <a:t>	</a:t>
            </a:r>
            <a:r>
              <a:rPr lang="en-US" altLang="en-US" sz="2400" dirty="0"/>
              <a:t>&lt;INPUT TYPE=tip [NAME="</a:t>
            </a:r>
            <a:r>
              <a:rPr lang="en-US" altLang="en-US" sz="2400" dirty="0" err="1"/>
              <a:t>nume</a:t>
            </a:r>
            <a:r>
              <a:rPr lang="en-US" altLang="en-US" sz="2400" dirty="0"/>
              <a:t>" ]</a:t>
            </a:r>
          </a:p>
          <a:p>
            <a:pPr>
              <a:spcAft>
                <a:spcPts val="1200"/>
              </a:spcAft>
              <a:buNone/>
            </a:pPr>
            <a:r>
              <a:rPr lang="ro-RO" altLang="en-US" sz="2400" dirty="0"/>
              <a:t>	</a:t>
            </a:r>
            <a:r>
              <a:rPr lang="en-US" altLang="en-US" sz="2400" dirty="0"/>
              <a:t>[VALUE="</a:t>
            </a:r>
            <a:r>
              <a:rPr lang="en-US" altLang="en-US" sz="2400" dirty="0" err="1"/>
              <a:t>valoare</a:t>
            </a:r>
            <a:r>
              <a:rPr lang="en-US" altLang="en-US" sz="2400" dirty="0"/>
              <a:t>" ]</a:t>
            </a:r>
          </a:p>
          <a:p>
            <a:pPr>
              <a:spcAft>
                <a:spcPts val="1200"/>
              </a:spcAft>
              <a:buNone/>
            </a:pPr>
            <a:r>
              <a:rPr lang="ro-RO" altLang="en-US" sz="2400" dirty="0"/>
              <a:t>	</a:t>
            </a:r>
            <a:r>
              <a:rPr lang="en-US" altLang="en-US" sz="2400" dirty="0"/>
              <a:t>[SIZE=</a:t>
            </a:r>
            <a:r>
              <a:rPr lang="en-US" altLang="en-US" sz="2400" dirty="0" err="1"/>
              <a:t>dimensiune_afisare</a:t>
            </a:r>
            <a:r>
              <a:rPr lang="en-US" altLang="en-US" sz="2400" dirty="0"/>
              <a:t> ]</a:t>
            </a:r>
          </a:p>
          <a:p>
            <a:pPr>
              <a:spcAft>
                <a:spcPts val="1200"/>
              </a:spcAft>
              <a:buNone/>
            </a:pPr>
            <a:r>
              <a:rPr lang="ro-RO" altLang="en-US" sz="2400" dirty="0"/>
              <a:t>	</a:t>
            </a:r>
            <a:r>
              <a:rPr lang="en-US" altLang="en-US" sz="2400" dirty="0"/>
              <a:t>[MAXLENGTH=</a:t>
            </a:r>
            <a:r>
              <a:rPr lang="en-US" altLang="en-US" sz="2400" dirty="0" err="1"/>
              <a:t>dimensiune_maxima</a:t>
            </a:r>
            <a:r>
              <a:rPr lang="en-US" altLang="en-US" sz="2400" dirty="0"/>
              <a:t>] [SRC="</a:t>
            </a:r>
            <a:r>
              <a:rPr lang="en-US" altLang="en-US" sz="2400" dirty="0" err="1"/>
              <a:t>url</a:t>
            </a:r>
            <a:r>
              <a:rPr lang="en-US" altLang="en-US" sz="2400" dirty="0"/>
              <a:t>"] [CHECKED]&gt;</a:t>
            </a:r>
          </a:p>
          <a:p>
            <a:pPr>
              <a:spcAft>
                <a:spcPts val="1200"/>
              </a:spcAft>
            </a:pPr>
            <a:r>
              <a:rPr lang="en-US" altLang="en-US" sz="2400" dirty="0" err="1"/>
              <a:t>unde</a:t>
            </a:r>
            <a:r>
              <a:rPr lang="en-US" altLang="en-US" sz="2400" dirty="0"/>
              <a:t>:</a:t>
            </a:r>
          </a:p>
          <a:p>
            <a:pPr>
              <a:spcAft>
                <a:spcPts val="1200"/>
              </a:spcAft>
            </a:pPr>
            <a:r>
              <a:rPr lang="it-IT" altLang="en-US" sz="2400" dirty="0"/>
              <a:t>TYPE = </a:t>
            </a:r>
            <a:r>
              <a:rPr lang="it-IT" altLang="en-US" sz="2400" i="1" dirty="0" err="1"/>
              <a:t>tip</a:t>
            </a:r>
            <a:r>
              <a:rPr lang="it-IT" altLang="en-US" sz="2400" dirty="0"/>
              <a:t> </a:t>
            </a:r>
            <a:r>
              <a:rPr lang="it-IT" altLang="en-US" sz="2400" dirty="0" err="1"/>
              <a:t>defineşte</a:t>
            </a:r>
            <a:r>
              <a:rPr lang="it-IT" altLang="en-US" sz="2400" dirty="0"/>
              <a:t> </a:t>
            </a:r>
            <a:r>
              <a:rPr lang="it-IT" altLang="en-US" sz="2400" dirty="0" err="1"/>
              <a:t>numele</a:t>
            </a:r>
            <a:r>
              <a:rPr lang="it-IT" altLang="en-US" sz="2400" dirty="0"/>
              <a:t> </a:t>
            </a:r>
            <a:r>
              <a:rPr lang="it-IT" altLang="en-US" sz="2400" dirty="0" err="1"/>
              <a:t>simbolului</a:t>
            </a:r>
            <a:r>
              <a:rPr lang="ro-RO" altLang="en-US" sz="2400" dirty="0"/>
              <a:t> </a:t>
            </a:r>
            <a:r>
              <a:rPr lang="en-US" altLang="en-US" sz="2400" dirty="0" err="1"/>
              <a:t>asociat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câmpului</a:t>
            </a:r>
            <a:r>
              <a:rPr lang="en-US" altLang="en-US" sz="2400" dirty="0"/>
              <a:t>.</a:t>
            </a:r>
          </a:p>
        </p:txBody>
      </p:sp>
      <p:sp>
        <p:nvSpPr>
          <p:cNvPr id="73731" name="Footer Placeholder 4">
            <a:extLst>
              <a:ext uri="{FF2B5EF4-FFF2-40B4-BE49-F238E27FC236}">
                <a16:creationId xmlns:a16="http://schemas.microsoft.com/office/drawing/2014/main" id="{4A8E894C-0A8C-8F81-8550-7044E316F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15148" y="6470704"/>
            <a:ext cx="3875798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pic>
        <p:nvPicPr>
          <p:cNvPr id="73734" name="Picture 73733" descr="Close-up of a calculator keypad">
            <a:extLst>
              <a:ext uri="{FF2B5EF4-FFF2-40B4-BE49-F238E27FC236}">
                <a16:creationId xmlns:a16="http://schemas.microsoft.com/office/drawing/2014/main" id="{6B6F1F7D-A378-5526-CC5E-AA7620A576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272" r="30907" b="-1"/>
          <a:stretch/>
        </p:blipFill>
        <p:spPr>
          <a:xfrm>
            <a:off x="7552266" y="10"/>
            <a:ext cx="4639733" cy="6857990"/>
          </a:xfrm>
          <a:prstGeom prst="rect">
            <a:avLst/>
          </a:prstGeom>
        </p:spPr>
      </p:pic>
      <p:sp>
        <p:nvSpPr>
          <p:cNvPr id="73732" name="Slide Number Placeholder 5">
            <a:extLst>
              <a:ext uri="{FF2B5EF4-FFF2-40B4-BE49-F238E27FC236}">
                <a16:creationId xmlns:a16="http://schemas.microsoft.com/office/drawing/2014/main" id="{D3FC5C3F-E697-6D95-1B36-099F3436A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421FB687-662F-724A-BA06-B077CA306B34}" type="slidenum">
              <a:rPr lang="en-US" altLang="en-US" sz="1300">
                <a:solidFill>
                  <a:srgbClr val="FFFFFF"/>
                </a:solidFill>
              </a:rPr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35</a:t>
            </a:fld>
            <a:endParaRPr lang="en-US" altLang="en-US" sz="1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E43D5-85F5-B441-8C10-02CA25649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INPUT</a:t>
            </a:r>
          </a:p>
        </p:txBody>
      </p:sp>
      <p:sp>
        <p:nvSpPr>
          <p:cNvPr id="74754" name="Content Placeholder 2">
            <a:extLst>
              <a:ext uri="{FF2B5EF4-FFF2-40B4-BE49-F238E27FC236}">
                <a16:creationId xmlns:a16="http://schemas.microsoft.com/office/drawing/2014/main" id="{4431C65B-B903-C30C-FDC1-5032C48E6A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66322"/>
            <a:ext cx="9501352" cy="440646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ro-RO" altLang="en-US" sz="2800" dirty="0">
                <a:solidFill>
                  <a:srgbClr val="FF0000"/>
                </a:solidFill>
              </a:rPr>
              <a:t>NAME</a:t>
            </a:r>
            <a:r>
              <a:rPr lang="ro-RO" altLang="en-US" sz="2800" dirty="0"/>
              <a:t> = “numele” simbolului asociat câmpului.</a:t>
            </a:r>
          </a:p>
          <a:p>
            <a:pPr>
              <a:spcAft>
                <a:spcPts val="600"/>
              </a:spcAft>
            </a:pPr>
            <a:r>
              <a:rPr lang="ro-RO" altLang="en-US" sz="2800" dirty="0">
                <a:solidFill>
                  <a:srgbClr val="FF0000"/>
                </a:solidFill>
              </a:rPr>
              <a:t>VALUE</a:t>
            </a:r>
            <a:r>
              <a:rPr lang="ro-RO" altLang="en-US" sz="2800" dirty="0"/>
              <a:t> = “valoarea” </a:t>
            </a:r>
            <a:r>
              <a:rPr lang="ro-RO" altLang="en-US" sz="2800" dirty="0" err="1"/>
              <a:t>iniţială</a:t>
            </a:r>
            <a:r>
              <a:rPr lang="ro-RO" altLang="en-US" sz="2800" dirty="0"/>
              <a:t> </a:t>
            </a:r>
            <a:r>
              <a:rPr lang="ro-RO" altLang="en-US" sz="2800" dirty="0" err="1"/>
              <a:t>afişată</a:t>
            </a:r>
            <a:r>
              <a:rPr lang="ro-RO" altLang="en-US" sz="2800" dirty="0"/>
              <a:t> de browser</a:t>
            </a:r>
          </a:p>
          <a:p>
            <a:pPr>
              <a:spcAft>
                <a:spcPts val="600"/>
              </a:spcAft>
            </a:pPr>
            <a:r>
              <a:rPr lang="ro-RO" altLang="en-US" sz="2800" dirty="0">
                <a:solidFill>
                  <a:srgbClr val="FF0000"/>
                </a:solidFill>
              </a:rPr>
              <a:t>SIZE</a:t>
            </a:r>
            <a:r>
              <a:rPr lang="ro-RO" altLang="en-US" sz="2800" dirty="0"/>
              <a:t> = </a:t>
            </a:r>
            <a:r>
              <a:rPr lang="ro-RO" altLang="en-US" sz="2800" dirty="0" err="1"/>
              <a:t>defineşte</a:t>
            </a:r>
            <a:r>
              <a:rPr lang="ro-RO" altLang="en-US" sz="2800" dirty="0"/>
              <a:t> lungimea câmpului </a:t>
            </a:r>
            <a:r>
              <a:rPr lang="ro-RO" altLang="en-US" sz="2800" dirty="0" err="1"/>
              <a:t>afişat</a:t>
            </a:r>
            <a:r>
              <a:rPr lang="ro-RO" altLang="en-US" sz="2800" dirty="0"/>
              <a:t> de browser</a:t>
            </a:r>
          </a:p>
          <a:p>
            <a:pPr>
              <a:spcAft>
                <a:spcPts val="600"/>
              </a:spcAft>
            </a:pPr>
            <a:r>
              <a:rPr lang="ro-RO" altLang="en-US" sz="2800" dirty="0">
                <a:solidFill>
                  <a:srgbClr val="FF0000"/>
                </a:solidFill>
              </a:rPr>
              <a:t>MAXLENGTH</a:t>
            </a:r>
            <a:r>
              <a:rPr lang="ro-RO" altLang="en-US" sz="2800" dirty="0"/>
              <a:t> = arată lungimea maximă a valorii care se poate tasta </a:t>
            </a:r>
          </a:p>
          <a:p>
            <a:pPr>
              <a:spcAft>
                <a:spcPts val="600"/>
              </a:spcAft>
            </a:pPr>
            <a:r>
              <a:rPr lang="ro-RO" altLang="en-US" sz="2800" dirty="0">
                <a:solidFill>
                  <a:srgbClr val="FF0000"/>
                </a:solidFill>
              </a:rPr>
              <a:t>SRC</a:t>
            </a:r>
            <a:r>
              <a:rPr lang="ro-RO" altLang="en-US" sz="2800" dirty="0"/>
              <a:t> = “</a:t>
            </a:r>
            <a:r>
              <a:rPr lang="ro-RO" altLang="en-US" sz="2800" dirty="0" err="1"/>
              <a:t>url</a:t>
            </a:r>
            <a:r>
              <a:rPr lang="ro-RO" altLang="en-US" sz="2800" dirty="0"/>
              <a:t>” ce </a:t>
            </a:r>
            <a:r>
              <a:rPr lang="ro-RO" altLang="en-US" sz="2800" dirty="0" err="1"/>
              <a:t>defineşte</a:t>
            </a:r>
            <a:r>
              <a:rPr lang="ro-RO" altLang="en-US" sz="2800" dirty="0"/>
              <a:t> o adresă relativă sau absolută (ca în cazul imaginilor)</a:t>
            </a:r>
          </a:p>
          <a:p>
            <a:pPr>
              <a:spcAft>
                <a:spcPts val="600"/>
              </a:spcAft>
            </a:pPr>
            <a:r>
              <a:rPr lang="ro-RO" altLang="en-US" sz="2800" dirty="0"/>
              <a:t>În </a:t>
            </a:r>
            <a:r>
              <a:rPr lang="ro-RO" altLang="en-US" sz="2800" dirty="0" err="1"/>
              <a:t>funcţie</a:t>
            </a:r>
            <a:r>
              <a:rPr lang="ro-RO" altLang="en-US" sz="2800" dirty="0"/>
              <a:t> de tipul câmpului avem următoarele variante</a:t>
            </a:r>
          </a:p>
        </p:txBody>
      </p:sp>
      <p:sp>
        <p:nvSpPr>
          <p:cNvPr id="74755" name="Footer Placeholder 4">
            <a:extLst>
              <a:ext uri="{FF2B5EF4-FFF2-40B4-BE49-F238E27FC236}">
                <a16:creationId xmlns:a16="http://schemas.microsoft.com/office/drawing/2014/main" id="{6DDAD7D6-819A-2125-39B8-46730AA6E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74756" name="Slide Number Placeholder 5">
            <a:extLst>
              <a:ext uri="{FF2B5EF4-FFF2-40B4-BE49-F238E27FC236}">
                <a16:creationId xmlns:a16="http://schemas.microsoft.com/office/drawing/2014/main" id="{F8694229-6587-A4C7-6170-1C2F4813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0F91DC-F77A-434C-A3AB-76CBCDAC2EE3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9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771F-698E-1946-9787-D9AEA3C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Type=TEXT</a:t>
            </a:r>
          </a:p>
        </p:txBody>
      </p:sp>
      <p:sp>
        <p:nvSpPr>
          <p:cNvPr id="75778" name="Content Placeholder 2">
            <a:extLst>
              <a:ext uri="{FF2B5EF4-FFF2-40B4-BE49-F238E27FC236}">
                <a16:creationId xmlns:a16="http://schemas.microsoft.com/office/drawing/2014/main" id="{D4F8B60D-F3F8-3241-ED70-5171AC6A0A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97117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dirty="0"/>
              <a:t>Sintaxa: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dirty="0"/>
              <a:t>	&lt;INPUT TYPE=TEXT NAME="nume"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dirty="0"/>
              <a:t>	[VALUE="valoare" ]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dirty="0"/>
              <a:t>	[MAXLENGTH=</a:t>
            </a:r>
            <a:r>
              <a:rPr lang="ro-RO" altLang="en-US" dirty="0" err="1"/>
              <a:t>dimensiune_maxima</a:t>
            </a:r>
            <a:r>
              <a:rPr lang="ro-RO" altLang="en-US" dirty="0"/>
              <a:t> ]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dirty="0"/>
              <a:t>	[SIZE=</a:t>
            </a:r>
            <a:r>
              <a:rPr lang="ro-RO" altLang="en-US" dirty="0" err="1"/>
              <a:t>dimensiune_afisare</a:t>
            </a:r>
            <a:r>
              <a:rPr lang="ro-RO" altLang="en-US" dirty="0"/>
              <a:t> ]&gt;</a:t>
            </a:r>
          </a:p>
          <a:p>
            <a:pPr>
              <a:spcAft>
                <a:spcPts val="600"/>
              </a:spcAft>
            </a:pPr>
            <a:r>
              <a:rPr lang="ro-RO" altLang="en-US" dirty="0" err="1"/>
              <a:t>Defineşte</a:t>
            </a:r>
            <a:r>
              <a:rPr lang="ro-RO" altLang="en-US" dirty="0"/>
              <a:t> un câmp de tip </a:t>
            </a:r>
            <a:r>
              <a:rPr lang="ro-RO" altLang="en-US" dirty="0" err="1"/>
              <a:t>şir</a:t>
            </a:r>
            <a:r>
              <a:rPr lang="ro-RO" altLang="en-US" dirty="0"/>
              <a:t> de caractere.</a:t>
            </a:r>
          </a:p>
          <a:p>
            <a:pPr>
              <a:spcAft>
                <a:spcPts val="600"/>
              </a:spcAft>
            </a:pPr>
            <a:r>
              <a:rPr lang="ro-RO" altLang="en-US" dirty="0"/>
              <a:t>Nu putem tasta mai mult de MAXLENGTH caractere</a:t>
            </a:r>
          </a:p>
        </p:txBody>
      </p:sp>
      <p:sp>
        <p:nvSpPr>
          <p:cNvPr id="75785" name="Rectangle 7578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787" name="Rectangle 7578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9" name="Footer Placeholder 4">
            <a:extLst>
              <a:ext uri="{FF2B5EF4-FFF2-40B4-BE49-F238E27FC236}">
                <a16:creationId xmlns:a16="http://schemas.microsoft.com/office/drawing/2014/main" id="{197C1B08-3CA4-0A13-0F61-33FEBE568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75780" name="Slide Number Placeholder 5">
            <a:extLst>
              <a:ext uri="{FF2B5EF4-FFF2-40B4-BE49-F238E27FC236}">
                <a16:creationId xmlns:a16="http://schemas.microsoft.com/office/drawing/2014/main" id="{3CD1DE12-DE52-3617-E280-1C9C56640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DE0DAC1F-443B-D941-BEB6-F10DDF3A2AC4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37</a:t>
            </a:fld>
            <a:endParaRPr lang="en-US" altLang="en-US" sz="13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DAA7B-9F45-5D44-BAE7-AA28EEC6D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Exemplu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89CDA-B0D9-F04D-A46E-BE6727061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3133580" cy="3931920"/>
          </a:xfrm>
        </p:spPr>
        <p:txBody>
          <a:bodyPr>
            <a:normAutofit/>
          </a:bodyPr>
          <a:lstStyle/>
          <a:p>
            <a:pPr>
              <a:buFontTx/>
              <a:buNone/>
              <a:defRPr/>
            </a:pPr>
            <a:r>
              <a:rPr lang="en-US" sz="1400"/>
              <a:t>&lt;html&gt;</a:t>
            </a:r>
          </a:p>
          <a:p>
            <a:pPr>
              <a:buFontTx/>
              <a:buNone/>
              <a:defRPr/>
            </a:pPr>
            <a:r>
              <a:rPr lang="en-US" sz="1400"/>
              <a:t>&lt;head&gt;</a:t>
            </a:r>
          </a:p>
          <a:p>
            <a:pPr>
              <a:buFontTx/>
              <a:buNone/>
              <a:defRPr/>
            </a:pPr>
            <a:r>
              <a:rPr lang="ro-RO" sz="1400"/>
              <a:t>	</a:t>
            </a:r>
            <a:r>
              <a:rPr lang="en-US" sz="1400"/>
              <a:t>&lt;title&gt;Formular&lt;/title&gt;</a:t>
            </a:r>
          </a:p>
          <a:p>
            <a:pPr>
              <a:buFontTx/>
              <a:buNone/>
              <a:defRPr/>
            </a:pPr>
            <a:r>
              <a:rPr lang="en-US" sz="1400"/>
              <a:t>&lt;/head&gt;</a:t>
            </a:r>
          </a:p>
          <a:p>
            <a:pPr>
              <a:buFontTx/>
              <a:buNone/>
              <a:defRPr/>
            </a:pPr>
            <a:r>
              <a:rPr lang="en-US" sz="1400"/>
              <a:t>&lt;BODY&gt;</a:t>
            </a:r>
          </a:p>
          <a:p>
            <a:pPr lvl="1">
              <a:buFontTx/>
              <a:buNone/>
              <a:defRPr/>
            </a:pPr>
            <a:r>
              <a:rPr lang="en-US" sz="1400"/>
              <a:t>&lt;form action="unu.php"&gt;</a:t>
            </a:r>
          </a:p>
          <a:p>
            <a:pPr lvl="1">
              <a:buFontTx/>
              <a:buNone/>
              <a:defRPr/>
            </a:pPr>
            <a:r>
              <a:rPr lang="en-US" sz="1400"/>
              <a:t>Input: &lt;input type="text" name="nume"</a:t>
            </a:r>
          </a:p>
          <a:p>
            <a:pPr lvl="1">
              <a:buFontTx/>
              <a:buNone/>
              <a:defRPr/>
            </a:pPr>
            <a:r>
              <a:rPr lang="en-US" sz="1400"/>
              <a:t>value="doi" maxlength="5" size="7"&gt;</a:t>
            </a:r>
          </a:p>
          <a:p>
            <a:pPr lvl="1">
              <a:buFontTx/>
              <a:buNone/>
              <a:defRPr/>
            </a:pPr>
            <a:r>
              <a:rPr lang="en-US" sz="1400"/>
              <a:t>&lt;input type="submit" value="Haide"&gt;</a:t>
            </a:r>
          </a:p>
          <a:p>
            <a:pPr lvl="1">
              <a:buFontTx/>
              <a:buNone/>
              <a:defRPr/>
            </a:pPr>
            <a:r>
              <a:rPr lang="en-US" sz="1400"/>
              <a:t>&lt;/form&gt;</a:t>
            </a:r>
          </a:p>
          <a:p>
            <a:pPr>
              <a:buFontTx/>
              <a:buNone/>
              <a:defRPr/>
            </a:pPr>
            <a:r>
              <a:rPr lang="en-US" sz="1400"/>
              <a:t>&lt;/BODY&gt;</a:t>
            </a:r>
          </a:p>
          <a:p>
            <a:pPr>
              <a:buFontTx/>
              <a:buNone/>
              <a:defRPr/>
            </a:pPr>
            <a:r>
              <a:rPr lang="en-US" sz="1400"/>
              <a:t>&lt;/html&gt;</a:t>
            </a:r>
          </a:p>
        </p:txBody>
      </p:sp>
      <p:pic>
        <p:nvPicPr>
          <p:cNvPr id="4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B166C933-50A6-0121-8506-82108D31D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2342" y="1269757"/>
            <a:ext cx="6909577" cy="431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3" name="Footer Placeholder 4">
            <a:extLst>
              <a:ext uri="{FF2B5EF4-FFF2-40B4-BE49-F238E27FC236}">
                <a16:creationId xmlns:a16="http://schemas.microsoft.com/office/drawing/2014/main" id="{77B24E86-2DCD-0D72-01D6-9E02B688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76804" name="Slide Number Placeholder 5">
            <a:extLst>
              <a:ext uri="{FF2B5EF4-FFF2-40B4-BE49-F238E27FC236}">
                <a16:creationId xmlns:a16="http://schemas.microsoft.com/office/drawing/2014/main" id="{3ACE594E-C542-A7AD-F48D-D0EFDDC99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A0F54A3B-2B31-3449-A702-AA883105B214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38</a:t>
            </a:fld>
            <a:endParaRPr lang="en-US" altLang="en-US" sz="13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48644-D27A-C943-BBE1-8801BAAF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Type=SUBMIT</a:t>
            </a:r>
          </a:p>
        </p:txBody>
      </p:sp>
      <p:sp>
        <p:nvSpPr>
          <p:cNvPr id="78850" name="Content Placeholder 2">
            <a:extLst>
              <a:ext uri="{FF2B5EF4-FFF2-40B4-BE49-F238E27FC236}">
                <a16:creationId xmlns:a16="http://schemas.microsoft.com/office/drawing/2014/main" id="{6D097211-BD8D-73C0-37A4-1D1C6FF011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918138"/>
            <a:ext cx="8018271" cy="4023360"/>
          </a:xfrm>
        </p:spPr>
        <p:txBody>
          <a:bodyPr>
            <a:normAutofit/>
          </a:bodyPr>
          <a:lstStyle/>
          <a:p>
            <a:r>
              <a:rPr lang="ro-RO" altLang="en-US"/>
              <a:t>Sintaxa:</a:t>
            </a:r>
          </a:p>
          <a:p>
            <a:pPr>
              <a:buFontTx/>
              <a:buNone/>
            </a:pPr>
            <a:r>
              <a:rPr lang="ro-RO" altLang="en-US"/>
              <a:t>	&lt;INPUT TYPE=SUBMIT [NAME="nume" ] [VALUE="valoare" ]&gt;</a:t>
            </a:r>
          </a:p>
          <a:p>
            <a:r>
              <a:rPr lang="ro-RO" altLang="en-US" err="1"/>
              <a:t>Defineşte</a:t>
            </a:r>
            <a:r>
              <a:rPr lang="ro-RO" altLang="en-US"/>
              <a:t> un buton prin selectarea căruia datele completate în formular sunt trimise serverului de web.</a:t>
            </a:r>
          </a:p>
          <a:p>
            <a:r>
              <a:rPr lang="ro-RO" altLang="en-US"/>
              <a:t>Pot exista mai multe astfel de butoane, deosebite prin valoarea dată prin clauza </a:t>
            </a:r>
            <a:r>
              <a:rPr lang="ro-RO" altLang="en-US" err="1"/>
              <a:t>name</a:t>
            </a:r>
            <a:r>
              <a:rPr lang="ro-RO" altLang="en-US"/>
              <a:t>.</a:t>
            </a:r>
          </a:p>
          <a:p>
            <a:r>
              <a:rPr lang="ro-RO" altLang="en-US"/>
              <a:t>Clauza </a:t>
            </a:r>
            <a:r>
              <a:rPr lang="ro-RO" altLang="en-US" err="1"/>
              <a:t>value</a:t>
            </a:r>
            <a:r>
              <a:rPr lang="ro-RO" altLang="en-US"/>
              <a:t> este folosită pentru a defini </a:t>
            </a:r>
            <a:r>
              <a:rPr lang="ro-RO" altLang="en-US" err="1"/>
              <a:t>inscripţionarea</a:t>
            </a:r>
            <a:r>
              <a:rPr lang="ro-RO" altLang="en-US"/>
              <a:t> </a:t>
            </a:r>
            <a:r>
              <a:rPr lang="ro-RO" altLang="en-US" err="1"/>
              <a:t>afişată</a:t>
            </a:r>
            <a:r>
              <a:rPr lang="ro-RO" altLang="en-US"/>
              <a:t> de browser pentru acest buton (în lipsă </a:t>
            </a:r>
            <a:r>
              <a:rPr lang="ro-RO" altLang="en-US" err="1"/>
              <a:t>inscripţia</a:t>
            </a:r>
            <a:r>
              <a:rPr lang="ro-RO" altLang="en-US"/>
              <a:t> este dată de browser).</a:t>
            </a:r>
          </a:p>
        </p:txBody>
      </p:sp>
      <p:sp>
        <p:nvSpPr>
          <p:cNvPr id="78857" name="Rectangle 7885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859" name="Rectangle 7885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851" name="Footer Placeholder 4">
            <a:extLst>
              <a:ext uri="{FF2B5EF4-FFF2-40B4-BE49-F238E27FC236}">
                <a16:creationId xmlns:a16="http://schemas.microsoft.com/office/drawing/2014/main" id="{C9701A6A-6CA7-9D51-EA43-280610191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78852" name="Slide Number Placeholder 5">
            <a:extLst>
              <a:ext uri="{FF2B5EF4-FFF2-40B4-BE49-F238E27FC236}">
                <a16:creationId xmlns:a16="http://schemas.microsoft.com/office/drawing/2014/main" id="{AAF7CDEB-6576-44A7-8050-7AE74334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B260ED2A-9B25-3946-B24B-4A62E8AC09C8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39</a:t>
            </a:fld>
            <a:endParaRPr lang="en-US" altLang="en-US" sz="13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53AE-23D7-B84A-B8A4-4D663625C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3133581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/>
              <a:t>Exemplu</a:t>
            </a:r>
          </a:p>
        </p:txBody>
      </p:sp>
      <p:sp>
        <p:nvSpPr>
          <p:cNvPr id="79874" name="Content Placeholder 2">
            <a:extLst>
              <a:ext uri="{FF2B5EF4-FFF2-40B4-BE49-F238E27FC236}">
                <a16:creationId xmlns:a16="http://schemas.microsoft.com/office/drawing/2014/main" id="{136509B8-02CB-8E7C-7D55-26964DBD51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7" y="1656321"/>
            <a:ext cx="3505831" cy="470243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&lt;html&gt;</a:t>
            </a:r>
          </a:p>
          <a:p>
            <a:pPr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&lt;head&gt;</a:t>
            </a:r>
          </a:p>
          <a:p>
            <a:pPr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&lt;title&gt;Formular&lt;/title&gt;</a:t>
            </a:r>
          </a:p>
          <a:p>
            <a:pPr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&lt;/head&gt;</a:t>
            </a:r>
          </a:p>
          <a:p>
            <a:pPr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&lt;BODY&gt;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&lt;form action="</a:t>
            </a:r>
            <a:r>
              <a:rPr lang="en-US" altLang="en-US" sz="1400" dirty="0" err="1">
                <a:latin typeface="Comic Sans MS" panose="030F0902030302020204" pitchFamily="66" charset="0"/>
              </a:rPr>
              <a:t>unu.php</a:t>
            </a:r>
            <a:r>
              <a:rPr lang="en-US" altLang="en-US" sz="1400" dirty="0">
                <a:latin typeface="Comic Sans MS" panose="030F0902030302020204" pitchFamily="66" charset="0"/>
              </a:rPr>
              <a:t>"&gt;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1400" dirty="0" err="1">
                <a:latin typeface="Comic Sans MS" panose="030F0902030302020204" pitchFamily="66" charset="0"/>
              </a:rPr>
              <a:t>Continut</a:t>
            </a:r>
            <a:r>
              <a:rPr lang="en-US" altLang="en-US" sz="1400" dirty="0">
                <a:latin typeface="Comic Sans MS" panose="030F0902030302020204" pitchFamily="66" charset="0"/>
              </a:rPr>
              <a:t> formular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&lt;input type="submit" name="buton1"&gt;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&lt;input type="submit" name="buton2"&gt;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&lt;/form&gt;</a:t>
            </a:r>
          </a:p>
          <a:p>
            <a:pPr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&lt;/BODY&gt;</a:t>
            </a:r>
          </a:p>
          <a:p>
            <a:pPr>
              <a:spcAft>
                <a:spcPts val="600"/>
              </a:spcAft>
              <a:buNone/>
            </a:pPr>
            <a:r>
              <a:rPr lang="en-US" altLang="en-US" sz="1400" dirty="0">
                <a:latin typeface="Comic Sans MS" panose="030F0902030302020204" pitchFamily="66" charset="0"/>
              </a:rPr>
              <a:t>&lt;/html&gt;</a:t>
            </a: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C530F466-BC5D-76CE-4298-0E1B2C7F4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41735" y="1269757"/>
            <a:ext cx="6909577" cy="431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Footer Placeholder 4">
            <a:extLst>
              <a:ext uri="{FF2B5EF4-FFF2-40B4-BE49-F238E27FC236}">
                <a16:creationId xmlns:a16="http://schemas.microsoft.com/office/drawing/2014/main" id="{B2D59519-F77D-D455-E694-BD10ECDF7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79876" name="Slide Number Placeholder 5">
            <a:extLst>
              <a:ext uri="{FF2B5EF4-FFF2-40B4-BE49-F238E27FC236}">
                <a16:creationId xmlns:a16="http://schemas.microsoft.com/office/drawing/2014/main" id="{1843564C-FCCD-325E-0BDA-37008DD7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52B7B6BA-6AB6-5649-8CC6-69D457789D7F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40</a:t>
            </a:fld>
            <a:endParaRPr lang="en-US" altLang="en-US" sz="13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77653-7535-A640-A342-843641BD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Type = CHECKBOX</a:t>
            </a:r>
          </a:p>
        </p:txBody>
      </p:sp>
      <p:sp>
        <p:nvSpPr>
          <p:cNvPr id="90114" name="Content Placeholder 2">
            <a:extLst>
              <a:ext uri="{FF2B5EF4-FFF2-40B4-BE49-F238E27FC236}">
                <a16:creationId xmlns:a16="http://schemas.microsoft.com/office/drawing/2014/main" id="{9D13B4AB-E913-45A0-7AEE-E35748C0CD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40045" y="1718441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2000" dirty="0"/>
              <a:t>Sintaxa: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sz="2000" dirty="0"/>
              <a:t>	&lt;INPUT TYPE=CHECKBOX NAME="nume“ VALUE="valoare" [CHECKED]&gt;</a:t>
            </a:r>
          </a:p>
          <a:p>
            <a:pPr>
              <a:spcAft>
                <a:spcPts val="600"/>
              </a:spcAft>
            </a:pPr>
            <a:r>
              <a:rPr lang="ro-RO" altLang="en-US" sz="2000" dirty="0"/>
              <a:t>Acest tip permite definirea unei casete care poate fi bifată sau nu (în genul unui comutator pornit/oprit).</a:t>
            </a:r>
          </a:p>
          <a:p>
            <a:pPr>
              <a:spcAft>
                <a:spcPts val="600"/>
              </a:spcAft>
            </a:pPr>
            <a:r>
              <a:rPr lang="ro-RO" altLang="en-US" sz="2000" dirty="0"/>
              <a:t>Dacă este prezentă clauza CHECKED caseta este </a:t>
            </a:r>
            <a:r>
              <a:rPr lang="ro-RO" altLang="en-US" sz="2000" dirty="0" err="1"/>
              <a:t>iniţial</a:t>
            </a:r>
            <a:r>
              <a:rPr lang="ro-RO" altLang="en-US" sz="2000" dirty="0"/>
              <a:t> bifată, altfel nu.</a:t>
            </a:r>
          </a:p>
          <a:p>
            <a:pPr>
              <a:spcAft>
                <a:spcPts val="600"/>
              </a:spcAft>
            </a:pPr>
            <a:r>
              <a:rPr lang="ro-RO" altLang="en-US" sz="2000" i="1" dirty="0" err="1"/>
              <a:t>Observaţie</a:t>
            </a:r>
            <a:r>
              <a:rPr lang="ro-RO" altLang="en-US" sz="2000" dirty="0"/>
              <a:t>: Spre deosebire de celelalte tipuri, doar pentru casetele bifate vor fi transmise de la browser către server perechi (</a:t>
            </a:r>
            <a:r>
              <a:rPr lang="ro-RO" altLang="en-US" sz="2000" dirty="0" err="1"/>
              <a:t>nume_simbol</a:t>
            </a:r>
            <a:r>
              <a:rPr lang="ro-RO" altLang="en-US" sz="2000" dirty="0"/>
              <a:t>, </a:t>
            </a:r>
            <a:r>
              <a:rPr lang="ro-RO" altLang="en-US" sz="2000" dirty="0" err="1"/>
              <a:t>valoare_simbol</a:t>
            </a:r>
            <a:r>
              <a:rPr lang="ro-RO" altLang="en-US" sz="2000" dirty="0"/>
              <a:t>). Dacă nici o casetă nu a fost bifată nici unul dintre simbolurile asociate lor nu este prezent în </a:t>
            </a:r>
            <a:r>
              <a:rPr lang="ro-RO" altLang="en-US" sz="2000" dirty="0" err="1"/>
              <a:t>şirul</a:t>
            </a:r>
            <a:r>
              <a:rPr lang="ro-RO" altLang="en-US" sz="2000" dirty="0"/>
              <a:t> transmis.</a:t>
            </a:r>
          </a:p>
        </p:txBody>
      </p:sp>
      <p:sp>
        <p:nvSpPr>
          <p:cNvPr id="90121" name="Rectangle 9012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123" name="Rectangle 9012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5" name="Footer Placeholder 4">
            <a:extLst>
              <a:ext uri="{FF2B5EF4-FFF2-40B4-BE49-F238E27FC236}">
                <a16:creationId xmlns:a16="http://schemas.microsoft.com/office/drawing/2014/main" id="{392568D8-D3AA-CF71-2BA3-BF4087CF7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90116" name="Slide Number Placeholder 5">
            <a:extLst>
              <a:ext uri="{FF2B5EF4-FFF2-40B4-BE49-F238E27FC236}">
                <a16:creationId xmlns:a16="http://schemas.microsoft.com/office/drawing/2014/main" id="{81F57F93-9554-A29F-8F1A-09B63D4F2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10DDE12-6C90-CE45-8AB2-0F0D7CA31052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41</a:t>
            </a:fld>
            <a:endParaRPr lang="en-US" altLang="en-US" sz="13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6C1A3-FCBD-3843-85F6-5976A8BDF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Type = RADIO</a:t>
            </a:r>
          </a:p>
        </p:txBody>
      </p:sp>
      <p:sp>
        <p:nvSpPr>
          <p:cNvPr id="91138" name="Content Placeholder 2">
            <a:extLst>
              <a:ext uri="{FF2B5EF4-FFF2-40B4-BE49-F238E27FC236}">
                <a16:creationId xmlns:a16="http://schemas.microsoft.com/office/drawing/2014/main" id="{A86ADCE3-567D-8900-D77F-952A8D3B73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9025" y="1897117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1900" dirty="0"/>
              <a:t>Sintaxa:</a:t>
            </a:r>
          </a:p>
          <a:p>
            <a:pPr>
              <a:spcAft>
                <a:spcPts val="600"/>
              </a:spcAft>
              <a:buNone/>
            </a:pPr>
            <a:r>
              <a:rPr lang="ro-RO" altLang="en-US" sz="1900" dirty="0"/>
              <a:t>	&lt;INPUT TYPE=RADIO NAME="nume" VALUE="valoare“ [CHECKED]&gt;</a:t>
            </a:r>
          </a:p>
          <a:p>
            <a:pPr>
              <a:spcAft>
                <a:spcPts val="600"/>
              </a:spcAft>
            </a:pPr>
            <a:r>
              <a:rPr lang="ro-RO" altLang="en-US" sz="1900" dirty="0"/>
              <a:t>Tipul </a:t>
            </a:r>
            <a:r>
              <a:rPr lang="ro-RO" altLang="en-US" sz="1900" i="1" dirty="0"/>
              <a:t>radio</a:t>
            </a:r>
            <a:r>
              <a:rPr lang="ro-RO" altLang="en-US" sz="1900" dirty="0"/>
              <a:t> este asemănător tipului </a:t>
            </a:r>
            <a:r>
              <a:rPr lang="ro-RO" altLang="en-US" sz="1900" i="1" dirty="0" err="1"/>
              <a:t>checkbox</a:t>
            </a:r>
            <a:r>
              <a:rPr lang="ro-RO" altLang="en-US" sz="1900" dirty="0"/>
              <a:t>, cu deosebirea că numai un singur buton radio dintre cele cu </a:t>
            </a:r>
            <a:r>
              <a:rPr lang="ro-RO" altLang="en-US" sz="1900" dirty="0" err="1"/>
              <a:t>acelaşi</a:t>
            </a:r>
            <a:r>
              <a:rPr lang="ro-RO" altLang="en-US" sz="1900" dirty="0"/>
              <a:t> nume (dat de clauza </a:t>
            </a:r>
            <a:r>
              <a:rPr lang="ro-RO" altLang="en-US" sz="1900" dirty="0" err="1"/>
              <a:t>name</a:t>
            </a:r>
            <a:r>
              <a:rPr lang="ro-RO" altLang="en-US" sz="1900" dirty="0"/>
              <a:t>) poate fi selectat la un moment dat. Daca este prezentă clauza CHECKED butonul respectiv este </a:t>
            </a:r>
            <a:r>
              <a:rPr lang="ro-RO" altLang="en-US" sz="1900" dirty="0" err="1"/>
              <a:t>iniţial</a:t>
            </a:r>
            <a:r>
              <a:rPr lang="ro-RO" altLang="en-US" sz="1900" dirty="0"/>
              <a:t> selectat. Doar unul dintre butoanele radio cu </a:t>
            </a:r>
            <a:r>
              <a:rPr lang="ro-RO" altLang="en-US" sz="1900" dirty="0" err="1"/>
              <a:t>acelaşi</a:t>
            </a:r>
            <a:r>
              <a:rPr lang="ro-RO" altLang="en-US" sz="1900" dirty="0"/>
              <a:t> nume poate </a:t>
            </a:r>
            <a:r>
              <a:rPr lang="ro-RO" altLang="en-US" sz="1900" dirty="0" err="1"/>
              <a:t>conţine</a:t>
            </a:r>
            <a:r>
              <a:rPr lang="ro-RO" altLang="en-US" sz="1900" dirty="0"/>
              <a:t> această clauză.</a:t>
            </a:r>
          </a:p>
          <a:p>
            <a:pPr>
              <a:spcAft>
                <a:spcPts val="600"/>
              </a:spcAft>
            </a:pPr>
            <a:r>
              <a:rPr lang="ro-RO" altLang="en-US" sz="1900" dirty="0" err="1"/>
              <a:t>Observaţie</a:t>
            </a:r>
            <a:r>
              <a:rPr lang="ro-RO" altLang="en-US" sz="1900" dirty="0"/>
              <a:t>: În cazul tipului </a:t>
            </a:r>
            <a:r>
              <a:rPr lang="ro-RO" altLang="en-US" sz="1900" i="1" dirty="0" err="1"/>
              <a:t>checkbox</a:t>
            </a:r>
            <a:r>
              <a:rPr lang="ro-RO" altLang="en-US" sz="1900" dirty="0"/>
              <a:t> este uzual (dar nu necesar) ca mai multe casete prezente în formular să aibă </a:t>
            </a:r>
            <a:r>
              <a:rPr lang="ro-RO" altLang="en-US" sz="1900" dirty="0" err="1"/>
              <a:t>aceeaşi</a:t>
            </a:r>
            <a:r>
              <a:rPr lang="ro-RO" altLang="en-US" sz="1900" dirty="0"/>
              <a:t> valoare </a:t>
            </a:r>
            <a:r>
              <a:rPr lang="ro-RO" altLang="en-US" sz="1900" dirty="0" err="1"/>
              <a:t>şi</a:t>
            </a:r>
            <a:r>
              <a:rPr lang="ro-RO" altLang="en-US" sz="1900" dirty="0"/>
              <a:t> nume diferite pe când în cazul </a:t>
            </a:r>
            <a:r>
              <a:rPr lang="ro-RO" altLang="en-US" sz="1900" i="1" dirty="0"/>
              <a:t>radio </a:t>
            </a:r>
            <a:r>
              <a:rPr lang="ro-RO" altLang="en-US" sz="1900" dirty="0"/>
              <a:t>butoanele au </a:t>
            </a:r>
            <a:r>
              <a:rPr lang="ro-RO" altLang="en-US" sz="1900" dirty="0" err="1"/>
              <a:t>acelaşi</a:t>
            </a:r>
            <a:r>
              <a:rPr lang="ro-RO" altLang="en-US" sz="1900" dirty="0"/>
              <a:t> nume </a:t>
            </a:r>
            <a:r>
              <a:rPr lang="ro-RO" altLang="en-US" sz="1900" dirty="0" err="1"/>
              <a:t>şi</a:t>
            </a:r>
            <a:r>
              <a:rPr lang="ro-RO" altLang="en-US" sz="1900" dirty="0"/>
              <a:t> valori diferite, pentru un astfel de nume </a:t>
            </a:r>
            <a:r>
              <a:rPr lang="ro-RO" altLang="en-US" sz="1900" dirty="0" err="1"/>
              <a:t>transmiţându</a:t>
            </a:r>
            <a:r>
              <a:rPr lang="ro-RO" altLang="en-US" sz="1900" dirty="0"/>
              <a:t>-se o singură pereche (</a:t>
            </a:r>
            <a:r>
              <a:rPr lang="ro-RO" altLang="en-US" sz="1900" dirty="0" err="1"/>
              <a:t>nume_simbol</a:t>
            </a:r>
            <a:r>
              <a:rPr lang="ro-RO" altLang="en-US" sz="1900" dirty="0"/>
              <a:t>, </a:t>
            </a:r>
            <a:r>
              <a:rPr lang="ro-RO" altLang="en-US" sz="1900" dirty="0" err="1"/>
              <a:t>valoare_simbol</a:t>
            </a:r>
            <a:r>
              <a:rPr lang="ro-RO" altLang="en-US" sz="1900" dirty="0"/>
              <a:t>) de la browser către server.</a:t>
            </a:r>
          </a:p>
        </p:txBody>
      </p:sp>
      <p:sp>
        <p:nvSpPr>
          <p:cNvPr id="91145" name="Rectangle 9114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1147" name="Rectangle 9114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139" name="Footer Placeholder 4">
            <a:extLst>
              <a:ext uri="{FF2B5EF4-FFF2-40B4-BE49-F238E27FC236}">
                <a16:creationId xmlns:a16="http://schemas.microsoft.com/office/drawing/2014/main" id="{D5B4C6C0-F805-6427-B13A-62CD26F5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91140" name="Slide Number Placeholder 5">
            <a:extLst>
              <a:ext uri="{FF2B5EF4-FFF2-40B4-BE49-F238E27FC236}">
                <a16:creationId xmlns:a16="http://schemas.microsoft.com/office/drawing/2014/main" id="{177FFBAA-534C-05E3-2336-A0502CE4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E2C5E661-C38D-894E-94CB-7E3148A4798E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42</a:t>
            </a:fld>
            <a:endParaRPr lang="en-US" altLang="en-US" sz="13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6EAA-6B3F-8F44-B485-7D7AA6FD4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Liste</a:t>
            </a:r>
            <a:r>
              <a:rPr lang="en-US" dirty="0"/>
              <a:t> SELECT</a:t>
            </a:r>
          </a:p>
        </p:txBody>
      </p:sp>
      <p:sp>
        <p:nvSpPr>
          <p:cNvPr id="92162" name="Content Placeholder 2">
            <a:extLst>
              <a:ext uri="{FF2B5EF4-FFF2-40B4-BE49-F238E27FC236}">
                <a16:creationId xmlns:a16="http://schemas.microsoft.com/office/drawing/2014/main" id="{22BAF07C-E8D4-4689-1363-3FA69D4246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9" y="1676399"/>
            <a:ext cx="8372119" cy="488205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ro-RO" sz="1600" dirty="0"/>
              <a:t>Sintaxa acestei directive este: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1600" dirty="0"/>
              <a:t>&lt;SELECT NAME="nume" [SIZE="</a:t>
            </a:r>
            <a:r>
              <a:rPr lang="ro-RO" altLang="ro-RO" sz="1600" dirty="0" err="1"/>
              <a:t>dimensiune_fereastra</a:t>
            </a:r>
            <a:r>
              <a:rPr lang="ro-RO" altLang="ro-RO" sz="1600" dirty="0"/>
              <a:t>"]&gt;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1600" dirty="0"/>
              <a:t>&lt;OPTION [VALUE="valoare_1" ] [SELECTED]&gt; text_afisat_1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1600" dirty="0"/>
              <a:t>&lt;OPTION [VALUE="valoare_2" ] [SELECTED]&gt; text_afisat_2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1600" dirty="0"/>
              <a:t>. . . .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1600" dirty="0"/>
              <a:t>&lt;/SELECT&gt;</a:t>
            </a:r>
          </a:p>
          <a:p>
            <a:pPr>
              <a:spcAft>
                <a:spcPts val="600"/>
              </a:spcAft>
            </a:pPr>
            <a:r>
              <a:rPr lang="ro-RO" altLang="ro-RO" sz="1600" dirty="0"/>
              <a:t>Cu ajutorul acestei directive se definesc meniuri verticale din care se poate alege o singura valoare.</a:t>
            </a:r>
          </a:p>
          <a:p>
            <a:pPr>
              <a:spcAft>
                <a:spcPts val="600"/>
              </a:spcAft>
            </a:pPr>
            <a:r>
              <a:rPr lang="ro-RO" altLang="ro-RO" sz="1600" dirty="0"/>
              <a:t>Numele simbolului este cel din SELECT iar lista de valori este introdusă element cu element cu directiva OPTION.</a:t>
            </a:r>
          </a:p>
          <a:p>
            <a:pPr>
              <a:spcAft>
                <a:spcPts val="600"/>
              </a:spcAft>
            </a:pPr>
            <a:r>
              <a:rPr lang="ro-RO" altLang="ro-RO" sz="1600" dirty="0"/>
              <a:t>Dacă VALUE </a:t>
            </a:r>
            <a:r>
              <a:rPr lang="ro-RO" altLang="ro-RO" sz="1600" dirty="0" err="1"/>
              <a:t>lipseşte</a:t>
            </a:r>
            <a:r>
              <a:rPr lang="ro-RO" altLang="ro-RO" sz="1600" dirty="0"/>
              <a:t> se consideră automat ca valoare textul corespunzător </a:t>
            </a:r>
            <a:r>
              <a:rPr lang="ro-RO" altLang="ro-RO" sz="1600" dirty="0" err="1"/>
              <a:t>opţiunii</a:t>
            </a:r>
            <a:r>
              <a:rPr lang="ro-RO" altLang="ro-RO" sz="1600" dirty="0"/>
              <a:t> respective (</a:t>
            </a:r>
            <a:r>
              <a:rPr lang="ro-RO" altLang="ro-RO" sz="1600" dirty="0" err="1"/>
              <a:t>text_afisat_i</a:t>
            </a:r>
            <a:r>
              <a:rPr lang="ro-RO" altLang="ro-RO" sz="1600" dirty="0"/>
              <a:t>).</a:t>
            </a:r>
          </a:p>
          <a:p>
            <a:pPr>
              <a:spcAft>
                <a:spcPts val="600"/>
              </a:spcAft>
            </a:pPr>
            <a:r>
              <a:rPr lang="ro-RO" altLang="ro-RO" sz="1600" dirty="0" err="1"/>
              <a:t>Observaţie</a:t>
            </a:r>
            <a:r>
              <a:rPr lang="ro-RO" altLang="ro-RO" sz="1600" dirty="0"/>
              <a:t>: în fereastra (de dimensiune dată de SIZE) </a:t>
            </a:r>
            <a:r>
              <a:rPr lang="ro-RO" altLang="ro-RO" sz="1600" dirty="0" err="1"/>
              <a:t>browserul</a:t>
            </a:r>
            <a:r>
              <a:rPr lang="ro-RO" altLang="ro-RO" sz="1600" dirty="0"/>
              <a:t> </a:t>
            </a:r>
            <a:r>
              <a:rPr lang="ro-RO" altLang="ro-RO" sz="1600" dirty="0" err="1"/>
              <a:t>afişează</a:t>
            </a:r>
            <a:r>
              <a:rPr lang="ro-RO" altLang="ro-RO" sz="1600" dirty="0"/>
              <a:t> textele asociate iar selectarea unuia dintre ele asociază simbolului nume valoarea din clauza VALUE pentru textul respectiv.</a:t>
            </a:r>
          </a:p>
        </p:txBody>
      </p:sp>
      <p:sp>
        <p:nvSpPr>
          <p:cNvPr id="92169" name="Rectangle 9216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2171" name="Rectangle 9217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63" name="Footer Placeholder 4">
            <a:extLst>
              <a:ext uri="{FF2B5EF4-FFF2-40B4-BE49-F238E27FC236}">
                <a16:creationId xmlns:a16="http://schemas.microsoft.com/office/drawing/2014/main" id="{657C61B4-8A06-8FC2-D7AC-E2DF0C7B5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92164" name="Slide Number Placeholder 5">
            <a:extLst>
              <a:ext uri="{FF2B5EF4-FFF2-40B4-BE49-F238E27FC236}">
                <a16:creationId xmlns:a16="http://schemas.microsoft.com/office/drawing/2014/main" id="{6D8EDA94-97E4-E76E-3049-D3BA2461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0257501-BA71-194C-9D58-6D081396D9AB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43</a:t>
            </a:fld>
            <a:endParaRPr lang="en-US" altLang="en-US" sz="13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72F38-BCBE-A741-A137-A839128CC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TEXTAREA</a:t>
            </a:r>
          </a:p>
        </p:txBody>
      </p:sp>
      <p:sp>
        <p:nvSpPr>
          <p:cNvPr id="93186" name="Content Placeholder 2">
            <a:extLst>
              <a:ext uri="{FF2B5EF4-FFF2-40B4-BE49-F238E27FC236}">
                <a16:creationId xmlns:a16="http://schemas.microsoft.com/office/drawing/2014/main" id="{303ED9B4-2169-7136-22B0-ECB0F1C906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8514" y="1707930"/>
            <a:ext cx="8309058" cy="45648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ro-RO" sz="2400" dirty="0"/>
              <a:t>Sintaxa: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2000" dirty="0"/>
              <a:t>&lt;TEXTAREA NAME="nume" [ROWS=</a:t>
            </a:r>
            <a:r>
              <a:rPr lang="ro-RO" altLang="ro-RO" sz="2000" dirty="0" err="1"/>
              <a:t>numar_linii</a:t>
            </a:r>
            <a:r>
              <a:rPr lang="ro-RO" altLang="ro-RO" sz="2000" dirty="0"/>
              <a:t>]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2000" dirty="0"/>
              <a:t>[COLS=</a:t>
            </a:r>
            <a:r>
              <a:rPr lang="ro-RO" altLang="ro-RO" sz="2000" dirty="0" err="1"/>
              <a:t>numar_coloane</a:t>
            </a:r>
            <a:r>
              <a:rPr lang="ro-RO" altLang="ro-RO" sz="2000" dirty="0"/>
              <a:t>]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2000" dirty="0"/>
              <a:t>[WRAP="</a:t>
            </a:r>
            <a:r>
              <a:rPr lang="ro-RO" altLang="ro-RO" sz="2000" dirty="0" err="1"/>
              <a:t>soft"|"hard"|"off</a:t>
            </a:r>
            <a:r>
              <a:rPr lang="ro-RO" altLang="ro-RO" sz="2000" dirty="0"/>
              <a:t>"]&gt;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ro-RO" sz="2000" dirty="0"/>
              <a:t>Text </a:t>
            </a:r>
            <a:r>
              <a:rPr lang="ro-RO" altLang="ro-RO" sz="2000" dirty="0" err="1"/>
              <a:t>initial</a:t>
            </a:r>
            <a:endParaRPr lang="ro-RO" altLang="ro-RO" sz="2000" dirty="0"/>
          </a:p>
          <a:p>
            <a:pPr lvl="1">
              <a:spcAft>
                <a:spcPts val="600"/>
              </a:spcAft>
              <a:buNone/>
            </a:pPr>
            <a:r>
              <a:rPr lang="ro-RO" altLang="ro-RO" sz="2000" dirty="0"/>
              <a:t>&lt;/TEXTAREA&gt;</a:t>
            </a:r>
          </a:p>
          <a:p>
            <a:pPr>
              <a:spcAft>
                <a:spcPts val="600"/>
              </a:spcAft>
            </a:pPr>
            <a:r>
              <a:rPr lang="ro-RO" altLang="ro-RO" sz="2400" dirty="0"/>
              <a:t> Această directivă este asemănătoare cu &lt;input </a:t>
            </a:r>
            <a:r>
              <a:rPr lang="ro-RO" altLang="ro-RO" sz="2400" dirty="0" err="1"/>
              <a:t>type</a:t>
            </a:r>
            <a:r>
              <a:rPr lang="ro-RO" altLang="ro-RO" sz="2400" dirty="0"/>
              <a:t>=text&gt; cu  deosebirea că </a:t>
            </a:r>
            <a:r>
              <a:rPr lang="ro-RO" altLang="ro-RO" sz="2400" dirty="0" err="1"/>
              <a:t>browserul</a:t>
            </a:r>
            <a:r>
              <a:rPr lang="ro-RO" altLang="ro-RO" sz="2400" dirty="0"/>
              <a:t> va permite tastarea unui text într-o fereastră cu mai multe linii (</a:t>
            </a:r>
            <a:r>
              <a:rPr lang="ro-RO" altLang="ro-RO" sz="2400" i="1" dirty="0" err="1"/>
              <a:t>nr_linii</a:t>
            </a:r>
            <a:r>
              <a:rPr lang="ro-RO" altLang="ro-RO" sz="2400" dirty="0"/>
              <a:t>).</a:t>
            </a:r>
          </a:p>
          <a:p>
            <a:pPr>
              <a:spcAft>
                <a:spcPts val="600"/>
              </a:spcAft>
            </a:pPr>
            <a:r>
              <a:rPr lang="ro-RO" altLang="ro-RO" sz="2400" dirty="0"/>
              <a:t>Dimensiunea pe orizontală a ferestrei este dată de </a:t>
            </a:r>
            <a:r>
              <a:rPr lang="ro-RO" altLang="ro-RO" sz="2400" i="1" dirty="0" err="1"/>
              <a:t>numar_coloane</a:t>
            </a:r>
            <a:r>
              <a:rPr lang="ro-RO" altLang="ro-RO" sz="2400" dirty="0"/>
              <a:t>.</a:t>
            </a:r>
          </a:p>
        </p:txBody>
      </p:sp>
      <p:sp>
        <p:nvSpPr>
          <p:cNvPr id="93193" name="Rectangle 9319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3195" name="Rectangle 9319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87" name="Footer Placeholder 4">
            <a:extLst>
              <a:ext uri="{FF2B5EF4-FFF2-40B4-BE49-F238E27FC236}">
                <a16:creationId xmlns:a16="http://schemas.microsoft.com/office/drawing/2014/main" id="{ABA8F355-3BA3-5904-FBD2-7B324B72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2932" y="6470704"/>
            <a:ext cx="5901459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300"/>
              <a:t>Programare Web– Curs 2</a:t>
            </a:r>
          </a:p>
        </p:txBody>
      </p:sp>
      <p:sp>
        <p:nvSpPr>
          <p:cNvPr id="93188" name="Slide Number Placeholder 5">
            <a:extLst>
              <a:ext uri="{FF2B5EF4-FFF2-40B4-BE49-F238E27FC236}">
                <a16:creationId xmlns:a16="http://schemas.microsoft.com/office/drawing/2014/main" id="{72955263-F2AC-D71D-193F-9A1F1A425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6F3D8AA-BDA6-1D49-B845-FA618A8CC82E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44</a:t>
            </a:fld>
            <a:endParaRPr lang="en-US" altLang="en-US" sz="13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Footer Placeholder 4">
            <a:extLst>
              <a:ext uri="{FF2B5EF4-FFF2-40B4-BE49-F238E27FC236}">
                <a16:creationId xmlns:a16="http://schemas.microsoft.com/office/drawing/2014/main" id="{97C10D0A-9F13-F348-3E3A-829DA62D2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97283" name="Slide Number Placeholder 5">
            <a:extLst>
              <a:ext uri="{FF2B5EF4-FFF2-40B4-BE49-F238E27FC236}">
                <a16:creationId xmlns:a16="http://schemas.microsoft.com/office/drawing/2014/main" id="{69F0CCE9-8BDB-0825-8B5D-C880DC6E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CFD594-E7BF-8940-92C1-93B22B7D4F3F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97284" name="Picture 2">
            <a:extLst>
              <a:ext uri="{FF2B5EF4-FFF2-40B4-BE49-F238E27FC236}">
                <a16:creationId xmlns:a16="http://schemas.microsoft.com/office/drawing/2014/main" id="{BFFE9DB9-B7FE-4A3F-02D8-E5831EDA7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394" y="585216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2544-3C81-594F-ACA2-43F34779B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File Upload</a:t>
            </a:r>
          </a:p>
        </p:txBody>
      </p:sp>
      <p:sp>
        <p:nvSpPr>
          <p:cNvPr id="98306" name="Footer Placeholder 4">
            <a:extLst>
              <a:ext uri="{FF2B5EF4-FFF2-40B4-BE49-F238E27FC236}">
                <a16:creationId xmlns:a16="http://schemas.microsoft.com/office/drawing/2014/main" id="{35F57D83-A99D-79E8-A0F8-8B7A183AF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98307" name="Slide Number Placeholder 5">
            <a:extLst>
              <a:ext uri="{FF2B5EF4-FFF2-40B4-BE49-F238E27FC236}">
                <a16:creationId xmlns:a16="http://schemas.microsoft.com/office/drawing/2014/main" id="{8CDDE631-D676-30C0-B349-E80A0D77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BA2095-D780-B349-B6AF-222644E03621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98308" name="Picture 2">
            <a:extLst>
              <a:ext uri="{FF2B5EF4-FFF2-40B4-BE49-F238E27FC236}">
                <a16:creationId xmlns:a16="http://schemas.microsoft.com/office/drawing/2014/main" id="{2FE84C37-8AF2-47DB-95AB-DE4DACC3C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66801"/>
            <a:ext cx="922020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09" name="Picture 3">
            <a:extLst>
              <a:ext uri="{FF2B5EF4-FFF2-40B4-BE49-F238E27FC236}">
                <a16:creationId xmlns:a16="http://schemas.microsoft.com/office/drawing/2014/main" id="{E40F5863-807A-EFC5-9FA4-42363189C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289" y="3657600"/>
            <a:ext cx="3190875" cy="161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8310" name="Picture 4">
            <a:extLst>
              <a:ext uri="{FF2B5EF4-FFF2-40B4-BE49-F238E27FC236}">
                <a16:creationId xmlns:a16="http://schemas.microsoft.com/office/drawing/2014/main" id="{EB16459B-5CDB-B2B6-B19B-788643784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1" y="3032125"/>
            <a:ext cx="4405313" cy="342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289F5C2F-A268-3246-87B8-6077572E268C}"/>
              </a:ext>
            </a:extLst>
          </p:cNvPr>
          <p:cNvSpPr/>
          <p:nvPr/>
        </p:nvSpPr>
        <p:spPr>
          <a:xfrm>
            <a:off x="3200400" y="3032126"/>
            <a:ext cx="533400" cy="4730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Bent-Up Arrow 7">
            <a:extLst>
              <a:ext uri="{FF2B5EF4-FFF2-40B4-BE49-F238E27FC236}">
                <a16:creationId xmlns:a16="http://schemas.microsoft.com/office/drawing/2014/main" id="{93FBE6C4-CA4A-334D-9348-EF3F86E31A81}"/>
              </a:ext>
            </a:extLst>
          </p:cNvPr>
          <p:cNvSpPr/>
          <p:nvPr/>
        </p:nvSpPr>
        <p:spPr>
          <a:xfrm rot="5400000">
            <a:off x="4157663" y="5373688"/>
            <a:ext cx="990600" cy="9144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40040" name="Rectangle 940039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40036" name="Picture 940035">
            <a:extLst>
              <a:ext uri="{FF2B5EF4-FFF2-40B4-BE49-F238E27FC236}">
                <a16:creationId xmlns:a16="http://schemas.microsoft.com/office/drawing/2014/main" id="{4A8FC6C5-D8E1-E522-C3AE-B3B61E3D7B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45000"/>
          </a:blip>
          <a:srcRect t="4835" r="-1" b="7593"/>
          <a:stretch/>
        </p:blipFill>
        <p:spPr>
          <a:xfrm>
            <a:off x="20" y="-1"/>
            <a:ext cx="12188932" cy="6858000"/>
          </a:xfrm>
          <a:prstGeom prst="rect">
            <a:avLst/>
          </a:prstGeom>
        </p:spPr>
      </p:pic>
      <p:sp>
        <p:nvSpPr>
          <p:cNvPr id="940034" name="Rectangle 2">
            <a:extLst>
              <a:ext uri="{FF2B5EF4-FFF2-40B4-BE49-F238E27FC236}">
                <a16:creationId xmlns:a16="http://schemas.microsoft.com/office/drawing/2014/main" id="{1DCF7B57-094F-A451-13D0-8764A7B39A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43467" y="643467"/>
            <a:ext cx="7164674" cy="557106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6600">
                <a:solidFill>
                  <a:schemeClr val="tx1"/>
                </a:solidFill>
              </a:rPr>
              <a:t>XHTML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D4BEF1E-D824-B5CD-2D97-E8A00C7050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451608" y="643467"/>
            <a:ext cx="3096926" cy="5571066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000">
                <a:solidFill>
                  <a:schemeClr val="tx1"/>
                </a:solidFill>
                <a:latin typeface="Trebuchet MS" panose="020B0703020202090204" pitchFamily="34" charset="0"/>
              </a:rPr>
              <a:t>http://www.w3schools.com/xhtml/</a:t>
            </a:r>
          </a:p>
        </p:txBody>
      </p:sp>
      <p:cxnSp>
        <p:nvCxnSpPr>
          <p:cNvPr id="940042" name="Straight Connector 940041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39605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E82B94ED-53CD-9967-32AF-A18309333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992F95A1-D7C8-6D4C-A14E-63E1EF31A2A8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47</a:t>
            </a:fld>
            <a:endParaRPr lang="en-US" altLang="en-US" sz="13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634" name="Rectangle 2">
            <a:extLst>
              <a:ext uri="{FF2B5EF4-FFF2-40B4-BE49-F238E27FC236}">
                <a16:creationId xmlns:a16="http://schemas.microsoft.com/office/drawing/2014/main" id="{F45A439F-D24F-B75C-53EF-89804937A9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HTML 4</a:t>
            </a:r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00E9C76-B910-9035-334D-001829634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897118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 dirty="0"/>
              <a:t>HTML 4 </a:t>
            </a:r>
            <a:r>
              <a:rPr lang="ro-RO" altLang="en-US" dirty="0"/>
              <a:t>extinde </a:t>
            </a:r>
            <a:r>
              <a:rPr lang="en-US" altLang="en-US" dirty="0"/>
              <a:t>HTML </a:t>
            </a:r>
            <a:r>
              <a:rPr lang="ro-RO" altLang="en-US" dirty="0"/>
              <a:t>cu mecanisme adecvate pentru:</a:t>
            </a:r>
            <a:r>
              <a:rPr lang="en-US" altLang="en-US" dirty="0"/>
              <a:t>*</a:t>
            </a:r>
            <a:endParaRPr lang="ro-RO" altLang="en-US" dirty="0"/>
          </a:p>
          <a:p>
            <a:pPr lvl="1">
              <a:spcAft>
                <a:spcPts val="600"/>
              </a:spcAft>
            </a:pPr>
            <a:r>
              <a:rPr lang="ro-RO" altLang="en-US" dirty="0"/>
              <a:t>Elemente de </a:t>
            </a:r>
            <a:r>
              <a:rPr lang="en-US" altLang="en-US" i="1" dirty="0"/>
              <a:t>style sheet</a:t>
            </a:r>
            <a:r>
              <a:rPr lang="en-US" altLang="en-US" dirty="0"/>
              <a:t>, </a:t>
            </a:r>
            <a:endParaRPr lang="ro-RO" altLang="en-US" dirty="0"/>
          </a:p>
          <a:p>
            <a:pPr lvl="1">
              <a:spcAft>
                <a:spcPts val="600"/>
              </a:spcAft>
            </a:pPr>
            <a:r>
              <a:rPr lang="ro-RO" altLang="en-US" dirty="0"/>
              <a:t>Limbaje de </a:t>
            </a:r>
            <a:r>
              <a:rPr lang="en-US" altLang="en-US" dirty="0"/>
              <a:t>scripting, </a:t>
            </a:r>
            <a:endParaRPr lang="ro-RO" altLang="en-US" dirty="0"/>
          </a:p>
          <a:p>
            <a:pPr lvl="1">
              <a:spcAft>
                <a:spcPts val="600"/>
              </a:spcAft>
            </a:pPr>
            <a:r>
              <a:rPr lang="en-US" altLang="en-US" dirty="0"/>
              <a:t>Frame</a:t>
            </a:r>
            <a:r>
              <a:rPr lang="ro-RO" altLang="en-US" dirty="0"/>
              <a:t>-uri</a:t>
            </a:r>
            <a:r>
              <a:rPr lang="en-US" altLang="en-US" dirty="0"/>
              <a:t>, </a:t>
            </a:r>
            <a:endParaRPr lang="ro-RO" altLang="en-US" dirty="0"/>
          </a:p>
          <a:p>
            <a:pPr lvl="1">
              <a:spcAft>
                <a:spcPts val="600"/>
              </a:spcAft>
            </a:pPr>
            <a:r>
              <a:rPr lang="ro-RO" altLang="en-US" dirty="0"/>
              <a:t>Obiecte </a:t>
            </a:r>
            <a:r>
              <a:rPr lang="en-US" altLang="en-US" dirty="0" err="1"/>
              <a:t>embedd</a:t>
            </a:r>
            <a:r>
              <a:rPr lang="ro-RO" altLang="en-US" dirty="0" err="1"/>
              <a:t>ed</a:t>
            </a:r>
            <a:r>
              <a:rPr lang="en-US" altLang="en-US" dirty="0"/>
              <a:t>, </a:t>
            </a:r>
            <a:endParaRPr lang="ro-RO" altLang="en-US" dirty="0"/>
          </a:p>
          <a:p>
            <a:pPr lvl="1">
              <a:spcAft>
                <a:spcPts val="600"/>
              </a:spcAft>
            </a:pPr>
            <a:r>
              <a:rPr lang="ro-RO" altLang="en-US" dirty="0"/>
              <a:t>Suport îmbunătățit pentru text reprezentat de la dreapta la stânga</a:t>
            </a:r>
          </a:p>
          <a:p>
            <a:pPr lvl="1">
              <a:spcAft>
                <a:spcPts val="600"/>
              </a:spcAft>
            </a:pPr>
            <a:r>
              <a:rPr lang="ro-RO" altLang="en-US" dirty="0"/>
              <a:t>Elemente mai bogate de prezentare a tabelelor</a:t>
            </a:r>
          </a:p>
          <a:p>
            <a:pPr lvl="1">
              <a:spcAft>
                <a:spcPts val="600"/>
              </a:spcAft>
            </a:pPr>
            <a:r>
              <a:rPr lang="ro-RO" altLang="en-US" dirty="0"/>
              <a:t>Îmbunătățiri pentru reprezentarea formularelor, oferirea de suport pentru persoane cu </a:t>
            </a:r>
            <a:r>
              <a:rPr lang="ro-RO" altLang="en-US" dirty="0" err="1"/>
              <a:t>disabilități</a:t>
            </a:r>
            <a:r>
              <a:rPr lang="en-US" altLang="en-US" dirty="0"/>
              <a:t>. </a:t>
            </a:r>
          </a:p>
          <a:p>
            <a:pPr eaLnBrk="1" hangingPunct="1">
              <a:buFontTx/>
              <a:buNone/>
            </a:pPr>
            <a:r>
              <a:rPr lang="en-US" altLang="en-US" dirty="0"/>
              <a:t>*http://www.w3.org/TR/1999/REC-html401-19991224/intro/intro.html#h-2.3 </a:t>
            </a:r>
          </a:p>
        </p:txBody>
      </p:sp>
      <p:sp>
        <p:nvSpPr>
          <p:cNvPr id="965639" name="Rectangle 96563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5641" name="Rectangle 96564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077D4C5C-B5DD-B2FF-3B3F-6EEC27A41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E11F029A-DAB0-694D-83FF-C03A603B26D5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48</a:t>
            </a:fld>
            <a:endParaRPr lang="en-US" altLang="en-US" sz="13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658" name="Rectangle 2">
            <a:extLst>
              <a:ext uri="{FF2B5EF4-FFF2-40B4-BE49-F238E27FC236}">
                <a16:creationId xmlns:a16="http://schemas.microsoft.com/office/drawing/2014/main" id="{672098AA-58FD-7F45-3714-932F52325D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Problema cu HTML</a:t>
            </a:r>
            <a:endParaRPr lang="en-US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12ED315-5390-27BD-3398-8BDF67E42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HTML </a:t>
            </a:r>
            <a:r>
              <a:rPr lang="ro-RO" altLang="en-US"/>
              <a:t>a fost conceput ca o modalitate de a descrie </a:t>
            </a:r>
            <a:r>
              <a:rPr lang="ro-RO" altLang="en-US" i="1"/>
              <a:t>structura</a:t>
            </a:r>
            <a:r>
              <a:rPr lang="ro-RO" altLang="en-US"/>
              <a:t> unui document, cu </a:t>
            </a:r>
            <a:r>
              <a:rPr lang="en-US" altLang="en-US"/>
              <a:t>tag</a:t>
            </a:r>
            <a:r>
              <a:rPr lang="ro-RO" altLang="en-US"/>
              <a:t>-uri</a:t>
            </a:r>
            <a:r>
              <a:rPr lang="en-US" altLang="en-US"/>
              <a:t> </a:t>
            </a:r>
            <a:r>
              <a:rPr lang="ro-RO" altLang="en-US"/>
              <a:t>pentru a indica </a:t>
            </a:r>
            <a:r>
              <a:rPr lang="en-US" altLang="en-US"/>
              <a:t>header</a:t>
            </a:r>
            <a:r>
              <a:rPr lang="ro-RO" altLang="en-US"/>
              <a:t>e</a:t>
            </a:r>
            <a:r>
              <a:rPr lang="en-US" altLang="en-US"/>
              <a:t>, </a:t>
            </a:r>
            <a:r>
              <a:rPr lang="ro-RO" altLang="en-US"/>
              <a:t>paragrafe, etc.</a:t>
            </a:r>
            <a:endParaRPr lang="en-US" altLang="en-US"/>
          </a:p>
          <a:p>
            <a:pPr>
              <a:spcAft>
                <a:spcPts val="600"/>
              </a:spcAft>
            </a:pPr>
            <a:r>
              <a:rPr lang="ro-RO" altLang="en-US"/>
              <a:t>Apare nevoia de control asupra </a:t>
            </a:r>
            <a:r>
              <a:rPr lang="ro-RO" altLang="en-US" i="1"/>
              <a:t>aparenţei</a:t>
            </a:r>
            <a:r>
              <a:rPr lang="ro-RO" altLang="en-US"/>
              <a:t> documentelor, motiv pentru care HTML a fost îmbogăţit cu tag-uri pentru controlul </a:t>
            </a:r>
            <a:r>
              <a:rPr lang="en-US" altLang="en-US"/>
              <a:t>font</a:t>
            </a:r>
            <a:r>
              <a:rPr lang="ro-RO" altLang="en-US"/>
              <a:t>-urilor</a:t>
            </a:r>
            <a:r>
              <a:rPr lang="en-US" altLang="en-US"/>
              <a:t>, </a:t>
            </a:r>
            <a:r>
              <a:rPr lang="ro-RO" altLang="en-US"/>
              <a:t>aliniatelor</a:t>
            </a:r>
            <a:r>
              <a:rPr lang="en-US" altLang="en-US"/>
              <a:t>, etc.</a:t>
            </a:r>
          </a:p>
          <a:p>
            <a:pPr eaLnBrk="1" hangingPunct="1"/>
            <a:endParaRPr lang="en-US" altLang="en-US"/>
          </a:p>
        </p:txBody>
      </p:sp>
      <p:sp>
        <p:nvSpPr>
          <p:cNvPr id="966663" name="Rectangle 96666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6665" name="Rectangle 96666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880BD39F-98E2-7C7E-868E-9C939ACEB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837D98D0-D6E2-434F-BC73-75AC1818B175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49</a:t>
            </a:fld>
            <a:endParaRPr lang="en-US" altLang="en-US" sz="13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7E0DFC78-EF4B-BE7E-014C-C73D9805F6BF}"/>
              </a:ext>
            </a:extLst>
          </p:cNvPr>
          <p:cNvSpPr/>
          <p:nvPr/>
        </p:nvSpPr>
        <p:spPr>
          <a:xfrm>
            <a:off x="1828800" y="1828800"/>
            <a:ext cx="8610600" cy="4648200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600">
              <a:solidFill>
                <a:srgbClr val="FFFFFF"/>
              </a:solidFill>
            </a:endParaRPr>
          </a:p>
        </p:txBody>
      </p:sp>
      <p:sp>
        <p:nvSpPr>
          <p:cNvPr id="45058" name="Slide Number Placeholder 4">
            <a:extLst>
              <a:ext uri="{FF2B5EF4-FFF2-40B4-BE49-F238E27FC236}">
                <a16:creationId xmlns:a16="http://schemas.microsoft.com/office/drawing/2014/main" id="{A432F42E-1AA9-9AA3-37A8-D6AF62DF42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704CF9-033A-9A4E-A9A9-C1101BB0D040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946178" name="Rectangle 2">
            <a:extLst>
              <a:ext uri="{FF2B5EF4-FFF2-40B4-BE49-F238E27FC236}">
                <a16:creationId xmlns:a16="http://schemas.microsoft.com/office/drawing/2014/main" id="{833FBCBC-9C4D-43C4-D0A8-839CE3A851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457201"/>
            <a:ext cx="8229600" cy="42227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HTML vs. XML</a:t>
            </a:r>
          </a:p>
        </p:txBody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CFCF24C3-0363-2E55-7B00-6CAB7A528A8C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5948364" y="3797300"/>
            <a:ext cx="3944937" cy="12080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sp>
        <p:nvSpPr>
          <p:cNvPr id="946180" name="Rectangle 4">
            <a:extLst>
              <a:ext uri="{FF2B5EF4-FFF2-40B4-BE49-F238E27FC236}">
                <a16:creationId xmlns:a16="http://schemas.microsoft.com/office/drawing/2014/main" id="{333FF4C6-3B57-E266-B065-02E3793FD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066800"/>
            <a:ext cx="6067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XML </a:t>
            </a:r>
            <a:r>
              <a:rPr lang="ro-RO" altLang="en-US">
                <a:latin typeface="Times New Roman" panose="02020603050405020304" pitchFamily="18" charset="0"/>
              </a:rPr>
              <a:t>arată mult ca </a:t>
            </a:r>
            <a:r>
              <a:rPr lang="en-US" altLang="en-US">
                <a:latin typeface="Times New Roman" panose="02020603050405020304" pitchFamily="18" charset="0"/>
              </a:rPr>
              <a:t>HTML, </a:t>
            </a:r>
            <a:r>
              <a:rPr lang="ro-RO" altLang="en-US">
                <a:latin typeface="Times New Roman" panose="02020603050405020304" pitchFamily="18" charset="0"/>
              </a:rPr>
              <a:t>dar: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6181" name="Rectangle 5">
            <a:extLst>
              <a:ext uri="{FF2B5EF4-FFF2-40B4-BE49-F238E27FC236}">
                <a16:creationId xmlns:a16="http://schemas.microsoft.com/office/drawing/2014/main" id="{EBE212CA-606F-A9FB-AB8A-7C39C3EAF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1" y="1828801"/>
            <a:ext cx="38338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HTML </a:t>
            </a:r>
            <a:r>
              <a:rPr lang="ro-RO" altLang="en-US" sz="2400">
                <a:latin typeface="Times New Roman" panose="02020603050405020304" pitchFamily="18" charset="0"/>
              </a:rPr>
              <a:t>foloseşte un set fix de </a:t>
            </a:r>
            <a:r>
              <a:rPr lang="en-US" altLang="en-US" sz="2400">
                <a:latin typeface="Times New Roman" panose="02020603050405020304" pitchFamily="18" charset="0"/>
              </a:rPr>
              <a:t>tag</a:t>
            </a:r>
            <a:r>
              <a:rPr lang="ro-RO" altLang="en-US" sz="2400">
                <a:latin typeface="Times New Roman" panose="02020603050405020304" pitchFamily="18" charset="0"/>
              </a:rPr>
              <a:t>-uri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46182" name="Rectangle 6">
            <a:extLst>
              <a:ext uri="{FF2B5EF4-FFF2-40B4-BE49-F238E27FC236}">
                <a16:creationId xmlns:a16="http://schemas.microsoft.com/office/drawing/2014/main" id="{D38ECD07-EF79-A8CD-4A30-0017C7767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828801"/>
            <a:ext cx="43561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o-RO" altLang="en-US" sz="2400">
                <a:latin typeface="Times New Roman" panose="02020603050405020304" pitchFamily="18" charset="0"/>
              </a:rPr>
              <a:t>În </a:t>
            </a:r>
            <a:r>
              <a:rPr lang="en-US" altLang="en-US" sz="2400">
                <a:latin typeface="Times New Roman" panose="02020603050405020304" pitchFamily="18" charset="0"/>
              </a:rPr>
              <a:t>XML </a:t>
            </a:r>
            <a:r>
              <a:rPr lang="ro-RO" altLang="en-US" sz="2400">
                <a:latin typeface="Times New Roman" panose="02020603050405020304" pitchFamily="18" charset="0"/>
              </a:rPr>
              <a:t>puteţi folosi propriile </a:t>
            </a:r>
            <a:r>
              <a:rPr lang="en-US" altLang="en-US" sz="2400">
                <a:latin typeface="Times New Roman" panose="02020603050405020304" pitchFamily="18" charset="0"/>
              </a:rPr>
              <a:t>tag</a:t>
            </a:r>
            <a:r>
              <a:rPr lang="ro-RO" altLang="en-US" sz="2400">
                <a:latin typeface="Times New Roman" panose="02020603050405020304" pitchFamily="18" charset="0"/>
              </a:rPr>
              <a:t>-uri 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ro-RO" altLang="en-US" sz="2400">
                <a:latin typeface="Times New Roman" panose="02020603050405020304" pitchFamily="18" charset="0"/>
              </a:rPr>
              <a:t>şi defini ce reprezintă ele într-un document separat</a:t>
            </a:r>
            <a:r>
              <a:rPr lang="en-US" altLang="en-US" sz="24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46183" name="Rectangle 7">
            <a:extLst>
              <a:ext uri="{FF2B5EF4-FFF2-40B4-BE49-F238E27FC236}">
                <a16:creationId xmlns:a16="http://schemas.microsoft.com/office/drawing/2014/main" id="{91A5D87A-6D8E-2675-84C1-A118A3219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4" y="3168651"/>
            <a:ext cx="3887787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HTML </a:t>
            </a:r>
            <a:r>
              <a:rPr lang="ro-RO" altLang="en-US" sz="2400">
                <a:latin typeface="Times New Roman" panose="02020603050405020304" pitchFamily="18" charset="0"/>
              </a:rPr>
              <a:t>este proiectat pentru afişarea datelor în formă umană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46184" name="Rectangle 8">
            <a:extLst>
              <a:ext uri="{FF2B5EF4-FFF2-40B4-BE49-F238E27FC236}">
                <a16:creationId xmlns:a16="http://schemas.microsoft.com/office/drawing/2014/main" id="{4845E3B3-BBD1-D0E5-4660-FC25871B1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168651"/>
            <a:ext cx="4191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XML </a:t>
            </a:r>
            <a:r>
              <a:rPr lang="ro-RO" altLang="en-US" sz="2400">
                <a:latin typeface="Times New Roman" panose="02020603050405020304" pitchFamily="18" charset="0"/>
              </a:rPr>
              <a:t>este proiectat pentru descrierea datelor pentru </a:t>
            </a:r>
            <a:r>
              <a:rPr lang="en-US" altLang="en-US" sz="2400">
                <a:latin typeface="Times New Roman" panose="02020603050405020304" pitchFamily="18" charset="0"/>
              </a:rPr>
              <a:t>computer</a:t>
            </a:r>
            <a:r>
              <a:rPr lang="ro-RO" altLang="en-US" sz="2400">
                <a:latin typeface="Times New Roman" panose="02020603050405020304" pitchFamily="18" charset="0"/>
              </a:rPr>
              <a:t>e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946185" name="Rectangle 9">
            <a:extLst>
              <a:ext uri="{FF2B5EF4-FFF2-40B4-BE49-F238E27FC236}">
                <a16:creationId xmlns:a16="http://schemas.microsoft.com/office/drawing/2014/main" id="{60E1305A-D96A-A5D4-31B3-480362B32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138" y="4416426"/>
            <a:ext cx="364966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o-RO" altLang="en-US" sz="2400" dirty="0">
                <a:latin typeface="Times New Roman" panose="02020603050405020304" pitchFamily="18" charset="0"/>
              </a:rPr>
              <a:t>Browser-ele sunt foarte tolerante cu erorile în </a:t>
            </a:r>
            <a:r>
              <a:rPr lang="en-US" altLang="en-US" sz="2400" dirty="0">
                <a:latin typeface="Times New Roman" panose="02020603050405020304" pitchFamily="18" charset="0"/>
              </a:rPr>
              <a:t>HTML</a:t>
            </a:r>
          </a:p>
        </p:txBody>
      </p:sp>
      <p:sp>
        <p:nvSpPr>
          <p:cNvPr id="946186" name="Rectangle 10">
            <a:extLst>
              <a:ext uri="{FF2B5EF4-FFF2-40B4-BE49-F238E27FC236}">
                <a16:creationId xmlns:a16="http://schemas.microsoft.com/office/drawing/2014/main" id="{6F4943D1-230C-3561-94CA-B6B16D231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4416426"/>
            <a:ext cx="4356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ro-RO" altLang="en-US" sz="2400">
                <a:latin typeface="Times New Roman" panose="02020603050405020304" pitchFamily="18" charset="0"/>
              </a:rPr>
              <a:t>Documentele </a:t>
            </a:r>
            <a:r>
              <a:rPr lang="en-US" altLang="en-US" sz="2400">
                <a:latin typeface="Times New Roman" panose="02020603050405020304" pitchFamily="18" charset="0"/>
              </a:rPr>
              <a:t>XML </a:t>
            </a:r>
            <a:r>
              <a:rPr lang="ro-RO" altLang="en-US" sz="2400">
                <a:latin typeface="Times New Roman" panose="02020603050405020304" pitchFamily="18" charset="0"/>
              </a:rPr>
              <a:t>trebuie să fie bine formate </a:t>
            </a:r>
            <a:r>
              <a:rPr lang="en-US" altLang="en-US" sz="2400">
                <a:latin typeface="Times New Roman" panose="02020603050405020304" pitchFamily="18" charset="0"/>
              </a:rPr>
              <a:t>(</a:t>
            </a:r>
            <a:r>
              <a:rPr lang="ro-RO" altLang="en-US" sz="2400">
                <a:latin typeface="Times New Roman" panose="02020603050405020304" pitchFamily="18" charset="0"/>
              </a:rPr>
              <a:t>corect sintactic</a:t>
            </a:r>
            <a:r>
              <a:rPr lang="en-US" altLang="en-US" sz="2400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46187" name="Text Box 11">
            <a:extLst>
              <a:ext uri="{FF2B5EF4-FFF2-40B4-BE49-F238E27FC236}">
                <a16:creationId xmlns:a16="http://schemas.microsoft.com/office/drawing/2014/main" id="{CE93443D-B8EC-B9AC-414A-FA876FA77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488" y="5654676"/>
            <a:ext cx="349091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ro-RO" altLang="en-US" sz="2400">
                <a:latin typeface="Times" pitchFamily="18" charset="0"/>
              </a:rPr>
              <a:t>Toate browserele pot afişa </a:t>
            </a:r>
            <a:r>
              <a:rPr lang="en-US" altLang="en-US" sz="2400">
                <a:latin typeface="Times" pitchFamily="18" charset="0"/>
              </a:rPr>
              <a:t>HTML</a:t>
            </a:r>
          </a:p>
        </p:txBody>
      </p:sp>
      <p:sp>
        <p:nvSpPr>
          <p:cNvPr id="946188" name="Text Box 12">
            <a:extLst>
              <a:ext uri="{FF2B5EF4-FFF2-40B4-BE49-F238E27FC236}">
                <a16:creationId xmlns:a16="http://schemas.microsoft.com/office/drawing/2014/main" id="{31138526-E79F-3675-B869-A78B4B21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1" y="5654676"/>
            <a:ext cx="451961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ro-RO" altLang="en-US" sz="2400">
                <a:latin typeface="Times" pitchFamily="18" charset="0"/>
              </a:rPr>
              <a:t>Toate browserele moderne afişează </a:t>
            </a:r>
            <a:r>
              <a:rPr lang="en-US" altLang="en-US" sz="2400">
                <a:latin typeface="Times" pitchFamily="18" charset="0"/>
              </a:rPr>
              <a:t>XML, </a:t>
            </a:r>
            <a:r>
              <a:rPr lang="ro-RO" altLang="en-US" sz="2400">
                <a:latin typeface="Times" pitchFamily="18" charset="0"/>
              </a:rPr>
              <a:t>dar în diverse moduri</a:t>
            </a:r>
            <a:endParaRPr lang="en-US" altLang="en-US" sz="2400">
              <a:latin typeface="Times" pitchFamily="18" charset="0"/>
            </a:endParaRPr>
          </a:p>
        </p:txBody>
      </p:sp>
      <p:sp>
        <p:nvSpPr>
          <p:cNvPr id="45070" name="Line 13">
            <a:extLst>
              <a:ext uri="{FF2B5EF4-FFF2-40B4-BE49-F238E27FC236}">
                <a16:creationId xmlns:a16="http://schemas.microsoft.com/office/drawing/2014/main" id="{5B2B00A4-BD89-656C-E096-E8900F9D9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309245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1" name="Line 14">
            <a:extLst>
              <a:ext uri="{FF2B5EF4-FFF2-40B4-BE49-F238E27FC236}">
                <a16:creationId xmlns:a16="http://schemas.microsoft.com/office/drawing/2014/main" id="{B5FD9BE9-B7FB-BB50-479B-EF28364A0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438785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5072" name="Line 15">
            <a:extLst>
              <a:ext uri="{FF2B5EF4-FFF2-40B4-BE49-F238E27FC236}">
                <a16:creationId xmlns:a16="http://schemas.microsoft.com/office/drawing/2014/main" id="{D3FF2FC1-331F-8C6F-F8A4-25B6AA54D9A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7400" y="5638800"/>
            <a:ext cx="807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4E91194-1EFB-EE3B-AE92-F0863C44AF2F}"/>
              </a:ext>
            </a:extLst>
          </p:cNvPr>
          <p:cNvCxnSpPr/>
          <p:nvPr/>
        </p:nvCxnSpPr>
        <p:spPr>
          <a:xfrm rot="16200000" flipH="1">
            <a:off x="3505200" y="4114800"/>
            <a:ext cx="4648200" cy="762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6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4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4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4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46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4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4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46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46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180" grpId="0" autoUpdateAnimBg="0"/>
      <p:bldP spid="946181" grpId="0" autoUpdateAnimBg="0"/>
      <p:bldP spid="946182" grpId="0" autoUpdateAnimBg="0"/>
      <p:bldP spid="946183" grpId="0" autoUpdateAnimBg="0"/>
      <p:bldP spid="946184" grpId="0" autoUpdateAnimBg="0"/>
      <p:bldP spid="946185" grpId="0" autoUpdateAnimBg="0"/>
      <p:bldP spid="946186" grpId="0" autoUpdateAnimBg="0"/>
      <p:bldP spid="946187" grpId="0" build="p" bldLvl="4" autoUpdateAnimBg="0"/>
      <p:bldP spid="94618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682" name="Rectangle 2">
            <a:extLst>
              <a:ext uri="{FF2B5EF4-FFF2-40B4-BE49-F238E27FC236}">
                <a16:creationId xmlns:a16="http://schemas.microsoft.com/office/drawing/2014/main" id="{5430B737-BC78-199F-CFA5-E69054B19D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De la HTML la XHTML, I</a:t>
            </a:r>
            <a:endParaRPr lang="en-US" altLang="en-US"/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1F26E9D2-5891-417C-6289-A553B3E683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/>
              <a:t>Elementele </a:t>
            </a:r>
            <a:r>
              <a:rPr lang="en-US" altLang="en-US"/>
              <a:t>XHTML </a:t>
            </a:r>
            <a:r>
              <a:rPr lang="ro-RO" altLang="en-US"/>
              <a:t>trebuie să fie corect imbricate</a:t>
            </a:r>
            <a:endParaRPr lang="en-US" altLang="en-US"/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en-US" altLang="en-US">
                <a:latin typeface="Trebuchet MS" panose="020B0703020202090204" pitchFamily="34" charset="0"/>
              </a:rPr>
              <a:t>&lt;b&gt;&lt;i&gt;bold and italic&lt;/b&gt;&lt;/i&gt;</a:t>
            </a:r>
            <a:r>
              <a:rPr lang="en-US" altLang="en-US"/>
              <a:t> </a:t>
            </a:r>
            <a:r>
              <a:rPr lang="ro-RO" altLang="en-US"/>
              <a:t>este </a:t>
            </a:r>
            <a:r>
              <a:rPr lang="ro-RO" altLang="en-US" i="1"/>
              <a:t>greşit</a:t>
            </a:r>
            <a:endParaRPr lang="en-US" altLang="en-US"/>
          </a:p>
          <a:p>
            <a:pPr eaLnBrk="1" hangingPunct="1"/>
            <a:r>
              <a:rPr lang="ro-RO" altLang="en-US"/>
              <a:t>Documentele </a:t>
            </a:r>
            <a:r>
              <a:rPr lang="en-US" altLang="en-US"/>
              <a:t>XHTML </a:t>
            </a:r>
            <a:r>
              <a:rPr lang="ro-RO" altLang="en-US"/>
              <a:t>trebuie să fie bine formate</a:t>
            </a:r>
            <a:endParaRPr lang="en-US" altLang="en-US"/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en-US" altLang="en-US">
                <a:latin typeface="Trebuchet MS" panose="020B0703020202090204" pitchFamily="34" charset="0"/>
              </a:rPr>
              <a:t>&lt;html&gt;</a:t>
            </a:r>
            <a:br>
              <a:rPr lang="en-US" altLang="en-US">
                <a:latin typeface="Trebuchet MS" panose="020B0703020202090204" pitchFamily="34" charset="0"/>
              </a:rPr>
            </a:br>
            <a:r>
              <a:rPr lang="en-US" altLang="en-US">
                <a:latin typeface="Trebuchet MS" panose="020B0703020202090204" pitchFamily="34" charset="0"/>
              </a:rPr>
              <a:t>&lt;head&gt; ... &lt;/head&gt;</a:t>
            </a:r>
            <a:br>
              <a:rPr lang="en-US" altLang="en-US">
                <a:latin typeface="Trebuchet MS" panose="020B0703020202090204" pitchFamily="34" charset="0"/>
              </a:rPr>
            </a:br>
            <a:r>
              <a:rPr lang="en-US" altLang="en-US">
                <a:latin typeface="Trebuchet MS" panose="020B0703020202090204" pitchFamily="34" charset="0"/>
              </a:rPr>
              <a:t>&lt;body&gt; ... &lt;/body&gt;</a:t>
            </a:r>
            <a:br>
              <a:rPr lang="en-US" altLang="en-US">
                <a:latin typeface="Trebuchet MS" panose="020B0703020202090204" pitchFamily="34" charset="0"/>
              </a:rPr>
            </a:br>
            <a:r>
              <a:rPr lang="en-US" altLang="en-US">
                <a:latin typeface="Trebuchet MS" panose="020B0703020202090204" pitchFamily="34" charset="0"/>
              </a:rPr>
              <a:t>&lt;/html&gt;</a:t>
            </a:r>
            <a:endParaRPr lang="en-US" altLang="en-US"/>
          </a:p>
          <a:p>
            <a:pPr eaLnBrk="1" hangingPunct="1"/>
            <a:r>
              <a:rPr lang="ro-RO" altLang="en-US"/>
              <a:t>Numele de t</a:t>
            </a:r>
            <a:r>
              <a:rPr lang="en-US" altLang="en-US"/>
              <a:t>ag</a:t>
            </a:r>
            <a:r>
              <a:rPr lang="ro-RO" altLang="en-US"/>
              <a:t>-uri</a:t>
            </a:r>
            <a:r>
              <a:rPr lang="en-US" altLang="en-US"/>
              <a:t> </a:t>
            </a:r>
            <a:r>
              <a:rPr lang="ro-RO" altLang="en-US"/>
              <a:t>trebuie să fie </a:t>
            </a:r>
            <a:r>
              <a:rPr lang="en-US" altLang="en-US"/>
              <a:t>lowercase</a:t>
            </a:r>
          </a:p>
          <a:p>
            <a:pPr eaLnBrk="1" hangingPunct="1"/>
            <a:r>
              <a:rPr lang="ro-RO" altLang="en-US" i="1"/>
              <a:t>Toate</a:t>
            </a:r>
            <a:r>
              <a:rPr lang="en-US" altLang="en-US"/>
              <a:t> </a:t>
            </a:r>
            <a:r>
              <a:rPr lang="ro-RO" altLang="en-US"/>
              <a:t>elementele </a:t>
            </a:r>
            <a:r>
              <a:rPr lang="en-US" altLang="en-US"/>
              <a:t>XHTML </a:t>
            </a:r>
            <a:r>
              <a:rPr lang="ro-RO" altLang="en-US"/>
              <a:t>trebuie să fie închise</a:t>
            </a:r>
            <a:endParaRPr lang="en-US" altLang="en-US"/>
          </a:p>
          <a:p>
            <a:pPr lvl="1" eaLnBrk="1" hangingPunct="1"/>
            <a:r>
              <a:rPr lang="ro-RO" altLang="en-US"/>
              <a:t>Dacă un tag </a:t>
            </a:r>
            <a:r>
              <a:rPr lang="en-US" altLang="en-US"/>
              <a:t>HTML </a:t>
            </a:r>
            <a:r>
              <a:rPr lang="ro-RO" altLang="en-US"/>
              <a:t>nu este un container el se închide: </a:t>
            </a:r>
            <a:br>
              <a:rPr lang="en-US" altLang="en-US"/>
            </a:br>
            <a:r>
              <a:rPr lang="en-US" altLang="en-US">
                <a:latin typeface="Trebuchet MS" panose="020B0703020202090204" pitchFamily="34" charset="0"/>
              </a:rPr>
              <a:t>&lt;br /&gt;</a:t>
            </a:r>
            <a:r>
              <a:rPr lang="en-US" altLang="en-US"/>
              <a:t>, </a:t>
            </a:r>
            <a:r>
              <a:rPr lang="en-US" altLang="en-US">
                <a:latin typeface="Trebuchet MS" panose="020B0703020202090204" pitchFamily="34" charset="0"/>
              </a:rPr>
              <a:t>&lt;hr /&gt;</a:t>
            </a:r>
            <a:r>
              <a:rPr lang="en-US" altLang="en-US"/>
              <a:t>, </a:t>
            </a:r>
            <a:r>
              <a:rPr lang="en-US" altLang="en-US">
                <a:latin typeface="Trebuchet MS" panose="020B0703020202090204" pitchFamily="34" charset="0"/>
              </a:rPr>
              <a:t>&lt;img src="smile.gif" /&gt;</a:t>
            </a:r>
            <a:endParaRPr lang="en-US" altLang="en-US"/>
          </a:p>
        </p:txBody>
      </p:sp>
      <p:sp>
        <p:nvSpPr>
          <p:cNvPr id="967691" name="Rectangle 96768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7692" name="Rectangle 96768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21" name="Slide Number Placeholder 5">
            <a:extLst>
              <a:ext uri="{FF2B5EF4-FFF2-40B4-BE49-F238E27FC236}">
                <a16:creationId xmlns:a16="http://schemas.microsoft.com/office/drawing/2014/main" id="{13A64FB7-E9F1-1243-A7E0-CC36066C4D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60F10A58-AFD2-5442-84A0-EB6C8ED2638E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51</a:t>
            </a:fld>
            <a:endParaRPr lang="en-US" altLang="en-US" sz="13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570" name="Rectangle 2">
            <a:extLst>
              <a:ext uri="{FF2B5EF4-FFF2-40B4-BE49-F238E27FC236}">
                <a16:creationId xmlns:a16="http://schemas.microsoft.com/office/drawing/2014/main" id="{F2C6C368-DDAA-C816-3B40-5E1992654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De la HTML la XHTML, II</a:t>
            </a:r>
            <a:endParaRPr lang="en-US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78A81559-E7B7-7380-D8BE-5FE79CFFB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61774" y="1790447"/>
            <a:ext cx="8351100" cy="468025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1600" dirty="0"/>
              <a:t>Numele de atribute trebuie să fie </a:t>
            </a:r>
            <a:r>
              <a:rPr lang="en-US" altLang="en-US" sz="1600" i="1" dirty="0"/>
              <a:t>lower case</a:t>
            </a:r>
          </a:p>
          <a:p>
            <a:pPr lvl="1">
              <a:spcAft>
                <a:spcPts val="600"/>
              </a:spcAft>
            </a:pPr>
            <a:r>
              <a:rPr lang="ro-RO" altLang="en-US" sz="1600" dirty="0"/>
              <a:t>Exemplu</a:t>
            </a:r>
            <a:r>
              <a:rPr lang="en-US" altLang="en-US" sz="1600" dirty="0"/>
              <a:t>: &lt;table </a:t>
            </a:r>
            <a:r>
              <a:rPr lang="en-US" altLang="en-US" sz="1600" u="sng" dirty="0"/>
              <a:t>width</a:t>
            </a:r>
            <a:r>
              <a:rPr lang="en-US" altLang="en-US" sz="1600" dirty="0"/>
              <a:t>="100%"&gt;</a:t>
            </a:r>
          </a:p>
          <a:p>
            <a:pPr>
              <a:spcAft>
                <a:spcPts val="600"/>
              </a:spcAft>
            </a:pPr>
            <a:r>
              <a:rPr lang="ro-RO" altLang="en-US" sz="1600" dirty="0"/>
              <a:t>Valorile atributelor trebuie să fie încadrate de “</a:t>
            </a:r>
            <a:endParaRPr lang="en-US" altLang="en-US" sz="1600" dirty="0"/>
          </a:p>
          <a:p>
            <a:pPr lvl="1">
              <a:spcAft>
                <a:spcPts val="600"/>
              </a:spcAft>
            </a:pPr>
            <a:r>
              <a:rPr lang="en-US" altLang="en-US" sz="1600" dirty="0"/>
              <a:t>Ex</a:t>
            </a:r>
            <a:r>
              <a:rPr lang="ro-RO" altLang="en-US" sz="1600" dirty="0"/>
              <a:t>e</a:t>
            </a:r>
            <a:r>
              <a:rPr lang="en-US" altLang="en-US" sz="1600" dirty="0" err="1"/>
              <a:t>mpl</a:t>
            </a:r>
            <a:r>
              <a:rPr lang="ro-RO" altLang="en-US" sz="1600" dirty="0"/>
              <a:t>u</a:t>
            </a:r>
            <a:r>
              <a:rPr lang="en-US" altLang="en-US" sz="1600" dirty="0"/>
              <a:t>: &lt;table width=</a:t>
            </a:r>
            <a:r>
              <a:rPr lang="en-US" altLang="en-US" sz="1600" u="sng" dirty="0"/>
              <a:t>"100%"</a:t>
            </a:r>
            <a:r>
              <a:rPr lang="en-US" altLang="en-US" sz="1600" dirty="0"/>
              <a:t>&gt;</a:t>
            </a:r>
          </a:p>
          <a:p>
            <a:pPr>
              <a:spcAft>
                <a:spcPts val="600"/>
              </a:spcAft>
            </a:pPr>
            <a:r>
              <a:rPr lang="ro-RO" altLang="en-US" sz="1600" dirty="0"/>
              <a:t>Minimizarea atributelor este interzisă</a:t>
            </a:r>
          </a:p>
          <a:p>
            <a:pPr lvl="1">
              <a:spcAft>
                <a:spcPts val="600"/>
              </a:spcAft>
            </a:pPr>
            <a:r>
              <a:rPr lang="ro-RO" altLang="en-US" sz="1600" dirty="0"/>
              <a:t>Exemplu</a:t>
            </a:r>
            <a:r>
              <a:rPr lang="en-US" altLang="en-US" sz="1600" dirty="0"/>
              <a:t>: &lt;frame </a:t>
            </a:r>
            <a:r>
              <a:rPr lang="en-US" altLang="en-US" sz="1600" dirty="0" err="1"/>
              <a:t>noresize</a:t>
            </a:r>
            <a:r>
              <a:rPr lang="en-US" altLang="en-US" sz="1600" dirty="0"/>
              <a:t>="</a:t>
            </a:r>
            <a:r>
              <a:rPr lang="en-US" altLang="en-US" sz="1600" dirty="0" err="1"/>
              <a:t>noresize</a:t>
            </a:r>
            <a:r>
              <a:rPr lang="en-US" altLang="en-US" sz="1600" dirty="0"/>
              <a:t>"&gt;,</a:t>
            </a:r>
            <a:br>
              <a:rPr lang="en-US" altLang="en-US" sz="1600" dirty="0"/>
            </a:br>
            <a:r>
              <a:rPr lang="ro-RO" altLang="en-US" sz="1600" dirty="0"/>
              <a:t>nu poate fi abreviată prin </a:t>
            </a:r>
            <a:r>
              <a:rPr lang="en-US" altLang="en-US" sz="1600" dirty="0"/>
              <a:t>&lt;frame </a:t>
            </a:r>
            <a:r>
              <a:rPr lang="en-US" altLang="en-US" sz="1600" dirty="0" err="1"/>
              <a:t>noresize</a:t>
            </a:r>
            <a:r>
              <a:rPr lang="en-US" altLang="en-US" sz="1600" dirty="0"/>
              <a:t>&gt;</a:t>
            </a:r>
          </a:p>
          <a:p>
            <a:pPr>
              <a:spcAft>
                <a:spcPts val="600"/>
              </a:spcAft>
            </a:pPr>
            <a:r>
              <a:rPr lang="ro-RO" altLang="en-US" sz="1600" dirty="0"/>
              <a:t>Atributul </a:t>
            </a:r>
            <a:r>
              <a:rPr lang="en-US" altLang="en-US" sz="1600" dirty="0"/>
              <a:t>id </a:t>
            </a:r>
            <a:r>
              <a:rPr lang="ro-RO" altLang="en-US" sz="1600" dirty="0" err="1"/>
              <a:t>înlocuieşte</a:t>
            </a:r>
            <a:r>
              <a:rPr lang="ro-RO" altLang="en-US" sz="1600" dirty="0"/>
              <a:t> atributul </a:t>
            </a:r>
            <a:r>
              <a:rPr lang="en-US" altLang="en-US" sz="1600" dirty="0"/>
              <a:t>name</a:t>
            </a:r>
          </a:p>
          <a:p>
            <a:pPr lvl="1">
              <a:spcAft>
                <a:spcPts val="600"/>
              </a:spcAft>
            </a:pPr>
            <a:r>
              <a:rPr lang="ro-RO" altLang="en-US" sz="1600" dirty="0" err="1"/>
              <a:t>Greşit</a:t>
            </a:r>
            <a:r>
              <a:rPr lang="en-US" altLang="en-US" sz="1600" dirty="0"/>
              <a:t>: &lt;</a:t>
            </a:r>
            <a:r>
              <a:rPr lang="en-US" altLang="en-US" sz="1600" dirty="0" err="1"/>
              <a:t>img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src</a:t>
            </a:r>
            <a:r>
              <a:rPr lang="en-US" altLang="en-US" sz="1600" dirty="0"/>
              <a:t>="</a:t>
            </a:r>
            <a:r>
              <a:rPr lang="en-US" altLang="en-US" sz="1600" dirty="0" err="1"/>
              <a:t>picture.gif</a:t>
            </a:r>
            <a:r>
              <a:rPr lang="en-US" altLang="en-US" sz="1600" dirty="0"/>
              <a:t>" name="picture1" /&gt;</a:t>
            </a:r>
          </a:p>
          <a:p>
            <a:pPr lvl="1">
              <a:spcAft>
                <a:spcPts val="600"/>
              </a:spcAft>
            </a:pPr>
            <a:r>
              <a:rPr lang="ro-RO" altLang="en-US" sz="1600" dirty="0"/>
              <a:t>Corect</a:t>
            </a:r>
            <a:r>
              <a:rPr lang="en-US" altLang="en-US" sz="1600" dirty="0"/>
              <a:t>: &lt;</a:t>
            </a:r>
            <a:r>
              <a:rPr lang="en-US" altLang="en-US" sz="1600" dirty="0" err="1"/>
              <a:t>img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src</a:t>
            </a:r>
            <a:r>
              <a:rPr lang="en-US" altLang="en-US" sz="1600" dirty="0"/>
              <a:t>="</a:t>
            </a:r>
            <a:r>
              <a:rPr lang="en-US" altLang="en-US" sz="1600" dirty="0" err="1"/>
              <a:t>picture.gif</a:t>
            </a:r>
            <a:r>
              <a:rPr lang="en-US" altLang="en-US" sz="1600" dirty="0"/>
              <a:t>" id="picture1" /&gt;</a:t>
            </a:r>
          </a:p>
          <a:p>
            <a:pPr lvl="1">
              <a:spcAft>
                <a:spcPts val="600"/>
              </a:spcAft>
            </a:pPr>
            <a:r>
              <a:rPr lang="ro-RO" altLang="en-US" sz="1600" dirty="0"/>
              <a:t>Cel mai bine</a:t>
            </a:r>
            <a:r>
              <a:rPr lang="en-US" altLang="en-US" sz="1600" dirty="0"/>
              <a:t>: </a:t>
            </a:r>
            <a:endParaRPr lang="ro-RO" altLang="en-US" sz="1600" dirty="0"/>
          </a:p>
          <a:p>
            <a:pPr lvl="1">
              <a:spcAft>
                <a:spcPts val="600"/>
              </a:spcAft>
              <a:buNone/>
            </a:pPr>
            <a:r>
              <a:rPr lang="ro-RO" altLang="en-US" sz="1600" dirty="0"/>
              <a:t>	</a:t>
            </a:r>
            <a:r>
              <a:rPr lang="en-US" altLang="en-US" sz="1600" dirty="0"/>
              <a:t>&lt;</a:t>
            </a:r>
            <a:r>
              <a:rPr lang="en-US" altLang="en-US" sz="1600" dirty="0" err="1"/>
              <a:t>img</a:t>
            </a:r>
            <a:r>
              <a:rPr lang="en-US" altLang="en-US" sz="1600" dirty="0"/>
              <a:t> </a:t>
            </a:r>
            <a:r>
              <a:rPr lang="en-US" altLang="en-US" sz="1600" dirty="0" err="1"/>
              <a:t>src</a:t>
            </a:r>
            <a:r>
              <a:rPr lang="en-US" altLang="en-US" sz="1600" dirty="0"/>
              <a:t>="</a:t>
            </a:r>
            <a:r>
              <a:rPr lang="en-US" altLang="en-US" sz="1600" dirty="0" err="1"/>
              <a:t>picture.gif</a:t>
            </a:r>
            <a:r>
              <a:rPr lang="en-US" altLang="en-US" sz="1600" dirty="0"/>
              <a:t>" name="picture1" id="picture1" /&gt;</a:t>
            </a:r>
          </a:p>
          <a:p>
            <a:pPr eaLnBrk="1" hangingPunct="1"/>
            <a:endParaRPr lang="en-US" altLang="en-US" sz="1600" dirty="0"/>
          </a:p>
        </p:txBody>
      </p:sp>
      <p:sp>
        <p:nvSpPr>
          <p:cNvPr id="1005575" name="Rectangle 10055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5577" name="Rectangle 10055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BF27B201-9929-EE0E-F7C6-BD59D04952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69FD8659-6623-2A46-ACFC-5656D8D13D44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52</a:t>
            </a:fld>
            <a:endParaRPr lang="en-US" altLang="en-US" sz="13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4" name="Rectangle 2">
            <a:extLst>
              <a:ext uri="{FF2B5EF4-FFF2-40B4-BE49-F238E27FC236}">
                <a16:creationId xmlns:a16="http://schemas.microsoft.com/office/drawing/2014/main" id="{301C4A17-45E0-69A7-6AEC-634D31084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XHTML și</a:t>
            </a:r>
            <a:r>
              <a:rPr lang="en-US" altLang="en-US"/>
              <a:t> DTD</a:t>
            </a:r>
            <a:r>
              <a:rPr lang="ro-RO" altLang="en-US"/>
              <a:t>-uri</a:t>
            </a:r>
            <a:endParaRPr lang="en-US" alt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86FE0902-D196-55ED-CFA5-F71E348E80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/>
              <a:t>HTML, XHTML, XML </a:t>
            </a:r>
            <a:r>
              <a:rPr lang="ro-RO" altLang="en-US" err="1"/>
              <a:t>şi</a:t>
            </a:r>
            <a:r>
              <a:rPr lang="ro-RO" altLang="en-US"/>
              <a:t> multe alte limbaje de </a:t>
            </a:r>
            <a:r>
              <a:rPr lang="ro-RO" altLang="en-US" err="1"/>
              <a:t>markup</a:t>
            </a:r>
            <a:r>
              <a:rPr lang="ro-RO" altLang="en-US"/>
              <a:t> ce suportă DTD-uri</a:t>
            </a:r>
            <a:endParaRPr lang="en-US" altLang="en-US"/>
          </a:p>
          <a:p>
            <a:pPr eaLnBrk="1" hangingPunct="1"/>
            <a:r>
              <a:rPr lang="en-US" altLang="en-US"/>
              <a:t>DTD</a:t>
            </a:r>
            <a:r>
              <a:rPr lang="ro-RO" altLang="en-US"/>
              <a:t> (</a:t>
            </a:r>
            <a:r>
              <a:rPr lang="en-US" altLang="en-US"/>
              <a:t>“Document Type </a:t>
            </a:r>
            <a:r>
              <a:rPr lang="ro-RO" altLang="en-US"/>
              <a:t>D</a:t>
            </a:r>
            <a:r>
              <a:rPr lang="en-US" altLang="en-US" err="1"/>
              <a:t>efinition</a:t>
            </a:r>
            <a:r>
              <a:rPr lang="en-US" altLang="en-US"/>
              <a:t>”</a:t>
            </a:r>
            <a:r>
              <a:rPr lang="ro-RO" altLang="en-US"/>
              <a:t>)</a:t>
            </a:r>
            <a:r>
              <a:rPr lang="en-US" altLang="en-US"/>
              <a:t> </a:t>
            </a:r>
            <a:r>
              <a:rPr lang="ro-RO" altLang="en-US"/>
              <a:t>descrie sintaxa ce trebuie folosită pentru un anumit document, folosirea unui DTD fiind o regulă în cazul documentelor XHTML</a:t>
            </a:r>
            <a:endParaRPr lang="en-US" altLang="en-US"/>
          </a:p>
          <a:p>
            <a:pPr eaLnBrk="1" hangingPunct="1"/>
            <a:r>
              <a:rPr lang="ro-RO" altLang="en-US"/>
              <a:t>Există trei tipuri diferite de </a:t>
            </a:r>
            <a:r>
              <a:rPr lang="en-US" altLang="en-US"/>
              <a:t>DTD</a:t>
            </a:r>
            <a:r>
              <a:rPr lang="ro-RO" altLang="en-US"/>
              <a:t>-uri</a:t>
            </a:r>
            <a:r>
              <a:rPr lang="en-US" altLang="en-US"/>
              <a:t> </a:t>
            </a:r>
            <a:r>
              <a:rPr lang="ro-RO" altLang="en-US"/>
              <a:t>pentru</a:t>
            </a:r>
            <a:r>
              <a:rPr lang="en-US" altLang="en-US"/>
              <a:t> XHTML</a:t>
            </a:r>
            <a:r>
              <a:rPr lang="ro-RO" altLang="en-US"/>
              <a:t> </a:t>
            </a:r>
            <a:r>
              <a:rPr lang="en-US" altLang="en-US"/>
              <a:t>—</a:t>
            </a:r>
            <a:r>
              <a:rPr lang="ro-RO" altLang="en-US"/>
              <a:t> </a:t>
            </a:r>
            <a:r>
              <a:rPr lang="ro-RO" altLang="en-US" err="1"/>
              <a:t>puteţi</a:t>
            </a:r>
            <a:r>
              <a:rPr lang="ro-RO" altLang="en-US"/>
              <a:t> lucra cu oricare</a:t>
            </a:r>
            <a:endParaRPr lang="en-US" altLang="en-US"/>
          </a:p>
          <a:p>
            <a:pPr lvl="1" eaLnBrk="1" hangingPunct="1"/>
            <a:r>
              <a:rPr lang="ro-RO" altLang="en-US"/>
              <a:t>Ele sunt </a:t>
            </a:r>
            <a:r>
              <a:rPr lang="ro-RO" altLang="en-US" i="1"/>
              <a:t>publice </a:t>
            </a:r>
            <a:r>
              <a:rPr lang="ro-RO" altLang="en-US"/>
              <a:t>pe </a:t>
            </a:r>
            <a:r>
              <a:rPr lang="en-US" altLang="en-US"/>
              <a:t>web</a:t>
            </a:r>
          </a:p>
          <a:p>
            <a:pPr lvl="1" eaLnBrk="1" hangingPunct="1"/>
            <a:r>
              <a:rPr lang="ro-RO" altLang="en-US"/>
              <a:t>Documentul </a:t>
            </a:r>
            <a:r>
              <a:rPr lang="en-US" altLang="en-US"/>
              <a:t>XHTML </a:t>
            </a:r>
            <a:r>
              <a:rPr lang="ro-RO" altLang="en-US"/>
              <a:t>trebuie să înceapă cu o </a:t>
            </a:r>
            <a:r>
              <a:rPr lang="ro-RO" altLang="en-US" err="1"/>
              <a:t>referinţă</a:t>
            </a:r>
            <a:r>
              <a:rPr lang="ro-RO" altLang="en-US"/>
              <a:t> la unul dintre aceste </a:t>
            </a:r>
            <a:r>
              <a:rPr lang="en-US" altLang="en-US"/>
              <a:t>DTD</a:t>
            </a:r>
            <a:r>
              <a:rPr lang="ro-RO" altLang="en-US"/>
              <a:t>-uri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1006599" name="Rectangle 100659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6601" name="Rectangle 100660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369" name="Slide Number Placeholder 5">
            <a:extLst>
              <a:ext uri="{FF2B5EF4-FFF2-40B4-BE49-F238E27FC236}">
                <a16:creationId xmlns:a16="http://schemas.microsoft.com/office/drawing/2014/main" id="{AEBDF291-91E5-DDBE-8C2E-E94C8BEE60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665760E8-9FC1-3744-87CC-68C6F69B75EF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53</a:t>
            </a:fld>
            <a:endParaRPr lang="en-US" altLang="en-US" sz="13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18" name="Rectangle 2">
            <a:extLst>
              <a:ext uri="{FF2B5EF4-FFF2-40B4-BE49-F238E27FC236}">
                <a16:creationId xmlns:a16="http://schemas.microsoft.com/office/drawing/2014/main" id="{09129541-F745-2D75-5C2E-32F52F981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>
                <a:latin typeface="Trebuchet MS" pitchFamily="34" charset="0"/>
              </a:rPr>
              <a:t>Declaraţia </a:t>
            </a:r>
            <a:r>
              <a:rPr lang="en-US" altLang="en-US">
                <a:latin typeface="Trebuchet MS" pitchFamily="34" charset="0"/>
              </a:rPr>
              <a:t>DOCTYPE</a:t>
            </a:r>
            <a:endParaRPr lang="en-US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F7F3AB0E-728A-EFAF-9A08-1060824954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923393"/>
            <a:ext cx="8193444" cy="4385967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sz="1700" dirty="0"/>
              <a:t>Orice</a:t>
            </a:r>
            <a:r>
              <a:rPr lang="en-US" altLang="en-US" sz="1700" dirty="0"/>
              <a:t> </a:t>
            </a:r>
            <a:r>
              <a:rPr lang="ro-RO" altLang="en-US" sz="1700" dirty="0"/>
              <a:t>document </a:t>
            </a:r>
            <a:r>
              <a:rPr lang="en-US" altLang="en-US" sz="1700" dirty="0"/>
              <a:t>XHTML </a:t>
            </a:r>
            <a:r>
              <a:rPr lang="ro-RO" altLang="en-US" sz="1700" dirty="0"/>
              <a:t>trebuie să înceapă cu o </a:t>
            </a:r>
            <a:r>
              <a:rPr lang="ro-RO" altLang="en-US" sz="1700" dirty="0" err="1"/>
              <a:t>declaraţie</a:t>
            </a:r>
            <a:r>
              <a:rPr lang="ro-RO" altLang="en-US" sz="1700" dirty="0"/>
              <a:t> </a:t>
            </a:r>
            <a:r>
              <a:rPr lang="en-US" altLang="en-US" sz="1700" dirty="0">
                <a:latin typeface="Trebuchet MS" panose="020B0703020202090204" pitchFamily="34" charset="0"/>
              </a:rPr>
              <a:t>DOCTYPE</a:t>
            </a:r>
            <a:r>
              <a:rPr lang="en-US" altLang="en-US" sz="1700" dirty="0"/>
              <a:t> (</a:t>
            </a:r>
            <a:r>
              <a:rPr lang="ro-RO" altLang="en-US" sz="1700" dirty="0"/>
              <a:t>ce specifică </a:t>
            </a:r>
            <a:r>
              <a:rPr lang="en-US" altLang="en-US" sz="1700" dirty="0"/>
              <a:t>DTD</a:t>
            </a:r>
            <a:r>
              <a:rPr lang="ro-RO" altLang="en-US" sz="1700" dirty="0"/>
              <a:t>-</a:t>
            </a:r>
            <a:r>
              <a:rPr lang="ro-RO" altLang="en-US" sz="1700" dirty="0" err="1"/>
              <a:t>ul</a:t>
            </a:r>
            <a:r>
              <a:rPr lang="ro-RO" altLang="en-US" sz="1700" dirty="0"/>
              <a:t> curent folosit</a:t>
            </a:r>
            <a:r>
              <a:rPr lang="en-US" altLang="en-US" sz="1700" dirty="0"/>
              <a:t>):</a:t>
            </a:r>
          </a:p>
          <a:p>
            <a:pPr lvl="1" eaLnBrk="1" hangingPunct="1"/>
            <a:endParaRPr lang="en-US" altLang="en-US" sz="1700" dirty="0"/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Trebuchet MS" panose="020B0703020202090204" pitchFamily="34" charset="0"/>
              </a:rPr>
              <a:t>&lt;!DOCTYPE html PUBLIC "-//W3C//DTD XHTML 1.0 </a:t>
            </a:r>
            <a:r>
              <a:rPr lang="en-US" altLang="en-US" sz="1700" u="sng" dirty="0">
                <a:latin typeface="Trebuchet MS" panose="020B0703020202090204" pitchFamily="34" charset="0"/>
              </a:rPr>
              <a:t>Strict</a:t>
            </a:r>
            <a:r>
              <a:rPr lang="en-US" altLang="en-US" sz="1700" dirty="0">
                <a:latin typeface="Trebuchet MS" panose="020B0703020202090204" pitchFamily="34" charset="0"/>
              </a:rPr>
              <a:t>//EN" "http://www.w3.org/TR/xhtml1/DTD/</a:t>
            </a:r>
            <a:r>
              <a:rPr lang="en-US" altLang="en-US" sz="1700" u="sng" dirty="0">
                <a:latin typeface="Trebuchet MS" panose="020B0703020202090204" pitchFamily="34" charset="0"/>
              </a:rPr>
              <a:t>xhtml1-strict.dtd</a:t>
            </a:r>
            <a:r>
              <a:rPr lang="en-US" altLang="en-US" sz="1700" dirty="0">
                <a:latin typeface="Trebuchet MS" panose="020B0703020202090204" pitchFamily="34" charset="0"/>
              </a:rPr>
              <a:t>"&gt;</a:t>
            </a:r>
            <a:br>
              <a:rPr lang="en-US" altLang="en-US" sz="1700" dirty="0">
                <a:latin typeface="Trebuchet MS" panose="020B0703020202090204" pitchFamily="34" charset="0"/>
              </a:rPr>
            </a:br>
            <a:endParaRPr lang="en-US" altLang="en-US" sz="1700" dirty="0">
              <a:latin typeface="Trebuchet MS" panose="020B070302020209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Trebuchet MS" panose="020B0703020202090204" pitchFamily="34" charset="0"/>
              </a:rPr>
              <a:t>&lt;!DOCTYPE html PUBLIC "-//W3C//DTD XHTML 1.0 </a:t>
            </a:r>
            <a:r>
              <a:rPr lang="en-US" altLang="en-US" sz="1700" u="sng" dirty="0">
                <a:latin typeface="Trebuchet MS" panose="020B0703020202090204" pitchFamily="34" charset="0"/>
              </a:rPr>
              <a:t>Transitional</a:t>
            </a:r>
            <a:r>
              <a:rPr lang="en-US" altLang="en-US" sz="1700" dirty="0">
                <a:latin typeface="Trebuchet MS" panose="020B0703020202090204" pitchFamily="34" charset="0"/>
              </a:rPr>
              <a:t>//EN" "http://www.w3.org/TR/xhtml1/DTD/</a:t>
            </a:r>
            <a:r>
              <a:rPr lang="en-US" altLang="en-US" sz="1700" u="sng" dirty="0">
                <a:latin typeface="Trebuchet MS" panose="020B0703020202090204" pitchFamily="34" charset="0"/>
              </a:rPr>
              <a:t>xhtml1-transitional.dtd</a:t>
            </a:r>
            <a:r>
              <a:rPr lang="en-US" altLang="en-US" sz="1700" dirty="0">
                <a:latin typeface="Trebuchet MS" panose="020B0703020202090204" pitchFamily="34" charset="0"/>
              </a:rPr>
              <a:t>"&gt;</a:t>
            </a:r>
            <a:br>
              <a:rPr lang="en-US" altLang="en-US" sz="1700" dirty="0">
                <a:latin typeface="Trebuchet MS" panose="020B0703020202090204" pitchFamily="34" charset="0"/>
              </a:rPr>
            </a:br>
            <a:endParaRPr lang="en-US" altLang="en-US" sz="1700" dirty="0">
              <a:latin typeface="Trebuchet MS" panose="020B0703020202090204" pitchFamily="34" charset="0"/>
            </a:endParaRP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en-US" altLang="en-US" sz="1700" dirty="0">
                <a:latin typeface="Trebuchet MS" panose="020B0703020202090204" pitchFamily="34" charset="0"/>
              </a:rPr>
              <a:t>&lt;!DOCTYPE html PUBLIC "-//W3C//DTD XHTML 1.0 </a:t>
            </a:r>
            <a:r>
              <a:rPr lang="en-US" altLang="en-US" sz="1700" u="sng" dirty="0">
                <a:latin typeface="Trebuchet MS" panose="020B0703020202090204" pitchFamily="34" charset="0"/>
              </a:rPr>
              <a:t>Frameset</a:t>
            </a:r>
            <a:r>
              <a:rPr lang="en-US" altLang="en-US" sz="1700" dirty="0">
                <a:latin typeface="Trebuchet MS" panose="020B0703020202090204" pitchFamily="34" charset="0"/>
              </a:rPr>
              <a:t>//EN" "http://www.w3.org/TR/xhtml1/DTD/</a:t>
            </a:r>
            <a:r>
              <a:rPr lang="en-US" altLang="en-US" sz="1700" u="sng" dirty="0">
                <a:latin typeface="Trebuchet MS" panose="020B0703020202090204" pitchFamily="34" charset="0"/>
              </a:rPr>
              <a:t>xhtml1-frameset.dtd</a:t>
            </a:r>
            <a:r>
              <a:rPr lang="en-US" altLang="en-US" sz="1700" dirty="0">
                <a:latin typeface="Trebuchet MS" panose="020B0703020202090204" pitchFamily="34" charset="0"/>
              </a:rPr>
              <a:t>"&gt;</a:t>
            </a:r>
            <a:endParaRPr lang="en-US" altLang="en-US" sz="1700" dirty="0"/>
          </a:p>
          <a:p>
            <a:pPr eaLnBrk="1" hangingPunct="1">
              <a:buFont typeface="Arial" panose="020B0604020202020204" pitchFamily="34" charset="0"/>
              <a:buChar char="•"/>
            </a:pPr>
            <a:endParaRPr lang="en-US" altLang="en-US" sz="1700" dirty="0"/>
          </a:p>
        </p:txBody>
      </p:sp>
      <p:sp>
        <p:nvSpPr>
          <p:cNvPr id="1007623" name="Rectangle 100762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7625" name="Rectangle 100762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1E12CE52-B858-53A5-8DEE-026A5325F1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547F7FFB-0B5F-F545-BB5A-A884202D9167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54</a:t>
            </a:fld>
            <a:endParaRPr lang="en-US" altLang="en-US" sz="13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642" name="Rectangle 2">
            <a:extLst>
              <a:ext uri="{FF2B5EF4-FFF2-40B4-BE49-F238E27FC236}">
                <a16:creationId xmlns:a16="http://schemas.microsoft.com/office/drawing/2014/main" id="{364797DE-C028-92C9-49E7-AD3C5D408D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>
                <a:latin typeface="Trebuchet MS" pitchFamily="34" charset="0"/>
              </a:rPr>
              <a:t>Declaraţia </a:t>
            </a:r>
            <a:r>
              <a:rPr lang="en-US" altLang="en-US">
                <a:latin typeface="Trebuchet MS" pitchFamily="34" charset="0"/>
              </a:rPr>
              <a:t>DOCTYPE</a:t>
            </a:r>
            <a:endParaRPr lang="en-US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1A871EC2-7E0F-2B2E-C73B-A91C36131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828800"/>
            <a:ext cx="8140893" cy="44805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sz="2800" dirty="0"/>
              <a:t>Cele trei tipuri de </a:t>
            </a:r>
            <a:r>
              <a:rPr lang="en-US" altLang="en-US" sz="2800" dirty="0"/>
              <a:t>DTD</a:t>
            </a:r>
            <a:r>
              <a:rPr lang="ro-RO" altLang="en-US" sz="2800" dirty="0"/>
              <a:t>-uri sunt</a:t>
            </a:r>
            <a:r>
              <a:rPr lang="en-US" altLang="en-US" sz="2800" dirty="0"/>
              <a:t>:</a:t>
            </a:r>
          </a:p>
          <a:p>
            <a:pPr lvl="1" eaLnBrk="1" hangingPunct="1"/>
            <a:r>
              <a:rPr lang="en-US" altLang="en-US" sz="2400" dirty="0">
                <a:latin typeface="Trebuchet MS" panose="020B0703020202090204" pitchFamily="34" charset="0"/>
              </a:rPr>
              <a:t>Strict</a:t>
            </a:r>
            <a:endParaRPr lang="en-US" altLang="en-US" sz="2400" dirty="0"/>
          </a:p>
          <a:p>
            <a:pPr lvl="2" eaLnBrk="1" hangingPunct="1"/>
            <a:r>
              <a:rPr lang="ro-RO" altLang="en-US" sz="1800" dirty="0"/>
              <a:t>Specifică că documentul XHTML e </a:t>
            </a:r>
            <a:r>
              <a:rPr lang="en-US" altLang="en-US" sz="1800" dirty="0"/>
              <a:t>“</a:t>
            </a:r>
            <a:r>
              <a:rPr lang="ro-RO" altLang="en-US" sz="1800" dirty="0"/>
              <a:t>curat</a:t>
            </a:r>
            <a:r>
              <a:rPr lang="en-US" altLang="en-US" sz="1800" dirty="0"/>
              <a:t>”</a:t>
            </a:r>
            <a:r>
              <a:rPr lang="ro-RO" altLang="en-US" sz="1800" dirty="0"/>
              <a:t>, el nu conține </a:t>
            </a:r>
            <a:r>
              <a:rPr lang="ro-RO" altLang="en-US" sz="1800" dirty="0" err="1"/>
              <a:t>informaţii</a:t>
            </a:r>
            <a:r>
              <a:rPr lang="ro-RO" altLang="en-US" sz="1800" dirty="0"/>
              <a:t> de </a:t>
            </a:r>
            <a:r>
              <a:rPr lang="ro-RO" altLang="en-US" sz="1800" dirty="0" err="1"/>
              <a:t>afişare</a:t>
            </a:r>
            <a:r>
              <a:rPr lang="ro-RO" altLang="en-US" sz="1800" dirty="0"/>
              <a:t> </a:t>
            </a:r>
            <a:r>
              <a:rPr lang="en-US" altLang="en-US" sz="1800" dirty="0"/>
              <a:t>(</a:t>
            </a:r>
            <a:r>
              <a:rPr lang="ro-RO" altLang="en-US" sz="1800" dirty="0"/>
              <a:t>precum cele legate de </a:t>
            </a:r>
            <a:r>
              <a:rPr lang="en-US" altLang="en-US" sz="1800" dirty="0"/>
              <a:t>font, </a:t>
            </a:r>
            <a:r>
              <a:rPr lang="ro-RO" altLang="en-US" sz="1800" dirty="0"/>
              <a:t>culoare sau dimensiune</a:t>
            </a:r>
            <a:r>
              <a:rPr lang="en-US" altLang="en-US" sz="1800" dirty="0"/>
              <a:t>).</a:t>
            </a:r>
          </a:p>
          <a:p>
            <a:pPr lvl="2" eaLnBrk="1" hangingPunct="1"/>
            <a:r>
              <a:rPr lang="ro-RO" altLang="en-US" sz="1800" dirty="0"/>
              <a:t>Stilul acesta e folosit în conjuncție cu un </a:t>
            </a:r>
            <a:r>
              <a:rPr lang="en-US" altLang="en-US" sz="1800" dirty="0"/>
              <a:t>CSS </a:t>
            </a:r>
            <a:r>
              <a:rPr lang="ro-RO" altLang="en-US" sz="1800" dirty="0"/>
              <a:t>dacă se </a:t>
            </a:r>
            <a:r>
              <a:rPr lang="ro-RO" altLang="en-US" sz="1800" dirty="0" err="1"/>
              <a:t>doreşte</a:t>
            </a:r>
            <a:r>
              <a:rPr lang="ro-RO" altLang="en-US" sz="1800" dirty="0"/>
              <a:t> definirea totuși a felului în care trebuie să arate reprezentarea </a:t>
            </a:r>
            <a:r>
              <a:rPr lang="en-US" altLang="en-US" sz="1800" dirty="0"/>
              <a:t>document</a:t>
            </a:r>
            <a:r>
              <a:rPr lang="ro-RO" altLang="en-US" sz="1800" dirty="0"/>
              <a:t>ului</a:t>
            </a:r>
            <a:r>
              <a:rPr lang="en-US" altLang="en-US" sz="1800" dirty="0"/>
              <a:t>.</a:t>
            </a:r>
          </a:p>
          <a:p>
            <a:pPr lvl="1" eaLnBrk="1" hangingPunct="1"/>
            <a:r>
              <a:rPr lang="en-US" altLang="en-US" sz="2400" dirty="0">
                <a:latin typeface="Trebuchet MS" panose="020B0703020202090204" pitchFamily="34" charset="0"/>
              </a:rPr>
              <a:t>Transitional</a:t>
            </a:r>
            <a:endParaRPr lang="en-US" altLang="en-US" sz="2400" dirty="0"/>
          </a:p>
          <a:p>
            <a:pPr lvl="2" eaLnBrk="1" hangingPunct="1"/>
            <a:r>
              <a:rPr lang="ro-RO" altLang="en-US" sz="1800" dirty="0"/>
              <a:t>Folosit cu </a:t>
            </a:r>
            <a:r>
              <a:rPr lang="en-US" altLang="en-US" sz="1800" dirty="0"/>
              <a:t>HTML </a:t>
            </a:r>
            <a:r>
              <a:rPr lang="ro-RO" altLang="en-US" sz="1800" dirty="0"/>
              <a:t>standard </a:t>
            </a:r>
            <a:r>
              <a:rPr lang="ro-RO" altLang="en-US" sz="1800" dirty="0" err="1"/>
              <a:t>şi</a:t>
            </a:r>
            <a:r>
              <a:rPr lang="en-US" altLang="en-US" sz="1800" dirty="0"/>
              <a:t>/</a:t>
            </a:r>
            <a:r>
              <a:rPr lang="ro-RO" altLang="en-US" sz="1800" dirty="0"/>
              <a:t>sau</a:t>
            </a:r>
            <a:r>
              <a:rPr lang="en-US" altLang="en-US" sz="1800" dirty="0"/>
              <a:t> </a:t>
            </a:r>
            <a:r>
              <a:rPr lang="ro-RO" altLang="en-US" sz="1800" dirty="0"/>
              <a:t>cu </a:t>
            </a:r>
            <a:r>
              <a:rPr lang="en-US" altLang="en-US" sz="1800" dirty="0"/>
              <a:t>CSS.</a:t>
            </a:r>
          </a:p>
          <a:p>
            <a:pPr lvl="2" eaLnBrk="1" hangingPunct="1"/>
            <a:r>
              <a:rPr lang="ro-RO" altLang="en-US" sz="1800" dirty="0"/>
              <a:t>Permite introducerea de elemente </a:t>
            </a:r>
            <a:r>
              <a:rPr lang="en-US" altLang="en-US" sz="1800" dirty="0"/>
              <a:t>HTML “</a:t>
            </a:r>
            <a:r>
              <a:rPr lang="ro-RO" altLang="en-US" sz="1800" dirty="0" err="1"/>
              <a:t>depricate</a:t>
            </a:r>
            <a:r>
              <a:rPr lang="en-US" altLang="en-US" sz="1800" dirty="0"/>
              <a:t>d”</a:t>
            </a:r>
            <a:r>
              <a:rPr lang="ro-RO" altLang="en-US" sz="1800" dirty="0"/>
              <a:t> (</a:t>
            </a:r>
            <a:r>
              <a:rPr lang="en-US" altLang="en-US" sz="1800" dirty="0"/>
              <a:t>tag-</a:t>
            </a:r>
            <a:r>
              <a:rPr lang="en-US" altLang="en-US" sz="1800" dirty="0" err="1"/>
              <a:t>uri</a:t>
            </a:r>
            <a:r>
              <a:rPr lang="en-US" altLang="en-US" sz="1800" dirty="0"/>
              <a:t> &lt;center&gt;, &lt;embed&gt;, &lt;font&gt;, &lt;</a:t>
            </a:r>
            <a:r>
              <a:rPr lang="en-US" altLang="en-US" sz="1800" dirty="0" err="1"/>
              <a:t>i</a:t>
            </a:r>
            <a:r>
              <a:rPr lang="en-US" altLang="en-US" sz="1800" dirty="0"/>
              <a:t>&gt;, &lt;u&gt; </a:t>
            </a:r>
            <a:r>
              <a:rPr lang="en-US" altLang="en-US" sz="1800" dirty="0" err="1"/>
              <a:t>sau</a:t>
            </a:r>
            <a:r>
              <a:rPr lang="en-US" altLang="en-US" sz="1800" dirty="0"/>
              <a:t> </a:t>
            </a:r>
            <a:r>
              <a:rPr lang="en-US" altLang="en-US" sz="1800" dirty="0" err="1"/>
              <a:t>atribute</a:t>
            </a:r>
            <a:r>
              <a:rPr lang="en-US" altLang="en-US" sz="1800" dirty="0"/>
              <a:t> &lt;align&gt;, &lt;background&gt;, &lt;color&gt;, &lt;height&gt;, &lt;size&gt;, </a:t>
            </a:r>
            <a:r>
              <a:rPr lang="en-US" altLang="en-US" sz="1800" i="1" dirty="0" err="1"/>
              <a:t>etc</a:t>
            </a:r>
            <a:r>
              <a:rPr lang="en-US" altLang="en-US" sz="1800" i="1" dirty="0"/>
              <a:t>).</a:t>
            </a:r>
            <a:endParaRPr lang="en-US" altLang="en-US" sz="1800" dirty="0"/>
          </a:p>
          <a:p>
            <a:pPr lvl="1" eaLnBrk="1" hangingPunct="1"/>
            <a:r>
              <a:rPr lang="en-US" altLang="en-US" sz="2400" dirty="0">
                <a:latin typeface="Trebuchet MS" panose="020B0703020202090204" pitchFamily="34" charset="0"/>
              </a:rPr>
              <a:t>Frameset</a:t>
            </a:r>
            <a:endParaRPr lang="en-US" altLang="en-US" sz="2400" dirty="0"/>
          </a:p>
          <a:p>
            <a:pPr lvl="2" eaLnBrk="1" hangingPunct="1"/>
            <a:r>
              <a:rPr lang="ro-RO" altLang="en-US" sz="1800" dirty="0"/>
              <a:t>Folosit dacă documentul include </a:t>
            </a:r>
            <a:r>
              <a:rPr lang="ro-RO" altLang="en-US" sz="1800" dirty="0" err="1"/>
              <a:t>frame</a:t>
            </a:r>
            <a:r>
              <a:rPr lang="ro-RO" altLang="en-US" sz="1800" dirty="0"/>
              <a:t>-uri </a:t>
            </a:r>
            <a:r>
              <a:rPr lang="en-US" altLang="en-US" sz="1800" dirty="0"/>
              <a:t>HTML</a:t>
            </a:r>
          </a:p>
          <a:p>
            <a:pPr eaLnBrk="1" hangingPunct="1"/>
            <a:endParaRPr lang="en-US" altLang="en-US" sz="2800" dirty="0"/>
          </a:p>
        </p:txBody>
      </p:sp>
      <p:sp>
        <p:nvSpPr>
          <p:cNvPr id="1008647" name="Rectangle 100864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8649" name="Rectangle 100864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417" name="Slide Number Placeholder 5">
            <a:extLst>
              <a:ext uri="{FF2B5EF4-FFF2-40B4-BE49-F238E27FC236}">
                <a16:creationId xmlns:a16="http://schemas.microsoft.com/office/drawing/2014/main" id="{B552290E-EEF2-C0D5-984C-94A38BF76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9A4EF3A0-0E47-C74A-BE56-3B25DE7803B9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55</a:t>
            </a:fld>
            <a:endParaRPr lang="en-US" altLang="en-US" sz="13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0F8E-F24F-947C-E1B5-65DCF0F95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"Strict" </a:t>
            </a:r>
            <a:r>
              <a:rPr lang="en-US" dirty="0" err="1"/>
              <a:t>vs</a:t>
            </a:r>
            <a:r>
              <a:rPr lang="en-US" dirty="0"/>
              <a:t> "Transitional"</a:t>
            </a:r>
          </a:p>
        </p:txBody>
      </p:sp>
      <p:sp>
        <p:nvSpPr>
          <p:cNvPr id="61442" name="Content Placeholder 2">
            <a:extLst>
              <a:ext uri="{FF2B5EF4-FFF2-40B4-BE49-F238E27FC236}">
                <a16:creationId xmlns:a16="http://schemas.microsoft.com/office/drawing/2014/main" id="{B234C2F9-5624-3D7A-AF9A-C975BA2659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o-RO" altLang="en-US"/>
              <a:t>Demarcația între </a:t>
            </a:r>
            <a:r>
              <a:rPr lang="en-US" altLang="en-US"/>
              <a:t>markup </a:t>
            </a:r>
            <a:r>
              <a:rPr lang="ro-RO" altLang="en-US"/>
              <a:t>și prezentare</a:t>
            </a:r>
            <a:endParaRPr lang="en-US" altLang="en-US"/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2AF48BC8-BDC6-F2FB-EEEB-68A13A264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BF0209-D717-E54D-9F7C-9BF58E365CF8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61444" name="Picture 2" descr="separation">
            <a:extLst>
              <a:ext uri="{FF2B5EF4-FFF2-40B4-BE49-F238E27FC236}">
                <a16:creationId xmlns:a16="http://schemas.microsoft.com/office/drawing/2014/main" id="{D0EB4796-A9A3-A676-0107-D2185211F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1981201"/>
            <a:ext cx="21431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Rectangle 6">
            <a:extLst>
              <a:ext uri="{FF2B5EF4-FFF2-40B4-BE49-F238E27FC236}">
                <a16:creationId xmlns:a16="http://schemas.microsoft.com/office/drawing/2014/main" id="{634BF447-3490-2663-8962-D8B7D9F05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2614" y="3429000"/>
            <a:ext cx="3889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Markup </a:t>
            </a:r>
            <a:r>
              <a:rPr lang="ro-RO" altLang="en-US" sz="1800"/>
              <a:t>/ </a:t>
            </a:r>
            <a:r>
              <a:rPr lang="en-US" altLang="en-US" sz="1800"/>
              <a:t>Presentation - Transitional </a:t>
            </a:r>
          </a:p>
        </p:txBody>
      </p:sp>
      <p:pic>
        <p:nvPicPr>
          <p:cNvPr id="61446" name="Picture 4" descr="separation">
            <a:extLst>
              <a:ext uri="{FF2B5EF4-FFF2-40B4-BE49-F238E27FC236}">
                <a16:creationId xmlns:a16="http://schemas.microsoft.com/office/drawing/2014/main" id="{1D32B89C-3668-24DE-A297-120D07025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1862138"/>
            <a:ext cx="23812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7" name="Rectangle 7">
            <a:extLst>
              <a:ext uri="{FF2B5EF4-FFF2-40B4-BE49-F238E27FC236}">
                <a16:creationId xmlns:a16="http://schemas.microsoft.com/office/drawing/2014/main" id="{D195BBC0-9923-7BF1-58F0-C33D88B34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3364" y="3429000"/>
            <a:ext cx="3235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Markup </a:t>
            </a:r>
            <a:r>
              <a:rPr lang="ro-RO" altLang="en-US" sz="1800"/>
              <a:t>/ </a:t>
            </a:r>
            <a:r>
              <a:rPr lang="en-US" altLang="en-US" sz="1800"/>
              <a:t>Presentation - Strict </a:t>
            </a:r>
          </a:p>
        </p:txBody>
      </p:sp>
      <p:pic>
        <p:nvPicPr>
          <p:cNvPr id="61448" name="Picture 5">
            <a:extLst>
              <a:ext uri="{FF2B5EF4-FFF2-40B4-BE49-F238E27FC236}">
                <a16:creationId xmlns:a16="http://schemas.microsoft.com/office/drawing/2014/main" id="{386B107A-8995-4AAA-A740-0FD671E776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8850" y="3886200"/>
            <a:ext cx="78295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nip Single Corner Rectangle 16">
            <a:extLst>
              <a:ext uri="{FF2B5EF4-FFF2-40B4-BE49-F238E27FC236}">
                <a16:creationId xmlns:a16="http://schemas.microsoft.com/office/drawing/2014/main" id="{A33E302B-4F57-FE4C-DDDC-4FD07715686C}"/>
              </a:ext>
            </a:extLst>
          </p:cNvPr>
          <p:cNvSpPr/>
          <p:nvPr/>
        </p:nvSpPr>
        <p:spPr>
          <a:xfrm>
            <a:off x="893380" y="2059770"/>
            <a:ext cx="8839199" cy="4330262"/>
          </a:xfrm>
          <a:prstGeom prst="snip1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2466" name="Slide Number Placeholder 5">
            <a:extLst>
              <a:ext uri="{FF2B5EF4-FFF2-40B4-BE49-F238E27FC236}">
                <a16:creationId xmlns:a16="http://schemas.microsoft.com/office/drawing/2014/main" id="{3F0045DC-228A-F95F-24B3-3D465A9674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308BBB1-7298-3F42-A4B1-61D07C68B786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1009666" name="Rectangle 2">
            <a:extLst>
              <a:ext uri="{FF2B5EF4-FFF2-40B4-BE49-F238E27FC236}">
                <a16:creationId xmlns:a16="http://schemas.microsoft.com/office/drawing/2014/main" id="{783E0855-B366-B987-DA8C-F7B61257D8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3380" y="1074684"/>
            <a:ext cx="8229600" cy="4873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200" dirty="0"/>
              <a:t>E</a:t>
            </a:r>
            <a:r>
              <a:rPr lang="ro-RO" sz="3200" dirty="0" err="1"/>
              <a:t>xemplu</a:t>
            </a:r>
            <a:r>
              <a:rPr lang="en-US" sz="3200" dirty="0"/>
              <a:t> de document XHTML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B9A359D3-0D48-9FFD-0F3C-94460EED71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&lt;!DOCTYPE html PUBLIC "-//W3C//DTD XHTML 1.0 Strict//EN" "http://www.w3.org/TR/xhtml1/DTD/xhtml1-strict.dtd"&gt;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&lt;html&gt;</a:t>
            </a:r>
          </a:p>
          <a:p>
            <a:pPr lvl="2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&lt;head&gt;</a:t>
            </a:r>
          </a:p>
          <a:p>
            <a:pPr lvl="2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	&lt;title&gt;A simple document&lt;/title&gt;</a:t>
            </a:r>
          </a:p>
          <a:p>
            <a:pPr lvl="2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&lt;/head&gt;</a:t>
            </a:r>
          </a:p>
          <a:p>
            <a:pPr lvl="2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&lt;body&gt;</a:t>
            </a:r>
          </a:p>
          <a:p>
            <a:pPr lvl="2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	&lt;p&gt;A simple paragraph.&lt;/p&gt;</a:t>
            </a:r>
          </a:p>
          <a:p>
            <a:pPr lvl="2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&lt;/body&gt;</a:t>
            </a:r>
          </a:p>
          <a:p>
            <a:pPr lvl="1">
              <a:spcAft>
                <a:spcPts val="600"/>
              </a:spcAft>
              <a:buNone/>
            </a:pPr>
            <a:r>
              <a:rPr lang="en-US" altLang="en-US" sz="2000" dirty="0">
                <a:solidFill>
                  <a:srgbClr val="FF0000"/>
                </a:solidFill>
                <a:latin typeface="Comic Sans MS" panose="030F0902030302020204" pitchFamily="66" charset="0"/>
              </a:rPr>
              <a:t>&lt;/html&gt;</a:t>
            </a:r>
          </a:p>
          <a:p>
            <a:pPr eaLnBrk="1" hangingPunct="1"/>
            <a:endParaRPr lang="en-US" altLang="en-US" sz="2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400" name="Rectangle 869399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869402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869404" name="Straight Connector 869403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9378" name="Rectangle 2">
            <a:extLst>
              <a:ext uri="{FF2B5EF4-FFF2-40B4-BE49-F238E27FC236}">
                <a16:creationId xmlns:a16="http://schemas.microsoft.com/office/drawing/2014/main" id="{FC822344-A44B-7686-8EF9-26E9A4072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defRPr/>
            </a:pPr>
            <a:r>
              <a:rPr lang="en-US" altLang="en-US" sz="35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CSS</a:t>
            </a:r>
            <a:br>
              <a:rPr lang="en-US" altLang="en-US" sz="35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br>
              <a:rPr lang="en-US" altLang="en-US" sz="35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altLang="en-US" sz="35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(</a:t>
            </a:r>
            <a:r>
              <a:rPr lang="en-US" altLang="en-US" sz="3500" u="sng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C</a:t>
            </a:r>
            <a:r>
              <a:rPr lang="en-US" altLang="en-US" sz="35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ascading </a:t>
            </a:r>
            <a:r>
              <a:rPr lang="en-US" altLang="en-US" sz="3500" u="sng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</a:t>
            </a:r>
            <a:r>
              <a:rPr lang="en-US" altLang="en-US" sz="35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tyle </a:t>
            </a:r>
            <a:r>
              <a:rPr lang="en-US" altLang="en-US" sz="3500" u="sng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S</a:t>
            </a:r>
            <a:r>
              <a:rPr lang="en-US" altLang="en-US" sz="3500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heet )</a:t>
            </a:r>
          </a:p>
        </p:txBody>
      </p:sp>
      <p:sp useBgFill="1">
        <p:nvSpPr>
          <p:cNvPr id="869406" name="Rectangle 869405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635" name="Picture 6" descr="CSS">
            <a:extLst>
              <a:ext uri="{FF2B5EF4-FFF2-40B4-BE49-F238E27FC236}">
                <a16:creationId xmlns:a16="http://schemas.microsoft.com/office/drawing/2014/main" id="{F0849BEE-1006-DF23-42EA-0D173D73E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57078" y="640080"/>
            <a:ext cx="7672039" cy="393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3" name="Slide Number Placeholder 5">
            <a:extLst>
              <a:ext uri="{FF2B5EF4-FFF2-40B4-BE49-F238E27FC236}">
                <a16:creationId xmlns:a16="http://schemas.microsoft.com/office/drawing/2014/main" id="{F9A827AB-F042-20D8-6D47-D18C58EA05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E093B417-3C62-6B44-BBF3-1D104E0379C5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58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1DE1E-263F-3A3D-4CAE-B524B05C6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0658" name="Content Placeholder 2">
            <a:extLst>
              <a:ext uri="{FF2B5EF4-FFF2-40B4-BE49-F238E27FC236}">
                <a16:creationId xmlns:a16="http://schemas.microsoft.com/office/drawing/2014/main" id="{5435E922-4176-6954-C812-5412F006FC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0659" name="Slide Number Placeholder 5">
            <a:extLst>
              <a:ext uri="{FF2B5EF4-FFF2-40B4-BE49-F238E27FC236}">
                <a16:creationId xmlns:a16="http://schemas.microsoft.com/office/drawing/2014/main" id="{3B2D31D5-1D9C-3EAE-D29D-2AFD2CCB75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929E33C-4A32-CD4E-A5DE-0DC7C852D47E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0660" name="Picture 2" descr="C:\Users\cipsm\Desktop\de folosit\f79be93d9138f12b47ea1a0071c2cc1c.jpg">
            <a:extLst>
              <a:ext uri="{FF2B5EF4-FFF2-40B4-BE49-F238E27FC236}">
                <a16:creationId xmlns:a16="http://schemas.microsoft.com/office/drawing/2014/main" id="{A9D927F2-340C-592C-DC99-E9DD25709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26" y="304800"/>
            <a:ext cx="7540625" cy="627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426" name="Rectangle 2">
            <a:extLst>
              <a:ext uri="{FF2B5EF4-FFF2-40B4-BE49-F238E27FC236}">
                <a16:creationId xmlns:a16="http://schemas.microsoft.com/office/drawing/2014/main" id="{00AB8FFB-6489-D200-FF2B-9CC6210B7C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/>
              <a:t>Problema cu HTML</a:t>
            </a:r>
            <a:endParaRPr lang="en-US" altLang="en-US"/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8BB98AD7-9213-6E65-A8DB-D6FFA57C76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0045" y="1844566"/>
            <a:ext cx="8018271" cy="402336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ro-RO" altLang="en-US" sz="1800" dirty="0"/>
              <a:t>HTML a fost de la început conceput pentru a descrie </a:t>
            </a:r>
            <a:r>
              <a:rPr lang="ro-RO" altLang="en-US" sz="1800" i="1" dirty="0"/>
              <a:t>conținutul </a:t>
            </a:r>
            <a:r>
              <a:rPr lang="ro-RO" altLang="en-US" sz="1800" dirty="0"/>
              <a:t>unui document</a:t>
            </a:r>
          </a:p>
          <a:p>
            <a:pPr eaLnBrk="1" hangingPunct="1"/>
            <a:r>
              <a:rPr lang="ro-RO" altLang="en-US" sz="1800" dirty="0"/>
              <a:t>Autorii de pagini web nu aveau nevoie să descrie layout-</a:t>
            </a:r>
            <a:r>
              <a:rPr lang="ro-RO" altLang="en-US" sz="1800" dirty="0" err="1"/>
              <a:t>ul</a:t>
            </a:r>
            <a:r>
              <a:rPr lang="ro-RO" altLang="en-US" sz="1800" dirty="0"/>
              <a:t> -- </a:t>
            </a:r>
            <a:r>
              <a:rPr lang="ro-RO" altLang="en-US" sz="1800" dirty="0" err="1"/>
              <a:t>browserul</a:t>
            </a:r>
            <a:r>
              <a:rPr lang="ro-RO" altLang="en-US" sz="1800" dirty="0"/>
              <a:t> avea grijă de acest aspect</a:t>
            </a:r>
          </a:p>
          <a:p>
            <a:pPr eaLnBrk="1" hangingPunct="1"/>
            <a:r>
              <a:rPr lang="ro-RO" altLang="en-US" sz="1800" dirty="0"/>
              <a:t>Aceasta reprezintă o abordare inginerească corectă, însă nu satisface nevoile stiliștilor și “artiștilor”</a:t>
            </a:r>
          </a:p>
          <a:p>
            <a:pPr lvl="1" eaLnBrk="1" hangingPunct="1"/>
            <a:r>
              <a:rPr lang="ro-RO" altLang="en-US" dirty="0"/>
              <a:t>Oamenii ce aveau nevoie sa spună mai multe simțeau nevoia unui control mai bun al modului de prezentare a propriilor pagini Web</a:t>
            </a:r>
          </a:p>
          <a:p>
            <a:pPr eaLnBrk="1" hangingPunct="1"/>
            <a:r>
              <a:rPr lang="ro-RO" altLang="en-US" sz="1800" dirty="0"/>
              <a:t>Ca rezultat, HTML a început să încorporeze din ce în ce mai multe </a:t>
            </a:r>
            <a:r>
              <a:rPr lang="ro-RO" altLang="en-US" sz="1800" dirty="0" err="1"/>
              <a:t>tag</a:t>
            </a:r>
            <a:r>
              <a:rPr lang="ro-RO" altLang="en-US" sz="1800" dirty="0"/>
              <a:t>-uri folosite pentru controlul </a:t>
            </a:r>
            <a:r>
              <a:rPr lang="ro-RO" altLang="en-US" sz="1800" i="1" dirty="0"/>
              <a:t>afișării</a:t>
            </a:r>
            <a:endParaRPr lang="ro-RO" altLang="en-US" sz="1800" dirty="0"/>
          </a:p>
          <a:p>
            <a:pPr lvl="1" eaLnBrk="1" hangingPunct="1"/>
            <a:r>
              <a:rPr lang="ro-RO" altLang="en-US" dirty="0"/>
              <a:t>Conținutul și modul de afișare al informaților au devenit din ce în ce mai mult interconectate</a:t>
            </a:r>
          </a:p>
          <a:p>
            <a:pPr lvl="1" eaLnBrk="1" hangingPunct="1"/>
            <a:r>
              <a:rPr lang="ro-RO" altLang="en-US" dirty="0" err="1"/>
              <a:t>Browsere</a:t>
            </a:r>
            <a:r>
              <a:rPr lang="ro-RO" altLang="en-US" dirty="0"/>
              <a:t> diferite afișează totuși lucrurile în moduri diferite, ceea ce reprezintă o problemă reală atunci când modul de prezentare al informațiilor e chiar mai important decât informația propriu-zisă</a:t>
            </a:r>
          </a:p>
          <a:p>
            <a:pPr eaLnBrk="1" hangingPunct="1"/>
            <a:endParaRPr lang="ro-RO" altLang="en-US" sz="1800" dirty="0"/>
          </a:p>
        </p:txBody>
      </p:sp>
      <p:sp>
        <p:nvSpPr>
          <p:cNvPr id="871431" name="Rectangle 87143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1433" name="Rectangle 87143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681" name="Slide Number Placeholder 5">
            <a:extLst>
              <a:ext uri="{FF2B5EF4-FFF2-40B4-BE49-F238E27FC236}">
                <a16:creationId xmlns:a16="http://schemas.microsoft.com/office/drawing/2014/main" id="{A4E147F9-EA00-E268-F6BF-04265DAB40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7C454E88-EE5C-5145-B7C1-E35BE6A0E553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60</a:t>
            </a:fld>
            <a:endParaRPr lang="en-US" altLang="en-US" sz="13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450" name="Rectangle 2">
            <a:extLst>
              <a:ext uri="{FF2B5EF4-FFF2-40B4-BE49-F238E27FC236}">
                <a16:creationId xmlns:a16="http://schemas.microsoft.com/office/drawing/2014/main" id="{5E327C70-5E94-641D-4431-0A36BE914E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Cascading Style Sheets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893D812C-A951-3A3B-7278-F949257C6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876097"/>
            <a:ext cx="8018271" cy="402336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1800" u="sng"/>
              <a:t>C</a:t>
            </a:r>
            <a:r>
              <a:rPr lang="en-US" altLang="en-US" sz="1800"/>
              <a:t>ascading </a:t>
            </a:r>
            <a:r>
              <a:rPr lang="en-US" altLang="en-US" sz="1800" u="sng"/>
              <a:t>S</a:t>
            </a:r>
            <a:r>
              <a:rPr lang="en-US" altLang="en-US" sz="1800"/>
              <a:t>tyle </a:t>
            </a:r>
            <a:r>
              <a:rPr lang="en-US" altLang="en-US" sz="1800" u="sng"/>
              <a:t>S</a:t>
            </a:r>
            <a:r>
              <a:rPr lang="en-US" altLang="en-US" sz="1800"/>
              <a:t>heet (CSS) </a:t>
            </a:r>
            <a:r>
              <a:rPr lang="ro-RO" altLang="en-US" sz="1800"/>
              <a:t>este o modalitate de separare a elementelor de prezentare de elementele de date</a:t>
            </a:r>
          </a:p>
          <a:p>
            <a:pPr lvl="1" eaLnBrk="1" hangingPunct="1"/>
            <a:r>
              <a:rPr lang="ro-RO" altLang="en-US"/>
              <a:t>Practic </a:t>
            </a:r>
            <a:r>
              <a:rPr lang="en-US" altLang="en-US"/>
              <a:t>modul de prezentare a</a:t>
            </a:r>
            <a:r>
              <a:rPr lang="ro-RO" altLang="en-US"/>
              <a:t>l</a:t>
            </a:r>
            <a:r>
              <a:rPr lang="en-US" altLang="en-US"/>
              <a:t> unei pagini HTML </a:t>
            </a:r>
            <a:r>
              <a:rPr lang="ro-RO" altLang="en-US"/>
              <a:t>se poate descrie mai curat, î</a:t>
            </a:r>
            <a:r>
              <a:rPr lang="en-US" altLang="en-US"/>
              <a:t>ntr-un document separat</a:t>
            </a:r>
            <a:r>
              <a:rPr lang="ro-RO" altLang="en-US"/>
              <a:t>, rezultând în independență între formă și conținut</a:t>
            </a:r>
            <a:endParaRPr lang="en-US" altLang="en-US"/>
          </a:p>
          <a:p>
            <a:pPr eaLnBrk="1" hangingPunct="1"/>
            <a:r>
              <a:rPr lang="en-US" altLang="en-US" sz="1800"/>
              <a:t>CSS are </a:t>
            </a:r>
            <a:r>
              <a:rPr lang="ro-RO" altLang="en-US" sz="1800"/>
              <a:t>câteva </a:t>
            </a:r>
            <a:r>
              <a:rPr lang="en-US" altLang="en-US" sz="1800"/>
              <a:t>avantaje:</a:t>
            </a:r>
          </a:p>
          <a:p>
            <a:pPr lvl="1" eaLnBrk="1" hangingPunct="1"/>
            <a:r>
              <a:rPr lang="en-US" altLang="en-US"/>
              <a:t>Permite separarea con</a:t>
            </a:r>
            <a:r>
              <a:rPr lang="ro-RO" altLang="en-US"/>
              <a:t>ț</a:t>
            </a:r>
            <a:r>
              <a:rPr lang="en-US" altLang="en-US"/>
              <a:t>inutului de prezentare</a:t>
            </a:r>
          </a:p>
          <a:p>
            <a:pPr lvl="1" eaLnBrk="1" hangingPunct="1"/>
            <a:r>
              <a:rPr lang="en-US" altLang="en-US"/>
              <a:t>Permite definirea prezent</a:t>
            </a:r>
            <a:r>
              <a:rPr lang="ro-RO" altLang="en-US"/>
              <a:t>ă</a:t>
            </a:r>
            <a:r>
              <a:rPr lang="en-US" altLang="en-US"/>
              <a:t>rii </a:t>
            </a:r>
            <a:r>
              <a:rPr lang="ro-RO" altLang="en-US"/>
              <a:t>ș</a:t>
            </a:r>
            <a:r>
              <a:rPr lang="en-US" altLang="en-US"/>
              <a:t>i a layout-ului tuturor paginilor dintr-un site </a:t>
            </a:r>
            <a:r>
              <a:rPr lang="ro-RO" altLang="en-US"/>
              <a:t>W</a:t>
            </a:r>
            <a:r>
              <a:rPr lang="en-US" altLang="en-US"/>
              <a:t>eb</a:t>
            </a:r>
            <a:r>
              <a:rPr lang="ro-RO" altLang="en-US"/>
              <a:t>, într-o manieră unitară, printr-o construcție</a:t>
            </a:r>
            <a:r>
              <a:rPr lang="en-US" altLang="en-US"/>
              <a:t> </a:t>
            </a:r>
            <a:r>
              <a:rPr lang="ro-RO" altLang="en-US"/>
              <a:t>unică</a:t>
            </a:r>
            <a:endParaRPr lang="en-US" altLang="en-US"/>
          </a:p>
          <a:p>
            <a:pPr lvl="1" eaLnBrk="1" hangingPunct="1"/>
            <a:r>
              <a:rPr lang="en-US" altLang="en-US"/>
              <a:t>Poate fi folosit at</a:t>
            </a:r>
            <a:r>
              <a:rPr lang="ro-RO" altLang="en-US"/>
              <a:t>â</a:t>
            </a:r>
            <a:r>
              <a:rPr lang="en-US" altLang="en-US"/>
              <a:t>t </a:t>
            </a:r>
            <a:r>
              <a:rPr lang="ro-RO" altLang="en-US"/>
              <a:t>împreună cu </a:t>
            </a:r>
            <a:r>
              <a:rPr lang="en-US" altLang="en-US"/>
              <a:t>pagini HTML</a:t>
            </a:r>
            <a:r>
              <a:rPr lang="ro-RO" altLang="en-US"/>
              <a:t>, </a:t>
            </a:r>
            <a:r>
              <a:rPr lang="en-US" altLang="en-US"/>
              <a:t>c</a:t>
            </a:r>
            <a:r>
              <a:rPr lang="ro-RO" altLang="en-US"/>
              <a:t>â</a:t>
            </a:r>
            <a:r>
              <a:rPr lang="en-US" altLang="en-US"/>
              <a:t>t </a:t>
            </a:r>
            <a:r>
              <a:rPr lang="ro-RO" altLang="en-US"/>
              <a:t>ș</a:t>
            </a:r>
            <a:r>
              <a:rPr lang="en-US" altLang="en-US"/>
              <a:t>i </a:t>
            </a:r>
            <a:r>
              <a:rPr lang="ro-RO" altLang="en-US"/>
              <a:t>cu cele </a:t>
            </a:r>
            <a:r>
              <a:rPr lang="en-US" altLang="en-US"/>
              <a:t>XML</a:t>
            </a:r>
          </a:p>
          <a:p>
            <a:pPr eaLnBrk="1" hangingPunct="1"/>
            <a:r>
              <a:rPr lang="ro-RO" altLang="en-US" sz="1800"/>
              <a:t>În opinia criticilor, totuși </a:t>
            </a:r>
            <a:r>
              <a:rPr lang="en-US" altLang="en-US" sz="1800"/>
              <a:t>CSS are dezavantaj</a:t>
            </a:r>
            <a:r>
              <a:rPr lang="ro-RO" altLang="en-US" sz="1800"/>
              <a:t>e</a:t>
            </a:r>
            <a:r>
              <a:rPr lang="en-US" altLang="en-US" sz="1800"/>
              <a:t>:</a:t>
            </a:r>
          </a:p>
          <a:p>
            <a:pPr lvl="1" eaLnBrk="1" hangingPunct="1"/>
            <a:r>
              <a:rPr lang="en-US" altLang="en-US"/>
              <a:t>Unele browsere </a:t>
            </a:r>
            <a:r>
              <a:rPr lang="ro-RO" altLang="en-US"/>
              <a:t>mai vechi </a:t>
            </a:r>
            <a:r>
              <a:rPr lang="en-US" altLang="en-US"/>
              <a:t>nu </a:t>
            </a:r>
            <a:r>
              <a:rPr lang="ro-RO" altLang="en-US"/>
              <a:t>î</a:t>
            </a:r>
            <a:r>
              <a:rPr lang="en-US" altLang="en-US"/>
              <a:t>l suport</a:t>
            </a:r>
            <a:r>
              <a:rPr lang="ro-RO" altLang="en-US"/>
              <a:t>ă</a:t>
            </a:r>
            <a:r>
              <a:rPr lang="en-US" altLang="en-US"/>
              <a:t> </a:t>
            </a:r>
            <a:r>
              <a:rPr lang="ro-RO" altLang="en-US"/>
              <a:t>î</a:t>
            </a:r>
            <a:r>
              <a:rPr lang="en-US" altLang="en-US"/>
              <a:t>n totalitate</a:t>
            </a:r>
            <a:endParaRPr lang="ro-RO" altLang="en-US"/>
          </a:p>
          <a:p>
            <a:pPr lvl="1" eaLnBrk="1" hangingPunct="1"/>
            <a:r>
              <a:rPr lang="ro-RO" altLang="en-US"/>
              <a:t>În funcție de dimensiune, documentele CSS externe pot crește timpul de încărcare a paginilor</a:t>
            </a:r>
            <a:endParaRPr lang="en-US" altLang="en-US"/>
          </a:p>
          <a:p>
            <a:pPr eaLnBrk="1" hangingPunct="1"/>
            <a:endParaRPr lang="en-US" altLang="en-US" sz="1800"/>
          </a:p>
        </p:txBody>
      </p:sp>
      <p:sp>
        <p:nvSpPr>
          <p:cNvPr id="872455" name="Rectangle 87245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2457" name="Rectangle 87245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705" name="Slide Number Placeholder 5">
            <a:extLst>
              <a:ext uri="{FF2B5EF4-FFF2-40B4-BE49-F238E27FC236}">
                <a16:creationId xmlns:a16="http://schemas.microsoft.com/office/drawing/2014/main" id="{5E847B80-418F-9101-F2CD-E5E429A5AB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88A35C08-6A70-664F-89F5-AD9344043036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61</a:t>
            </a:fld>
            <a:endParaRPr lang="en-US" altLang="en-US" sz="13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8C2C-48FD-03CA-5960-D936B5875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4800" dirty="0" err="1"/>
              <a:t>Exemplu</a:t>
            </a:r>
            <a:r>
              <a:rPr lang="en-US" sz="4800" dirty="0"/>
              <a:t>: Harvard Summer School</a:t>
            </a:r>
          </a:p>
        </p:txBody>
      </p:sp>
      <p:sp>
        <p:nvSpPr>
          <p:cNvPr id="73730" name="Slide Number Placeholder 5">
            <a:extLst>
              <a:ext uri="{FF2B5EF4-FFF2-40B4-BE49-F238E27FC236}">
                <a16:creationId xmlns:a16="http://schemas.microsoft.com/office/drawing/2014/main" id="{1495B5C0-21A9-BEAD-849F-08AFD511F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1D79EE-B164-3F48-8440-1C619B3EF921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3731" name="Picture 2" descr="hss site">
            <a:extLst>
              <a:ext uri="{FF2B5EF4-FFF2-40B4-BE49-F238E27FC236}">
                <a16:creationId xmlns:a16="http://schemas.microsoft.com/office/drawing/2014/main" id="{5C648D60-570B-6548-33DB-C74138E05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2084832"/>
            <a:ext cx="5715000" cy="393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2" name="Picture 4" descr="hss site no css">
            <a:extLst>
              <a:ext uri="{FF2B5EF4-FFF2-40B4-BE49-F238E27FC236}">
                <a16:creationId xmlns:a16="http://schemas.microsoft.com/office/drawing/2014/main" id="{16F957A7-103A-4C48-5E7E-3A40BE1FD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371" y="585216"/>
            <a:ext cx="2857500" cy="983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3" name="Rectangle 6">
            <a:extLst>
              <a:ext uri="{FF2B5EF4-FFF2-40B4-BE49-F238E27FC236}">
                <a16:creationId xmlns:a16="http://schemas.microsoft.com/office/drawing/2014/main" id="{6DB0AA9A-7F0C-F18B-D1D0-3C608A1BE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0" y="174249"/>
            <a:ext cx="2171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dirty="0"/>
              <a:t>With CSS disabled: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474" name="Rectangle 2">
            <a:extLst>
              <a:ext uri="{FF2B5EF4-FFF2-40B4-BE49-F238E27FC236}">
                <a16:creationId xmlns:a16="http://schemas.microsoft.com/office/drawing/2014/main" id="{241E54A1-E026-7A26-33CA-1938ED042C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err="1"/>
              <a:t>Sintaxa</a:t>
            </a:r>
            <a:r>
              <a:rPr lang="en-US"/>
              <a:t> CSS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0736927-06C8-02F1-BEEA-AD36E3315A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750183"/>
            <a:ext cx="8214465" cy="452260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2000" dirty="0"/>
              <a:t>Sintaxa CSS este compusă dintr-o listă de selectori (pentru alegerea </a:t>
            </a:r>
            <a:r>
              <a:rPr lang="ro-RO" altLang="en-US" sz="2000" dirty="0" err="1"/>
              <a:t>tag</a:t>
            </a:r>
            <a:r>
              <a:rPr lang="ro-RO" altLang="en-US" sz="2000" dirty="0"/>
              <a:t>-urilor) și descriptori (pentru a specifica ce dorim să facem cu respectivele </a:t>
            </a:r>
            <a:r>
              <a:rPr lang="ro-RO" altLang="en-US" sz="2000" dirty="0" err="1"/>
              <a:t>tag</a:t>
            </a:r>
            <a:r>
              <a:rPr lang="ro-RO" altLang="en-US" sz="2000" dirty="0"/>
              <a:t>-uri):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/>
              <a:t>Exemplu: 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en-US" sz="2000" dirty="0"/>
              <a:t>	h1 {color: </a:t>
            </a:r>
            <a:r>
              <a:rPr lang="ro-RO" altLang="en-US" sz="2000" dirty="0" err="1"/>
              <a:t>green</a:t>
            </a:r>
            <a:r>
              <a:rPr lang="ro-RO" altLang="en-US" sz="2000" dirty="0"/>
              <a:t>; font-</a:t>
            </a:r>
            <a:r>
              <a:rPr lang="ro-RO" altLang="en-US" sz="2000" dirty="0" err="1"/>
              <a:t>family</a:t>
            </a:r>
            <a:r>
              <a:rPr lang="ro-RO" altLang="en-US" sz="2000" dirty="0"/>
              <a:t>: </a:t>
            </a:r>
            <a:r>
              <a:rPr lang="ro-RO" altLang="en-US" sz="2000" dirty="0" err="1"/>
              <a:t>Verdana</a:t>
            </a:r>
            <a:r>
              <a:rPr lang="ro-RO" altLang="en-US" sz="2000" dirty="0"/>
              <a:t>} specifică că orice text inclus în </a:t>
            </a:r>
            <a:r>
              <a:rPr lang="ro-RO" altLang="en-US" sz="2000" dirty="0" err="1"/>
              <a:t>tag</a:t>
            </a:r>
            <a:r>
              <a:rPr lang="ro-RO" altLang="en-US" sz="2000" dirty="0"/>
              <a:t>-uri h1 (HTML </a:t>
            </a:r>
            <a:r>
              <a:rPr lang="ro-RO" altLang="en-US" sz="2000" dirty="0" err="1"/>
              <a:t>heading</a:t>
            </a:r>
            <a:r>
              <a:rPr lang="ro-RO" altLang="en-US" sz="2000" dirty="0"/>
              <a:t> </a:t>
            </a:r>
            <a:r>
              <a:rPr lang="ro-RO" altLang="en-US" sz="2000" dirty="0" err="1"/>
              <a:t>level</a:t>
            </a:r>
            <a:r>
              <a:rPr lang="ro-RO" altLang="en-US" sz="2000" dirty="0"/>
              <a:t> 1) trebuie afișat folosind font de tip </a:t>
            </a:r>
            <a:r>
              <a:rPr lang="ro-RO" altLang="en-US" sz="2000" dirty="0" err="1"/>
              <a:t>Verdana</a:t>
            </a:r>
            <a:r>
              <a:rPr lang="ro-RO" altLang="en-US" sz="2000" dirty="0"/>
              <a:t> și colorat în verde</a:t>
            </a:r>
          </a:p>
          <a:p>
            <a:pPr>
              <a:spcAft>
                <a:spcPts val="600"/>
              </a:spcAft>
            </a:pPr>
            <a:r>
              <a:rPr lang="ro-RO" altLang="en-US" sz="2000" dirty="0"/>
              <a:t>Un fișier CSS reprezintă o listă de astfel de perechi selector/descriptor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/>
              <a:t>Selectorii pot fi simple </a:t>
            </a:r>
            <a:r>
              <a:rPr lang="ro-RO" altLang="en-US" sz="2000" dirty="0" err="1"/>
              <a:t>tag</a:t>
            </a:r>
            <a:r>
              <a:rPr lang="ro-RO" altLang="en-US" sz="2000" dirty="0"/>
              <a:t>-uri HTML sau XML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/>
              <a:t>CSS permite de asemenea definirea altor moduri de combinare a </a:t>
            </a:r>
            <a:r>
              <a:rPr lang="ro-RO" altLang="en-US" sz="2000" dirty="0" err="1"/>
              <a:t>tag</a:t>
            </a:r>
            <a:r>
              <a:rPr lang="ro-RO" altLang="en-US" sz="2000" dirty="0"/>
              <a:t>-urilor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/>
              <a:t>Descriptorii sunt definiți chiar în CSS</a:t>
            </a:r>
          </a:p>
          <a:p>
            <a:pPr>
              <a:spcAft>
                <a:spcPts val="600"/>
              </a:spcAft>
            </a:pPr>
            <a:endParaRPr lang="ro-RO" altLang="en-US" sz="2000" dirty="0"/>
          </a:p>
        </p:txBody>
      </p:sp>
      <p:sp>
        <p:nvSpPr>
          <p:cNvPr id="873479" name="Rectangle 87347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3481" name="Rectangle 87348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753" name="Slide Number Placeholder 5">
            <a:extLst>
              <a:ext uri="{FF2B5EF4-FFF2-40B4-BE49-F238E27FC236}">
                <a16:creationId xmlns:a16="http://schemas.microsoft.com/office/drawing/2014/main" id="{52EA658D-5D0E-24A5-3A7E-5896C33BD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1E01B26A-7BF7-954E-AA12-9E2BE494C356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63</a:t>
            </a:fld>
            <a:endParaRPr lang="en-US" altLang="en-US" sz="13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498" name="Rectangle 2">
            <a:extLst>
              <a:ext uri="{FF2B5EF4-FFF2-40B4-BE49-F238E27FC236}">
                <a16:creationId xmlns:a16="http://schemas.microsoft.com/office/drawing/2014/main" id="{200E494E-B257-C96D-8B93-5DCA84F65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Sintaxa CSS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A1984B73-0335-476C-8E08-B92B1C0512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897117"/>
            <a:ext cx="8018271" cy="402336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ro-RO" altLang="en-US" sz="1700" dirty="0"/>
              <a:t>Sintaxa generala este:</a:t>
            </a:r>
          </a:p>
          <a:p>
            <a:pPr lvl="1" eaLnBrk="1" hangingPunct="1">
              <a:buClr>
                <a:srgbClr val="7FBFFF"/>
              </a:buClr>
              <a:buFontTx/>
              <a:buChar char=" "/>
            </a:pPr>
            <a:r>
              <a:rPr lang="ro-RO" altLang="en-US" sz="1700" b="1" i="1" dirty="0"/>
              <a:t>selector</a:t>
            </a:r>
            <a:r>
              <a:rPr lang="ro-RO" altLang="en-US" sz="1700" dirty="0">
                <a:latin typeface="Trebuchet MS" panose="020B0703020202090204" pitchFamily="34" charset="0"/>
              </a:rPr>
              <a:t> { </a:t>
            </a:r>
            <a:r>
              <a:rPr lang="ro-RO" altLang="en-US" sz="1700" b="1" i="1" dirty="0" err="1"/>
              <a:t>property</a:t>
            </a:r>
            <a:r>
              <a:rPr lang="ro-RO" altLang="en-US" sz="1700" dirty="0">
                <a:latin typeface="Trebuchet MS" panose="020B0703020202090204" pitchFamily="34" charset="0"/>
              </a:rPr>
              <a:t>: </a:t>
            </a:r>
            <a:r>
              <a:rPr lang="ro-RO" altLang="en-US" sz="1700" b="1" i="1" dirty="0" err="1"/>
              <a:t>value</a:t>
            </a:r>
            <a:r>
              <a:rPr lang="ro-RO" altLang="en-US" sz="1700" b="1" i="1" dirty="0"/>
              <a:t> </a:t>
            </a:r>
            <a:r>
              <a:rPr lang="ro-RO" altLang="en-US" sz="1700" dirty="0">
                <a:latin typeface="Trebuchet MS" panose="020B0703020202090204" pitchFamily="34" charset="0"/>
              </a:rPr>
              <a:t>}</a:t>
            </a:r>
          </a:p>
          <a:p>
            <a:pPr lvl="1" eaLnBrk="1" hangingPunct="1"/>
            <a:r>
              <a:rPr lang="ro-RO" altLang="en-US" sz="1700" dirty="0"/>
              <a:t>sau</a:t>
            </a:r>
          </a:p>
          <a:p>
            <a:pPr lvl="1" eaLnBrk="1" hangingPunct="1">
              <a:buClr>
                <a:srgbClr val="7FBFFF"/>
              </a:buClr>
              <a:buFontTx/>
              <a:buChar char=" "/>
            </a:pPr>
            <a:r>
              <a:rPr lang="ro-RO" altLang="en-US" sz="1700" b="1" i="1" dirty="0"/>
              <a:t>selector</a:t>
            </a:r>
            <a:r>
              <a:rPr lang="ro-RO" altLang="en-US" sz="1700" dirty="0">
                <a:latin typeface="Trebuchet MS" panose="020B0703020202090204" pitchFamily="34" charset="0"/>
              </a:rPr>
              <a:t>, </a:t>
            </a:r>
            <a:r>
              <a:rPr lang="ro-RO" altLang="en-US" sz="1700" i="1" dirty="0">
                <a:latin typeface="Trebuchet MS" panose="020B0703020202090204" pitchFamily="34" charset="0"/>
              </a:rPr>
              <a:t>...</a:t>
            </a:r>
            <a:r>
              <a:rPr lang="ro-RO" altLang="en-US" sz="1700" dirty="0">
                <a:latin typeface="Trebuchet MS" panose="020B0703020202090204" pitchFamily="34" charset="0"/>
              </a:rPr>
              <a:t>, </a:t>
            </a:r>
            <a:r>
              <a:rPr lang="ro-RO" altLang="en-US" sz="1700" b="1" i="1" dirty="0"/>
              <a:t>selector</a:t>
            </a:r>
            <a:r>
              <a:rPr lang="ro-RO" altLang="en-US" sz="1700" dirty="0">
                <a:latin typeface="Trebuchet MS" panose="020B0703020202090204" pitchFamily="34" charset="0"/>
              </a:rPr>
              <a:t> {</a:t>
            </a:r>
            <a:br>
              <a:rPr lang="ro-RO" altLang="en-US" sz="1700" dirty="0">
                <a:latin typeface="Trebuchet MS" panose="020B0703020202090204" pitchFamily="34" charset="0"/>
              </a:rPr>
            </a:br>
            <a:r>
              <a:rPr lang="ro-RO" altLang="en-US" sz="1700" dirty="0">
                <a:latin typeface="Trebuchet MS" panose="020B0703020202090204" pitchFamily="34" charset="0"/>
              </a:rPr>
              <a:t>    </a:t>
            </a:r>
            <a:r>
              <a:rPr lang="ro-RO" altLang="en-US" sz="1700" b="1" i="1" dirty="0" err="1"/>
              <a:t>property</a:t>
            </a:r>
            <a:r>
              <a:rPr lang="ro-RO" altLang="en-US" sz="1700" dirty="0">
                <a:latin typeface="Trebuchet MS" panose="020B0703020202090204" pitchFamily="34" charset="0"/>
              </a:rPr>
              <a:t>: </a:t>
            </a:r>
            <a:r>
              <a:rPr lang="ro-RO" altLang="en-US" sz="1700" b="1" i="1" dirty="0" err="1"/>
              <a:t>value</a:t>
            </a:r>
            <a:r>
              <a:rPr lang="ro-RO" altLang="en-US" sz="1700" dirty="0">
                <a:latin typeface="Trebuchet MS" panose="020B0703020202090204" pitchFamily="34" charset="0"/>
              </a:rPr>
              <a:t>;</a:t>
            </a:r>
            <a:br>
              <a:rPr lang="ro-RO" altLang="en-US" sz="1700" dirty="0">
                <a:latin typeface="Trebuchet MS" panose="020B0703020202090204" pitchFamily="34" charset="0"/>
              </a:rPr>
            </a:br>
            <a:r>
              <a:rPr lang="ro-RO" altLang="en-US" sz="1700" dirty="0">
                <a:latin typeface="Trebuchet MS" panose="020B0703020202090204" pitchFamily="34" charset="0"/>
              </a:rPr>
              <a:t>    </a:t>
            </a:r>
            <a:r>
              <a:rPr lang="ro-RO" altLang="en-US" sz="1700" b="1" i="1" dirty="0"/>
              <a:t>. . .</a:t>
            </a:r>
            <a:br>
              <a:rPr lang="ro-RO" altLang="en-US" sz="1700" b="1" i="1" dirty="0"/>
            </a:br>
            <a:r>
              <a:rPr lang="ro-RO" altLang="en-US" sz="1700" dirty="0">
                <a:latin typeface="Trebuchet MS" panose="020B0703020202090204" pitchFamily="34" charset="0"/>
              </a:rPr>
              <a:t>    </a:t>
            </a:r>
            <a:r>
              <a:rPr lang="ro-RO" altLang="en-US" sz="1700" b="1" i="1" dirty="0" err="1"/>
              <a:t>property</a:t>
            </a:r>
            <a:r>
              <a:rPr lang="ro-RO" altLang="en-US" sz="1700" dirty="0">
                <a:latin typeface="Trebuchet MS" panose="020B0703020202090204" pitchFamily="34" charset="0"/>
              </a:rPr>
              <a:t>: </a:t>
            </a:r>
            <a:r>
              <a:rPr lang="ro-RO" altLang="en-US" sz="1700" b="1" i="1" dirty="0" err="1"/>
              <a:t>value</a:t>
            </a:r>
            <a:br>
              <a:rPr lang="ro-RO" altLang="en-US" sz="1700" dirty="0">
                <a:latin typeface="Trebuchet MS" panose="020B0703020202090204" pitchFamily="34" charset="0"/>
              </a:rPr>
            </a:br>
            <a:r>
              <a:rPr lang="ro-RO" altLang="en-US" sz="1700" dirty="0">
                <a:latin typeface="Trebuchet MS" panose="020B0703020202090204" pitchFamily="34" charset="0"/>
              </a:rPr>
              <a:t>}</a:t>
            </a:r>
          </a:p>
          <a:p>
            <a:pPr lvl="1" eaLnBrk="1" hangingPunct="1"/>
            <a:r>
              <a:rPr lang="ro-RO" altLang="en-US" sz="1700" dirty="0"/>
              <a:t>unde</a:t>
            </a:r>
          </a:p>
          <a:p>
            <a:pPr lvl="2" eaLnBrk="1" hangingPunct="1"/>
            <a:r>
              <a:rPr lang="ro-RO" altLang="en-US" sz="1700" i="1" dirty="0"/>
              <a:t>selector</a:t>
            </a:r>
            <a:r>
              <a:rPr lang="ro-RO" altLang="en-US" sz="1700" dirty="0"/>
              <a:t> reprezintă </a:t>
            </a:r>
            <a:r>
              <a:rPr lang="ro-RO" altLang="en-US" sz="1700" dirty="0" err="1"/>
              <a:t>tag-ul</a:t>
            </a:r>
            <a:r>
              <a:rPr lang="ro-RO" altLang="en-US" sz="1700" dirty="0"/>
              <a:t> afectat de stil (selectorul este case-</a:t>
            </a:r>
            <a:r>
              <a:rPr lang="ro-RO" altLang="en-US" sz="1700" dirty="0" err="1"/>
              <a:t>sensitive</a:t>
            </a:r>
            <a:r>
              <a:rPr lang="ro-RO" altLang="en-US" sz="1700" dirty="0"/>
              <a:t> dacă și numai dacă limbajul de descriere a documentului este case-</a:t>
            </a:r>
            <a:r>
              <a:rPr lang="ro-RO" altLang="en-US" sz="1700" dirty="0" err="1"/>
              <a:t>sensitive</a:t>
            </a:r>
            <a:r>
              <a:rPr lang="ro-RO" altLang="en-US" sz="1700" dirty="0"/>
              <a:t>).</a:t>
            </a:r>
          </a:p>
          <a:p>
            <a:pPr lvl="2" eaLnBrk="1" hangingPunct="1"/>
            <a:r>
              <a:rPr lang="ro-RO" altLang="en-US" sz="1700" i="1" dirty="0" err="1"/>
              <a:t>property</a:t>
            </a:r>
            <a:r>
              <a:rPr lang="ro-RO" altLang="en-US" sz="1700" dirty="0"/>
              <a:t> și </a:t>
            </a:r>
            <a:r>
              <a:rPr lang="ro-RO" altLang="en-US" sz="1700" i="1" dirty="0" err="1"/>
              <a:t>value</a:t>
            </a:r>
            <a:r>
              <a:rPr lang="ro-RO" altLang="en-US" sz="1700" dirty="0"/>
              <a:t> descriu modul de afișare al respectivului </a:t>
            </a:r>
            <a:r>
              <a:rPr lang="ro-RO" altLang="en-US" sz="1700" dirty="0" err="1"/>
              <a:t>tag</a:t>
            </a:r>
            <a:r>
              <a:rPr lang="ro-RO" altLang="en-US" sz="1700" dirty="0"/>
              <a:t>.</a:t>
            </a:r>
          </a:p>
          <a:p>
            <a:pPr lvl="2" eaLnBrk="1" hangingPunct="1"/>
            <a:r>
              <a:rPr lang="ro-RO" altLang="en-US" sz="1700" dirty="0"/>
              <a:t>Spațiile după virgule și punct si virgule sunt opționale.</a:t>
            </a:r>
          </a:p>
          <a:p>
            <a:pPr lvl="2" eaLnBrk="1" hangingPunct="1"/>
            <a:r>
              <a:rPr lang="ro-RO" altLang="en-US" sz="1700" dirty="0"/>
              <a:t>Un punct și virgulă trebuie să fie folosit </a:t>
            </a:r>
            <a:r>
              <a:rPr lang="ro-RO" altLang="en-US" sz="1700" i="1" dirty="0"/>
              <a:t>între</a:t>
            </a:r>
            <a:r>
              <a:rPr lang="ro-RO" altLang="en-US" sz="1700" dirty="0"/>
              <a:t> perechi </a:t>
            </a:r>
            <a:r>
              <a:rPr lang="ro-RO" altLang="en-US" sz="1700" i="1" dirty="0" err="1"/>
              <a:t>property:value</a:t>
            </a:r>
            <a:r>
              <a:rPr lang="ro-RO" altLang="en-US" sz="1700" dirty="0"/>
              <a:t>, dar după ultima pereche punct și virgulă devine caracter opțional.</a:t>
            </a:r>
          </a:p>
          <a:p>
            <a:pPr eaLnBrk="1" hangingPunct="1"/>
            <a:endParaRPr lang="ro-RO" altLang="en-US" sz="1700" dirty="0"/>
          </a:p>
        </p:txBody>
      </p:sp>
      <p:sp>
        <p:nvSpPr>
          <p:cNvPr id="874503" name="Rectangle 87450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4505" name="Rectangle 87450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77" name="Slide Number Placeholder 5">
            <a:extLst>
              <a:ext uri="{FF2B5EF4-FFF2-40B4-BE49-F238E27FC236}">
                <a16:creationId xmlns:a16="http://schemas.microsoft.com/office/drawing/2014/main" id="{0FBCEA2C-69ED-4F36-2855-AC20F02D7D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9E4A919C-E82A-D841-964F-5F0FE3CAF278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64</a:t>
            </a:fld>
            <a:endParaRPr lang="en-US" altLang="en-US" sz="13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1" name="Picture 6" descr="css property and value">
            <a:extLst>
              <a:ext uri="{FF2B5EF4-FFF2-40B4-BE49-F238E27FC236}">
                <a16:creationId xmlns:a16="http://schemas.microsoft.com/office/drawing/2014/main" id="{660A5435-4BB6-F471-AAD1-2919EFCF8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1" y="4495800"/>
            <a:ext cx="4651375" cy="188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2" name="Picture 4" descr="css selector and declarations">
            <a:extLst>
              <a:ext uri="{FF2B5EF4-FFF2-40B4-BE49-F238E27FC236}">
                <a16:creationId xmlns:a16="http://schemas.microsoft.com/office/drawing/2014/main" id="{92D0560B-7122-0979-6DF8-AE10233CC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38" y="2616201"/>
            <a:ext cx="5199063" cy="217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800761-A2A1-2B59-4C57-6EA7674F6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904" y="149798"/>
            <a:ext cx="9720072" cy="1499616"/>
          </a:xfrm>
        </p:spPr>
        <p:txBody>
          <a:bodyPr/>
          <a:lstStyle/>
          <a:p>
            <a:pPr>
              <a:defRPr/>
            </a:pPr>
            <a:r>
              <a:rPr lang="en-US" dirty="0" err="1"/>
              <a:t>Anatomia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</a:t>
            </a:r>
            <a:r>
              <a:rPr lang="en-US" dirty="0" err="1"/>
              <a:t>reguli</a:t>
            </a:r>
            <a:r>
              <a:rPr lang="en-US" dirty="0"/>
              <a:t> CSS</a:t>
            </a:r>
          </a:p>
        </p:txBody>
      </p:sp>
      <p:sp>
        <p:nvSpPr>
          <p:cNvPr id="76804" name="Slide Number Placeholder 5">
            <a:extLst>
              <a:ext uri="{FF2B5EF4-FFF2-40B4-BE49-F238E27FC236}">
                <a16:creationId xmlns:a16="http://schemas.microsoft.com/office/drawing/2014/main" id="{185B49F8-2BFD-DED1-8041-49DF4E3788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EDF057-C9C0-B64E-94AC-53D10ACBF34F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6805" name="Picture 2" descr="css rule">
            <a:extLst>
              <a:ext uri="{FF2B5EF4-FFF2-40B4-BE49-F238E27FC236}">
                <a16:creationId xmlns:a16="http://schemas.microsoft.com/office/drawing/2014/main" id="{36FDFD48-63B2-4114-8653-7CD6A4D2A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0314" y="1295400"/>
            <a:ext cx="5297487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Bent-Up Arrow 6">
            <a:extLst>
              <a:ext uri="{FF2B5EF4-FFF2-40B4-BE49-F238E27FC236}">
                <a16:creationId xmlns:a16="http://schemas.microsoft.com/office/drawing/2014/main" id="{313C923E-05E0-110B-F67C-EEA5476C482C}"/>
              </a:ext>
            </a:extLst>
          </p:cNvPr>
          <p:cNvSpPr/>
          <p:nvPr/>
        </p:nvSpPr>
        <p:spPr>
          <a:xfrm rot="10800000">
            <a:off x="4116388" y="1752600"/>
            <a:ext cx="762000" cy="9144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8" name="Bent-Up Arrow 7">
            <a:extLst>
              <a:ext uri="{FF2B5EF4-FFF2-40B4-BE49-F238E27FC236}">
                <a16:creationId xmlns:a16="http://schemas.microsoft.com/office/drawing/2014/main" id="{58FAA366-0753-47C6-89C1-9D7C3E7BFF45}"/>
              </a:ext>
            </a:extLst>
          </p:cNvPr>
          <p:cNvSpPr/>
          <p:nvPr/>
        </p:nvSpPr>
        <p:spPr>
          <a:xfrm rot="5400000">
            <a:off x="4459288" y="4638675"/>
            <a:ext cx="838200" cy="1066800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Number Placeholder 5">
            <a:extLst>
              <a:ext uri="{FF2B5EF4-FFF2-40B4-BE49-F238E27FC236}">
                <a16:creationId xmlns:a16="http://schemas.microsoft.com/office/drawing/2014/main" id="{E11C85A2-70D6-3A83-7F68-BD4CE3CC3F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96ACC0-E1EB-2540-8008-1D5E257808DE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77826" name="Picture 2">
            <a:extLst>
              <a:ext uri="{FF2B5EF4-FFF2-40B4-BE49-F238E27FC236}">
                <a16:creationId xmlns:a16="http://schemas.microsoft.com/office/drawing/2014/main" id="{0C02ECF4-43BB-73C7-DAC9-FAF5D87FD5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4312" y="533400"/>
            <a:ext cx="9477376" cy="16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7" name="Picture 3">
            <a:extLst>
              <a:ext uri="{FF2B5EF4-FFF2-40B4-BE49-F238E27FC236}">
                <a16:creationId xmlns:a16="http://schemas.microsoft.com/office/drawing/2014/main" id="{A5BC5F22-55FB-A7E6-B01A-87782833E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1" y="2947989"/>
            <a:ext cx="6296025" cy="200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8" name="Picture 4">
            <a:extLst>
              <a:ext uri="{FF2B5EF4-FFF2-40B4-BE49-F238E27FC236}">
                <a16:creationId xmlns:a16="http://schemas.microsoft.com/office/drawing/2014/main" id="{9446F780-5DCD-D9F4-E6A6-29D8975D5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939" y="3952876"/>
            <a:ext cx="4657725" cy="252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TextBox 7">
            <a:extLst>
              <a:ext uri="{FF2B5EF4-FFF2-40B4-BE49-F238E27FC236}">
                <a16:creationId xmlns:a16="http://schemas.microsoft.com/office/drawing/2014/main" id="{7312F3FB-67BC-23E4-1BE6-A1697D9D2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2146300"/>
            <a:ext cx="425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+</a:t>
            </a:r>
          </a:p>
        </p:txBody>
      </p:sp>
      <p:sp>
        <p:nvSpPr>
          <p:cNvPr id="77830" name="TextBox 11">
            <a:extLst>
              <a:ext uri="{FF2B5EF4-FFF2-40B4-BE49-F238E27FC236}">
                <a16:creationId xmlns:a16="http://schemas.microsoft.com/office/drawing/2014/main" id="{870FF7DD-C599-55A6-C932-00C2EBFDC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3363" y="5003800"/>
            <a:ext cx="425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/>
              <a:t>=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8EEA2D1F-B879-47D9-6AA9-D581ED573CA2}"/>
              </a:ext>
            </a:extLst>
          </p:cNvPr>
          <p:cNvSpPr/>
          <p:nvPr/>
        </p:nvSpPr>
        <p:spPr>
          <a:xfrm>
            <a:off x="4267200" y="4957764"/>
            <a:ext cx="1524000" cy="4524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Number Placeholder 5">
            <a:extLst>
              <a:ext uri="{FF2B5EF4-FFF2-40B4-BE49-F238E27FC236}">
                <a16:creationId xmlns:a16="http://schemas.microsoft.com/office/drawing/2014/main" id="{8DEA099C-0E1E-8C88-631D-E769FCCA57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1A5F1D-0EE7-1C40-9047-751E194868B2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75522" name="Rectangle 2">
            <a:extLst>
              <a:ext uri="{FF2B5EF4-FFF2-40B4-BE49-F238E27FC236}">
                <a16:creationId xmlns:a16="http://schemas.microsoft.com/office/drawing/2014/main" id="{8500F99A-F329-3200-FEA0-DBF52F2AE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457201"/>
            <a:ext cx="8229600" cy="487363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3200" dirty="0" err="1"/>
              <a:t>Exemplu</a:t>
            </a:r>
            <a:r>
              <a:rPr lang="en-US" sz="3200" dirty="0"/>
              <a:t> de CSS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53906598-9E0C-10E9-2390-B2DFF3A00E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52600" y="1219200"/>
            <a:ext cx="8763000" cy="533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Acesta este un comentariu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h1,h2,h3 {font-family: Arial, sans-serif;} </a:t>
            </a:r>
            <a:r>
              <a:rPr lang="en-US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 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folosește primul font disponibil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p, table, li, address {            </a:t>
            </a:r>
            <a:r>
              <a:rPr lang="en-US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     </a:t>
            </a:r>
            <a:r>
              <a:rPr lang="ro-RO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se aplică tuturor acestor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tag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-uri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 */</a:t>
            </a:r>
            <a:b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  font-family: "Courier New";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valoare încadrată între ghilimele ce conține 					spații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 </a:t>
            </a:r>
            <a:b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  margin-left: 15pt;                </a:t>
            </a:r>
            <a:r>
              <a:rPr lang="en-US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  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indentare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  <a:br>
              <a:rPr lang="en-US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</a:b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}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p, li, th, td {font-size: 80%;}    </a:t>
            </a:r>
            <a:r>
              <a:rPr lang="ro-RO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80%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din dimensiunea elemenului ce îl 						conține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th {background-color:#FAEBD7} </a:t>
            </a:r>
            <a:r>
              <a:rPr lang="en-US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ro-RO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culorile pot fi specificate în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hex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a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 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body { background-color: #ffffff;}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h1,h2,h3,hr {color:saddlebrown;}</a:t>
            </a:r>
            <a:r>
              <a:rPr lang="ro-RO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se adaugă elementelor specificate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a:link    {color:darkred}	    </a:t>
            </a:r>
            <a:r>
              <a:rPr lang="ro-RO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un link ne-vizitat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a:visited {color:darkred}	    </a:t>
            </a:r>
            <a:r>
              <a:rPr lang="en-US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 </a:t>
            </a:r>
            <a:r>
              <a:rPr lang="ro-RO" altLang="en-US" sz="1800">
                <a:solidFill>
                  <a:schemeClr val="accent1"/>
                </a:solidFill>
                <a:latin typeface="Trebuchet MS" panose="020B0703020202090204" pitchFamily="34" charset="0"/>
              </a:rPr>
              <a:t>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un link vizitat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a:active  {color:red}	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un link deja vizitat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r>
              <a:rPr lang="en-US" altLang="en-US" sz="1800">
                <a:solidFill>
                  <a:schemeClr val="accent2"/>
                </a:solidFill>
                <a:latin typeface="Trebuchet MS" panose="020B0703020202090204" pitchFamily="34" charset="0"/>
              </a:rPr>
              <a:t>a:hover   {color:red}	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/* </a:t>
            </a:r>
            <a:r>
              <a:rPr lang="ro-RO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atunci când mouse-ul trece deasupra elementului </a:t>
            </a:r>
            <a:r>
              <a:rPr lang="en-US" altLang="en-US" sz="1800">
                <a:solidFill>
                  <a:srgbClr val="FF0000"/>
                </a:solidFill>
                <a:latin typeface="Trebuchet MS" panose="020B0703020202090204" pitchFamily="34" charset="0"/>
              </a:rPr>
              <a:t>*/</a:t>
            </a:r>
          </a:p>
          <a:p>
            <a:pPr>
              <a:lnSpc>
                <a:spcPct val="80000"/>
              </a:lnSpc>
              <a:spcAft>
                <a:spcPts val="600"/>
              </a:spcAft>
              <a:buNone/>
            </a:pPr>
            <a:endParaRPr lang="en-US" altLang="en-US" sz="180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546" name="Rectangle 2">
            <a:extLst>
              <a:ext uri="{FF2B5EF4-FFF2-40B4-BE49-F238E27FC236}">
                <a16:creationId xmlns:a16="http://schemas.microsoft.com/office/drawing/2014/main" id="{E6D74D98-280B-A185-4102-45B1DF21E1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err="1"/>
              <a:t>Selectori</a:t>
            </a:r>
            <a:endParaRPr lang="en-US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64F6C8FD-2F22-7123-D2DA-EF499998E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857728"/>
            <a:ext cx="8201571" cy="4512091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sz="1600" dirty="0"/>
              <a:t>Un </a:t>
            </a:r>
            <a:r>
              <a:rPr lang="ro-RO" altLang="en-US" sz="1600" dirty="0" err="1"/>
              <a:t>tag</a:t>
            </a:r>
            <a:r>
              <a:rPr lang="ro-RO" altLang="en-US" sz="1600" dirty="0"/>
              <a:t> XML sau HTML poate fi folosit ca un simplu element selector:</a:t>
            </a:r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ro-RO" altLang="en-US" sz="1600" dirty="0">
                <a:latin typeface="Trebuchet MS" panose="020B0703020202090204" pitchFamily="34" charset="0"/>
              </a:rPr>
              <a:t>body { background-color: #</a:t>
            </a:r>
            <a:r>
              <a:rPr lang="ro-RO" altLang="en-US" sz="1600" dirty="0" err="1">
                <a:latin typeface="Trebuchet MS" panose="020B0703020202090204" pitchFamily="34" charset="0"/>
              </a:rPr>
              <a:t>ffffff</a:t>
            </a:r>
            <a:r>
              <a:rPr lang="ro-RO" altLang="en-US" sz="1600" dirty="0">
                <a:latin typeface="Trebuchet MS" panose="020B0703020202090204" pitchFamily="34" charset="0"/>
              </a:rPr>
              <a:t> }</a:t>
            </a:r>
          </a:p>
          <a:p>
            <a:pPr eaLnBrk="1" hangingPunct="1"/>
            <a:r>
              <a:rPr lang="ro-RO" altLang="en-US" sz="1600" dirty="0"/>
              <a:t>Putem însă folosi și selectori multipli:</a:t>
            </a:r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ro-RO" altLang="en-US" sz="1600" dirty="0" err="1">
                <a:latin typeface="Trebuchet MS" panose="020B0703020202090204" pitchFamily="34" charset="0"/>
              </a:rPr>
              <a:t>em</a:t>
            </a:r>
            <a:r>
              <a:rPr lang="ro-RO" altLang="en-US" sz="1600" dirty="0">
                <a:latin typeface="Trebuchet MS" panose="020B0703020202090204" pitchFamily="34" charset="0"/>
              </a:rPr>
              <a:t>, i {color: </a:t>
            </a:r>
            <a:r>
              <a:rPr lang="ro-RO" altLang="en-US" sz="1600" dirty="0" err="1">
                <a:latin typeface="Trebuchet MS" panose="020B0703020202090204" pitchFamily="34" charset="0"/>
              </a:rPr>
              <a:t>red</a:t>
            </a:r>
            <a:r>
              <a:rPr lang="ro-RO" altLang="en-US" sz="1600" dirty="0">
                <a:latin typeface="Trebuchet MS" panose="020B0703020202090204" pitchFamily="34" charset="0"/>
              </a:rPr>
              <a:t>}</a:t>
            </a:r>
          </a:p>
          <a:p>
            <a:pPr eaLnBrk="1" hangingPunct="1">
              <a:buClr>
                <a:srgbClr val="FFFF7F"/>
              </a:buClr>
              <a:buFontTx/>
              <a:buChar char=" "/>
            </a:pPr>
            <a:r>
              <a:rPr lang="ro-RO" altLang="en-US" sz="1600" dirty="0"/>
              <a:t>Putem repeta selectorii:</a:t>
            </a:r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ro-RO" altLang="en-US" sz="1600" dirty="0">
                <a:latin typeface="Trebuchet MS" panose="020B0703020202090204" pitchFamily="34" charset="0"/>
              </a:rPr>
              <a:t>h1, h2, h3 {font-</a:t>
            </a:r>
            <a:r>
              <a:rPr lang="ro-RO" altLang="en-US" sz="1600" dirty="0" err="1">
                <a:latin typeface="Trebuchet MS" panose="020B0703020202090204" pitchFamily="34" charset="0"/>
              </a:rPr>
              <a:t>family</a:t>
            </a:r>
            <a:r>
              <a:rPr lang="ro-RO" altLang="en-US" sz="1600" dirty="0">
                <a:latin typeface="Trebuchet MS" panose="020B0703020202090204" pitchFamily="34" charset="0"/>
              </a:rPr>
              <a:t>: </a:t>
            </a:r>
            <a:r>
              <a:rPr lang="ro-RO" altLang="en-US" sz="1600" dirty="0" err="1">
                <a:latin typeface="Trebuchet MS" panose="020B0703020202090204" pitchFamily="34" charset="0"/>
              </a:rPr>
              <a:t>Verdana</a:t>
            </a:r>
            <a:r>
              <a:rPr lang="ro-RO" altLang="en-US" sz="1600" dirty="0">
                <a:latin typeface="Trebuchet MS" panose="020B0703020202090204" pitchFamily="34" charset="0"/>
              </a:rPr>
              <a:t>; color: </a:t>
            </a:r>
            <a:r>
              <a:rPr lang="ro-RO" altLang="en-US" sz="1600" dirty="0" err="1">
                <a:latin typeface="Trebuchet MS" panose="020B0703020202090204" pitchFamily="34" charset="0"/>
              </a:rPr>
              <a:t>red</a:t>
            </a:r>
            <a:r>
              <a:rPr lang="ro-RO" altLang="en-US" sz="1600" dirty="0">
                <a:latin typeface="Trebuchet MS" panose="020B0703020202090204" pitchFamily="34" charset="0"/>
              </a:rPr>
              <a:t>}</a:t>
            </a:r>
            <a:br>
              <a:rPr lang="ro-RO" altLang="en-US" sz="1600" dirty="0">
                <a:latin typeface="Trebuchet MS" panose="020B0703020202090204" pitchFamily="34" charset="0"/>
              </a:rPr>
            </a:br>
            <a:r>
              <a:rPr lang="ro-RO" altLang="en-US" sz="1600" dirty="0">
                <a:latin typeface="Trebuchet MS" panose="020B0703020202090204" pitchFamily="34" charset="0"/>
              </a:rPr>
              <a:t>h1, h3 {font-</a:t>
            </a:r>
            <a:r>
              <a:rPr lang="ro-RO" altLang="en-US" sz="1600" dirty="0" err="1">
                <a:latin typeface="Trebuchet MS" panose="020B0703020202090204" pitchFamily="34" charset="0"/>
              </a:rPr>
              <a:t>weight</a:t>
            </a:r>
            <a:r>
              <a:rPr lang="ro-RO" altLang="en-US" sz="1600" dirty="0">
                <a:latin typeface="Trebuchet MS" panose="020B0703020202090204" pitchFamily="34" charset="0"/>
              </a:rPr>
              <a:t>: bold; color: </a:t>
            </a:r>
            <a:r>
              <a:rPr lang="ro-RO" altLang="en-US" sz="1600" dirty="0" err="1">
                <a:latin typeface="Trebuchet MS" panose="020B0703020202090204" pitchFamily="34" charset="0"/>
              </a:rPr>
              <a:t>pink</a:t>
            </a:r>
            <a:r>
              <a:rPr lang="ro-RO" altLang="en-US" sz="1600" dirty="0">
                <a:latin typeface="Trebuchet MS" panose="020B0703020202090204" pitchFamily="34" charset="0"/>
              </a:rPr>
              <a:t>}</a:t>
            </a:r>
          </a:p>
          <a:p>
            <a:pPr lvl="1" eaLnBrk="1" hangingPunct="1">
              <a:buClr>
                <a:schemeClr val="tx1"/>
              </a:buClr>
              <a:buFont typeface="Times" pitchFamily="18" charset="0"/>
              <a:buChar char="•"/>
            </a:pPr>
            <a:r>
              <a:rPr lang="ro-RO" altLang="en-US" sz="1600" dirty="0"/>
              <a:t>Atunci când valorile nu coincid, </a:t>
            </a:r>
            <a:r>
              <a:rPr lang="ro-RO" altLang="en-US" sz="1600" i="1" dirty="0"/>
              <a:t>ultima </a:t>
            </a:r>
            <a:r>
              <a:rPr lang="ro-RO" altLang="en-US" sz="1600" dirty="0"/>
              <a:t>declarație suprascrie declarațiile anterioare</a:t>
            </a:r>
            <a:endParaRPr lang="ro-RO" altLang="en-US" sz="1600" dirty="0">
              <a:latin typeface="Trebuchet MS" panose="020B0703020202090204" pitchFamily="34" charset="0"/>
            </a:endParaRPr>
          </a:p>
          <a:p>
            <a:pPr eaLnBrk="1" hangingPunct="1"/>
            <a:r>
              <a:rPr lang="ro-RO" altLang="en-US" sz="1600" dirty="0"/>
              <a:t>Selectorul universal * se aplică oricărui și tuturor elementelor:</a:t>
            </a:r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ro-RO" altLang="en-US" sz="1600" dirty="0">
                <a:latin typeface="Trebuchet MS" panose="020B0703020202090204" pitchFamily="34" charset="0"/>
              </a:rPr>
              <a:t>* {color: </a:t>
            </a:r>
            <a:r>
              <a:rPr lang="ro-RO" altLang="en-US" sz="1600" dirty="0" err="1">
                <a:latin typeface="Trebuchet MS" panose="020B0703020202090204" pitchFamily="34" charset="0"/>
              </a:rPr>
              <a:t>blue</a:t>
            </a:r>
            <a:r>
              <a:rPr lang="ro-RO" altLang="en-US" sz="1600" dirty="0">
                <a:latin typeface="Trebuchet MS" panose="020B0703020202090204" pitchFamily="34" charset="0"/>
              </a:rPr>
              <a:t>}</a:t>
            </a:r>
          </a:p>
          <a:p>
            <a:pPr lvl="1" eaLnBrk="1" hangingPunct="1">
              <a:buClr>
                <a:schemeClr val="tx1"/>
              </a:buClr>
              <a:buFont typeface="Times" pitchFamily="18" charset="0"/>
              <a:buChar char="•"/>
            </a:pPr>
            <a:r>
              <a:rPr lang="ro-RO" altLang="en-US" sz="1600" dirty="0"/>
              <a:t>Atunci când valorile nu coincid, selectorii mai specifici suprascriu comportamentul selectorilor mai generali (deci elementele </a:t>
            </a:r>
            <a:r>
              <a:rPr lang="ro-RO" altLang="en-US" sz="1600" dirty="0" err="1">
                <a:latin typeface="Trebuchet MS" panose="020B0703020202090204" pitchFamily="34" charset="0"/>
              </a:rPr>
              <a:t>em</a:t>
            </a:r>
            <a:r>
              <a:rPr lang="ro-RO" altLang="en-US" sz="1600" dirty="0"/>
              <a:t> vor fi în continuare roșii)</a:t>
            </a:r>
          </a:p>
          <a:p>
            <a:pPr eaLnBrk="1" hangingPunct="1"/>
            <a:endParaRPr lang="ro-RO" altLang="en-US" sz="1600" dirty="0"/>
          </a:p>
        </p:txBody>
      </p:sp>
      <p:sp>
        <p:nvSpPr>
          <p:cNvPr id="876551" name="Rectangle 87655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6553" name="Rectangle 87655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873" name="Slide Number Placeholder 5">
            <a:extLst>
              <a:ext uri="{FF2B5EF4-FFF2-40B4-BE49-F238E27FC236}">
                <a16:creationId xmlns:a16="http://schemas.microsoft.com/office/drawing/2014/main" id="{F4ACBABF-8A98-F7EC-CF04-7572EA1A00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1E5605E-4B1D-4945-9FBD-377893408B8D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68</a:t>
            </a:fld>
            <a:endParaRPr lang="en-US" altLang="en-US" sz="130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9B827-5657-8029-0F3B-DE720A898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Reguli</a:t>
            </a:r>
            <a:r>
              <a:rPr lang="en-US" dirty="0"/>
              <a:t> </a:t>
            </a:r>
            <a:r>
              <a:rPr lang="en-US" dirty="0" err="1"/>
              <a:t>combinate</a:t>
            </a:r>
            <a:endParaRPr lang="en-US" dirty="0"/>
          </a:p>
        </p:txBody>
      </p:sp>
      <p:sp>
        <p:nvSpPr>
          <p:cNvPr id="82946" name="Content Placeholder 2">
            <a:extLst>
              <a:ext uri="{FF2B5EF4-FFF2-40B4-BE49-F238E27FC236}">
                <a16:creationId xmlns:a16="http://schemas.microsoft.com/office/drawing/2014/main" id="{BA2EC572-9A06-3569-D809-663203117F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Regulile pot fi combinate</a:t>
            </a:r>
          </a:p>
        </p:txBody>
      </p:sp>
      <p:sp>
        <p:nvSpPr>
          <p:cNvPr id="82947" name="Slide Number Placeholder 5">
            <a:extLst>
              <a:ext uri="{FF2B5EF4-FFF2-40B4-BE49-F238E27FC236}">
                <a16:creationId xmlns:a16="http://schemas.microsoft.com/office/drawing/2014/main" id="{2BE09BF5-B94A-D30A-7357-2F5380439F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F2C1D7-D7E0-5046-92B0-033F47A2EEB7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82948" name="Picture 2">
            <a:extLst>
              <a:ext uri="{FF2B5EF4-FFF2-40B4-BE49-F238E27FC236}">
                <a16:creationId xmlns:a16="http://schemas.microsoft.com/office/drawing/2014/main" id="{4D64D386-22EF-69EC-C7C4-05FFACCA9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9" y="1981201"/>
            <a:ext cx="511492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949" name="Picture 3">
            <a:extLst>
              <a:ext uri="{FF2B5EF4-FFF2-40B4-BE49-F238E27FC236}">
                <a16:creationId xmlns:a16="http://schemas.microsoft.com/office/drawing/2014/main" id="{1789C50F-BEED-33EB-0773-481AEB997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114800"/>
            <a:ext cx="5384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7F66EBA6-723A-0E2A-76A9-0E7EA2B9B68B}"/>
              </a:ext>
            </a:extLst>
          </p:cNvPr>
          <p:cNvSpPr/>
          <p:nvPr/>
        </p:nvSpPr>
        <p:spPr>
          <a:xfrm>
            <a:off x="5410200" y="3581400"/>
            <a:ext cx="279400" cy="533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570" name="Rectangle 2">
            <a:extLst>
              <a:ext uri="{FF2B5EF4-FFF2-40B4-BE49-F238E27FC236}">
                <a16:creationId xmlns:a16="http://schemas.microsoft.com/office/drawing/2014/main" id="{0E9FE6DA-7CA0-32D2-849B-421B6886D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err="1"/>
              <a:t>Selectori</a:t>
            </a:r>
            <a:endParaRPr 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C891A697-64E4-5E65-E6B0-155C747CDE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96018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1700" dirty="0"/>
              <a:t>Un selector </a:t>
            </a:r>
            <a:r>
              <a:rPr lang="ro-RO" altLang="en-US" sz="1700" i="1" dirty="0"/>
              <a:t>descendent</a:t>
            </a:r>
            <a:r>
              <a:rPr lang="ro-RO" altLang="en-US" sz="1700" dirty="0"/>
              <a:t> alege un </a:t>
            </a:r>
            <a:r>
              <a:rPr lang="ro-RO" altLang="en-US" sz="1700" dirty="0" err="1"/>
              <a:t>tag</a:t>
            </a:r>
            <a:r>
              <a:rPr lang="ro-RO" altLang="en-US" sz="1700" dirty="0"/>
              <a:t> având un element </a:t>
            </a:r>
            <a:r>
              <a:rPr lang="ro-RO" altLang="en-US" sz="1700" dirty="0" err="1"/>
              <a:t>ancestor</a:t>
            </a:r>
            <a:r>
              <a:rPr lang="ro-RO" altLang="en-US" sz="1700" dirty="0"/>
              <a:t> corespunzător:</a:t>
            </a:r>
          </a:p>
          <a:p>
            <a:pPr lvl="1">
              <a:spcAft>
                <a:spcPts val="600"/>
              </a:spcAft>
              <a:buNone/>
            </a:pPr>
            <a:r>
              <a:rPr lang="ro-RO" altLang="en-US" sz="1700" dirty="0">
                <a:latin typeface="Trebuchet MS" panose="020B0703020202090204" pitchFamily="34" charset="0"/>
              </a:rPr>
              <a:t>	p code { color: </a:t>
            </a:r>
            <a:r>
              <a:rPr lang="ro-RO" altLang="en-US" sz="1700" dirty="0" err="1">
                <a:latin typeface="Trebuchet MS" panose="020B0703020202090204" pitchFamily="34" charset="0"/>
              </a:rPr>
              <a:t>brown</a:t>
            </a:r>
            <a:r>
              <a:rPr lang="ro-RO" altLang="en-US" sz="1700" dirty="0">
                <a:latin typeface="Trebuchet MS" panose="020B0703020202090204" pitchFamily="34" charset="0"/>
              </a:rPr>
              <a:t> }</a:t>
            </a:r>
          </a:p>
          <a:p>
            <a:pPr lvl="1">
              <a:spcAft>
                <a:spcPts val="600"/>
              </a:spcAft>
            </a:pPr>
            <a:r>
              <a:rPr lang="ro-RO" altLang="en-US" sz="1700" dirty="0"/>
              <a:t>selectează </a:t>
            </a:r>
            <a:r>
              <a:rPr lang="ro-RO" altLang="en-US" sz="1700" dirty="0">
                <a:latin typeface="Trebuchet MS" panose="020B0703020202090204" pitchFamily="34" charset="0"/>
              </a:rPr>
              <a:t>code</a:t>
            </a:r>
            <a:r>
              <a:rPr lang="ro-RO" altLang="en-US" sz="1700" dirty="0"/>
              <a:t> doar dacă este folosit în interiorul unui paragraf</a:t>
            </a:r>
          </a:p>
          <a:p>
            <a:pPr>
              <a:spcAft>
                <a:spcPts val="600"/>
              </a:spcAft>
            </a:pPr>
            <a:r>
              <a:rPr lang="ro-RO" altLang="en-US" sz="1700" dirty="0"/>
              <a:t>Un selector </a:t>
            </a:r>
            <a:r>
              <a:rPr lang="ro-RO" altLang="en-US" sz="1700" i="1" dirty="0"/>
              <a:t>copil</a:t>
            </a:r>
            <a:r>
              <a:rPr lang="ro-RO" altLang="en-US" sz="1700" dirty="0"/>
              <a:t> </a:t>
            </a:r>
            <a:r>
              <a:rPr lang="ro-RO" altLang="en-US" sz="1700" dirty="0">
                <a:latin typeface="Trebuchet MS" panose="020B0703020202090204" pitchFamily="34" charset="0"/>
              </a:rPr>
              <a:t>&gt;</a:t>
            </a:r>
            <a:r>
              <a:rPr lang="ro-RO" altLang="en-US" sz="1700" dirty="0"/>
              <a:t> alege un </a:t>
            </a:r>
            <a:r>
              <a:rPr lang="ro-RO" altLang="en-US" sz="1700" dirty="0" err="1"/>
              <a:t>tag</a:t>
            </a:r>
            <a:r>
              <a:rPr lang="ro-RO" altLang="en-US" sz="1700" dirty="0"/>
              <a:t> având un părinte corespunzător:</a:t>
            </a:r>
          </a:p>
          <a:p>
            <a:pPr lvl="1">
              <a:spcAft>
                <a:spcPts val="600"/>
              </a:spcAft>
              <a:buClr>
                <a:srgbClr val="FFFF7F"/>
              </a:buClr>
              <a:buFontTx/>
              <a:buChar char=" "/>
            </a:pPr>
            <a:r>
              <a:rPr lang="ro-RO" altLang="en-US" sz="1700" dirty="0">
                <a:latin typeface="Trebuchet MS" panose="020B0703020202090204" pitchFamily="34" charset="0"/>
              </a:rPr>
              <a:t>h3 &gt; </a:t>
            </a:r>
            <a:r>
              <a:rPr lang="ro-RO" altLang="en-US" sz="1700" dirty="0" err="1">
                <a:latin typeface="Trebuchet MS" panose="020B0703020202090204" pitchFamily="34" charset="0"/>
              </a:rPr>
              <a:t>em</a:t>
            </a:r>
            <a:r>
              <a:rPr lang="ro-RO" altLang="en-US" sz="1700" dirty="0">
                <a:latin typeface="Trebuchet MS" panose="020B0703020202090204" pitchFamily="34" charset="0"/>
              </a:rPr>
              <a:t> { font-</a:t>
            </a:r>
            <a:r>
              <a:rPr lang="ro-RO" altLang="en-US" sz="1700" dirty="0" err="1">
                <a:latin typeface="Trebuchet MS" panose="020B0703020202090204" pitchFamily="34" charset="0"/>
              </a:rPr>
              <a:t>weight</a:t>
            </a:r>
            <a:r>
              <a:rPr lang="ro-RO" altLang="en-US" sz="1700" dirty="0">
                <a:latin typeface="Trebuchet MS" panose="020B0703020202090204" pitchFamily="34" charset="0"/>
              </a:rPr>
              <a:t>: bold }</a:t>
            </a:r>
          </a:p>
          <a:p>
            <a:pPr lvl="1">
              <a:spcAft>
                <a:spcPts val="600"/>
              </a:spcAft>
              <a:buClr>
                <a:srgbClr val="FFFF7F"/>
              </a:buClr>
              <a:buFontTx/>
              <a:buChar char=" "/>
            </a:pPr>
            <a:r>
              <a:rPr lang="ro-RO" altLang="en-US" sz="1700" dirty="0"/>
              <a:t>selectează un </a:t>
            </a:r>
            <a:r>
              <a:rPr lang="ro-RO" altLang="en-US" sz="1700" dirty="0" err="1">
                <a:latin typeface="Trebuchet MS" panose="020B0703020202090204" pitchFamily="34" charset="0"/>
              </a:rPr>
              <a:t>em</a:t>
            </a:r>
            <a:r>
              <a:rPr lang="ro-RO" altLang="en-US" sz="1700" dirty="0">
                <a:latin typeface="Trebuchet MS" panose="020B0703020202090204" pitchFamily="34" charset="0"/>
              </a:rPr>
              <a:t> </a:t>
            </a:r>
            <a:r>
              <a:rPr lang="ro-RO" altLang="en-US" sz="1700" dirty="0"/>
              <a:t>doar dacă părintele imediat este </a:t>
            </a:r>
            <a:r>
              <a:rPr lang="ro-RO" altLang="en-US" sz="1700" dirty="0">
                <a:latin typeface="Trebuchet MS" panose="020B0703020202090204" pitchFamily="34" charset="0"/>
              </a:rPr>
              <a:t>h3</a:t>
            </a:r>
          </a:p>
          <a:p>
            <a:pPr>
              <a:spcAft>
                <a:spcPts val="600"/>
              </a:spcAft>
            </a:pPr>
            <a:r>
              <a:rPr lang="ro-RO" altLang="en-US" sz="1700" dirty="0"/>
              <a:t>Un selector </a:t>
            </a:r>
            <a:r>
              <a:rPr lang="ro-RO" altLang="en-US" sz="1700" i="1" dirty="0"/>
              <a:t>adiacent</a:t>
            </a:r>
            <a:r>
              <a:rPr lang="ro-RO" altLang="en-US" sz="1700" dirty="0"/>
              <a:t> alege un element ce imediat urmează altuia:</a:t>
            </a:r>
          </a:p>
          <a:p>
            <a:pPr lvl="1">
              <a:spcAft>
                <a:spcPts val="600"/>
              </a:spcAft>
              <a:buClr>
                <a:srgbClr val="FFFF7F"/>
              </a:buClr>
              <a:buFontTx/>
              <a:buChar char=" "/>
            </a:pPr>
            <a:r>
              <a:rPr lang="ro-RO" altLang="en-US" sz="1700" dirty="0">
                <a:latin typeface="Trebuchet MS" panose="020B0703020202090204" pitchFamily="34" charset="0"/>
              </a:rPr>
              <a:t>b + i  { font-</a:t>
            </a:r>
            <a:r>
              <a:rPr lang="ro-RO" altLang="en-US" sz="1700" dirty="0" err="1">
                <a:latin typeface="Trebuchet MS" panose="020B0703020202090204" pitchFamily="34" charset="0"/>
              </a:rPr>
              <a:t>size</a:t>
            </a:r>
            <a:r>
              <a:rPr lang="ro-RO" altLang="en-US" sz="1700" dirty="0">
                <a:latin typeface="Trebuchet MS" panose="020B0703020202090204" pitchFamily="34" charset="0"/>
              </a:rPr>
              <a:t>: 8pt }</a:t>
            </a:r>
            <a:br>
              <a:rPr lang="ro-RO" altLang="en-US" sz="1700" dirty="0">
                <a:latin typeface="Trebuchet MS" panose="020B0703020202090204" pitchFamily="34" charset="0"/>
              </a:rPr>
            </a:br>
            <a:r>
              <a:rPr lang="ro-RO" altLang="en-US" sz="1700" dirty="0"/>
              <a:t>Exemplu: </a:t>
            </a:r>
            <a:r>
              <a:rPr lang="ro-RO" altLang="en-US" sz="1700" dirty="0">
                <a:latin typeface="Trebuchet MS" panose="020B0703020202090204" pitchFamily="34" charset="0"/>
              </a:rPr>
              <a:t>&lt;b&gt;</a:t>
            </a:r>
            <a:r>
              <a:rPr lang="ro-RO" altLang="en-US" sz="1700" dirty="0" err="1">
                <a:latin typeface="Trebuchet MS" panose="020B0703020202090204" pitchFamily="34" charset="0"/>
              </a:rPr>
              <a:t>I'm</a:t>
            </a:r>
            <a:r>
              <a:rPr lang="ro-RO" altLang="en-US" sz="1700" dirty="0">
                <a:latin typeface="Trebuchet MS" panose="020B0703020202090204" pitchFamily="34" charset="0"/>
              </a:rPr>
              <a:t> bold </a:t>
            </a:r>
            <a:r>
              <a:rPr lang="ro-RO" altLang="en-US" sz="1700" dirty="0" err="1">
                <a:latin typeface="Trebuchet MS" panose="020B0703020202090204" pitchFamily="34" charset="0"/>
              </a:rPr>
              <a:t>and</a:t>
            </a:r>
            <a:r>
              <a:rPr lang="ro-RO" altLang="en-US" sz="1700" dirty="0">
                <a:latin typeface="Trebuchet MS" panose="020B0703020202090204" pitchFamily="34" charset="0"/>
              </a:rPr>
              <a:t>&lt;/b&gt; &lt;i&gt;</a:t>
            </a:r>
            <a:r>
              <a:rPr lang="ro-RO" altLang="en-US" sz="1700" dirty="0" err="1">
                <a:latin typeface="Trebuchet MS" panose="020B0703020202090204" pitchFamily="34" charset="0"/>
              </a:rPr>
              <a:t>I'm</a:t>
            </a:r>
            <a:r>
              <a:rPr lang="ro-RO" altLang="en-US" sz="1700" dirty="0">
                <a:latin typeface="Trebuchet MS" panose="020B0703020202090204" pitchFamily="34" charset="0"/>
              </a:rPr>
              <a:t> italic&lt;/i&gt;</a:t>
            </a:r>
          </a:p>
          <a:p>
            <a:pPr lvl="1">
              <a:spcAft>
                <a:spcPts val="600"/>
              </a:spcAft>
              <a:buClr>
                <a:srgbClr val="FFFF7F"/>
              </a:buClr>
              <a:buFontTx/>
              <a:buChar char=" "/>
            </a:pPr>
            <a:r>
              <a:rPr lang="ro-RO" altLang="en-US" sz="1700" dirty="0"/>
              <a:t>Rezultatul va arata astfel:</a:t>
            </a:r>
            <a:r>
              <a:rPr lang="ro-RO" altLang="en-US" sz="1700" dirty="0">
                <a:latin typeface="Trebuchet MS" panose="020B0703020202090204" pitchFamily="34" charset="0"/>
              </a:rPr>
              <a:t> </a:t>
            </a:r>
            <a:r>
              <a:rPr lang="ro-RO" altLang="en-US" sz="1700" b="1" dirty="0" err="1"/>
              <a:t>I'm</a:t>
            </a:r>
            <a:r>
              <a:rPr lang="ro-RO" altLang="en-US" sz="1700" b="1" dirty="0"/>
              <a:t> bold </a:t>
            </a:r>
            <a:r>
              <a:rPr lang="ro-RO" altLang="en-US" sz="1700" b="1" dirty="0" err="1"/>
              <a:t>and</a:t>
            </a:r>
            <a:r>
              <a:rPr lang="ro-RO" altLang="en-US" sz="1700" dirty="0"/>
              <a:t> </a:t>
            </a:r>
            <a:r>
              <a:rPr lang="ro-RO" altLang="en-US" sz="1700" i="1" dirty="0" err="1"/>
              <a:t>I'm</a:t>
            </a:r>
            <a:r>
              <a:rPr lang="ro-RO" altLang="en-US" sz="1700" i="1" dirty="0"/>
              <a:t> italic</a:t>
            </a:r>
          </a:p>
          <a:p>
            <a:pPr eaLnBrk="1" hangingPunct="1"/>
            <a:endParaRPr lang="ro-RO" altLang="en-US" sz="1700" dirty="0"/>
          </a:p>
          <a:p>
            <a:pPr eaLnBrk="1" hangingPunct="1"/>
            <a:endParaRPr lang="ro-RO" altLang="en-US" sz="1700" dirty="0"/>
          </a:p>
        </p:txBody>
      </p:sp>
      <p:sp>
        <p:nvSpPr>
          <p:cNvPr id="877575" name="Rectangle 8775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7577" name="Rectangle 8775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969" name="Slide Number Placeholder 5">
            <a:extLst>
              <a:ext uri="{FF2B5EF4-FFF2-40B4-BE49-F238E27FC236}">
                <a16:creationId xmlns:a16="http://schemas.microsoft.com/office/drawing/2014/main" id="{CF045753-87EC-21A5-9414-102667078A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B91EB063-D864-7840-A164-EF2C28872A18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70</a:t>
            </a:fld>
            <a:endParaRPr lang="en-US" altLang="en-US" sz="13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594" name="Rectangle 2">
            <a:extLst>
              <a:ext uri="{FF2B5EF4-FFF2-40B4-BE49-F238E27FC236}">
                <a16:creationId xmlns:a16="http://schemas.microsoft.com/office/drawing/2014/main" id="{457F5CE9-6759-0851-0247-883E98B04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err="1"/>
              <a:t>Selectori</a:t>
            </a:r>
            <a:endParaRPr lang="en-US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75B885EB-347D-CABF-AAEC-2156637E1D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923393"/>
            <a:ext cx="8130382" cy="4385967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sz="2800" dirty="0"/>
              <a:t>Un </a:t>
            </a:r>
            <a:r>
              <a:rPr lang="ro-RO" altLang="en-US" sz="2800" i="1" dirty="0"/>
              <a:t>selector simplu de atribut </a:t>
            </a:r>
            <a:r>
              <a:rPr lang="ro-RO" altLang="en-US" sz="2800" dirty="0"/>
              <a:t>permite alegerea elementelor ce au un anumit atribut, indiferent de valoarea acestuia:</a:t>
            </a:r>
          </a:p>
          <a:p>
            <a:pPr lvl="1" eaLnBrk="1" hangingPunct="1"/>
            <a:r>
              <a:rPr lang="ro-RO" altLang="en-US" sz="2400" dirty="0"/>
              <a:t>Sintaxa:  </a:t>
            </a:r>
            <a:r>
              <a:rPr lang="ro-RO" altLang="en-US" sz="2400" b="1" i="1" dirty="0"/>
              <a:t>element</a:t>
            </a:r>
            <a:r>
              <a:rPr lang="ro-RO" altLang="en-US" sz="2400" dirty="0"/>
              <a:t>[</a:t>
            </a:r>
            <a:r>
              <a:rPr lang="ro-RO" altLang="en-US" sz="2400" b="1" i="1" dirty="0"/>
              <a:t>atribut</a:t>
            </a:r>
            <a:r>
              <a:rPr lang="ro-RO" altLang="en-US" sz="2400" dirty="0"/>
              <a:t>] { </a:t>
            </a:r>
            <a:r>
              <a:rPr lang="ro-RO" altLang="en-US" sz="2400" b="1" i="1" dirty="0"/>
              <a:t>...</a:t>
            </a:r>
            <a:r>
              <a:rPr lang="ro-RO" altLang="en-US" sz="2400" dirty="0"/>
              <a:t> }</a:t>
            </a:r>
          </a:p>
          <a:p>
            <a:pPr lvl="1" eaLnBrk="1" hangingPunct="1"/>
            <a:r>
              <a:rPr lang="ro-RO" altLang="en-US" sz="2400" dirty="0"/>
              <a:t>Exemplu:  table[</a:t>
            </a:r>
            <a:r>
              <a:rPr lang="ro-RO" altLang="en-US" sz="2400" dirty="0" err="1"/>
              <a:t>border</a:t>
            </a:r>
            <a:r>
              <a:rPr lang="ro-RO" altLang="en-US" sz="2400" dirty="0"/>
              <a:t>] { </a:t>
            </a:r>
            <a:r>
              <a:rPr lang="ro-RO" altLang="en-US" sz="2400" b="1" i="1" dirty="0"/>
              <a:t>...</a:t>
            </a:r>
            <a:r>
              <a:rPr lang="ro-RO" altLang="en-US" sz="2400" dirty="0"/>
              <a:t> }</a:t>
            </a:r>
          </a:p>
          <a:p>
            <a:pPr eaLnBrk="1" hangingPunct="1"/>
            <a:r>
              <a:rPr lang="ro-RO" altLang="en-US" sz="2800" dirty="0"/>
              <a:t>Un </a:t>
            </a:r>
            <a:r>
              <a:rPr lang="ro-RO" altLang="en-US" sz="2800" i="1" dirty="0"/>
              <a:t>selector de atribut valoare </a:t>
            </a:r>
            <a:r>
              <a:rPr lang="ro-RO" altLang="en-US" sz="2800" dirty="0"/>
              <a:t>permite alegerea elementelor ce au un anumit atribut având o anumită valoare:</a:t>
            </a:r>
          </a:p>
          <a:p>
            <a:pPr lvl="1" eaLnBrk="1" hangingPunct="1"/>
            <a:r>
              <a:rPr lang="ro-RO" altLang="en-US" sz="2400" dirty="0"/>
              <a:t>Sintaxa:  </a:t>
            </a:r>
            <a:r>
              <a:rPr lang="ro-RO" altLang="en-US" sz="2400" b="1" i="1" dirty="0"/>
              <a:t>element</a:t>
            </a:r>
            <a:r>
              <a:rPr lang="ro-RO" altLang="en-US" sz="2400" dirty="0"/>
              <a:t>[</a:t>
            </a:r>
            <a:r>
              <a:rPr lang="ro-RO" altLang="en-US" sz="2400" b="1" i="1" dirty="0"/>
              <a:t>atribut</a:t>
            </a:r>
            <a:r>
              <a:rPr lang="ro-RO" altLang="en-US" sz="2400" dirty="0"/>
              <a:t>="</a:t>
            </a:r>
            <a:r>
              <a:rPr lang="ro-RO" altLang="en-US" sz="2400" b="1" i="1" dirty="0"/>
              <a:t>valoare</a:t>
            </a:r>
            <a:r>
              <a:rPr lang="ro-RO" altLang="en-US" sz="2400" dirty="0"/>
              <a:t>"] { </a:t>
            </a:r>
            <a:r>
              <a:rPr lang="ro-RO" altLang="en-US" sz="2400" b="1" i="1" dirty="0"/>
              <a:t>...</a:t>
            </a:r>
            <a:r>
              <a:rPr lang="ro-RO" altLang="en-US" sz="2400" dirty="0"/>
              <a:t> }</a:t>
            </a:r>
          </a:p>
          <a:p>
            <a:pPr lvl="1" eaLnBrk="1" hangingPunct="1"/>
            <a:r>
              <a:rPr lang="ro-RO" altLang="en-US" sz="2400" dirty="0"/>
              <a:t>Exemplu:  table[</a:t>
            </a:r>
            <a:r>
              <a:rPr lang="ro-RO" altLang="en-US" sz="2400" dirty="0" err="1"/>
              <a:t>border</a:t>
            </a:r>
            <a:r>
              <a:rPr lang="ro-RO" altLang="en-US" sz="2400" dirty="0"/>
              <a:t>="0"] { </a:t>
            </a:r>
            <a:r>
              <a:rPr lang="ro-RO" altLang="en-US" sz="2400" b="1" i="1" dirty="0"/>
              <a:t>...</a:t>
            </a:r>
            <a:r>
              <a:rPr lang="ro-RO" altLang="en-US" sz="2400" dirty="0"/>
              <a:t> }</a:t>
            </a:r>
          </a:p>
          <a:p>
            <a:pPr eaLnBrk="1" hangingPunct="1"/>
            <a:endParaRPr lang="ro-RO" altLang="en-US" sz="2800" dirty="0"/>
          </a:p>
        </p:txBody>
      </p:sp>
      <p:sp>
        <p:nvSpPr>
          <p:cNvPr id="878599" name="Rectangle 87859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8601" name="Rectangle 87860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993" name="Slide Number Placeholder 5">
            <a:extLst>
              <a:ext uri="{FF2B5EF4-FFF2-40B4-BE49-F238E27FC236}">
                <a16:creationId xmlns:a16="http://schemas.microsoft.com/office/drawing/2014/main" id="{6D8C5A02-EFC5-DE6B-E765-7BB42DC53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B7A2D160-5A08-6844-BE38-9766A1B52F92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71</a:t>
            </a:fld>
            <a:endParaRPr lang="en-US" altLang="en-US" sz="13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9596F-151B-2C5C-447E-1FA2DB07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Combinarea</a:t>
            </a:r>
            <a:r>
              <a:rPr lang="en-US" dirty="0"/>
              <a:t> </a:t>
            </a:r>
            <a:r>
              <a:rPr lang="en-US" dirty="0" err="1"/>
              <a:t>selectorilor</a:t>
            </a:r>
            <a:endParaRPr lang="en-US" dirty="0"/>
          </a:p>
        </p:txBody>
      </p:sp>
      <p:sp>
        <p:nvSpPr>
          <p:cNvPr id="86018" name="Content Placeholder 2">
            <a:extLst>
              <a:ext uri="{FF2B5EF4-FFF2-40B4-BE49-F238E27FC236}">
                <a16:creationId xmlns:a16="http://schemas.microsoft.com/office/drawing/2014/main" id="{D069ECB8-31BC-D73E-6040-9467059B0D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o-RO" altLang="en-US"/>
              <a:t>Și selectorii pot fi combinați</a:t>
            </a:r>
            <a:endParaRPr lang="en-US" altLang="en-US"/>
          </a:p>
        </p:txBody>
      </p:sp>
      <p:sp>
        <p:nvSpPr>
          <p:cNvPr id="86019" name="Slide Number Placeholder 5">
            <a:extLst>
              <a:ext uri="{FF2B5EF4-FFF2-40B4-BE49-F238E27FC236}">
                <a16:creationId xmlns:a16="http://schemas.microsoft.com/office/drawing/2014/main" id="{59C13FE1-B1BF-6CB6-EB79-11DE2C3E21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4D6F9F-608A-EC41-B82A-71CF74072184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86020" name="Picture 2">
            <a:extLst>
              <a:ext uri="{FF2B5EF4-FFF2-40B4-BE49-F238E27FC236}">
                <a16:creationId xmlns:a16="http://schemas.microsoft.com/office/drawing/2014/main" id="{A2F00051-CAD9-BFE5-CF67-007CE476BB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981200"/>
            <a:ext cx="3836988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1" name="Picture 3">
            <a:extLst>
              <a:ext uri="{FF2B5EF4-FFF2-40B4-BE49-F238E27FC236}">
                <a16:creationId xmlns:a16="http://schemas.microsoft.com/office/drawing/2014/main" id="{A77145DF-F8B8-7BDC-9711-A461604C6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981576"/>
            <a:ext cx="8104188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Down Arrow 6">
            <a:extLst>
              <a:ext uri="{FF2B5EF4-FFF2-40B4-BE49-F238E27FC236}">
                <a16:creationId xmlns:a16="http://schemas.microsoft.com/office/drawing/2014/main" id="{B0324EEA-B6E9-F06E-91ED-93705D0F97C6}"/>
              </a:ext>
            </a:extLst>
          </p:cNvPr>
          <p:cNvSpPr/>
          <p:nvPr/>
        </p:nvSpPr>
        <p:spPr>
          <a:xfrm>
            <a:off x="5486400" y="4191000"/>
            <a:ext cx="546100" cy="609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618" name="Rectangle 2">
            <a:extLst>
              <a:ext uri="{FF2B5EF4-FFF2-40B4-BE49-F238E27FC236}">
                <a16:creationId xmlns:a16="http://schemas.microsoft.com/office/drawing/2014/main" id="{56F48F09-B4DB-A345-6412-B28AE62C5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Valori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F9D04B8D-C3AC-02A1-34B6-CDE4C4B686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9" y="1886607"/>
            <a:ext cx="8018271" cy="4023360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ro-RO" altLang="en-US" sz="2400" dirty="0"/>
              <a:t>Sintaxa unei reguli CSS este:</a:t>
            </a:r>
            <a:br>
              <a:rPr lang="ro-RO" altLang="en-US" sz="2400" dirty="0"/>
            </a:br>
            <a:r>
              <a:rPr lang="ro-RO" altLang="en-US" sz="2400" b="1" i="1" dirty="0"/>
              <a:t>selector</a:t>
            </a:r>
            <a:r>
              <a:rPr lang="ro-RO" altLang="en-US" sz="2400" dirty="0">
                <a:latin typeface="Trebuchet MS" panose="020B0703020202090204" pitchFamily="34" charset="0"/>
              </a:rPr>
              <a:t>, </a:t>
            </a:r>
            <a:r>
              <a:rPr lang="ro-RO" altLang="en-US" sz="2400" i="1" dirty="0">
                <a:latin typeface="Trebuchet MS" panose="020B0703020202090204" pitchFamily="34" charset="0"/>
              </a:rPr>
              <a:t>...</a:t>
            </a:r>
            <a:r>
              <a:rPr lang="ro-RO" altLang="en-US" sz="2400" dirty="0">
                <a:latin typeface="Trebuchet MS" panose="020B0703020202090204" pitchFamily="34" charset="0"/>
              </a:rPr>
              <a:t>, </a:t>
            </a:r>
            <a:r>
              <a:rPr lang="ro-RO" altLang="en-US" sz="2400" b="1" i="1" dirty="0"/>
              <a:t>selector</a:t>
            </a:r>
            <a:r>
              <a:rPr lang="ro-RO" altLang="en-US" sz="2400" dirty="0">
                <a:latin typeface="Trebuchet MS" panose="020B0703020202090204" pitchFamily="34" charset="0"/>
              </a:rPr>
              <a:t> { </a:t>
            </a:r>
            <a:r>
              <a:rPr lang="ro-RO" altLang="en-US" sz="2400" b="1" i="1" dirty="0" err="1"/>
              <a:t>property</a:t>
            </a:r>
            <a:r>
              <a:rPr lang="ro-RO" altLang="en-US" sz="2400" dirty="0">
                <a:latin typeface="Trebuchet MS" panose="020B0703020202090204" pitchFamily="34" charset="0"/>
              </a:rPr>
              <a:t>: </a:t>
            </a:r>
            <a:r>
              <a:rPr lang="ro-RO" altLang="en-US" sz="2400" b="1" i="1" dirty="0" err="1"/>
              <a:t>value</a:t>
            </a:r>
            <a:r>
              <a:rPr lang="ro-RO" altLang="en-US" sz="2400" dirty="0">
                <a:latin typeface="Trebuchet MS" panose="020B0703020202090204" pitchFamily="34" charset="0"/>
              </a:rPr>
              <a:t>; </a:t>
            </a:r>
            <a:r>
              <a:rPr lang="ro-RO" altLang="en-US" sz="2400" b="1" i="1" dirty="0"/>
              <a:t>. . . </a:t>
            </a:r>
            <a:r>
              <a:rPr lang="ro-RO" altLang="en-US" sz="2400" b="1" i="1" dirty="0" err="1"/>
              <a:t>property</a:t>
            </a:r>
            <a:r>
              <a:rPr lang="ro-RO" altLang="en-US" sz="2400" dirty="0">
                <a:latin typeface="Trebuchet MS" panose="020B0703020202090204" pitchFamily="34" charset="0"/>
              </a:rPr>
              <a:t>: </a:t>
            </a:r>
            <a:r>
              <a:rPr lang="ro-RO" altLang="en-US" sz="2400" b="1" i="1" dirty="0" err="1"/>
              <a:t>value</a:t>
            </a:r>
            <a:r>
              <a:rPr lang="ro-RO" altLang="en-US" sz="2400" b="1" i="1" dirty="0"/>
              <a:t> </a:t>
            </a:r>
            <a:r>
              <a:rPr lang="ro-RO" altLang="en-US" sz="2400" dirty="0">
                <a:latin typeface="Trebuchet MS" panose="020B0703020202090204" pitchFamily="34" charset="0"/>
              </a:rPr>
              <a:t>}</a:t>
            </a:r>
          </a:p>
          <a:p>
            <a:pPr>
              <a:spcAft>
                <a:spcPts val="600"/>
              </a:spcAft>
            </a:pPr>
            <a:r>
              <a:rPr lang="ro-RO" altLang="en-US" sz="2400" dirty="0"/>
              <a:t>Valoarea este orice apare între două puncte și punct și virgulă (sau acoladă)</a:t>
            </a:r>
          </a:p>
          <a:p>
            <a:pPr>
              <a:spcAft>
                <a:spcPts val="600"/>
              </a:spcAft>
            </a:pPr>
            <a:r>
              <a:rPr lang="ro-RO" altLang="en-US" sz="2400" dirty="0"/>
              <a:t>Exemple: 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>
                <a:latin typeface="Trebuchet MS" panose="020B0703020202090204" pitchFamily="34" charset="0"/>
              </a:rPr>
              <a:t>* {font-</a:t>
            </a:r>
            <a:r>
              <a:rPr lang="ro-RO" altLang="en-US" sz="2000" dirty="0" err="1">
                <a:latin typeface="Trebuchet MS" panose="020B0703020202090204" pitchFamily="34" charset="0"/>
              </a:rPr>
              <a:t>family</a:t>
            </a:r>
            <a:r>
              <a:rPr lang="ro-RO" altLang="en-US" sz="2000" dirty="0">
                <a:latin typeface="Trebuchet MS" panose="020B0703020202090204" pitchFamily="34" charset="0"/>
              </a:rPr>
              <a:t>: </a:t>
            </a:r>
            <a:r>
              <a:rPr lang="ro-RO" altLang="en-US" sz="2000" dirty="0" err="1">
                <a:latin typeface="Trebuchet MS" panose="020B0703020202090204" pitchFamily="34" charset="0"/>
              </a:rPr>
              <a:t>Trebuchet</a:t>
            </a:r>
            <a:r>
              <a:rPr lang="ro-RO" altLang="en-US" sz="2000" dirty="0">
                <a:latin typeface="Trebuchet MS" panose="020B0703020202090204" pitchFamily="34" charset="0"/>
              </a:rPr>
              <a:t>, </a:t>
            </a:r>
            <a:r>
              <a:rPr lang="ro-RO" altLang="en-US" sz="2000" dirty="0" err="1">
                <a:latin typeface="Trebuchet MS" panose="020B0703020202090204" pitchFamily="34" charset="0"/>
              </a:rPr>
              <a:t>Verdana</a:t>
            </a:r>
            <a:r>
              <a:rPr lang="ro-RO" altLang="en-US" sz="2000" dirty="0">
                <a:latin typeface="Trebuchet MS" panose="020B0703020202090204" pitchFamily="34" charset="0"/>
              </a:rPr>
              <a:t>, </a:t>
            </a:r>
            <a:r>
              <a:rPr lang="ro-RO" altLang="en-US" sz="2000" dirty="0" err="1">
                <a:latin typeface="Trebuchet MS" panose="020B0703020202090204" pitchFamily="34" charset="0"/>
              </a:rPr>
              <a:t>sans-serif</a:t>
            </a:r>
            <a:r>
              <a:rPr lang="ro-RO" altLang="en-US" sz="2000" dirty="0">
                <a:latin typeface="Trebuchet MS" panose="020B0703020202090204" pitchFamily="34" charset="0"/>
              </a:rPr>
              <a:t>;}</a:t>
            </a:r>
          </a:p>
          <a:p>
            <a:pPr lvl="2">
              <a:spcAft>
                <a:spcPts val="600"/>
              </a:spcAft>
            </a:pPr>
            <a:r>
              <a:rPr lang="ro-RO" altLang="en-US" sz="1600" dirty="0"/>
              <a:t>Aceasta înseamnă ca trebuie folosit font </a:t>
            </a:r>
            <a:r>
              <a:rPr lang="ro-RO" altLang="en-US" sz="1600" dirty="0" err="1"/>
              <a:t>Trebuchet</a:t>
            </a:r>
            <a:r>
              <a:rPr lang="ro-RO" altLang="en-US" sz="1600" dirty="0"/>
              <a:t> pentru orice, dacă este disponibil; altfel, se folosește font </a:t>
            </a:r>
            <a:r>
              <a:rPr lang="ro-RO" altLang="en-US" sz="1600" dirty="0" err="1"/>
              <a:t>Verdana</a:t>
            </a:r>
            <a:r>
              <a:rPr lang="ro-RO" altLang="en-US" sz="1600" dirty="0"/>
              <a:t>, dacă este disponibil; altfel folosește orice font </a:t>
            </a:r>
            <a:r>
              <a:rPr lang="ro-RO" altLang="en-US" sz="1600" dirty="0" err="1"/>
              <a:t>sans</a:t>
            </a:r>
            <a:r>
              <a:rPr lang="ro-RO" altLang="en-US" sz="1600" dirty="0"/>
              <a:t> </a:t>
            </a:r>
            <a:r>
              <a:rPr lang="ro-RO" altLang="en-US" sz="1600" dirty="0" err="1"/>
              <a:t>serif</a:t>
            </a:r>
            <a:r>
              <a:rPr lang="ro-RO" altLang="en-US" sz="1600" dirty="0"/>
              <a:t> pe care </a:t>
            </a:r>
            <a:r>
              <a:rPr lang="ro-RO" altLang="en-US" sz="1600" dirty="0" err="1"/>
              <a:t>browserul</a:t>
            </a:r>
            <a:r>
              <a:rPr lang="ro-RO" altLang="en-US" sz="1600" dirty="0"/>
              <a:t> îl are instalat.</a:t>
            </a:r>
          </a:p>
          <a:p>
            <a:pPr lvl="1">
              <a:spcAft>
                <a:spcPts val="600"/>
              </a:spcAft>
            </a:pPr>
            <a:r>
              <a:rPr lang="ro-RO" altLang="en-US" sz="2000" dirty="0" err="1">
                <a:latin typeface="Trebuchet MS" panose="020B0703020202090204" pitchFamily="34" charset="0"/>
              </a:rPr>
              <a:t>section</a:t>
            </a:r>
            <a:r>
              <a:rPr lang="ro-RO" altLang="en-US" sz="2000" dirty="0">
                <a:latin typeface="Trebuchet MS" panose="020B0703020202090204" pitchFamily="34" charset="0"/>
              </a:rPr>
              <a:t> {</a:t>
            </a:r>
            <a:r>
              <a:rPr lang="ro-RO" altLang="en-US" sz="2000" dirty="0" err="1">
                <a:latin typeface="Trebuchet MS" panose="020B0703020202090204" pitchFamily="34" charset="0"/>
              </a:rPr>
              <a:t>border</a:t>
            </a:r>
            <a:r>
              <a:rPr lang="ro-RO" altLang="en-US" sz="2000" dirty="0">
                <a:latin typeface="Trebuchet MS" panose="020B0703020202090204" pitchFamily="34" charset="0"/>
              </a:rPr>
              <a:t>: </a:t>
            </a:r>
            <a:r>
              <a:rPr lang="ro-RO" altLang="en-US" sz="2000" dirty="0" err="1">
                <a:latin typeface="Trebuchet MS" panose="020B0703020202090204" pitchFamily="34" charset="0"/>
              </a:rPr>
              <a:t>thin</a:t>
            </a:r>
            <a:r>
              <a:rPr lang="ro-RO" altLang="en-US" sz="2000" dirty="0">
                <a:latin typeface="Trebuchet MS" panose="020B0703020202090204" pitchFamily="34" charset="0"/>
              </a:rPr>
              <a:t> solid </a:t>
            </a:r>
            <a:r>
              <a:rPr lang="ro-RO" altLang="en-US" sz="2000" dirty="0" err="1">
                <a:latin typeface="Trebuchet MS" panose="020B0703020202090204" pitchFamily="34" charset="0"/>
              </a:rPr>
              <a:t>blue</a:t>
            </a:r>
            <a:r>
              <a:rPr lang="ro-RO" altLang="en-US" sz="2000" dirty="0">
                <a:latin typeface="Trebuchet MS" panose="020B0703020202090204" pitchFamily="34" charset="0"/>
              </a:rPr>
              <a:t>;}</a:t>
            </a:r>
          </a:p>
          <a:p>
            <a:pPr lvl="2">
              <a:spcAft>
                <a:spcPts val="600"/>
              </a:spcAft>
            </a:pPr>
            <a:r>
              <a:rPr lang="ro-RO" altLang="en-US" sz="1600" dirty="0"/>
              <a:t>Aceasta înseamnă că trebuie pus un </a:t>
            </a:r>
            <a:r>
              <a:rPr lang="ro-RO" altLang="en-US" sz="1600" dirty="0" err="1"/>
              <a:t>border</a:t>
            </a:r>
            <a:r>
              <a:rPr lang="ro-RO" altLang="en-US" sz="1600" dirty="0"/>
              <a:t> în jurul elementelor </a:t>
            </a:r>
            <a:r>
              <a:rPr lang="ro-RO" altLang="en-US" sz="1600" dirty="0" err="1">
                <a:latin typeface="Trebuchet MS" panose="020B0703020202090204" pitchFamily="34" charset="0"/>
              </a:rPr>
              <a:t>section</a:t>
            </a:r>
            <a:r>
              <a:rPr lang="ro-RO" altLang="en-US" sz="1600" dirty="0"/>
              <a:t>; acesta trebuie să fie subțire </a:t>
            </a:r>
            <a:r>
              <a:rPr lang="ro-RO" altLang="en-US" sz="1600" i="1" dirty="0"/>
              <a:t>și</a:t>
            </a:r>
            <a:r>
              <a:rPr lang="ro-RO" altLang="en-US" sz="1600" dirty="0"/>
              <a:t> solidă </a:t>
            </a:r>
            <a:r>
              <a:rPr lang="ro-RO" altLang="en-US" sz="1600" i="1" dirty="0"/>
              <a:t>și</a:t>
            </a:r>
            <a:r>
              <a:rPr lang="ro-RO" altLang="en-US" sz="1600" dirty="0"/>
              <a:t> albastră</a:t>
            </a:r>
          </a:p>
          <a:p>
            <a:pPr>
              <a:spcAft>
                <a:spcPts val="600"/>
              </a:spcAft>
            </a:pPr>
            <a:endParaRPr lang="ro-RO" altLang="en-US" sz="2400" dirty="0"/>
          </a:p>
        </p:txBody>
      </p:sp>
      <p:sp>
        <p:nvSpPr>
          <p:cNvPr id="879623" name="Rectangle 87962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9625" name="Rectangle 87962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041" name="Slide Number Placeholder 5">
            <a:extLst>
              <a:ext uri="{FF2B5EF4-FFF2-40B4-BE49-F238E27FC236}">
                <a16:creationId xmlns:a16="http://schemas.microsoft.com/office/drawing/2014/main" id="{3F98EA63-F1FE-3054-0F6B-CD496F9CA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7156580-5D78-3B4A-8684-5B838544D194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73</a:t>
            </a:fld>
            <a:endParaRPr lang="en-US" altLang="en-US" sz="13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2" name="Rectangle 2">
            <a:extLst>
              <a:ext uri="{FF2B5EF4-FFF2-40B4-BE49-F238E27FC236}">
                <a16:creationId xmlns:a16="http://schemas.microsoft.com/office/drawing/2014/main" id="{C672799D-01AF-B133-7176-A1AD9DCFB7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Atributul class</a:t>
            </a:r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6B7CD311-9E25-82A2-A85E-C931C77130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98003" y="1844566"/>
            <a:ext cx="8424673" cy="4626138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ro-RO" altLang="en-US" sz="2800" dirty="0"/>
              <a:t>Atributul </a:t>
            </a:r>
            <a:r>
              <a:rPr lang="ro-RO" altLang="en-US" sz="2800" dirty="0" err="1"/>
              <a:t>class</a:t>
            </a:r>
            <a:r>
              <a:rPr lang="ro-RO" altLang="en-US" sz="2800" dirty="0"/>
              <a:t> permite definirea mai multor stiluri diferite pentru un același element:</a:t>
            </a:r>
          </a:p>
          <a:p>
            <a:pPr marL="128016" lvl="1" indent="0" eaLnBrk="1" hangingPunct="1">
              <a:buNone/>
            </a:pPr>
            <a:r>
              <a:rPr lang="ro-RO" altLang="en-US" sz="2400" dirty="0"/>
              <a:t>În fișierul de “</a:t>
            </a:r>
            <a:r>
              <a:rPr lang="ro-RO" altLang="en-US" sz="2400" i="1" dirty="0" err="1"/>
              <a:t>style</a:t>
            </a:r>
            <a:r>
              <a:rPr lang="ro-RO" altLang="en-US" sz="2400" i="1" dirty="0"/>
              <a:t> </a:t>
            </a:r>
            <a:r>
              <a:rPr lang="ro-RO" altLang="en-US" sz="2400" i="1" dirty="0" err="1"/>
              <a:t>sheet</a:t>
            </a:r>
            <a:r>
              <a:rPr lang="ro-RO" altLang="en-US" sz="2400" dirty="0"/>
              <a:t>”:</a:t>
            </a:r>
            <a:br>
              <a:rPr lang="ro-RO" altLang="en-US" sz="2400" dirty="0"/>
            </a:br>
            <a:r>
              <a:rPr lang="ro-RO" altLang="en-US" sz="2400" dirty="0" err="1"/>
              <a:t>p.important</a:t>
            </a:r>
            <a:r>
              <a:rPr lang="ro-RO" altLang="en-US" sz="2400" dirty="0"/>
              <a:t> {font-</a:t>
            </a:r>
            <a:r>
              <a:rPr lang="ro-RO" altLang="en-US" sz="2400" dirty="0" err="1"/>
              <a:t>size</a:t>
            </a:r>
            <a:r>
              <a:rPr lang="ro-RO" altLang="en-US" sz="2400" dirty="0"/>
              <a:t>: 24pt; color: </a:t>
            </a:r>
            <a:r>
              <a:rPr lang="ro-RO" altLang="en-US" sz="2400" dirty="0" err="1"/>
              <a:t>red</a:t>
            </a:r>
            <a:r>
              <a:rPr lang="ro-RO" altLang="en-US" sz="2400" dirty="0"/>
              <a:t>}</a:t>
            </a:r>
            <a:br>
              <a:rPr lang="ro-RO" altLang="en-US" sz="2400" dirty="0"/>
            </a:br>
            <a:r>
              <a:rPr lang="ro-RO" altLang="en-US" sz="2400" dirty="0" err="1"/>
              <a:t>p.fineprint</a:t>
            </a:r>
            <a:r>
              <a:rPr lang="ro-RO" altLang="en-US" sz="2400" dirty="0"/>
              <a:t> {font-</a:t>
            </a:r>
            <a:r>
              <a:rPr lang="ro-RO" altLang="en-US" sz="2400" dirty="0" err="1"/>
              <a:t>size</a:t>
            </a:r>
            <a:r>
              <a:rPr lang="ro-RO" altLang="en-US" sz="2400" dirty="0"/>
              <a:t>: 8pt}</a:t>
            </a:r>
          </a:p>
          <a:p>
            <a:pPr marL="128016" lvl="1" indent="0" eaLnBrk="1" hangingPunct="1">
              <a:buNone/>
            </a:pPr>
            <a:r>
              <a:rPr lang="ro-RO" altLang="en-US" sz="2400" dirty="0"/>
              <a:t>În documentul HTML:</a:t>
            </a:r>
            <a:br>
              <a:rPr lang="ro-RO" altLang="en-US" sz="2400" dirty="0"/>
            </a:br>
            <a:r>
              <a:rPr lang="ro-RO" altLang="en-US" sz="2400" dirty="0"/>
              <a:t>&lt;p </a:t>
            </a:r>
            <a:r>
              <a:rPr lang="ro-RO" altLang="en-US" sz="2400" dirty="0" err="1"/>
              <a:t>class</a:t>
            </a:r>
            <a:r>
              <a:rPr lang="ro-RO" altLang="en-US" sz="2400" dirty="0"/>
              <a:t>="important"&gt;The </a:t>
            </a:r>
            <a:r>
              <a:rPr lang="ro-RO" altLang="en-US" sz="2400" dirty="0" err="1"/>
              <a:t>end</a:t>
            </a:r>
            <a:r>
              <a:rPr lang="ro-RO" altLang="en-US" sz="2400" dirty="0"/>
              <a:t> </a:t>
            </a:r>
            <a:r>
              <a:rPr lang="ro-RO" altLang="en-US" sz="2400" dirty="0" err="1"/>
              <a:t>is</a:t>
            </a:r>
            <a:r>
              <a:rPr lang="ro-RO" altLang="en-US" sz="2400" dirty="0"/>
              <a:t> </a:t>
            </a:r>
            <a:r>
              <a:rPr lang="ro-RO" altLang="en-US" sz="2400" dirty="0" err="1"/>
              <a:t>nigh</a:t>
            </a:r>
            <a:r>
              <a:rPr lang="ro-RO" altLang="en-US" sz="2400" dirty="0"/>
              <a:t>!&lt;/p&gt; </a:t>
            </a:r>
            <a:br>
              <a:rPr lang="ro-RO" altLang="en-US" sz="2400" dirty="0"/>
            </a:br>
            <a:r>
              <a:rPr lang="ro-RO" altLang="en-US" sz="2400" dirty="0"/>
              <a:t>&lt;p </a:t>
            </a:r>
            <a:r>
              <a:rPr lang="ro-RO" altLang="en-US" sz="2400" dirty="0" err="1"/>
              <a:t>class</a:t>
            </a:r>
            <a:r>
              <a:rPr lang="ro-RO" altLang="en-US" sz="2400" dirty="0"/>
              <a:t>="</a:t>
            </a:r>
            <a:r>
              <a:rPr lang="ro-RO" altLang="en-US" sz="2400" dirty="0" err="1"/>
              <a:t>fineprint</a:t>
            </a:r>
            <a:r>
              <a:rPr lang="ro-RO" altLang="en-US" sz="2400" dirty="0"/>
              <a:t>"&gt;</a:t>
            </a:r>
            <a:r>
              <a:rPr lang="ro-RO" altLang="en-US" sz="2400" dirty="0" err="1"/>
              <a:t>Offer</a:t>
            </a:r>
            <a:r>
              <a:rPr lang="ro-RO" altLang="en-US" sz="2400" dirty="0"/>
              <a:t> </a:t>
            </a:r>
            <a:r>
              <a:rPr lang="ro-RO" altLang="en-US" sz="2400" dirty="0" err="1"/>
              <a:t>ends</a:t>
            </a:r>
            <a:r>
              <a:rPr lang="ro-RO" altLang="en-US" sz="2400" dirty="0"/>
              <a:t> 1/1/97.&lt;/p&gt;</a:t>
            </a:r>
          </a:p>
          <a:p>
            <a:pPr eaLnBrk="1" hangingPunct="1"/>
            <a:r>
              <a:rPr lang="ro-RO" altLang="en-US" sz="2800" dirty="0"/>
              <a:t>Pentru definirea unui selector ce se aplică oricărui element având o anumită clasă se omite numele </a:t>
            </a:r>
            <a:r>
              <a:rPr lang="ro-RO" altLang="en-US" sz="2800" dirty="0" err="1"/>
              <a:t>tag</a:t>
            </a:r>
            <a:r>
              <a:rPr lang="ro-RO" altLang="en-US" sz="2800" dirty="0"/>
              <a:t>-ului (dar se păstrează punctul):</a:t>
            </a:r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ro-RO" altLang="en-US" sz="2400" dirty="0"/>
              <a:t>.</a:t>
            </a:r>
            <a:r>
              <a:rPr lang="ro-RO" altLang="en-US" sz="2400" dirty="0" err="1"/>
              <a:t>fineprint</a:t>
            </a:r>
            <a:r>
              <a:rPr lang="ro-RO" altLang="en-US" sz="2400" dirty="0"/>
              <a:t> {font-</a:t>
            </a:r>
            <a:r>
              <a:rPr lang="ro-RO" altLang="en-US" sz="2400" dirty="0" err="1"/>
              <a:t>size</a:t>
            </a:r>
            <a:r>
              <a:rPr lang="ro-RO" altLang="en-US" sz="2400" dirty="0"/>
              <a:t>: 8pt}</a:t>
            </a:r>
          </a:p>
          <a:p>
            <a:pPr eaLnBrk="1" hangingPunct="1"/>
            <a:endParaRPr lang="ro-RO" altLang="en-US" sz="2800" dirty="0"/>
          </a:p>
        </p:txBody>
      </p:sp>
      <p:sp>
        <p:nvSpPr>
          <p:cNvPr id="880647" name="Rectangle 88064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0649" name="Rectangle 88064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065" name="Slide Number Placeholder 5">
            <a:extLst>
              <a:ext uri="{FF2B5EF4-FFF2-40B4-BE49-F238E27FC236}">
                <a16:creationId xmlns:a16="http://schemas.microsoft.com/office/drawing/2014/main" id="{14D30EE9-59A7-C546-9B8E-A064DFE118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DB1F0011-6CB6-8747-ADF5-C570880F2176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74</a:t>
            </a:fld>
            <a:endParaRPr lang="en-US" altLang="en-US" sz="13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666" name="Rectangle 2">
            <a:extLst>
              <a:ext uri="{FF2B5EF4-FFF2-40B4-BE49-F238E27FC236}">
                <a16:creationId xmlns:a16="http://schemas.microsoft.com/office/drawing/2014/main" id="{A2E5E545-F39B-EE56-ACFF-19157DF1D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Atributul id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AC6A44D5-09B8-CD60-4DC7-8246C19E3C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9" y="1865586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sz="2400" dirty="0"/>
              <a:t>Atributul </a:t>
            </a:r>
            <a:r>
              <a:rPr lang="ro-RO" altLang="en-US" sz="2400" dirty="0" err="1"/>
              <a:t>id</a:t>
            </a:r>
            <a:r>
              <a:rPr lang="ro-RO" altLang="en-US" sz="2400" dirty="0"/>
              <a:t> este definit similar atributului </a:t>
            </a:r>
            <a:r>
              <a:rPr lang="ro-RO" altLang="en-US" sz="2400" i="1" dirty="0" err="1"/>
              <a:t>class</a:t>
            </a:r>
            <a:r>
              <a:rPr lang="ro-RO" altLang="en-US" sz="2400" dirty="0"/>
              <a:t>, dar folosește # in loc de .</a:t>
            </a:r>
          </a:p>
          <a:p>
            <a:pPr marL="128016" lvl="1" indent="0">
              <a:spcAft>
                <a:spcPts val="600"/>
              </a:spcAft>
              <a:buNone/>
            </a:pPr>
            <a:r>
              <a:rPr lang="ro-RO" altLang="en-US" sz="2000" dirty="0"/>
              <a:t>În fișierul </a:t>
            </a:r>
            <a:r>
              <a:rPr lang="ro-RO" altLang="en-US" sz="2000" dirty="0" err="1"/>
              <a:t>style</a:t>
            </a:r>
            <a:r>
              <a:rPr lang="ro-RO" altLang="en-US" sz="2000" dirty="0"/>
              <a:t> </a:t>
            </a:r>
            <a:r>
              <a:rPr lang="ro-RO" altLang="en-US" sz="2000" dirty="0" err="1"/>
              <a:t>sheet</a:t>
            </a:r>
            <a:r>
              <a:rPr lang="ro-RO" altLang="en-US" sz="2000" dirty="0"/>
              <a:t>:</a:t>
            </a:r>
            <a:br>
              <a:rPr lang="ro-RO" altLang="en-US" sz="2000" dirty="0"/>
            </a:br>
            <a:r>
              <a:rPr lang="ro-RO" altLang="en-US" sz="2000" dirty="0" err="1"/>
              <a:t>p#important</a:t>
            </a:r>
            <a:r>
              <a:rPr lang="ro-RO" altLang="en-US" sz="2000" dirty="0"/>
              <a:t> {font-</a:t>
            </a:r>
            <a:r>
              <a:rPr lang="ro-RO" altLang="en-US" sz="2000" dirty="0" err="1"/>
              <a:t>style</a:t>
            </a:r>
            <a:r>
              <a:rPr lang="ro-RO" altLang="en-US" sz="2000" dirty="0"/>
              <a:t>: italic}     sau</a:t>
            </a:r>
            <a:br>
              <a:rPr lang="ro-RO" altLang="en-US" sz="2000" dirty="0"/>
            </a:br>
            <a:r>
              <a:rPr lang="ro-RO" altLang="en-US" sz="2000" dirty="0"/>
              <a:t># important {font-</a:t>
            </a:r>
            <a:r>
              <a:rPr lang="ro-RO" altLang="en-US" sz="2000" dirty="0" err="1"/>
              <a:t>style</a:t>
            </a:r>
            <a:r>
              <a:rPr lang="ro-RO" altLang="en-US" sz="2000" dirty="0"/>
              <a:t>: italic}</a:t>
            </a:r>
          </a:p>
          <a:p>
            <a:pPr marL="128016" lvl="1" indent="0">
              <a:spcAft>
                <a:spcPts val="600"/>
              </a:spcAft>
              <a:buNone/>
            </a:pPr>
            <a:r>
              <a:rPr lang="ro-RO" altLang="en-US" sz="2000" dirty="0"/>
              <a:t>În documentul HTML:</a:t>
            </a:r>
            <a:br>
              <a:rPr lang="ro-RO" altLang="en-US" sz="2000" dirty="0"/>
            </a:br>
            <a:r>
              <a:rPr lang="ro-RO" altLang="en-US" sz="2000" dirty="0"/>
              <a:t>&lt;p </a:t>
            </a:r>
            <a:r>
              <a:rPr lang="ro-RO" altLang="en-US" sz="2000" dirty="0" err="1"/>
              <a:t>id</a:t>
            </a:r>
            <a:r>
              <a:rPr lang="ro-RO" altLang="en-US" sz="2000" dirty="0"/>
              <a:t>="important"&gt;</a:t>
            </a:r>
          </a:p>
          <a:p>
            <a:pPr>
              <a:spcAft>
                <a:spcPts val="600"/>
              </a:spcAft>
            </a:pPr>
            <a:r>
              <a:rPr lang="ro-RO" altLang="en-US" sz="2400" dirty="0" err="1"/>
              <a:t>class</a:t>
            </a:r>
            <a:r>
              <a:rPr lang="ro-RO" altLang="en-US" sz="2400" dirty="0"/>
              <a:t> și </a:t>
            </a:r>
            <a:r>
              <a:rPr lang="ro-RO" altLang="en-US" sz="2400" dirty="0" err="1"/>
              <a:t>id</a:t>
            </a:r>
            <a:r>
              <a:rPr lang="ro-RO" altLang="en-US" sz="2400" dirty="0"/>
              <a:t> pot fi ambele folosite și nu e obligatoriu să aibă nume diferite:</a:t>
            </a:r>
            <a:br>
              <a:rPr lang="ro-RO" altLang="en-US" sz="2400" dirty="0"/>
            </a:br>
            <a:r>
              <a:rPr lang="ro-RO" altLang="en-US" sz="2400" dirty="0"/>
              <a:t>&lt;p </a:t>
            </a:r>
            <a:r>
              <a:rPr lang="ro-RO" altLang="en-US" sz="2400" dirty="0" err="1"/>
              <a:t>class</a:t>
            </a:r>
            <a:r>
              <a:rPr lang="ro-RO" altLang="en-US" sz="2400" dirty="0"/>
              <a:t>="important" </a:t>
            </a:r>
            <a:r>
              <a:rPr lang="ro-RO" altLang="en-US" sz="2400" dirty="0" err="1"/>
              <a:t>id</a:t>
            </a:r>
            <a:r>
              <a:rPr lang="ro-RO" altLang="en-US" sz="2400" dirty="0"/>
              <a:t>="important"&gt;</a:t>
            </a:r>
          </a:p>
          <a:p>
            <a:pPr eaLnBrk="1" hangingPunct="1"/>
            <a:endParaRPr lang="ro-RO" altLang="en-US" sz="2400" dirty="0"/>
          </a:p>
        </p:txBody>
      </p:sp>
      <p:sp>
        <p:nvSpPr>
          <p:cNvPr id="881671" name="Rectangle 88167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1673" name="Rectangle 88167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089" name="Slide Number Placeholder 5">
            <a:extLst>
              <a:ext uri="{FF2B5EF4-FFF2-40B4-BE49-F238E27FC236}">
                <a16:creationId xmlns:a16="http://schemas.microsoft.com/office/drawing/2014/main" id="{2F37B2A6-7FD8-A146-3FE2-1ED2AF5CC9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3577E5B7-A815-3243-89FB-ED63F0DBEFF4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75</a:t>
            </a:fld>
            <a:endParaRPr lang="en-US" altLang="en-US" sz="130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0" name="Rectangle 2">
            <a:extLst>
              <a:ext uri="{FF2B5EF4-FFF2-40B4-BE49-F238E27FC236}">
                <a16:creationId xmlns:a16="http://schemas.microsoft.com/office/drawing/2014/main" id="{8824141B-6F32-36C8-9A32-83E74C7EC5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div </a:t>
            </a:r>
            <a:r>
              <a:rPr lang="ro-RO"/>
              <a:t>ș</a:t>
            </a:r>
            <a:r>
              <a:rPr lang="en-US" err="1"/>
              <a:t>i</a:t>
            </a:r>
            <a:r>
              <a:rPr lang="en-US"/>
              <a:t> span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7C1FF613-EFAA-E004-641E-FC21BAD6D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9" y="2084832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dirty="0">
                <a:latin typeface="Trebuchet MS" panose="020B0703020202090204" pitchFamily="34" charset="0"/>
              </a:rPr>
              <a:t>div</a:t>
            </a:r>
            <a:r>
              <a:rPr lang="ro-RO" altLang="en-US" dirty="0"/>
              <a:t> și </a:t>
            </a:r>
            <a:r>
              <a:rPr lang="ro-RO" altLang="en-US" dirty="0" err="1">
                <a:latin typeface="Trebuchet MS" panose="020B0703020202090204" pitchFamily="34" charset="0"/>
              </a:rPr>
              <a:t>span</a:t>
            </a:r>
            <a:r>
              <a:rPr lang="ro-RO" altLang="en-US" dirty="0"/>
              <a:t> sunt elemente HTML ce au ca scop introducerea de informații de prezentare a elementelor pe baza regulilor CSS</a:t>
            </a:r>
          </a:p>
          <a:p>
            <a:pPr eaLnBrk="1" hangingPunct="1"/>
            <a:r>
              <a:rPr lang="ro-RO" altLang="en-US" dirty="0">
                <a:latin typeface="Trebuchet MS" panose="020B0703020202090204" pitchFamily="34" charset="0"/>
              </a:rPr>
              <a:t>div</a:t>
            </a:r>
            <a:r>
              <a:rPr lang="ro-RO" altLang="en-US" dirty="0"/>
              <a:t> asigură existența unei linii noi înainte și după (similar unui paragraf); </a:t>
            </a:r>
            <a:r>
              <a:rPr lang="ro-RO" altLang="en-US" dirty="0" err="1">
                <a:latin typeface="Trebuchet MS" panose="020B0703020202090204" pitchFamily="34" charset="0"/>
              </a:rPr>
              <a:t>span</a:t>
            </a:r>
            <a:r>
              <a:rPr lang="ro-RO" altLang="en-US" dirty="0"/>
              <a:t> nu</a:t>
            </a:r>
          </a:p>
          <a:p>
            <a:pPr eaLnBrk="1" hangingPunct="1"/>
            <a:r>
              <a:rPr lang="ro-RO" altLang="en-US" dirty="0"/>
              <a:t>Exemplu:</a:t>
            </a:r>
          </a:p>
          <a:p>
            <a:pPr lvl="1" eaLnBrk="1" hangingPunct="1"/>
            <a:r>
              <a:rPr lang="ro-RO" altLang="en-US" dirty="0"/>
              <a:t>CSS:</a:t>
            </a:r>
            <a:r>
              <a:rPr lang="ro-RO" altLang="en-US" dirty="0">
                <a:latin typeface="Trebuchet MS" panose="020B0703020202090204" pitchFamily="34" charset="0"/>
              </a:rPr>
              <a:t> </a:t>
            </a:r>
          </a:p>
          <a:p>
            <a:pPr lvl="1" eaLnBrk="1" hangingPunct="1">
              <a:buFontTx/>
              <a:buNone/>
            </a:pPr>
            <a:r>
              <a:rPr lang="ro-RO" altLang="en-US" dirty="0">
                <a:latin typeface="Trebuchet MS" panose="020B0703020202090204" pitchFamily="34" charset="0"/>
              </a:rPr>
              <a:t>	div {background-color: #66FFFF}</a:t>
            </a:r>
            <a:br>
              <a:rPr lang="ro-RO" altLang="en-US" dirty="0">
                <a:latin typeface="Trebuchet MS" panose="020B0703020202090204" pitchFamily="34" charset="0"/>
              </a:rPr>
            </a:br>
            <a:r>
              <a:rPr lang="ro-RO" altLang="en-US" dirty="0" err="1">
                <a:latin typeface="Trebuchet MS" panose="020B0703020202090204" pitchFamily="34" charset="0"/>
              </a:rPr>
              <a:t>span.color</a:t>
            </a:r>
            <a:r>
              <a:rPr lang="ro-RO" altLang="en-US" dirty="0">
                <a:latin typeface="Trebuchet MS" panose="020B0703020202090204" pitchFamily="34" charset="0"/>
              </a:rPr>
              <a:t> {color: </a:t>
            </a:r>
            <a:r>
              <a:rPr lang="ro-RO" altLang="en-US" dirty="0" err="1">
                <a:latin typeface="Trebuchet MS" panose="020B0703020202090204" pitchFamily="34" charset="0"/>
              </a:rPr>
              <a:t>red</a:t>
            </a:r>
            <a:r>
              <a:rPr lang="ro-RO" altLang="en-US" dirty="0">
                <a:latin typeface="Trebuchet MS" panose="020B0703020202090204" pitchFamily="34" charset="0"/>
              </a:rPr>
              <a:t>}</a:t>
            </a:r>
            <a:endParaRPr lang="ro-RO" altLang="en-US" dirty="0"/>
          </a:p>
          <a:p>
            <a:pPr lvl="1" eaLnBrk="1" hangingPunct="1"/>
            <a:r>
              <a:rPr lang="ro-RO" altLang="en-US" dirty="0"/>
              <a:t>HTML: </a:t>
            </a:r>
          </a:p>
          <a:p>
            <a:pPr lvl="1" eaLnBrk="1" hangingPunct="1">
              <a:buFontTx/>
              <a:buNone/>
            </a:pPr>
            <a:r>
              <a:rPr lang="ro-RO" altLang="en-US" dirty="0">
                <a:latin typeface="Trebuchet MS" panose="020B0703020202090204" pitchFamily="34" charset="0"/>
              </a:rPr>
              <a:t>	&lt;div&gt;</a:t>
            </a:r>
            <a:r>
              <a:rPr lang="ro-RO" altLang="en-US" dirty="0" err="1">
                <a:latin typeface="Trebuchet MS" panose="020B0703020202090204" pitchFamily="34" charset="0"/>
              </a:rPr>
              <a:t>This</a:t>
            </a:r>
            <a:r>
              <a:rPr lang="ro-RO" altLang="en-US" dirty="0">
                <a:latin typeface="Trebuchet MS" panose="020B0703020202090204" pitchFamily="34" charset="0"/>
              </a:rPr>
              <a:t> div </a:t>
            </a:r>
            <a:r>
              <a:rPr lang="ro-RO" altLang="en-US" dirty="0" err="1">
                <a:latin typeface="Trebuchet MS" panose="020B0703020202090204" pitchFamily="34" charset="0"/>
              </a:rPr>
              <a:t>is</a:t>
            </a:r>
            <a:r>
              <a:rPr lang="ro-RO" altLang="en-US" dirty="0">
                <a:latin typeface="Trebuchet MS" panose="020B0703020202090204" pitchFamily="34" charset="0"/>
              </a:rPr>
              <a:t> </a:t>
            </a:r>
            <a:r>
              <a:rPr lang="ro-RO" altLang="en-US" dirty="0" err="1">
                <a:latin typeface="Trebuchet MS" panose="020B0703020202090204" pitchFamily="34" charset="0"/>
              </a:rPr>
              <a:t>treated</a:t>
            </a:r>
            <a:r>
              <a:rPr lang="ro-RO" altLang="en-US" dirty="0">
                <a:latin typeface="Trebuchet MS" panose="020B0703020202090204" pitchFamily="34" charset="0"/>
              </a:rPr>
              <a:t> </a:t>
            </a:r>
            <a:r>
              <a:rPr lang="ro-RO" altLang="en-US" dirty="0" err="1">
                <a:latin typeface="Trebuchet MS" panose="020B0703020202090204" pitchFamily="34" charset="0"/>
              </a:rPr>
              <a:t>like</a:t>
            </a:r>
            <a:r>
              <a:rPr lang="ro-RO" altLang="en-US" dirty="0">
                <a:latin typeface="Trebuchet MS" panose="020B0703020202090204" pitchFamily="34" charset="0"/>
              </a:rPr>
              <a:t> a </a:t>
            </a:r>
            <a:r>
              <a:rPr lang="ro-RO" altLang="en-US" dirty="0" err="1">
                <a:latin typeface="Trebuchet MS" panose="020B0703020202090204" pitchFamily="34" charset="0"/>
              </a:rPr>
              <a:t>paragraph</a:t>
            </a:r>
            <a:r>
              <a:rPr lang="ro-RO" altLang="en-US" dirty="0">
                <a:latin typeface="Trebuchet MS" panose="020B0703020202090204" pitchFamily="34" charset="0"/>
              </a:rPr>
              <a:t>, but &lt;</a:t>
            </a:r>
            <a:r>
              <a:rPr lang="ro-RO" altLang="en-US" dirty="0" err="1">
                <a:latin typeface="Trebuchet MS" panose="020B0703020202090204" pitchFamily="34" charset="0"/>
              </a:rPr>
              <a:t>span</a:t>
            </a:r>
            <a:r>
              <a:rPr lang="ro-RO" altLang="en-US" dirty="0">
                <a:latin typeface="Trebuchet MS" panose="020B0703020202090204" pitchFamily="34" charset="0"/>
              </a:rPr>
              <a:t> </a:t>
            </a:r>
            <a:r>
              <a:rPr lang="ro-RO" altLang="en-US" dirty="0" err="1">
                <a:latin typeface="Trebuchet MS" panose="020B0703020202090204" pitchFamily="34" charset="0"/>
              </a:rPr>
              <a:t>class</a:t>
            </a:r>
            <a:r>
              <a:rPr lang="ro-RO" altLang="en-US" dirty="0">
                <a:latin typeface="Trebuchet MS" panose="020B0703020202090204" pitchFamily="34" charset="0"/>
              </a:rPr>
              <a:t>="color"&gt;</a:t>
            </a:r>
            <a:r>
              <a:rPr lang="ro-RO" altLang="en-US" dirty="0" err="1">
                <a:latin typeface="Trebuchet MS" panose="020B0703020202090204" pitchFamily="34" charset="0"/>
              </a:rPr>
              <a:t>this</a:t>
            </a:r>
            <a:r>
              <a:rPr lang="ro-RO" altLang="en-US" dirty="0">
                <a:latin typeface="Trebuchet MS" panose="020B0703020202090204" pitchFamily="34" charset="0"/>
              </a:rPr>
              <a:t> </a:t>
            </a:r>
            <a:r>
              <a:rPr lang="ro-RO" altLang="en-US" dirty="0" err="1">
                <a:latin typeface="Trebuchet MS" panose="020B0703020202090204" pitchFamily="34" charset="0"/>
              </a:rPr>
              <a:t>span</a:t>
            </a:r>
            <a:r>
              <a:rPr lang="ro-RO" altLang="en-US" dirty="0">
                <a:latin typeface="Trebuchet MS" panose="020B0703020202090204" pitchFamily="34" charset="0"/>
              </a:rPr>
              <a:t>&lt;/</a:t>
            </a:r>
            <a:r>
              <a:rPr lang="ro-RO" altLang="en-US" dirty="0" err="1">
                <a:latin typeface="Trebuchet MS" panose="020B0703020202090204" pitchFamily="34" charset="0"/>
              </a:rPr>
              <a:t>span</a:t>
            </a:r>
            <a:r>
              <a:rPr lang="ro-RO" altLang="en-US" dirty="0">
                <a:latin typeface="Trebuchet MS" panose="020B0703020202090204" pitchFamily="34" charset="0"/>
              </a:rPr>
              <a:t>&gt; </a:t>
            </a:r>
            <a:r>
              <a:rPr lang="ro-RO" altLang="en-US" dirty="0" err="1">
                <a:latin typeface="Trebuchet MS" panose="020B0703020202090204" pitchFamily="34" charset="0"/>
              </a:rPr>
              <a:t>is</a:t>
            </a:r>
            <a:r>
              <a:rPr lang="ro-RO" altLang="en-US" dirty="0">
                <a:latin typeface="Trebuchet MS" panose="020B0703020202090204" pitchFamily="34" charset="0"/>
              </a:rPr>
              <a:t> </a:t>
            </a:r>
            <a:r>
              <a:rPr lang="ro-RO" altLang="en-US" dirty="0" err="1">
                <a:latin typeface="Trebuchet MS" panose="020B0703020202090204" pitchFamily="34" charset="0"/>
              </a:rPr>
              <a:t>not</a:t>
            </a:r>
            <a:r>
              <a:rPr lang="ro-RO" altLang="en-US" dirty="0">
                <a:latin typeface="Trebuchet MS" panose="020B0703020202090204" pitchFamily="34" charset="0"/>
              </a:rPr>
              <a:t>.&lt;/div&gt;</a:t>
            </a:r>
            <a:endParaRPr lang="ro-RO" altLang="en-US" dirty="0"/>
          </a:p>
          <a:p>
            <a:pPr eaLnBrk="1" hangingPunct="1"/>
            <a:endParaRPr lang="ro-RO" altLang="en-US" dirty="0"/>
          </a:p>
        </p:txBody>
      </p:sp>
      <p:sp>
        <p:nvSpPr>
          <p:cNvPr id="882695" name="Rectangle 88269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2697" name="Rectangle 88269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113" name="Slide Number Placeholder 5">
            <a:extLst>
              <a:ext uri="{FF2B5EF4-FFF2-40B4-BE49-F238E27FC236}">
                <a16:creationId xmlns:a16="http://schemas.microsoft.com/office/drawing/2014/main" id="{A6A9CC2D-B563-5711-3657-59FD89170D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61DE2F7C-2076-5342-96D7-E26D0E56D549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76</a:t>
            </a:fld>
            <a:endParaRPr lang="en-US" altLang="en-US" sz="13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714" name="Rectangle 2">
            <a:extLst>
              <a:ext uri="{FF2B5EF4-FFF2-40B4-BE49-F238E27FC236}">
                <a16:creationId xmlns:a16="http://schemas.microsoft.com/office/drawing/2014/main" id="{421187D5-18B0-7EAF-9504-1EA2A5C37C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en-US"/>
              <a:t>Folosirea </a:t>
            </a:r>
            <a:r>
              <a:rPr lang="ro-RO" altLang="en-US"/>
              <a:t>elementelor</a:t>
            </a:r>
            <a:r>
              <a:rPr lang="en-US" altLang="en-US"/>
              <a:t> </a:t>
            </a:r>
            <a:r>
              <a:rPr lang="ro-RO" altLang="en-US"/>
              <a:t>CSS</a:t>
            </a:r>
            <a:endParaRPr lang="en-US" altLang="en-US"/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E6D1C284-A13C-28B7-1CC6-0DF90F5F38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823543"/>
            <a:ext cx="8288038" cy="4600719"/>
          </a:xfrm>
        </p:spPr>
        <p:txBody>
          <a:bodyPr>
            <a:normAutofit/>
          </a:bodyPr>
          <a:lstStyle/>
          <a:p>
            <a:pPr eaLnBrk="1" hangingPunct="1">
              <a:buFontTx/>
              <a:buNone/>
            </a:pPr>
            <a:r>
              <a:rPr lang="en-US" altLang="en-US" sz="2000"/>
              <a:t>Sunt </a:t>
            </a:r>
            <a:r>
              <a:rPr lang="en-US" altLang="en-US" sz="2000" err="1"/>
              <a:t>trei</a:t>
            </a:r>
            <a:r>
              <a:rPr lang="en-US" altLang="en-US" sz="2000"/>
              <a:t> </a:t>
            </a:r>
            <a:r>
              <a:rPr lang="en-US" altLang="en-US" sz="2000" err="1"/>
              <a:t>moduri</a:t>
            </a:r>
            <a:r>
              <a:rPr lang="en-US" altLang="en-US" sz="2000"/>
              <a:t> de </a:t>
            </a:r>
            <a:r>
              <a:rPr lang="en-US" altLang="en-US" sz="2000" err="1"/>
              <a:t>folosire</a:t>
            </a:r>
            <a:r>
              <a:rPr lang="en-US" altLang="en-US" sz="2000"/>
              <a:t> a </a:t>
            </a:r>
            <a:r>
              <a:rPr lang="en-US" altLang="en-US" sz="2000" err="1"/>
              <a:t>unui</a:t>
            </a:r>
            <a:r>
              <a:rPr lang="en-US" altLang="en-US" sz="2000"/>
              <a:t> CSS:</a:t>
            </a:r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en-US" altLang="en-US" sz="2000"/>
              <a:t>Style sheet extern</a:t>
            </a:r>
          </a:p>
          <a:p>
            <a:pPr lvl="1" eaLnBrk="1" hangingPunct="1"/>
            <a:r>
              <a:rPr lang="ro-RO" altLang="en-US" sz="2000"/>
              <a:t>Elementele CSS sunt specificate într-un document extern</a:t>
            </a:r>
            <a:endParaRPr lang="en-US" altLang="en-US" sz="2000"/>
          </a:p>
          <a:p>
            <a:pPr lvl="1" eaLnBrk="1" hangingPunct="1"/>
            <a:r>
              <a:rPr lang="en-US" altLang="en-US" sz="2000"/>
              <a:t>Se </a:t>
            </a:r>
            <a:r>
              <a:rPr lang="ro-RO" altLang="en-US" sz="2000"/>
              <a:t>poate folosi </a:t>
            </a:r>
            <a:r>
              <a:rPr lang="en-US" altLang="en-US" sz="2000"/>
              <a:t>at</a:t>
            </a:r>
            <a:r>
              <a:rPr lang="ro-RO" altLang="en-US" sz="2000"/>
              <a:t>â</a:t>
            </a:r>
            <a:r>
              <a:rPr lang="en-US" altLang="en-US" sz="2000"/>
              <a:t>t </a:t>
            </a:r>
            <a:r>
              <a:rPr lang="en-US" altLang="en-US" sz="2000" err="1"/>
              <a:t>pentru</a:t>
            </a:r>
            <a:r>
              <a:rPr lang="en-US" altLang="en-US" sz="2000"/>
              <a:t> HTML</a:t>
            </a:r>
            <a:r>
              <a:rPr lang="ro-RO" altLang="en-US" sz="2000"/>
              <a:t>,</a:t>
            </a:r>
            <a:r>
              <a:rPr lang="en-US" altLang="en-US" sz="2000"/>
              <a:t> c</a:t>
            </a:r>
            <a:r>
              <a:rPr lang="ro-RO" altLang="en-US" sz="2000"/>
              <a:t>â</a:t>
            </a:r>
            <a:r>
              <a:rPr lang="en-US" altLang="en-US" sz="2000"/>
              <a:t>t </a:t>
            </a:r>
            <a:r>
              <a:rPr lang="ro-RO" altLang="en-US" sz="2000"/>
              <a:t>ș</a:t>
            </a:r>
            <a:r>
              <a:rPr lang="en-US" altLang="en-US" sz="2000" err="1"/>
              <a:t>i</a:t>
            </a:r>
            <a:r>
              <a:rPr lang="en-US" altLang="en-US" sz="2000"/>
              <a:t> </a:t>
            </a:r>
            <a:r>
              <a:rPr lang="en-US" altLang="en-US" sz="2000" err="1"/>
              <a:t>pentru</a:t>
            </a:r>
            <a:r>
              <a:rPr lang="en-US" altLang="en-US" sz="2000"/>
              <a:t> XML</a:t>
            </a:r>
          </a:p>
          <a:p>
            <a:pPr lvl="1" eaLnBrk="1" hangingPunct="1"/>
            <a:r>
              <a:rPr lang="en-US" altLang="en-US" sz="2000" err="1"/>
              <a:t>Toate</a:t>
            </a:r>
            <a:r>
              <a:rPr lang="en-US" altLang="en-US" sz="2000"/>
              <a:t> </a:t>
            </a:r>
            <a:r>
              <a:rPr lang="en-US" altLang="en-US" sz="2000" err="1"/>
              <a:t>elementele</a:t>
            </a:r>
            <a:r>
              <a:rPr lang="en-US" altLang="en-US" sz="2000"/>
              <a:t> CSS pot fi </a:t>
            </a:r>
            <a:r>
              <a:rPr lang="en-US" altLang="en-US" sz="2000" err="1"/>
              <a:t>folosite</a:t>
            </a:r>
            <a:endParaRPr lang="en-US" altLang="en-US" sz="2000"/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en-US" altLang="en-US" sz="2000"/>
              <a:t>Style sheet embedded </a:t>
            </a:r>
          </a:p>
          <a:p>
            <a:pPr lvl="1" eaLnBrk="1" hangingPunct="1"/>
            <a:r>
              <a:rPr lang="en-US" altLang="en-US" sz="2000"/>
              <a:t>Se </a:t>
            </a:r>
            <a:r>
              <a:rPr lang="en-US" altLang="en-US" sz="2000" err="1"/>
              <a:t>aplic</a:t>
            </a:r>
            <a:r>
              <a:rPr lang="ro-RO" altLang="en-US" sz="2000"/>
              <a:t>ă</a:t>
            </a:r>
            <a:r>
              <a:rPr lang="en-US" altLang="en-US" sz="2000"/>
              <a:t> </a:t>
            </a:r>
            <a:r>
              <a:rPr lang="en-US" altLang="en-US" sz="2000" err="1"/>
              <a:t>doar</a:t>
            </a:r>
            <a:r>
              <a:rPr lang="en-US" altLang="en-US" sz="2000"/>
              <a:t> </a:t>
            </a:r>
            <a:r>
              <a:rPr lang="en-US" altLang="en-US" sz="2000" err="1"/>
              <a:t>pentru</a:t>
            </a:r>
            <a:r>
              <a:rPr lang="en-US" altLang="en-US" sz="2000"/>
              <a:t> HTML, </a:t>
            </a:r>
            <a:r>
              <a:rPr lang="en-US" altLang="en-US" sz="2000" i="1"/>
              <a:t>nu</a:t>
            </a:r>
            <a:r>
              <a:rPr lang="en-US" altLang="en-US" sz="2000"/>
              <a:t> </a:t>
            </a:r>
            <a:r>
              <a:rPr lang="ro-RO" altLang="en-US" sz="2000"/>
              <a:t>ș</a:t>
            </a:r>
            <a:r>
              <a:rPr lang="en-US" altLang="en-US" sz="2000" err="1"/>
              <a:t>i</a:t>
            </a:r>
            <a:r>
              <a:rPr lang="en-US" altLang="en-US" sz="2000"/>
              <a:t> </a:t>
            </a:r>
            <a:r>
              <a:rPr lang="en-US" altLang="en-US" sz="2000" err="1"/>
              <a:t>pentru</a:t>
            </a:r>
            <a:r>
              <a:rPr lang="en-US" altLang="en-US" sz="2000"/>
              <a:t> XML</a:t>
            </a:r>
          </a:p>
          <a:p>
            <a:pPr lvl="1" eaLnBrk="1" hangingPunct="1"/>
            <a:r>
              <a:rPr lang="en-US" altLang="en-US" sz="2000" err="1"/>
              <a:t>Toate</a:t>
            </a:r>
            <a:r>
              <a:rPr lang="en-US" altLang="en-US" sz="2000"/>
              <a:t> </a:t>
            </a:r>
            <a:r>
              <a:rPr lang="en-US" altLang="en-US" sz="2000" err="1"/>
              <a:t>elementele</a:t>
            </a:r>
            <a:r>
              <a:rPr lang="en-US" altLang="en-US" sz="2000"/>
              <a:t> CSS pot fi </a:t>
            </a:r>
            <a:r>
              <a:rPr lang="en-US" altLang="en-US" sz="2000" err="1"/>
              <a:t>folosite</a:t>
            </a:r>
            <a:endParaRPr lang="en-US" altLang="en-US" sz="2000"/>
          </a:p>
          <a:p>
            <a:pPr eaLnBrk="1" hangingPunct="1">
              <a:buFont typeface="Arial" panose="020B0604020202020204" pitchFamily="34" charset="0"/>
              <a:buAutoNum type="arabicPeriod"/>
            </a:pPr>
            <a:r>
              <a:rPr lang="ro-RO" altLang="en-US" sz="2000"/>
              <a:t>Stiluri</a:t>
            </a:r>
            <a:r>
              <a:rPr lang="en-US" altLang="en-US" sz="2000"/>
              <a:t> inline </a:t>
            </a:r>
          </a:p>
          <a:p>
            <a:pPr lvl="1" eaLnBrk="1" hangingPunct="1"/>
            <a:r>
              <a:rPr lang="en-US" altLang="en-US" sz="2000"/>
              <a:t>Se </a:t>
            </a:r>
            <a:r>
              <a:rPr lang="en-US" altLang="en-US" sz="2000" err="1"/>
              <a:t>aplic</a:t>
            </a:r>
            <a:r>
              <a:rPr lang="ro-RO" altLang="en-US" sz="2000"/>
              <a:t>ă</a:t>
            </a:r>
            <a:r>
              <a:rPr lang="en-US" altLang="en-US" sz="2000"/>
              <a:t> </a:t>
            </a:r>
            <a:r>
              <a:rPr lang="en-US" altLang="en-US" sz="2000" err="1"/>
              <a:t>doar</a:t>
            </a:r>
            <a:r>
              <a:rPr lang="en-US" altLang="en-US" sz="2000"/>
              <a:t> </a:t>
            </a:r>
            <a:r>
              <a:rPr lang="en-US" altLang="en-US" sz="2000" err="1"/>
              <a:t>pentru</a:t>
            </a:r>
            <a:r>
              <a:rPr lang="en-US" altLang="en-US" sz="2000"/>
              <a:t> HTML, </a:t>
            </a:r>
            <a:r>
              <a:rPr lang="en-US" altLang="en-US" sz="2000" i="1"/>
              <a:t>nu</a:t>
            </a:r>
            <a:r>
              <a:rPr lang="en-US" altLang="en-US" sz="2000"/>
              <a:t> </a:t>
            </a:r>
            <a:r>
              <a:rPr lang="ro-RO" altLang="en-US" sz="2000"/>
              <a:t>ș</a:t>
            </a:r>
            <a:r>
              <a:rPr lang="en-US" altLang="en-US" sz="2000" err="1"/>
              <a:t>i</a:t>
            </a:r>
            <a:r>
              <a:rPr lang="en-US" altLang="en-US" sz="2000"/>
              <a:t> </a:t>
            </a:r>
            <a:r>
              <a:rPr lang="en-US" altLang="en-US" sz="2000" err="1"/>
              <a:t>pentru</a:t>
            </a:r>
            <a:r>
              <a:rPr lang="en-US" altLang="en-US" sz="2000"/>
              <a:t> XML</a:t>
            </a:r>
          </a:p>
          <a:p>
            <a:pPr lvl="1" eaLnBrk="1" hangingPunct="1"/>
            <a:r>
              <a:rPr lang="en-US" altLang="en-US" sz="2000"/>
              <a:t>Form</a:t>
            </a:r>
            <a:r>
              <a:rPr lang="ro-RO" altLang="en-US" sz="2000"/>
              <a:t>ă</a:t>
            </a:r>
            <a:r>
              <a:rPr lang="en-US" altLang="en-US" sz="2000"/>
              <a:t> </a:t>
            </a:r>
            <a:r>
              <a:rPr lang="en-US" altLang="en-US" sz="2000" err="1"/>
              <a:t>limitat</a:t>
            </a:r>
            <a:r>
              <a:rPr lang="ro-RO" altLang="en-US" sz="2000"/>
              <a:t>ă</a:t>
            </a:r>
            <a:r>
              <a:rPr lang="en-US" altLang="en-US" sz="2000"/>
              <a:t> de </a:t>
            </a:r>
            <a:r>
              <a:rPr lang="en-US" altLang="en-US" sz="2000" err="1"/>
              <a:t>sintax</a:t>
            </a:r>
            <a:r>
              <a:rPr lang="ro-RO" altLang="en-US" sz="2000"/>
              <a:t>ă</a:t>
            </a:r>
            <a:r>
              <a:rPr lang="en-US" altLang="en-US" sz="2000"/>
              <a:t> CSS</a:t>
            </a:r>
          </a:p>
          <a:p>
            <a:pPr eaLnBrk="1" hangingPunct="1"/>
            <a:endParaRPr lang="en-US" altLang="en-US" sz="2000"/>
          </a:p>
        </p:txBody>
      </p:sp>
      <p:sp>
        <p:nvSpPr>
          <p:cNvPr id="883719" name="Rectangle 88371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3721" name="Rectangle 88372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185" name="Slide Number Placeholder 5">
            <a:extLst>
              <a:ext uri="{FF2B5EF4-FFF2-40B4-BE49-F238E27FC236}">
                <a16:creationId xmlns:a16="http://schemas.microsoft.com/office/drawing/2014/main" id="{0D1FC381-05FE-8A6B-E81D-ECA9D0673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CF2A41BA-C279-3542-AADE-B63F403A73CC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77</a:t>
            </a:fld>
            <a:endParaRPr lang="en-US" altLang="en-US" sz="13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738" name="Rectangle 2">
            <a:extLst>
              <a:ext uri="{FF2B5EF4-FFF2-40B4-BE49-F238E27FC236}">
                <a16:creationId xmlns:a16="http://schemas.microsoft.com/office/drawing/2014/main" id="{4630715C-86E4-2498-6A69-761D4BFC2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External style sheet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3A00466C-81A7-71DB-A805-3EAF5F564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960179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dirty="0"/>
              <a:t>Toate elementele CSS se definesc într-un fișier extern…</a:t>
            </a:r>
          </a:p>
          <a:p>
            <a:pPr eaLnBrk="1" hangingPunct="1"/>
            <a:endParaRPr lang="ro-RO" altLang="en-US" dirty="0"/>
          </a:p>
          <a:p>
            <a:pPr eaLnBrk="1" hangingPunct="1"/>
            <a:r>
              <a:rPr lang="ro-RO" altLang="en-US" dirty="0"/>
              <a:t>Pentru a folosi elementele definite în fișierul extern, se adaugă în HTML, în interiorul elementului </a:t>
            </a:r>
            <a:r>
              <a:rPr lang="ro-RO" altLang="en-US" dirty="0">
                <a:latin typeface="Trebuchet MS" panose="020B0703020202090204" pitchFamily="34" charset="0"/>
              </a:rPr>
              <a:t>&lt;</a:t>
            </a:r>
            <a:r>
              <a:rPr lang="ro-RO" altLang="en-US" dirty="0" err="1">
                <a:latin typeface="Trebuchet MS" panose="020B0703020202090204" pitchFamily="34" charset="0"/>
              </a:rPr>
              <a:t>head</a:t>
            </a:r>
            <a:r>
              <a:rPr lang="ro-RO" altLang="en-US" dirty="0">
                <a:latin typeface="Trebuchet MS" panose="020B0703020202090204" pitchFamily="34" charset="0"/>
              </a:rPr>
              <a:t>&gt; sintaxa</a:t>
            </a:r>
            <a:r>
              <a:rPr lang="ro-RO" altLang="en-US" dirty="0"/>
              <a:t>:</a:t>
            </a:r>
            <a:br>
              <a:rPr lang="ro-RO" altLang="en-US" dirty="0"/>
            </a:br>
            <a:r>
              <a:rPr lang="ro-RO" altLang="en-US" dirty="0">
                <a:latin typeface="Trebuchet MS" panose="020B0703020202090204" pitchFamily="34" charset="0"/>
              </a:rPr>
              <a:t>&lt;link REL="STYLESHEET" TYPE="text/</a:t>
            </a:r>
            <a:r>
              <a:rPr lang="ro-RO" altLang="en-US" dirty="0" err="1">
                <a:latin typeface="Trebuchet MS" panose="020B0703020202090204" pitchFamily="34" charset="0"/>
              </a:rPr>
              <a:t>css</a:t>
            </a:r>
            <a:r>
              <a:rPr lang="ro-RO" altLang="en-US" dirty="0">
                <a:latin typeface="Trebuchet MS" panose="020B0703020202090204" pitchFamily="34" charset="0"/>
              </a:rPr>
              <a:t>" HREF="</a:t>
            </a:r>
            <a:r>
              <a:rPr lang="ro-RO" altLang="en-US" b="1" i="1" dirty="0" err="1"/>
              <a:t>Style</a:t>
            </a:r>
            <a:r>
              <a:rPr lang="ro-RO" altLang="en-US" b="1" i="1" dirty="0"/>
              <a:t> </a:t>
            </a:r>
            <a:r>
              <a:rPr lang="ro-RO" altLang="en-US" b="1" i="1" dirty="0" err="1"/>
              <a:t>Sheet</a:t>
            </a:r>
            <a:r>
              <a:rPr lang="ro-RO" altLang="en-US" b="1" i="1" dirty="0"/>
              <a:t> URL</a:t>
            </a:r>
            <a:r>
              <a:rPr lang="ro-RO" altLang="en-US" dirty="0">
                <a:latin typeface="Trebuchet MS" panose="020B0703020202090204" pitchFamily="34" charset="0"/>
              </a:rPr>
              <a:t>"&gt;</a:t>
            </a:r>
            <a:br>
              <a:rPr lang="ro-RO" altLang="en-US" dirty="0">
                <a:latin typeface="Trebuchet MS" panose="020B0703020202090204" pitchFamily="34" charset="0"/>
              </a:rPr>
            </a:br>
            <a:endParaRPr lang="ro-RO" altLang="en-US" dirty="0">
              <a:latin typeface="Trebuchet MS" panose="020B0703020202090204" pitchFamily="34" charset="0"/>
            </a:endParaRPr>
          </a:p>
          <a:p>
            <a:pPr eaLnBrk="1" hangingPunct="1"/>
            <a:r>
              <a:rPr lang="ro-RO" altLang="en-US" dirty="0"/>
              <a:t>Sau în prologul unui document XML se poate adăuga sintaxa:</a:t>
            </a:r>
            <a:br>
              <a:rPr lang="ro-RO" altLang="en-US" dirty="0"/>
            </a:br>
            <a:r>
              <a:rPr lang="ro-RO" altLang="en-US" dirty="0">
                <a:latin typeface="Trebuchet MS" panose="020B0703020202090204" pitchFamily="34" charset="0"/>
              </a:rPr>
              <a:t>&lt;?</a:t>
            </a:r>
            <a:r>
              <a:rPr lang="ro-RO" altLang="en-US" dirty="0" err="1">
                <a:latin typeface="Trebuchet MS" panose="020B0703020202090204" pitchFamily="34" charset="0"/>
              </a:rPr>
              <a:t>xml-stylesheet</a:t>
            </a:r>
            <a:r>
              <a:rPr lang="ro-RO" altLang="en-US" dirty="0">
                <a:latin typeface="Trebuchet MS" panose="020B0703020202090204" pitchFamily="34" charset="0"/>
              </a:rPr>
              <a:t> </a:t>
            </a:r>
            <a:r>
              <a:rPr lang="ro-RO" altLang="en-US" dirty="0" err="1">
                <a:latin typeface="Trebuchet MS" panose="020B0703020202090204" pitchFamily="34" charset="0"/>
              </a:rPr>
              <a:t>href</a:t>
            </a:r>
            <a:r>
              <a:rPr lang="ro-RO" altLang="en-US" dirty="0">
                <a:latin typeface="Trebuchet MS" panose="020B0703020202090204" pitchFamily="34" charset="0"/>
              </a:rPr>
              <a:t>="</a:t>
            </a:r>
            <a:r>
              <a:rPr lang="ro-RO" altLang="en-US" b="1" i="1" dirty="0" err="1"/>
              <a:t>Style</a:t>
            </a:r>
            <a:r>
              <a:rPr lang="ro-RO" altLang="en-US" b="1" i="1" dirty="0"/>
              <a:t> </a:t>
            </a:r>
            <a:r>
              <a:rPr lang="ro-RO" altLang="en-US" b="1" i="1" dirty="0" err="1"/>
              <a:t>Sheet</a:t>
            </a:r>
            <a:r>
              <a:rPr lang="ro-RO" altLang="en-US" b="1" i="1" dirty="0"/>
              <a:t> URL</a:t>
            </a:r>
            <a:r>
              <a:rPr lang="ro-RO" altLang="en-US" dirty="0">
                <a:latin typeface="Trebuchet MS" panose="020B0703020202090204" pitchFamily="34" charset="0"/>
              </a:rPr>
              <a:t>" </a:t>
            </a:r>
            <a:r>
              <a:rPr lang="ro-RO" altLang="en-US" dirty="0" err="1">
                <a:latin typeface="Trebuchet MS" panose="020B0703020202090204" pitchFamily="34" charset="0"/>
              </a:rPr>
              <a:t>type</a:t>
            </a:r>
            <a:r>
              <a:rPr lang="ro-RO" altLang="en-US" dirty="0">
                <a:latin typeface="Trebuchet MS" panose="020B0703020202090204" pitchFamily="34" charset="0"/>
              </a:rPr>
              <a:t>="text/</a:t>
            </a:r>
            <a:r>
              <a:rPr lang="ro-RO" altLang="en-US" dirty="0" err="1">
                <a:latin typeface="Trebuchet MS" panose="020B0703020202090204" pitchFamily="34" charset="0"/>
              </a:rPr>
              <a:t>css</a:t>
            </a:r>
            <a:r>
              <a:rPr lang="ro-RO" altLang="en-US" dirty="0">
                <a:latin typeface="Trebuchet MS" panose="020B0703020202090204" pitchFamily="34" charset="0"/>
              </a:rPr>
              <a:t>"?&gt;</a:t>
            </a:r>
            <a:br>
              <a:rPr lang="ro-RO" altLang="en-US" dirty="0">
                <a:latin typeface="Trebuchet MS" panose="020B0703020202090204" pitchFamily="34" charset="0"/>
              </a:rPr>
            </a:br>
            <a:endParaRPr lang="ro-RO" altLang="en-US" dirty="0"/>
          </a:p>
        </p:txBody>
      </p:sp>
      <p:sp>
        <p:nvSpPr>
          <p:cNvPr id="884743" name="Rectangle 88474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4745" name="Rectangle 88474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209" name="Slide Number Placeholder 5">
            <a:extLst>
              <a:ext uri="{FF2B5EF4-FFF2-40B4-BE49-F238E27FC236}">
                <a16:creationId xmlns:a16="http://schemas.microsoft.com/office/drawing/2014/main" id="{A9EFBB59-435C-3803-788A-54528CB5AE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E01CFEC1-65B7-1B44-8336-BA801D94A536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78</a:t>
            </a:fld>
            <a:endParaRPr lang="en-US" altLang="en-US" sz="130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762" name="Rectangle 2">
            <a:extLst>
              <a:ext uri="{FF2B5EF4-FFF2-40B4-BE49-F238E27FC236}">
                <a16:creationId xmlns:a16="http://schemas.microsoft.com/office/drawing/2014/main" id="{D0E46C06-F0B4-0C6A-C17D-FA1191011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Embedded style sheet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9C7556F2-971C-07F5-AA96-14F9AD636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9" y="1907627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 dirty="0"/>
              <a:t>Elementele CSS se definesc în interiorul documentului HTML, î</a:t>
            </a:r>
            <a:r>
              <a:rPr lang="en-US" altLang="en-US" dirty="0"/>
              <a:t>n </a:t>
            </a:r>
            <a:r>
              <a:rPr lang="en-US" altLang="en-US" dirty="0" err="1"/>
              <a:t>interiorul</a:t>
            </a:r>
            <a:r>
              <a:rPr lang="en-US" altLang="en-US" dirty="0"/>
              <a:t> </a:t>
            </a:r>
            <a:r>
              <a:rPr lang="en-US" altLang="en-US" dirty="0" err="1"/>
              <a:t>elementului</a:t>
            </a:r>
            <a:r>
              <a:rPr lang="en-US" altLang="en-US" dirty="0"/>
              <a:t> </a:t>
            </a:r>
            <a:r>
              <a:rPr lang="en-US" altLang="en-US" dirty="0">
                <a:latin typeface="Trebuchet MS" panose="020B0703020202090204" pitchFamily="34" charset="0"/>
              </a:rPr>
              <a:t>&lt;head&gt;</a:t>
            </a:r>
            <a:r>
              <a:rPr lang="en-US" altLang="en-US" dirty="0"/>
              <a:t>: </a:t>
            </a:r>
            <a:br>
              <a:rPr lang="en-US" altLang="en-US" dirty="0"/>
            </a:br>
            <a:r>
              <a:rPr lang="en-US" altLang="en-US" dirty="0">
                <a:latin typeface="Trebuchet MS" panose="020B0703020202090204" pitchFamily="34" charset="0"/>
              </a:rPr>
              <a:t>&lt;style TYPE="text/</a:t>
            </a:r>
            <a:r>
              <a:rPr lang="en-US" altLang="en-US" dirty="0" err="1">
                <a:latin typeface="Trebuchet MS" panose="020B0703020202090204" pitchFamily="34" charset="0"/>
              </a:rPr>
              <a:t>css</a:t>
            </a:r>
            <a:r>
              <a:rPr lang="en-US" altLang="en-US" dirty="0">
                <a:latin typeface="Trebuchet MS" panose="020B0703020202090204" pitchFamily="34" charset="0"/>
              </a:rPr>
              <a:t>"&gt;</a:t>
            </a:r>
            <a:br>
              <a:rPr lang="en-US" altLang="en-US" dirty="0">
                <a:latin typeface="Trebuchet MS" panose="020B0703020202090204" pitchFamily="34" charset="0"/>
              </a:rPr>
            </a:br>
            <a:r>
              <a:rPr lang="en-US" altLang="en-US" dirty="0">
                <a:latin typeface="Trebuchet MS" panose="020B0703020202090204" pitchFamily="34" charset="0"/>
              </a:rPr>
              <a:t>    &lt;!--</a:t>
            </a:r>
            <a:br>
              <a:rPr lang="en-US" altLang="en-US" dirty="0">
                <a:latin typeface="Trebuchet MS" panose="020B0703020202090204" pitchFamily="34" charset="0"/>
              </a:rPr>
            </a:br>
            <a:r>
              <a:rPr lang="en-US" altLang="en-US" dirty="0">
                <a:latin typeface="Trebuchet MS" panose="020B0703020202090204" pitchFamily="34" charset="0"/>
              </a:rPr>
              <a:t>    </a:t>
            </a:r>
            <a:r>
              <a:rPr lang="en-US" altLang="en-US" b="1" i="1" dirty="0"/>
              <a:t>CSS Style Sheet</a:t>
            </a:r>
            <a:br>
              <a:rPr lang="en-US" altLang="en-US" dirty="0">
                <a:latin typeface="Trebuchet MS" panose="020B0703020202090204" pitchFamily="34" charset="0"/>
              </a:rPr>
            </a:br>
            <a:r>
              <a:rPr lang="en-US" altLang="en-US" dirty="0">
                <a:latin typeface="Trebuchet MS" panose="020B0703020202090204" pitchFamily="34" charset="0"/>
              </a:rPr>
              <a:t>    --&gt;</a:t>
            </a:r>
            <a:br>
              <a:rPr lang="en-US" altLang="en-US" dirty="0">
                <a:latin typeface="Trebuchet MS" panose="020B0703020202090204" pitchFamily="34" charset="0"/>
              </a:rPr>
            </a:br>
            <a:r>
              <a:rPr lang="en-US" altLang="en-US" dirty="0">
                <a:latin typeface="Trebuchet MS" panose="020B0703020202090204" pitchFamily="34" charset="0"/>
              </a:rPr>
              <a:t>&lt;/style&gt;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Not</a:t>
            </a:r>
            <a:r>
              <a:rPr lang="ro-RO" altLang="en-US" dirty="0"/>
              <a:t>ă</a:t>
            </a:r>
            <a:r>
              <a:rPr lang="en-US" altLang="en-US" dirty="0"/>
              <a:t>: </a:t>
            </a:r>
            <a:r>
              <a:rPr lang="ro-RO" altLang="en-US" dirty="0"/>
              <a:t>Î</a:t>
            </a:r>
            <a:r>
              <a:rPr lang="en-US" altLang="en-US" dirty="0" err="1"/>
              <a:t>ncapsularea</a:t>
            </a:r>
            <a:r>
              <a:rPr lang="en-US" altLang="en-US" dirty="0"/>
              <a:t> style sheet-</a:t>
            </a:r>
            <a:r>
              <a:rPr lang="en-US" altLang="en-US" dirty="0" err="1"/>
              <a:t>ului</a:t>
            </a:r>
            <a:r>
              <a:rPr lang="en-US" altLang="en-US" dirty="0"/>
              <a:t> </a:t>
            </a:r>
            <a:r>
              <a:rPr lang="ro-RO" altLang="en-US" dirty="0"/>
              <a:t>î</a:t>
            </a:r>
            <a:r>
              <a:rPr lang="en-US" altLang="en-US" dirty="0" err="1"/>
              <a:t>ntr</a:t>
            </a:r>
            <a:r>
              <a:rPr lang="en-US" altLang="en-US" dirty="0"/>
              <a:t>-un </a:t>
            </a:r>
            <a:r>
              <a:rPr lang="en-US" altLang="en-US" dirty="0" err="1"/>
              <a:t>comentariu</a:t>
            </a:r>
            <a:r>
              <a:rPr lang="en-US" altLang="en-US" dirty="0"/>
              <a:t> </a:t>
            </a:r>
            <a:r>
              <a:rPr lang="en-US" altLang="en-US" dirty="0" err="1"/>
              <a:t>reprezint</a:t>
            </a:r>
            <a:r>
              <a:rPr lang="ro-RO" altLang="en-US" dirty="0"/>
              <a:t>ă</a:t>
            </a:r>
            <a:r>
              <a:rPr lang="en-US" altLang="en-US" dirty="0"/>
              <a:t> un </a:t>
            </a:r>
            <a:r>
              <a:rPr lang="en-US" altLang="en-US" dirty="0" err="1"/>
              <a:t>artificiu</a:t>
            </a:r>
            <a:r>
              <a:rPr lang="en-US" altLang="en-US" dirty="0"/>
              <a:t> de </a:t>
            </a:r>
            <a:r>
              <a:rPr lang="en-US" altLang="en-US" dirty="0" err="1"/>
              <a:t>ascundere</a:t>
            </a:r>
            <a:r>
              <a:rPr lang="en-US" altLang="en-US" dirty="0"/>
              <a:t> a </a:t>
            </a:r>
            <a:r>
              <a:rPr lang="en-US" altLang="en-US" dirty="0" err="1"/>
              <a:t>informa</a:t>
            </a:r>
            <a:r>
              <a:rPr lang="ro-RO" altLang="en-US" dirty="0"/>
              <a:t>ț</a:t>
            </a:r>
            <a:r>
              <a:rPr lang="en-US" altLang="en-US" dirty="0" err="1"/>
              <a:t>iei</a:t>
            </a:r>
            <a:r>
              <a:rPr lang="en-US" altLang="en-US" dirty="0"/>
              <a:t> de </a:t>
            </a:r>
            <a:r>
              <a:rPr lang="en-US" altLang="en-US" dirty="0" err="1"/>
              <a:t>browsere</a:t>
            </a:r>
            <a:r>
              <a:rPr lang="en-US" altLang="en-US" dirty="0"/>
              <a:t> </a:t>
            </a:r>
            <a:r>
              <a:rPr lang="en-US" altLang="en-US" dirty="0" err="1"/>
              <a:t>mai</a:t>
            </a:r>
            <a:r>
              <a:rPr lang="en-US" altLang="en-US" dirty="0"/>
              <a:t> </a:t>
            </a:r>
            <a:r>
              <a:rPr lang="en-US" altLang="en-US" dirty="0" err="1"/>
              <a:t>vechi</a:t>
            </a:r>
            <a:r>
              <a:rPr lang="en-US" altLang="en-US" dirty="0"/>
              <a:t> </a:t>
            </a:r>
            <a:r>
              <a:rPr lang="en-US" altLang="en-US" dirty="0" err="1"/>
              <a:t>ce</a:t>
            </a:r>
            <a:r>
              <a:rPr lang="en-US" altLang="en-US" dirty="0"/>
              <a:t> nu </a:t>
            </a:r>
            <a:r>
              <a:rPr lang="ro-RO" altLang="en-US" dirty="0"/>
              <a:t>î</a:t>
            </a:r>
            <a:r>
              <a:rPr lang="en-US" altLang="en-US" dirty="0"/>
              <a:t>n</a:t>
            </a:r>
            <a:r>
              <a:rPr lang="ro-RO" altLang="en-US" dirty="0"/>
              <a:t>ț</a:t>
            </a:r>
            <a:r>
              <a:rPr lang="en-US" altLang="en-US" dirty="0" err="1"/>
              <a:t>eleg</a:t>
            </a:r>
            <a:r>
              <a:rPr lang="en-US" altLang="en-US" dirty="0"/>
              <a:t> </a:t>
            </a:r>
            <a:r>
              <a:rPr lang="en-US" altLang="en-US" dirty="0" err="1"/>
              <a:t>sintaxa</a:t>
            </a:r>
            <a:r>
              <a:rPr lang="en-US" altLang="en-US" dirty="0"/>
              <a:t> CSS</a:t>
            </a:r>
            <a:r>
              <a:rPr lang="ro-RO" altLang="en-US" dirty="0"/>
              <a:t>.</a:t>
            </a:r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885767" name="Rectangle 88576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5769" name="Rectangle 88576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233" name="Slide Number Placeholder 5">
            <a:extLst>
              <a:ext uri="{FF2B5EF4-FFF2-40B4-BE49-F238E27FC236}">
                <a16:creationId xmlns:a16="http://schemas.microsoft.com/office/drawing/2014/main" id="{367AE7E9-31DC-CED3-CCA0-6208ECB772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2903985-FD80-9C44-AD96-0896B46AD698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79</a:t>
            </a:fld>
            <a:endParaRPr lang="en-US" altLang="en-US" sz="13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786" name="Rectangle 2">
            <a:extLst>
              <a:ext uri="{FF2B5EF4-FFF2-40B4-BE49-F238E27FC236}">
                <a16:creationId xmlns:a16="http://schemas.microsoft.com/office/drawing/2014/main" id="{5F6E6D58-D06E-5635-BBC6-F54CC5C513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Inline style sheet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AB093462-97CE-F7D5-86D3-7A8CDCDDD3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1918138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dirty="0"/>
              <a:t>Atributul </a:t>
            </a:r>
            <a:r>
              <a:rPr lang="ro-RO" altLang="en-US" dirty="0">
                <a:latin typeface="Trebuchet MS" panose="020B0703020202090204" pitchFamily="34" charset="0"/>
              </a:rPr>
              <a:t>STYLE</a:t>
            </a:r>
            <a:r>
              <a:rPr lang="ro-RO" altLang="en-US" dirty="0"/>
              <a:t> poate fi adăugat oricărui element HTML:</a:t>
            </a:r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ro-RO" altLang="en-US" dirty="0">
                <a:latin typeface="Trebuchet MS" panose="020B0703020202090204" pitchFamily="34" charset="0"/>
              </a:rPr>
              <a:t>&lt;</a:t>
            </a:r>
            <a:r>
              <a:rPr lang="ro-RO" altLang="en-US" b="1" i="1" dirty="0" err="1"/>
              <a:t>html-tag</a:t>
            </a:r>
            <a:r>
              <a:rPr lang="ro-RO" altLang="en-US" dirty="0">
                <a:latin typeface="Trebuchet MS" panose="020B0703020202090204" pitchFamily="34" charset="0"/>
              </a:rPr>
              <a:t> STYLE="</a:t>
            </a:r>
            <a:r>
              <a:rPr lang="ro-RO" altLang="en-US" b="1" i="1" dirty="0" err="1"/>
              <a:t>property</a:t>
            </a:r>
            <a:r>
              <a:rPr lang="ro-RO" altLang="en-US" dirty="0">
                <a:latin typeface="Trebuchet MS" panose="020B0703020202090204" pitchFamily="34" charset="0"/>
              </a:rPr>
              <a:t>: </a:t>
            </a:r>
            <a:r>
              <a:rPr lang="ro-RO" altLang="en-US" b="1" i="1" dirty="0" err="1"/>
              <a:t>value</a:t>
            </a:r>
            <a:r>
              <a:rPr lang="ro-RO" altLang="en-US" dirty="0">
                <a:latin typeface="Trebuchet MS" panose="020B0703020202090204" pitchFamily="34" charset="0"/>
              </a:rPr>
              <a:t>"&gt;      </a:t>
            </a:r>
            <a:r>
              <a:rPr lang="ro-RO" altLang="en-US" dirty="0"/>
              <a:t> sau</a:t>
            </a:r>
          </a:p>
          <a:p>
            <a:pPr lvl="1" eaLnBrk="1" hangingPunct="1">
              <a:buClr>
                <a:srgbClr val="FFFF7F"/>
              </a:buClr>
              <a:buFontTx/>
              <a:buChar char=" "/>
            </a:pPr>
            <a:r>
              <a:rPr lang="ro-RO" altLang="en-US" dirty="0">
                <a:latin typeface="Trebuchet MS" panose="020B0703020202090204" pitchFamily="34" charset="0"/>
              </a:rPr>
              <a:t>&lt;</a:t>
            </a:r>
            <a:r>
              <a:rPr lang="ro-RO" altLang="en-US" b="1" i="1" dirty="0" err="1"/>
              <a:t>html-tag</a:t>
            </a:r>
            <a:r>
              <a:rPr lang="ro-RO" altLang="en-US" dirty="0">
                <a:latin typeface="Trebuchet MS" panose="020B0703020202090204" pitchFamily="34" charset="0"/>
              </a:rPr>
              <a:t> STYLE="</a:t>
            </a:r>
            <a:r>
              <a:rPr lang="ro-RO" altLang="en-US" b="1" i="1" dirty="0" err="1"/>
              <a:t>property</a:t>
            </a:r>
            <a:r>
              <a:rPr lang="ro-RO" altLang="en-US" dirty="0">
                <a:latin typeface="Trebuchet MS" panose="020B0703020202090204" pitchFamily="34" charset="0"/>
              </a:rPr>
              <a:t>: </a:t>
            </a:r>
            <a:r>
              <a:rPr lang="ro-RO" altLang="en-US" b="1" i="1" dirty="0" err="1"/>
              <a:t>value</a:t>
            </a:r>
            <a:r>
              <a:rPr lang="ro-RO" altLang="en-US" dirty="0">
                <a:latin typeface="Trebuchet MS" panose="020B0703020202090204" pitchFamily="34" charset="0"/>
              </a:rPr>
              <a:t>;</a:t>
            </a:r>
            <a:br>
              <a:rPr lang="ro-RO" altLang="en-US" dirty="0">
                <a:latin typeface="Trebuchet MS" panose="020B0703020202090204" pitchFamily="34" charset="0"/>
              </a:rPr>
            </a:br>
            <a:r>
              <a:rPr lang="ro-RO" altLang="en-US" dirty="0">
                <a:latin typeface="Trebuchet MS" panose="020B0703020202090204" pitchFamily="34" charset="0"/>
              </a:rPr>
              <a:t>    </a:t>
            </a:r>
            <a:r>
              <a:rPr lang="ro-RO" altLang="en-US" b="1" i="1" dirty="0" err="1"/>
              <a:t>property</a:t>
            </a:r>
            <a:r>
              <a:rPr lang="ro-RO" altLang="en-US" dirty="0">
                <a:latin typeface="Trebuchet MS" panose="020B0703020202090204" pitchFamily="34" charset="0"/>
              </a:rPr>
              <a:t>: </a:t>
            </a:r>
            <a:r>
              <a:rPr lang="ro-RO" altLang="en-US" b="1" i="1" dirty="0" err="1"/>
              <a:t>value</a:t>
            </a:r>
            <a:r>
              <a:rPr lang="ro-RO" altLang="en-US" dirty="0">
                <a:latin typeface="Trebuchet MS" panose="020B0703020202090204" pitchFamily="34" charset="0"/>
              </a:rPr>
              <a:t>; </a:t>
            </a:r>
            <a:r>
              <a:rPr lang="ro-RO" altLang="en-US" b="1" i="1" dirty="0"/>
              <a:t>...</a:t>
            </a:r>
            <a:r>
              <a:rPr lang="ro-RO" altLang="en-US" dirty="0">
                <a:latin typeface="Trebuchet MS" panose="020B0703020202090204" pitchFamily="34" charset="0"/>
              </a:rPr>
              <a:t>; </a:t>
            </a:r>
            <a:r>
              <a:rPr lang="ro-RO" altLang="en-US" b="1" i="1" dirty="0" err="1"/>
              <a:t>property</a:t>
            </a:r>
            <a:r>
              <a:rPr lang="ro-RO" altLang="en-US" dirty="0">
                <a:latin typeface="Trebuchet MS" panose="020B0703020202090204" pitchFamily="34" charset="0"/>
              </a:rPr>
              <a:t>: </a:t>
            </a:r>
            <a:r>
              <a:rPr lang="ro-RO" altLang="en-US" b="1" i="1" dirty="0" err="1"/>
              <a:t>value</a:t>
            </a:r>
            <a:r>
              <a:rPr lang="ro-RO" altLang="en-US" dirty="0">
                <a:latin typeface="Trebuchet MS" panose="020B0703020202090204" pitchFamily="34" charset="0"/>
              </a:rPr>
              <a:t>"&gt;</a:t>
            </a:r>
          </a:p>
          <a:p>
            <a:pPr eaLnBrk="1" hangingPunct="1"/>
            <a:r>
              <a:rPr lang="ro-RO" altLang="en-US" dirty="0"/>
              <a:t>Avantaj:</a:t>
            </a:r>
          </a:p>
          <a:p>
            <a:pPr lvl="1" eaLnBrk="1" hangingPunct="1"/>
            <a:r>
              <a:rPr lang="ro-RO" altLang="en-US" dirty="0"/>
              <a:t>Folositor dacă dorim doar o mică modificare de stil</a:t>
            </a:r>
          </a:p>
          <a:p>
            <a:pPr eaLnBrk="1" hangingPunct="1"/>
            <a:r>
              <a:rPr lang="ro-RO" altLang="en-US" dirty="0"/>
              <a:t>Dezavantaje:</a:t>
            </a:r>
          </a:p>
          <a:p>
            <a:pPr lvl="1" eaLnBrk="1" hangingPunct="1"/>
            <a:r>
              <a:rPr lang="ro-RO" altLang="en-US" dirty="0" err="1"/>
              <a:t>Mix</a:t>
            </a:r>
            <a:r>
              <a:rPr lang="ro-RO" altLang="en-US" dirty="0"/>
              <a:t> de informații de prezentare în cadrul HTML</a:t>
            </a:r>
          </a:p>
          <a:p>
            <a:pPr lvl="1" eaLnBrk="1" hangingPunct="1"/>
            <a:r>
              <a:rPr lang="ro-RO" altLang="en-US" dirty="0"/>
              <a:t>Ascunde și îngreunează vizibilitatea codului HTML</a:t>
            </a:r>
          </a:p>
          <a:p>
            <a:pPr lvl="1" eaLnBrk="1" hangingPunct="1"/>
            <a:r>
              <a:rPr lang="ro-RO" altLang="en-US" dirty="0"/>
              <a:t>Nu se pot folosi toate elementele CSS</a:t>
            </a:r>
          </a:p>
          <a:p>
            <a:pPr eaLnBrk="1" hangingPunct="1"/>
            <a:endParaRPr lang="ro-RO" altLang="en-US" dirty="0"/>
          </a:p>
        </p:txBody>
      </p:sp>
      <p:sp>
        <p:nvSpPr>
          <p:cNvPr id="886791" name="Rectangle 88679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6793" name="Rectangle 88679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257" name="Slide Number Placeholder 5">
            <a:extLst>
              <a:ext uri="{FF2B5EF4-FFF2-40B4-BE49-F238E27FC236}">
                <a16:creationId xmlns:a16="http://schemas.microsoft.com/office/drawing/2014/main" id="{9CD8BB78-F677-A3A2-26B5-10DAC985A9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94CE34E7-CE08-4C48-947A-7A3FE4D65CEA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80</a:t>
            </a:fld>
            <a:endParaRPr lang="en-US" altLang="en-US" sz="130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810" name="Rectangle 2">
            <a:extLst>
              <a:ext uri="{FF2B5EF4-FFF2-40B4-BE49-F238E27FC236}">
                <a16:creationId xmlns:a16="http://schemas.microsoft.com/office/drawing/2014/main" id="{DA4F17F5-F58B-15F9-A20F-BB198AE77A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Ordinea de cascadare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09DD2853-C489-6B48-91F1-70B8A8EF9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ro-RO" altLang="en-US"/>
              <a:t>Stilurile vor fi aplicate unui document HTML în ordinea următoare: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Times" pitchFamily="18" charset="0"/>
              <a:buAutoNum type="arabicPeriod"/>
            </a:pPr>
            <a:r>
              <a:rPr lang="ro-RO" altLang="en-US"/>
              <a:t>Stilul implicit al browser-ului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Times" pitchFamily="18" charset="0"/>
              <a:buAutoNum type="arabicPeriod"/>
            </a:pPr>
            <a:r>
              <a:rPr lang="ro-RO" altLang="en-US"/>
              <a:t>External style sheet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Times" pitchFamily="18" charset="0"/>
              <a:buAutoNum type="arabicPeriod"/>
            </a:pPr>
            <a:r>
              <a:rPr lang="ro-RO" altLang="en-US"/>
              <a:t>Internal style sheet (în interiorul tag-ului </a:t>
            </a:r>
            <a:r>
              <a:rPr lang="ro-RO" altLang="en-US">
                <a:latin typeface="Trebuchet MS" panose="020B0703020202090204" pitchFamily="34" charset="0"/>
              </a:rPr>
              <a:t>&lt;head&gt;</a:t>
            </a:r>
            <a:r>
              <a:rPr lang="ro-RO" altLang="en-US"/>
              <a:t>)</a:t>
            </a:r>
          </a:p>
          <a:p>
            <a:pPr lvl="1">
              <a:spcAft>
                <a:spcPts val="600"/>
              </a:spcAft>
              <a:buClr>
                <a:schemeClr val="tx1"/>
              </a:buClr>
              <a:buFont typeface="Times" pitchFamily="18" charset="0"/>
              <a:buAutoNum type="arabicPeriod"/>
            </a:pPr>
            <a:r>
              <a:rPr lang="ro-RO" altLang="en-US"/>
              <a:t>Inline style (în interiorul altor elemente, cele mai din afară mai întâi)</a:t>
            </a:r>
          </a:p>
          <a:p>
            <a:pPr>
              <a:spcAft>
                <a:spcPts val="600"/>
              </a:spcAft>
            </a:pPr>
            <a:r>
              <a:rPr lang="ro-RO" altLang="en-US"/>
              <a:t>Când elementele de stil ajung să fie în conflict, cel mai “apropiat” (mai recent aplicat) stil câștigă</a:t>
            </a:r>
          </a:p>
          <a:p>
            <a:pPr>
              <a:spcAft>
                <a:spcPts val="600"/>
              </a:spcAft>
            </a:pPr>
            <a:endParaRPr lang="ro-RO" altLang="en-US"/>
          </a:p>
        </p:txBody>
      </p:sp>
      <p:sp>
        <p:nvSpPr>
          <p:cNvPr id="887815" name="Rectangle 88781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7817" name="Rectangle 88781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281" name="Slide Number Placeholder 5">
            <a:extLst>
              <a:ext uri="{FF2B5EF4-FFF2-40B4-BE49-F238E27FC236}">
                <a16:creationId xmlns:a16="http://schemas.microsoft.com/office/drawing/2014/main" id="{44577699-B441-6CDC-93BA-1090E3DF88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C5D1445-37AB-814C-BE21-89DB40819379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81</a:t>
            </a:fld>
            <a:endParaRPr lang="en-US" altLang="en-US" sz="13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Number Placeholder 5">
            <a:extLst>
              <a:ext uri="{FF2B5EF4-FFF2-40B4-BE49-F238E27FC236}">
                <a16:creationId xmlns:a16="http://schemas.microsoft.com/office/drawing/2014/main" id="{BE668B97-6BEC-AB86-6B6C-F0497D75C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75A315-AC5F-884C-9B5D-8316935D34A0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888834" name="Rectangle 2">
            <a:extLst>
              <a:ext uri="{FF2B5EF4-FFF2-40B4-BE49-F238E27FC236}">
                <a16:creationId xmlns:a16="http://schemas.microsoft.com/office/drawing/2014/main" id="{FF182C80-C7B7-51E4-90B5-EB363F3F7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200"/>
              <a:t>Exemplu de ordine de cascadare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A5252F30-665D-DC73-F60B-C805DE8752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External style sheet: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rebuchet MS" panose="020B0703020202090204" pitchFamily="34" charset="0"/>
              </a:rPr>
              <a:t>					</a:t>
            </a: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h3 {	color: red;</a:t>
            </a:r>
            <a:b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					text-align: left;</a:t>
            </a:r>
            <a:b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					font-size: 8pt</a:t>
            </a:r>
            <a:b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				}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Internal style sheet: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rebuchet MS" panose="020B0703020202090204" pitchFamily="34" charset="0"/>
              </a:rPr>
              <a:t>					</a:t>
            </a: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h3 {	text-align: right; </a:t>
            </a:r>
            <a:b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					font-size: 20pt</a:t>
            </a:r>
            <a:b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				}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Atributele rezultante: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>
                <a:solidFill>
                  <a:schemeClr val="accent2"/>
                </a:solidFill>
                <a:latin typeface="Trebuchet MS" panose="020B0703020202090204" pitchFamily="34" charset="0"/>
              </a:rPr>
              <a:t>					</a:t>
            </a: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color: red;</a:t>
            </a:r>
            <a:b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				text-align: right;</a:t>
            </a:r>
            <a:b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</a:br>
            <a:r>
              <a:rPr lang="en-US" altLang="en-US" sz="2400">
                <a:solidFill>
                  <a:srgbClr val="FF0000"/>
                </a:solidFill>
                <a:latin typeface="Trebuchet MS" panose="020B0703020202090204" pitchFamily="34" charset="0"/>
              </a:rPr>
              <a:t>				font-size: 20pt</a:t>
            </a:r>
            <a:endParaRPr lang="en-US" altLang="en-US" sz="2400">
              <a:solidFill>
                <a:srgbClr val="FF0000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52BF61-095F-429C-15CA-4926AE122E75}"/>
              </a:ext>
            </a:extLst>
          </p:cNvPr>
          <p:cNvCxnSpPr/>
          <p:nvPr/>
        </p:nvCxnSpPr>
        <p:spPr>
          <a:xfrm>
            <a:off x="8077200" y="1752600"/>
            <a:ext cx="9906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19C4E3C-47E3-75C0-380F-D72349D8870D}"/>
              </a:ext>
            </a:extLst>
          </p:cNvPr>
          <p:cNvCxnSpPr/>
          <p:nvPr/>
        </p:nvCxnSpPr>
        <p:spPr>
          <a:xfrm rot="5400000">
            <a:off x="7620000" y="3200400"/>
            <a:ext cx="28956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5D7AE83-10D8-B4E8-926A-E9F39897052B}"/>
              </a:ext>
            </a:extLst>
          </p:cNvPr>
          <p:cNvCxnSpPr/>
          <p:nvPr/>
        </p:nvCxnSpPr>
        <p:spPr>
          <a:xfrm rot="10800000">
            <a:off x="7315200" y="4648200"/>
            <a:ext cx="17526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A23616C-2E26-593A-DE94-6F14E02ACDFC}"/>
              </a:ext>
            </a:extLst>
          </p:cNvPr>
          <p:cNvCxnSpPr/>
          <p:nvPr/>
        </p:nvCxnSpPr>
        <p:spPr>
          <a:xfrm>
            <a:off x="8915400" y="3352800"/>
            <a:ext cx="4572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4E3E791-CCA0-7A0F-CB7D-5E397CDC9CC0}"/>
              </a:ext>
            </a:extLst>
          </p:cNvPr>
          <p:cNvCxnSpPr/>
          <p:nvPr/>
        </p:nvCxnSpPr>
        <p:spPr>
          <a:xfrm rot="5400000">
            <a:off x="8572500" y="4152900"/>
            <a:ext cx="16002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5D1E87-268C-B79F-EF27-0606C2B03BC0}"/>
              </a:ext>
            </a:extLst>
          </p:cNvPr>
          <p:cNvCxnSpPr/>
          <p:nvPr/>
        </p:nvCxnSpPr>
        <p:spPr>
          <a:xfrm rot="10800000">
            <a:off x="8077200" y="4953000"/>
            <a:ext cx="12954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5F5BAEF-5B7E-570E-DC4C-30C2DDECF0B0}"/>
              </a:ext>
            </a:extLst>
          </p:cNvPr>
          <p:cNvCxnSpPr/>
          <p:nvPr/>
        </p:nvCxnSpPr>
        <p:spPr>
          <a:xfrm>
            <a:off x="8610600" y="3657600"/>
            <a:ext cx="11430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48E1F0-0C55-EBBF-6B38-F323C0817399}"/>
              </a:ext>
            </a:extLst>
          </p:cNvPr>
          <p:cNvCxnSpPr/>
          <p:nvPr/>
        </p:nvCxnSpPr>
        <p:spPr>
          <a:xfrm rot="5400000">
            <a:off x="8953500" y="4457700"/>
            <a:ext cx="160020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959E1D6-BD35-9D77-BF9C-9ADF75B2EF9B}"/>
              </a:ext>
            </a:extLst>
          </p:cNvPr>
          <p:cNvCxnSpPr/>
          <p:nvPr/>
        </p:nvCxnSpPr>
        <p:spPr>
          <a:xfrm rot="10800000">
            <a:off x="7848600" y="5257800"/>
            <a:ext cx="190500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E43F32F5-7017-365C-8600-DD431B6982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00048" y="771526"/>
            <a:ext cx="8382000" cy="533400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sz="2400" dirty="0"/>
              <a:t>Considerăm documentul HTML:</a:t>
            </a:r>
          </a:p>
          <a:p>
            <a:pPr eaLnBrk="1" hangingPunct="1"/>
            <a:endParaRPr lang="ro-RO" altLang="en-US" sz="2400" dirty="0"/>
          </a:p>
          <a:p>
            <a:pPr eaLnBrk="1" hangingPunct="1"/>
            <a:endParaRPr lang="ro-RO" altLang="en-US" sz="2400" dirty="0"/>
          </a:p>
          <a:p>
            <a:pPr eaLnBrk="1" hangingPunct="1"/>
            <a:r>
              <a:rPr lang="ro-RO" altLang="en-US" sz="2400" dirty="0"/>
              <a:t>Cazurile considerate de CSS:</a:t>
            </a:r>
            <a:endParaRPr lang="en-US" altLang="en-US" sz="2400" dirty="0"/>
          </a:p>
        </p:txBody>
      </p:sp>
      <p:sp>
        <p:nvSpPr>
          <p:cNvPr id="99331" name="Slide Number Placeholder 5">
            <a:extLst>
              <a:ext uri="{FF2B5EF4-FFF2-40B4-BE49-F238E27FC236}">
                <a16:creationId xmlns:a16="http://schemas.microsoft.com/office/drawing/2014/main" id="{B36F66AC-4417-BB39-8349-81CF11B7B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AD01F2A-353D-6A42-AE72-50824697ADD4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3CAD1A-EE2B-DC1F-E314-07B06F129BB6}"/>
              </a:ext>
            </a:extLst>
          </p:cNvPr>
          <p:cNvSpPr/>
          <p:nvPr/>
        </p:nvSpPr>
        <p:spPr>
          <a:xfrm>
            <a:off x="1700048" y="1360488"/>
            <a:ext cx="8077200" cy="533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>
                <a:latin typeface="Comic Sans MS" pitchFamily="66" charset="0"/>
              </a:rPr>
              <a:t>&lt;p class="</a:t>
            </a:r>
            <a:r>
              <a:rPr lang="en-US" dirty="0" err="1">
                <a:latin typeface="Comic Sans MS" pitchFamily="66" charset="0"/>
              </a:rPr>
              <a:t>pclass</a:t>
            </a:r>
            <a:r>
              <a:rPr lang="en-US" dirty="0">
                <a:latin typeface="Comic Sans MS" pitchFamily="66" charset="0"/>
              </a:rPr>
              <a:t>" id="</a:t>
            </a:r>
            <a:r>
              <a:rPr lang="en-US" dirty="0" err="1">
                <a:latin typeface="Comic Sans MS" pitchFamily="66" charset="0"/>
              </a:rPr>
              <a:t>pid</a:t>
            </a:r>
            <a:r>
              <a:rPr lang="en-US" dirty="0">
                <a:latin typeface="Comic Sans MS" pitchFamily="66" charset="0"/>
              </a:rPr>
              <a:t>"&gt;&lt;span class="</a:t>
            </a:r>
            <a:r>
              <a:rPr lang="en-US" dirty="0" err="1">
                <a:latin typeface="Comic Sans MS" pitchFamily="66" charset="0"/>
              </a:rPr>
              <a:t>sclass</a:t>
            </a:r>
            <a:r>
              <a:rPr lang="en-US" dirty="0">
                <a:latin typeface="Comic Sans MS" pitchFamily="66" charset="0"/>
              </a:rPr>
              <a:t>" id="</a:t>
            </a:r>
            <a:r>
              <a:rPr lang="en-US" dirty="0" err="1">
                <a:latin typeface="Comic Sans MS" pitchFamily="66" charset="0"/>
              </a:rPr>
              <a:t>sid</a:t>
            </a:r>
            <a:r>
              <a:rPr lang="en-US" dirty="0">
                <a:latin typeface="Comic Sans MS" pitchFamily="66" charset="0"/>
              </a:rPr>
              <a:t>"&gt;text&lt;/span&gt;&lt;/p&gt;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7290EB-98FC-5273-DE59-E590C0B49951}"/>
              </a:ext>
            </a:extLst>
          </p:cNvPr>
          <p:cNvSpPr/>
          <p:nvPr/>
        </p:nvSpPr>
        <p:spPr>
          <a:xfrm>
            <a:off x="1905000" y="2743200"/>
            <a:ext cx="3429000" cy="762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dirty="0" err="1">
                <a:latin typeface="Comic Sans MS" pitchFamily="66" charset="0"/>
              </a:rPr>
              <a:t>span#sid</a:t>
            </a:r>
            <a:r>
              <a:rPr lang="en-US" dirty="0">
                <a:latin typeface="Comic Sans MS" pitchFamily="66" charset="0"/>
              </a:rPr>
              <a:t> { color: red; }</a:t>
            </a:r>
          </a:p>
          <a:p>
            <a:pPr eaLnBrk="1" hangingPunct="1">
              <a:defRPr/>
            </a:pPr>
            <a:r>
              <a:rPr lang="en-US" dirty="0">
                <a:latin typeface="Comic Sans MS" pitchFamily="66" charset="0"/>
              </a:rPr>
              <a:t>#</a:t>
            </a:r>
            <a:r>
              <a:rPr lang="en-US" dirty="0" err="1">
                <a:latin typeface="Comic Sans MS" pitchFamily="66" charset="0"/>
              </a:rPr>
              <a:t>pid</a:t>
            </a:r>
            <a:r>
              <a:rPr lang="en-US" dirty="0">
                <a:latin typeface="Comic Sans MS" pitchFamily="66" charset="0"/>
              </a:rPr>
              <a:t> span { color: green; }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6C55CE-B6C6-33D6-832A-0B7A301C99EC}"/>
              </a:ext>
            </a:extLst>
          </p:cNvPr>
          <p:cNvCxnSpPr/>
          <p:nvPr/>
        </p:nvCxnSpPr>
        <p:spPr>
          <a:xfrm>
            <a:off x="5486400" y="31242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8A859F1-D16A-4748-AF18-E25BCB48DD63}"/>
              </a:ext>
            </a:extLst>
          </p:cNvPr>
          <p:cNvSpPr txBox="1"/>
          <p:nvPr/>
        </p:nvSpPr>
        <p:spPr>
          <a:xfrm>
            <a:off x="6629400" y="2895600"/>
            <a:ext cx="259080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>
                <a:solidFill>
                  <a:srgbClr val="000000"/>
                </a:solidFill>
              </a:rPr>
              <a:t>Textul va fi afișat </a:t>
            </a:r>
            <a:r>
              <a:rPr lang="ro-RO" altLang="en-US" sz="1800">
                <a:solidFill>
                  <a:srgbClr val="00B050"/>
                </a:solidFill>
              </a:rPr>
              <a:t>verde</a:t>
            </a:r>
            <a:endParaRPr lang="en-US" altLang="en-US" sz="1800">
              <a:solidFill>
                <a:srgbClr val="00B05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86283-C595-D93C-0591-EEAACB4A4E07}"/>
              </a:ext>
            </a:extLst>
          </p:cNvPr>
          <p:cNvSpPr/>
          <p:nvPr/>
        </p:nvSpPr>
        <p:spPr>
          <a:xfrm>
            <a:off x="1905000" y="3657600"/>
            <a:ext cx="4419600" cy="990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n-US" dirty="0">
                <a:latin typeface="Comic Sans MS" pitchFamily="66" charset="0"/>
              </a:rPr>
              <a:t>#</a:t>
            </a:r>
            <a:r>
              <a:rPr lang="en-US" dirty="0" err="1">
                <a:latin typeface="Comic Sans MS" pitchFamily="66" charset="0"/>
              </a:rPr>
              <a:t>pid</a:t>
            </a:r>
            <a:r>
              <a:rPr lang="en-US" dirty="0">
                <a:latin typeface="Comic Sans MS" pitchFamily="66" charset="0"/>
              </a:rPr>
              <a:t> { color: blue; font-size: 10px; }</a:t>
            </a:r>
          </a:p>
          <a:p>
            <a:pPr eaLnBrk="1" hangingPunct="1">
              <a:defRPr/>
            </a:pPr>
            <a:r>
              <a:rPr lang="en-US" dirty="0">
                <a:latin typeface="Comic Sans MS" pitchFamily="66" charset="0"/>
              </a:rPr>
              <a:t>#</a:t>
            </a:r>
            <a:r>
              <a:rPr lang="en-US" dirty="0" err="1">
                <a:latin typeface="Comic Sans MS" pitchFamily="66" charset="0"/>
              </a:rPr>
              <a:t>pid</a:t>
            </a:r>
            <a:r>
              <a:rPr lang="en-US" dirty="0">
                <a:latin typeface="Comic Sans MS" pitchFamily="66" charset="0"/>
              </a:rPr>
              <a:t> span { color: red !important;}</a:t>
            </a:r>
          </a:p>
          <a:p>
            <a:pPr eaLnBrk="1" hangingPunct="1">
              <a:defRPr/>
            </a:pPr>
            <a:r>
              <a:rPr lang="en-US" dirty="0">
                <a:latin typeface="Comic Sans MS" pitchFamily="66" charset="0"/>
              </a:rPr>
              <a:t>p #</a:t>
            </a:r>
            <a:r>
              <a:rPr lang="en-US" dirty="0" err="1">
                <a:latin typeface="Comic Sans MS" pitchFamily="66" charset="0"/>
              </a:rPr>
              <a:t>sid</a:t>
            </a:r>
            <a:r>
              <a:rPr lang="en-US" dirty="0">
                <a:latin typeface="Comic Sans MS" pitchFamily="66" charset="0"/>
              </a:rPr>
              <a:t> { color: green; font-size: 150%; }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DC72A0-4521-A38B-2E16-7EC91C292C6B}"/>
              </a:ext>
            </a:extLst>
          </p:cNvPr>
          <p:cNvCxnSpPr/>
          <p:nvPr/>
        </p:nvCxnSpPr>
        <p:spPr>
          <a:xfrm>
            <a:off x="6477000" y="4114800"/>
            <a:ext cx="1066800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449A30B-812D-75BD-687A-C38B596DD0CD}"/>
              </a:ext>
            </a:extLst>
          </p:cNvPr>
          <p:cNvSpPr txBox="1"/>
          <p:nvPr/>
        </p:nvSpPr>
        <p:spPr>
          <a:xfrm>
            <a:off x="2438400" y="5181601"/>
            <a:ext cx="6858000" cy="9239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 i="1">
                <a:solidFill>
                  <a:srgbClr val="000000"/>
                </a:solidFill>
              </a:rPr>
              <a:t>Răspuns</a:t>
            </a:r>
            <a:r>
              <a:rPr lang="ro-RO" altLang="en-US" sz="1800">
                <a:solidFill>
                  <a:srgbClr val="000000"/>
                </a:solidFill>
              </a:rPr>
              <a:t>: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>
                <a:solidFill>
                  <a:srgbClr val="000000"/>
                </a:solidFill>
              </a:rPr>
              <a:t>Textul va fi afișat </a:t>
            </a:r>
            <a:r>
              <a:rPr lang="ro-RO" altLang="en-US" sz="1800">
                <a:solidFill>
                  <a:srgbClr val="FF0000"/>
                </a:solidFill>
              </a:rPr>
              <a:t>roșu </a:t>
            </a:r>
            <a:r>
              <a:rPr lang="ro-RO" altLang="en-US" sz="1800"/>
              <a:t>cu dimensiunea 15px 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/>
              <a:t>(font-size: 10px, combinat cu font-size: 150% =</a:t>
            </a:r>
            <a:r>
              <a:rPr lang="en-US" altLang="en-US" sz="1800"/>
              <a:t>&gt;</a:t>
            </a:r>
            <a:r>
              <a:rPr lang="ro-RO" altLang="en-US" sz="1800"/>
              <a:t> 10 x 1.5 = 15px)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6D2658-5F47-F09C-E9EF-C85232C206E1}"/>
              </a:ext>
            </a:extLst>
          </p:cNvPr>
          <p:cNvSpPr txBox="1"/>
          <p:nvPr/>
        </p:nvSpPr>
        <p:spPr>
          <a:xfrm>
            <a:off x="7772400" y="3886200"/>
            <a:ext cx="2667000" cy="3698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>
                <a:solidFill>
                  <a:srgbClr val="000000"/>
                </a:solidFill>
              </a:rPr>
              <a:t>Cum va fi afișat textul?</a:t>
            </a:r>
            <a:endParaRPr lang="en-US" alt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82" name="Rectangle 2">
            <a:extLst>
              <a:ext uri="{FF2B5EF4-FFF2-40B4-BE49-F238E27FC236}">
                <a16:creationId xmlns:a16="http://schemas.microsoft.com/office/drawing/2014/main" id="{6BD05628-BE4D-5FA0-1C92-11095868F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ro-RO"/>
              <a:t>Forma </a:t>
            </a:r>
            <a:r>
              <a:rPr lang="ro-RO" altLang="ro-RO"/>
              <a:t>prescurtată de specificare</a:t>
            </a:r>
            <a:r>
              <a:rPr lang="en-US" altLang="ro-RO"/>
              <a:t> a propriet</a:t>
            </a:r>
            <a:r>
              <a:rPr lang="ro-RO" altLang="ro-RO"/>
              <a:t>ăţ</a:t>
            </a:r>
            <a:r>
              <a:rPr lang="en-US" altLang="ro-RO"/>
              <a:t>ilor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8796B4A3-6EC2-9159-23DD-605FCD532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/>
              <a:t>Adesea mai multe propriet</a:t>
            </a:r>
            <a:r>
              <a:rPr lang="ro-RO" altLang="en-US"/>
              <a:t>ăţ</a:t>
            </a:r>
            <a:r>
              <a:rPr lang="en-US" altLang="en-US"/>
              <a:t>i pot fi combinate</a:t>
            </a:r>
            <a:r>
              <a:rPr lang="ro-RO" altLang="en-US"/>
              <a:t>, acest aspect ajutând la o scriere mai rapidă a specificațiilor de prezentare</a:t>
            </a:r>
          </a:p>
          <a:p>
            <a:pPr>
              <a:spcAft>
                <a:spcPts val="600"/>
              </a:spcAft>
            </a:pPr>
            <a:r>
              <a:rPr lang="ro-RO" altLang="en-US"/>
              <a:t>De exemplu, dacă considerăm construcția CSS:</a:t>
            </a:r>
            <a:endParaRPr lang="en-US" altLang="en-US"/>
          </a:p>
          <a:p>
            <a:pPr lvl="1">
              <a:spcAft>
                <a:spcPts val="600"/>
              </a:spcAft>
              <a:buClr>
                <a:srgbClr val="FFFF7F"/>
              </a:buClr>
              <a:buFontTx/>
              <a:buChar char=" "/>
            </a:pPr>
            <a:r>
              <a:rPr lang="en-US" altLang="en-US">
                <a:latin typeface="Trebuchet MS" panose="020B0703020202090204" pitchFamily="34" charset="0"/>
              </a:rPr>
              <a:t>h2 { font-weight: bold; font-variant: small-caps; font-size: 12pt; line-height: 14pt; font-family: sans-serif }</a:t>
            </a:r>
            <a:endParaRPr lang="ro-RO" altLang="en-US">
              <a:latin typeface="Trebuchet MS" panose="020B0703020202090204" pitchFamily="34" charset="0"/>
            </a:endParaRPr>
          </a:p>
          <a:p>
            <a:pPr>
              <a:spcAft>
                <a:spcPts val="600"/>
              </a:spcAft>
            </a:pPr>
            <a:r>
              <a:rPr lang="ro-RO" altLang="en-US"/>
              <a:t>Ea p</a:t>
            </a:r>
            <a:r>
              <a:rPr lang="en-US" altLang="en-US"/>
              <a:t>oate fi scris</a:t>
            </a:r>
            <a:r>
              <a:rPr lang="ro-RO" altLang="en-US"/>
              <a:t>ă</a:t>
            </a:r>
            <a:r>
              <a:rPr lang="en-US" altLang="en-US"/>
              <a:t> sub forma</a:t>
            </a:r>
            <a:r>
              <a:rPr lang="ro-RO" altLang="en-US"/>
              <a:t> prescurtată</a:t>
            </a:r>
            <a:r>
              <a:rPr lang="en-US" altLang="en-US"/>
              <a:t>:</a:t>
            </a:r>
          </a:p>
          <a:p>
            <a:pPr lvl="1">
              <a:spcAft>
                <a:spcPts val="600"/>
              </a:spcAft>
              <a:buClr>
                <a:srgbClr val="FFFF7F"/>
              </a:buClr>
              <a:buFontTx/>
              <a:buChar char=" "/>
            </a:pPr>
            <a:r>
              <a:rPr lang="en-US" altLang="en-US">
                <a:latin typeface="Trebuchet MS" panose="020B0703020202090204" pitchFamily="34" charset="0"/>
              </a:rPr>
              <a:t>h2 { font: bold small-caps 12pt/14pt sans-serif } </a:t>
            </a:r>
          </a:p>
          <a:p>
            <a:pPr>
              <a:spcAft>
                <a:spcPts val="600"/>
              </a:spcAft>
            </a:pPr>
            <a:endParaRPr lang="en-US" altLang="en-US"/>
          </a:p>
        </p:txBody>
      </p:sp>
      <p:sp>
        <p:nvSpPr>
          <p:cNvPr id="890887" name="Rectangle 89088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0889" name="Rectangle 89088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377" name="Slide Number Placeholder 5">
            <a:extLst>
              <a:ext uri="{FF2B5EF4-FFF2-40B4-BE49-F238E27FC236}">
                <a16:creationId xmlns:a16="http://schemas.microsoft.com/office/drawing/2014/main" id="{127A4A73-2305-960D-A4FB-B3BB89AF80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92180351-F4EA-4D4D-98B0-2E15045EAF91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84</a:t>
            </a:fld>
            <a:endParaRPr lang="en-US" altLang="en-US" sz="13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906" name="Rectangle 2">
            <a:extLst>
              <a:ext uri="{FF2B5EF4-FFF2-40B4-BE49-F238E27FC236}">
                <a16:creationId xmlns:a16="http://schemas.microsoft.com/office/drawing/2014/main" id="{1C965A5A-CE1E-BCC7-EB21-81E633C776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err="1"/>
              <a:t>Culori</a:t>
            </a:r>
            <a:r>
              <a:rPr lang="en-US"/>
              <a:t> </a:t>
            </a:r>
            <a:r>
              <a:rPr lang="ro-RO"/>
              <a:t>ș</a:t>
            </a:r>
            <a:r>
              <a:rPr lang="en-US" err="1"/>
              <a:t>i</a:t>
            </a:r>
            <a:r>
              <a:rPr lang="en-US"/>
              <a:t> </a:t>
            </a:r>
            <a:r>
              <a:rPr lang="en-US" err="1"/>
              <a:t>lungimi</a:t>
            </a:r>
            <a:endParaRPr 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C667253E-3578-5578-AE6A-036B8E1753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8" y="2286000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>
                <a:latin typeface="Trebuchet MS" panose="020B0703020202090204" pitchFamily="34" charset="0"/>
              </a:rPr>
              <a:t>color:  </a:t>
            </a:r>
            <a:r>
              <a:rPr lang="ro-RO" altLang="en-US"/>
              <a:t>ș</a:t>
            </a:r>
            <a:r>
              <a:rPr lang="en-US" altLang="en-US"/>
              <a:t>i</a:t>
            </a:r>
            <a:r>
              <a:rPr lang="en-US" altLang="en-US">
                <a:latin typeface="Trebuchet MS" panose="020B0703020202090204" pitchFamily="34" charset="0"/>
              </a:rPr>
              <a:t>  background-color:</a:t>
            </a:r>
          </a:p>
          <a:p>
            <a:pPr lvl="1" eaLnBrk="1" hangingPunct="1"/>
            <a:r>
              <a:rPr lang="en-US" altLang="en-US">
                <a:latin typeface="Trebuchet MS" panose="020B0703020202090204" pitchFamily="34" charset="0"/>
              </a:rPr>
              <a:t>aqua | black | blue | fuchsia | gray | green | lime | maroon | navy | olive | purple | red | silver | teal | white | #FF0000 | #F00 | rgb(255, 0, 0) | </a:t>
            </a:r>
            <a:r>
              <a:rPr lang="ro-RO" altLang="en-US" i="1">
                <a:latin typeface="Trebuchet MS" panose="020B0703020202090204" pitchFamily="34" charset="0"/>
              </a:rPr>
              <a:t>Alte nume recunoscute de browser</a:t>
            </a:r>
            <a:r>
              <a:rPr lang="en-US" altLang="en-US" i="1">
                <a:latin typeface="Trebuchet MS" panose="020B0703020202090204" pitchFamily="34" charset="0"/>
              </a:rPr>
              <a:t> (n</a:t>
            </a:r>
            <a:r>
              <a:rPr lang="ro-RO" altLang="en-US" i="1">
                <a:latin typeface="Trebuchet MS" panose="020B0703020202090204" pitchFamily="34" charset="0"/>
              </a:rPr>
              <a:t>u</a:t>
            </a:r>
            <a:r>
              <a:rPr lang="en-US" altLang="en-US" i="1">
                <a:latin typeface="Trebuchet MS" panose="020B0703020202090204" pitchFamily="34" charset="0"/>
              </a:rPr>
              <a:t> </a:t>
            </a:r>
            <a:r>
              <a:rPr lang="ro-RO" altLang="en-US" i="1">
                <a:latin typeface="Trebuchet MS" panose="020B0703020202090204" pitchFamily="34" charset="0"/>
              </a:rPr>
              <a:t>se recomandă</a:t>
            </a:r>
            <a:r>
              <a:rPr lang="en-US" altLang="en-US" i="1">
                <a:latin typeface="Trebuchet MS" panose="020B0703020202090204" pitchFamily="34" charset="0"/>
              </a:rPr>
              <a:t>)</a:t>
            </a:r>
          </a:p>
          <a:p>
            <a:pPr eaLnBrk="1" hangingPunct="1"/>
            <a:r>
              <a:rPr lang="en-US" altLang="en-US"/>
              <a:t>Acestea sunt elemente folosite pentru unit</a:t>
            </a:r>
            <a:r>
              <a:rPr lang="ro-RO" altLang="en-US"/>
              <a:t>ăț</a:t>
            </a:r>
            <a:r>
              <a:rPr lang="en-US" altLang="en-US"/>
              <a:t>ile de m</a:t>
            </a:r>
            <a:r>
              <a:rPr lang="ro-RO" altLang="en-US"/>
              <a:t>ă</a:t>
            </a:r>
            <a:r>
              <a:rPr lang="en-US" altLang="en-US"/>
              <a:t>sur</a:t>
            </a:r>
            <a:r>
              <a:rPr lang="ro-RO" altLang="en-US"/>
              <a:t>ă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>
                <a:latin typeface="Trebuchet MS" panose="020B0703020202090204" pitchFamily="34" charset="0"/>
              </a:rPr>
              <a:t>em, ex, px, </a:t>
            </a:r>
            <a:r>
              <a:rPr lang="en-US" altLang="en-US" b="1">
                <a:latin typeface="Trebuchet MS" panose="020B0703020202090204" pitchFamily="34" charset="0"/>
              </a:rPr>
              <a:t>%</a:t>
            </a:r>
          </a:p>
          <a:p>
            <a:pPr lvl="2" eaLnBrk="1" hangingPunct="1"/>
            <a:r>
              <a:rPr lang="en-US" altLang="en-US"/>
              <a:t>Dimensiunea fontului, </a:t>
            </a:r>
            <a:r>
              <a:rPr lang="ro-RO" altLang="en-US"/>
              <a:t>î</a:t>
            </a:r>
            <a:r>
              <a:rPr lang="en-US" altLang="en-US"/>
              <a:t>n</a:t>
            </a:r>
            <a:r>
              <a:rPr lang="ro-RO" altLang="en-US"/>
              <a:t>ă</a:t>
            </a:r>
            <a:r>
              <a:rPr lang="en-US" altLang="en-US"/>
              <a:t>l</a:t>
            </a:r>
            <a:r>
              <a:rPr lang="ro-RO" altLang="en-US"/>
              <a:t>ț</a:t>
            </a:r>
            <a:r>
              <a:rPr lang="en-US" altLang="en-US"/>
              <a:t>imea pe x, pixeli, procent din dimensiunea mo</a:t>
            </a:r>
            <a:r>
              <a:rPr lang="ro-RO" altLang="en-US"/>
              <a:t>ș</a:t>
            </a:r>
            <a:r>
              <a:rPr lang="en-US" altLang="en-US"/>
              <a:t>tenit</a:t>
            </a:r>
            <a:r>
              <a:rPr lang="ro-RO" altLang="en-US"/>
              <a:t>ă</a:t>
            </a:r>
            <a:endParaRPr lang="en-US" altLang="en-US">
              <a:latin typeface="Trebuchet MS" panose="020B0703020202090204" pitchFamily="34" charset="0"/>
            </a:endParaRPr>
          </a:p>
          <a:p>
            <a:pPr lvl="1" eaLnBrk="1" hangingPunct="1"/>
            <a:r>
              <a:rPr lang="en-US" altLang="en-US">
                <a:latin typeface="Trebuchet MS" panose="020B0703020202090204" pitchFamily="34" charset="0"/>
              </a:rPr>
              <a:t>in, cm, mm, pt, pc</a:t>
            </a:r>
          </a:p>
          <a:p>
            <a:pPr lvl="2" eaLnBrk="1" hangingPunct="1"/>
            <a:r>
              <a:rPr lang="en-US" altLang="en-US"/>
              <a:t>inci, centimetri, milimetri, puncte (1/72 dintr-un inch), picas (1 pica = 12 puncte), relative la valoarea mo</a:t>
            </a:r>
            <a:r>
              <a:rPr lang="ro-RO" altLang="en-US"/>
              <a:t>ș</a:t>
            </a:r>
            <a:r>
              <a:rPr lang="en-US" altLang="en-US"/>
              <a:t>tenit</a:t>
            </a:r>
            <a:r>
              <a:rPr lang="ro-RO" altLang="en-US"/>
              <a:t>ă</a:t>
            </a:r>
            <a:endParaRPr lang="en-US" altLang="en-US"/>
          </a:p>
          <a:p>
            <a:pPr eaLnBrk="1" hangingPunct="1"/>
            <a:endParaRPr lang="en-US" altLang="en-US"/>
          </a:p>
        </p:txBody>
      </p:sp>
      <p:sp>
        <p:nvSpPr>
          <p:cNvPr id="891911" name="Rectangle 89191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1913" name="Rectangle 89191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01" name="Slide Number Placeholder 5">
            <a:extLst>
              <a:ext uri="{FF2B5EF4-FFF2-40B4-BE49-F238E27FC236}">
                <a16:creationId xmlns:a16="http://schemas.microsoft.com/office/drawing/2014/main" id="{9EFCB631-4F31-5DF8-359B-018554C5B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4B65E607-6724-8D4A-8DF7-9BAC69F5AFFC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85</a:t>
            </a:fld>
            <a:endParaRPr lang="en-US" altLang="en-US" sz="13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954" name="Rectangle 2">
            <a:extLst>
              <a:ext uri="{FF2B5EF4-FFF2-40B4-BE49-F238E27FC236}">
                <a16:creationId xmlns:a16="http://schemas.microsoft.com/office/drawing/2014/main" id="{70FAA155-CBA3-D4C3-8234-0B8DCF32BE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/>
              <a:t>Pseudo-clase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1386CE70-4049-C9C4-4AA4-0A9C0765FE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24129" y="1939159"/>
            <a:ext cx="8018271" cy="4023360"/>
          </a:xfrm>
        </p:spPr>
        <p:txBody>
          <a:bodyPr>
            <a:normAutofit/>
          </a:bodyPr>
          <a:lstStyle/>
          <a:p>
            <a:pPr eaLnBrk="1" hangingPunct="1"/>
            <a:r>
              <a:rPr lang="ro-RO" altLang="en-US" sz="1800" dirty="0"/>
              <a:t>Pseudo-clasele sunt elemente ale căror stare (și mod de </a:t>
            </a:r>
            <a:r>
              <a:rPr lang="ro-RO" altLang="en-US" sz="1800" dirty="0" err="1"/>
              <a:t>aparitie</a:t>
            </a:r>
            <a:r>
              <a:rPr lang="ro-RO" altLang="en-US" sz="1800" dirty="0"/>
              <a:t>) poate varia în timp</a:t>
            </a:r>
          </a:p>
          <a:p>
            <a:pPr eaLnBrk="1" hangingPunct="1"/>
            <a:r>
              <a:rPr lang="ro-RO" altLang="en-US" sz="1800" dirty="0"/>
              <a:t>Sintaxa: </a:t>
            </a:r>
            <a:r>
              <a:rPr lang="ro-RO" altLang="en-US" sz="1800" dirty="0">
                <a:latin typeface="Trebuchet MS" panose="020B0703020202090204" pitchFamily="34" charset="0"/>
              </a:rPr>
              <a:t> </a:t>
            </a:r>
            <a:r>
              <a:rPr lang="ro-RO" altLang="en-US" sz="1800" b="1" i="1" dirty="0" err="1"/>
              <a:t>element</a:t>
            </a:r>
            <a:r>
              <a:rPr lang="ro-RO" altLang="en-US" sz="1800" dirty="0" err="1">
                <a:latin typeface="Trebuchet MS" panose="020B0703020202090204" pitchFamily="34" charset="0"/>
              </a:rPr>
              <a:t>:</a:t>
            </a:r>
            <a:r>
              <a:rPr lang="ro-RO" altLang="en-US" sz="1800" b="1" i="1" dirty="0" err="1"/>
              <a:t>pseudo-class</a:t>
            </a:r>
            <a:r>
              <a:rPr lang="ro-RO" altLang="en-US" sz="1800" dirty="0">
                <a:latin typeface="Trebuchet MS" panose="020B0703020202090204" pitchFamily="34" charset="0"/>
              </a:rPr>
              <a:t> {</a:t>
            </a:r>
            <a:r>
              <a:rPr lang="ro-RO" altLang="en-US" sz="1800" b="1" i="1" dirty="0"/>
              <a:t>...</a:t>
            </a:r>
            <a:r>
              <a:rPr lang="ro-RO" altLang="en-US" sz="1800" dirty="0">
                <a:latin typeface="Trebuchet MS" panose="020B0703020202090204" pitchFamily="34" charset="0"/>
              </a:rPr>
              <a:t>}</a:t>
            </a:r>
          </a:p>
          <a:p>
            <a:pPr lvl="1" eaLnBrk="1" hangingPunct="1"/>
            <a:r>
              <a:rPr lang="ro-RO" altLang="en-US" dirty="0">
                <a:latin typeface="Trebuchet MS" panose="020B0703020202090204" pitchFamily="34" charset="0"/>
              </a:rPr>
              <a:t>:link</a:t>
            </a:r>
          </a:p>
          <a:p>
            <a:pPr lvl="2" eaLnBrk="1" hangingPunct="1"/>
            <a:r>
              <a:rPr lang="ro-RO" altLang="en-US" sz="1800" dirty="0"/>
              <a:t>Un link ce nu a fost vizitat</a:t>
            </a:r>
          </a:p>
          <a:p>
            <a:pPr lvl="1" eaLnBrk="1" hangingPunct="1"/>
            <a:r>
              <a:rPr lang="ro-RO" altLang="en-US" dirty="0">
                <a:latin typeface="Trebuchet MS" panose="020B0703020202090204" pitchFamily="34" charset="0"/>
              </a:rPr>
              <a:t>:</a:t>
            </a:r>
            <a:r>
              <a:rPr lang="ro-RO" altLang="en-US" dirty="0" err="1">
                <a:latin typeface="Trebuchet MS" panose="020B0703020202090204" pitchFamily="34" charset="0"/>
              </a:rPr>
              <a:t>visited</a:t>
            </a:r>
            <a:endParaRPr lang="ro-RO" altLang="en-US" dirty="0">
              <a:latin typeface="Trebuchet MS" panose="020B0703020202090204" pitchFamily="34" charset="0"/>
            </a:endParaRPr>
          </a:p>
          <a:p>
            <a:pPr lvl="2" eaLnBrk="1" hangingPunct="1"/>
            <a:r>
              <a:rPr lang="ro-RO" altLang="en-US" sz="1800" dirty="0"/>
              <a:t>Un link ce a fost vizitat</a:t>
            </a:r>
          </a:p>
          <a:p>
            <a:pPr lvl="1" eaLnBrk="1" hangingPunct="1"/>
            <a:r>
              <a:rPr lang="ro-RO" altLang="en-US" dirty="0">
                <a:latin typeface="Trebuchet MS" panose="020B0703020202090204" pitchFamily="34" charset="0"/>
              </a:rPr>
              <a:t>:active</a:t>
            </a:r>
          </a:p>
          <a:p>
            <a:pPr lvl="2" eaLnBrk="1" hangingPunct="1"/>
            <a:r>
              <a:rPr lang="ro-RO" altLang="en-US" sz="1800" dirty="0"/>
              <a:t>Un link pe care tocmai se execută un click</a:t>
            </a:r>
          </a:p>
          <a:p>
            <a:pPr lvl="1" eaLnBrk="1" hangingPunct="1"/>
            <a:r>
              <a:rPr lang="ro-RO" altLang="en-US" dirty="0">
                <a:latin typeface="Trebuchet MS" panose="020B0703020202090204" pitchFamily="34" charset="0"/>
              </a:rPr>
              <a:t>:</a:t>
            </a:r>
            <a:r>
              <a:rPr lang="ro-RO" altLang="en-US" dirty="0" err="1">
                <a:latin typeface="Trebuchet MS" panose="020B0703020202090204" pitchFamily="34" charset="0"/>
              </a:rPr>
              <a:t>hover</a:t>
            </a:r>
            <a:endParaRPr lang="ro-RO" altLang="en-US" dirty="0">
              <a:latin typeface="Trebuchet MS" panose="020B0703020202090204" pitchFamily="34" charset="0"/>
            </a:endParaRPr>
          </a:p>
          <a:p>
            <a:pPr lvl="2" eaLnBrk="1" hangingPunct="1"/>
            <a:r>
              <a:rPr lang="ro-RO" altLang="en-US" sz="1800" dirty="0"/>
              <a:t>Un link peste care este poziționat cursorul mouse-ului</a:t>
            </a:r>
          </a:p>
          <a:p>
            <a:pPr eaLnBrk="1" hangingPunct="1"/>
            <a:r>
              <a:rPr lang="ro-RO" altLang="en-US" sz="1800" dirty="0"/>
              <a:t>Pseudo-clasele sunt permise oriunde în cadrul selectorilor CSS</a:t>
            </a:r>
          </a:p>
          <a:p>
            <a:pPr eaLnBrk="1" hangingPunct="1"/>
            <a:endParaRPr lang="ro-RO" altLang="en-US" sz="1800" dirty="0"/>
          </a:p>
        </p:txBody>
      </p:sp>
      <p:sp>
        <p:nvSpPr>
          <p:cNvPr id="893959" name="Rectangle 89395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3961" name="Rectangle 89396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49" name="Slide Number Placeholder 5">
            <a:extLst>
              <a:ext uri="{FF2B5EF4-FFF2-40B4-BE49-F238E27FC236}">
                <a16:creationId xmlns:a16="http://schemas.microsoft.com/office/drawing/2014/main" id="{2538EB9B-BB36-49F5-A15D-2634640904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A7F127B4-6E34-B84D-BA18-496FD92B45FD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86</a:t>
            </a:fld>
            <a:endParaRPr lang="en-US" altLang="en-US" sz="13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4" name="Rectangle 111623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1626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11628" name="Straight Connector 111627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1630" name="Rectangle 111629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632" name="Rectangle 111631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893020-E4E9-8576-09FF-A2612ADB2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defRPr/>
            </a:pPr>
            <a:r>
              <a:rPr lang="en-US" alt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HTML 5</a:t>
            </a:r>
          </a:p>
        </p:txBody>
      </p:sp>
      <p:pic>
        <p:nvPicPr>
          <p:cNvPr id="111617" name="Picture 7" descr="HTML5">
            <a:extLst>
              <a:ext uri="{FF2B5EF4-FFF2-40B4-BE49-F238E27FC236}">
                <a16:creationId xmlns:a16="http://schemas.microsoft.com/office/drawing/2014/main" id="{03952EEE-1668-1D3F-213D-EA5B214DAB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86641" y="640080"/>
            <a:ext cx="6612914" cy="330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1634" name="Straight Connector 111633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619" name="Slide Number Placeholder 5">
            <a:extLst>
              <a:ext uri="{FF2B5EF4-FFF2-40B4-BE49-F238E27FC236}">
                <a16:creationId xmlns:a16="http://schemas.microsoft.com/office/drawing/2014/main" id="{6C09D89F-8FC9-480A-2246-CC2D2F94A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60A9BCED-0241-1948-A5CA-C641946DD0CB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87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3" name="Rectangle 113672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3675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13677" name="Straight Connector 113676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3679" name="Rectangle 113678">
            <a:extLst>
              <a:ext uri="{FF2B5EF4-FFF2-40B4-BE49-F238E27FC236}">
                <a16:creationId xmlns:a16="http://schemas.microsoft.com/office/drawing/2014/main" id="{C411DB08-1669-426B-BBEB-FAD285EF8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681" name="Rectangle 113680">
            <a:extLst>
              <a:ext uri="{FF2B5EF4-FFF2-40B4-BE49-F238E27FC236}">
                <a16:creationId xmlns:a16="http://schemas.microsoft.com/office/drawing/2014/main" id="{029E4219-121F-4CD1-AA58-24746CD2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46854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5643E-64B4-586D-EEFB-8898816CE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276" y="640080"/>
            <a:ext cx="4208656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sz="4400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Markup Evolution</a:t>
            </a:r>
          </a:p>
        </p:txBody>
      </p:sp>
      <p:cxnSp>
        <p:nvCxnSpPr>
          <p:cNvPr id="113683" name="Straight Connector 113682">
            <a:extLst>
              <a:ext uri="{FF2B5EF4-FFF2-40B4-BE49-F238E27FC236}">
                <a16:creationId xmlns:a16="http://schemas.microsoft.com/office/drawing/2014/main" id="{52F50912-06FD-4216-BAD3-21050F595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86679" y="3765314"/>
            <a:ext cx="3931920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668" name="Picture 2" descr="markup evolution">
            <a:extLst>
              <a:ext uri="{FF2B5EF4-FFF2-40B4-BE49-F238E27FC236}">
                <a16:creationId xmlns:a16="http://schemas.microsoft.com/office/drawing/2014/main" id="{B7A0716C-D0FA-BE38-8A1E-A9DB1635D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786411"/>
            <a:ext cx="5459470" cy="5286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3666" name="Footer Placeholder 4">
            <a:extLst>
              <a:ext uri="{FF2B5EF4-FFF2-40B4-BE49-F238E27FC236}">
                <a16:creationId xmlns:a16="http://schemas.microsoft.com/office/drawing/2014/main" id="{855A0D8B-851C-7B0C-BA08-BA6E85F45B9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842932" y="6470704"/>
            <a:ext cx="5901459" cy="2743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000" kern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rPr>
              <a:t>Curs Programare Web, anul 4 C5 – Curs 6</a:t>
            </a:r>
          </a:p>
        </p:txBody>
      </p:sp>
      <p:sp>
        <p:nvSpPr>
          <p:cNvPr id="113667" name="Slide Number Placeholder 5">
            <a:extLst>
              <a:ext uri="{FF2B5EF4-FFF2-40B4-BE49-F238E27FC236}">
                <a16:creationId xmlns:a16="http://schemas.microsoft.com/office/drawing/2014/main" id="{8DF50557-CA3B-0759-0DE5-92501AAF9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895B0E23-5FB2-B747-8354-0214C51A5C57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88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>
            <a:extLst>
              <a:ext uri="{FF2B5EF4-FFF2-40B4-BE49-F238E27FC236}">
                <a16:creationId xmlns:a16="http://schemas.microsoft.com/office/drawing/2014/main" id="{F40D01E8-96B1-83CE-938D-F648ECAB3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 dirty="0" err="1"/>
              <a:t>Istoria</a:t>
            </a:r>
            <a:r>
              <a:rPr lang="en-US" altLang="en-US" dirty="0"/>
              <a:t> </a:t>
            </a:r>
            <a:r>
              <a:rPr lang="en-US" altLang="en-US" dirty="0" err="1"/>
              <a:t>Standardelor</a:t>
            </a:r>
            <a:r>
              <a:rPr lang="en-US" altLang="en-US" dirty="0"/>
              <a:t> Web</a:t>
            </a:r>
          </a:p>
        </p:txBody>
      </p:sp>
      <p:sp>
        <p:nvSpPr>
          <p:cNvPr id="118786" name="TextBox 9">
            <a:extLst>
              <a:ext uri="{FF2B5EF4-FFF2-40B4-BE49-F238E27FC236}">
                <a16:creationId xmlns:a16="http://schemas.microsoft.com/office/drawing/2014/main" id="{F5A2E243-E5DA-C756-BB34-5C1D0E967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5317" y="3949262"/>
            <a:ext cx="996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HTML 5</a:t>
            </a:r>
          </a:p>
        </p:txBody>
      </p:sp>
      <p:sp>
        <p:nvSpPr>
          <p:cNvPr id="118787" name="TextBox 10">
            <a:extLst>
              <a:ext uri="{FF2B5EF4-FFF2-40B4-BE49-F238E27FC236}">
                <a16:creationId xmlns:a16="http://schemas.microsoft.com/office/drawing/2014/main" id="{7C1AF237-16AF-7A4C-38CD-C577D2D076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8718" y="3949262"/>
            <a:ext cx="6588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cs typeface="Arial" panose="020B0604020202020204" pitchFamily="34" charset="0"/>
              </a:rPr>
              <a:t>CSS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7D27633-A9F8-D331-57E8-80774A258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797618"/>
              </p:ext>
            </p:extLst>
          </p:nvPr>
        </p:nvGraphicFramePr>
        <p:xfrm>
          <a:off x="1592317" y="4304863"/>
          <a:ext cx="3733800" cy="1482724"/>
        </p:xfrm>
        <a:graphic>
          <a:graphicData uri="http://schemas.openxmlformats.org/drawingml/2006/table">
            <a:tbl>
              <a:tblPr firstRow="1" bandRow="1"/>
              <a:tblGrid>
                <a:gridCol w="1540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b="0" dirty="0"/>
                        <a:t>2004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b="0" dirty="0"/>
                        <a:t>WHATWG started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2008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W3C Working Draft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2012 (2010)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W3C Candidate </a:t>
                      </a:r>
                      <a:r>
                        <a:rPr lang="en-US" sz="1800" dirty="0" err="1"/>
                        <a:t>Rec</a:t>
                      </a:r>
                      <a:endParaRPr lang="en-US" sz="1800" dirty="0"/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2022</a:t>
                      </a:r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sz="1800" dirty="0"/>
                        <a:t>W3C </a:t>
                      </a:r>
                      <a:r>
                        <a:rPr lang="en-US" sz="1800" dirty="0" err="1"/>
                        <a:t>Rec</a:t>
                      </a:r>
                      <a:endParaRPr lang="en-US" sz="1800" dirty="0"/>
                    </a:p>
                  </a:txBody>
                  <a:tcPr marT="45700" marB="45700">
                    <a:lnL w="12700" cmpd="sng">
                      <a:solidFill>
                        <a:srgbClr val="9BBB59"/>
                      </a:solidFill>
                    </a:lnL>
                    <a:lnR w="12700" cmpd="sng">
                      <a:solidFill>
                        <a:srgbClr val="9BBB59"/>
                      </a:solidFill>
                    </a:lnR>
                    <a:lnT w="12700" cmpd="sng">
                      <a:solidFill>
                        <a:srgbClr val="9BBB59"/>
                      </a:solidFill>
                    </a:lnT>
                    <a:lnB w="12700" cmpd="sng">
                      <a:solidFill>
                        <a:srgbClr val="9BBB59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AADDCD6-5D83-B9D2-8C2A-4EBF3EC8E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963306"/>
              </p:ext>
            </p:extLst>
          </p:nvPr>
        </p:nvGraphicFramePr>
        <p:xfrm>
          <a:off x="5707117" y="4304862"/>
          <a:ext cx="3886200" cy="1854200"/>
        </p:xfrm>
        <a:graphic>
          <a:graphicData uri="http://schemas.openxmlformats.org/drawingml/2006/table">
            <a:tbl>
              <a:tblPr firstRow="1" bandRow="1"/>
              <a:tblGrid>
                <a:gridCol w="1675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02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b="0" dirty="0"/>
                        <a:t>1996 – CSS 1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b="0" dirty="0"/>
                        <a:t>W3C </a:t>
                      </a:r>
                      <a:r>
                        <a:rPr lang="en-US" b="0" dirty="0" err="1"/>
                        <a:t>Rec</a:t>
                      </a:r>
                      <a:endParaRPr lang="en-US" b="0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1998 – CSS 2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W3C </a:t>
                      </a:r>
                      <a:r>
                        <a:rPr lang="en-US" dirty="0" err="1"/>
                        <a:t>Rec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1999</a:t>
                      </a:r>
                      <a:r>
                        <a:rPr lang="en-US" baseline="0" dirty="0"/>
                        <a:t> – CSS 3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Proposed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2005</a:t>
                      </a:r>
                      <a:r>
                        <a:rPr lang="en-US" baseline="0" dirty="0"/>
                        <a:t> – CSS 2.1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W3C Candidate </a:t>
                      </a:r>
                      <a:r>
                        <a:rPr lang="en-US" dirty="0" err="1"/>
                        <a:t>Rec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2001 – CSS 3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  <a:ea typeface=""/>
                          <a:cs typeface=""/>
                        </a:defRPr>
                      </a:lvl9pPr>
                    </a:lstStyle>
                    <a:p>
                      <a:r>
                        <a:rPr lang="en-US" dirty="0"/>
                        <a:t>W3C Working Draft</a:t>
                      </a:r>
                    </a:p>
                  </a:txBody>
                  <a:tcPr>
                    <a:lnL w="12700" cmpd="sng">
                      <a:solidFill>
                        <a:srgbClr val="4F81BD"/>
                      </a:solidFill>
                    </a:lnL>
                    <a:lnR w="12700" cmpd="sng">
                      <a:solidFill>
                        <a:srgbClr val="4F81BD"/>
                      </a:solidFill>
                    </a:lnR>
                    <a:lnT w="12700" cmpd="sng">
                      <a:solidFill>
                        <a:srgbClr val="4F81BD"/>
                      </a:solidFill>
                    </a:lnT>
                    <a:lnB w="12700" cmpd="sng">
                      <a:solidFill>
                        <a:srgbClr val="4F81BD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BB59">
                        <a:lumMod val="20000"/>
                        <a:lumOff val="8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6" name="Content Placeholder 5">
            <a:extLst>
              <a:ext uri="{FF2B5EF4-FFF2-40B4-BE49-F238E27FC236}">
                <a16:creationId xmlns:a16="http://schemas.microsoft.com/office/drawing/2014/main" id="{896B3D6A-9A4D-0239-A891-2F94BF5ED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70332"/>
              </p:ext>
            </p:extLst>
          </p:nvPr>
        </p:nvGraphicFramePr>
        <p:xfrm>
          <a:off x="1592317" y="1968063"/>
          <a:ext cx="8229600" cy="1597026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91-92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93-94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95-96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97-98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99-00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01-02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03-04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05-06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07-08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09-10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11-12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13-14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1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4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XHTML 1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HTML 5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CSS 1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CSS 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T-less D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Web 2.0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CSS3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F1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0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JS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ECMA, DOM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DOM 2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Ajax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pitchFamily="34" charset="0"/>
                        </a:rPr>
                        <a:t>DOM, APIs</a:t>
                      </a: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pitchFamily="34" charset="0"/>
                      </a:endParaRPr>
                    </a:p>
                  </a:txBody>
                  <a:tcPr marT="45738" marB="45738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7E4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09D73C-D86A-80C0-D347-1AD701792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DOCTYPE</a:t>
            </a:r>
            <a:endParaRPr lang="en-US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01B73B1-32D0-DAE0-2FD6-555227AB296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443728" y="2084832"/>
            <a:ext cx="4191000" cy="4648200"/>
          </a:xfrm>
        </p:spPr>
        <p:txBody>
          <a:bodyPr/>
          <a:lstStyle/>
          <a:p>
            <a:r>
              <a:rPr lang="ro-RO" altLang="en-US"/>
              <a:t>HTML 5</a:t>
            </a:r>
            <a:endParaRPr lang="en-US" altLang="en-US"/>
          </a:p>
          <a:p>
            <a:pPr>
              <a:buFontTx/>
              <a:buNone/>
            </a:pPr>
            <a:r>
              <a:rPr lang="ro-RO" alt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&lt;!DOCTYPE html&gt; </a:t>
            </a:r>
          </a:p>
          <a:p>
            <a:endParaRPr lang="ro-RO" altLang="en-US"/>
          </a:p>
          <a:p>
            <a:endParaRPr lang="ro-RO" altLang="en-US"/>
          </a:p>
          <a:p>
            <a:endParaRPr lang="en-US" alt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7E0968-2803-03FF-2FFC-2922B05D966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1024128" y="2084832"/>
            <a:ext cx="4114800" cy="41910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&lt;!DOCTYPE </a:t>
            </a:r>
          </a:p>
          <a:p>
            <a:pPr marL="0" indent="0">
              <a:buNone/>
            </a:pPr>
            <a:r>
              <a:rPr lang="en-US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html </a:t>
            </a:r>
          </a:p>
          <a:p>
            <a:pPr marL="0" indent="0">
              <a:buNone/>
            </a:pPr>
            <a:r>
              <a:rPr lang="en-US" altLang="en-US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PUBLIC "-//W3C//DTD XHTML 1.0 Transitional//EN„</a:t>
            </a:r>
            <a:r>
              <a:rPr lang="ro-RO" altLang="en-US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4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“http://www.w3.org/TR/xhtml1/DTD/xhtml1-transitional.dtd"&gt;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9E4439-C1DD-0ADF-72A4-E7BA1B34D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Radacina</a:t>
            </a:r>
            <a:r>
              <a:rPr lang="en-US" dirty="0"/>
              <a:t> HTML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2A469F-7BCA-E969-1002-7B0E8CE1FFF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617779" y="1873469"/>
            <a:ext cx="3810000" cy="4572000"/>
          </a:xfrm>
        </p:spPr>
        <p:txBody>
          <a:bodyPr/>
          <a:lstStyle/>
          <a:p>
            <a:r>
              <a:rPr lang="ro-RO" altLang="en-US"/>
              <a:t>HTML 5</a:t>
            </a:r>
            <a:endParaRPr lang="en-US" altLang="en-US"/>
          </a:p>
          <a:p>
            <a:pPr>
              <a:buFontTx/>
              <a:buNone/>
            </a:pPr>
            <a:r>
              <a:rPr lang="en-US" altLang="en-US" b="1">
                <a:solidFill>
                  <a:srgbClr val="FF0000"/>
                </a:solidFill>
              </a:rPr>
              <a:t>&lt;html lang="en"&gt; </a:t>
            </a:r>
            <a:endParaRPr lang="ro-RO" altLang="en-US" b="1">
              <a:solidFill>
                <a:srgbClr val="FF0000"/>
              </a:solidFill>
            </a:endParaRPr>
          </a:p>
          <a:p>
            <a:endParaRPr lang="ro-RO" altLang="en-US"/>
          </a:p>
          <a:p>
            <a:endParaRPr lang="en-US" alt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B25D61-6E69-172E-EE26-96E0D9324E2A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1121979" y="1873469"/>
            <a:ext cx="4343400" cy="4800600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&lt;html 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=http://www.w3.org/1999/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xhtml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lang="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pPr marL="0" indent="0">
              <a:buNone/>
            </a:pP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xml:lang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alt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r>
              <a:rPr lang="en-US" alt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C3112E-4161-11ED-3895-2CE1FCDD8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CHARSET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B7AC01-FE27-857A-53B2-F3A101381C3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119352" y="3989832"/>
            <a:ext cx="6629400" cy="1828800"/>
          </a:xfrm>
        </p:spPr>
        <p:txBody>
          <a:bodyPr/>
          <a:lstStyle/>
          <a:p>
            <a:r>
              <a:rPr lang="ro-RO" altLang="en-US"/>
              <a:t>HTML 5</a:t>
            </a:r>
            <a:endParaRPr lang="en-US" altLang="en-US"/>
          </a:p>
          <a:p>
            <a:pPr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&lt;meta charset="utf-8"&gt; </a:t>
            </a:r>
            <a:endParaRPr lang="ro-RO" altLang="en-US" b="1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C6B5E2-0544-84CA-5FB4-0EA62BD54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352" y="2084832"/>
            <a:ext cx="6705600" cy="1752600"/>
          </a:xfrm>
          <a:ln>
            <a:miter lim="800000"/>
            <a:headEnd/>
            <a:tailEnd/>
          </a:ln>
        </p:spPr>
        <p:txBody>
          <a:bodyPr rtlCol="0"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en-US" sz="2400" b="1" dirty="0">
                <a:latin typeface="Courier New" pitchFamily="49" charset="0"/>
                <a:cs typeface="Courier New" pitchFamily="49" charset="0"/>
              </a:rPr>
              <a:t>&lt;meta </a:t>
            </a:r>
            <a:r>
              <a:rPr lang="en-US" sz="2400" b="1" strike="sngStrike" dirty="0">
                <a:latin typeface="Courier New" pitchFamily="49" charset="0"/>
                <a:cs typeface="Courier New" pitchFamily="49" charset="0"/>
              </a:rPr>
              <a:t>http-</a:t>
            </a:r>
            <a:r>
              <a:rPr lang="en-US" sz="2400" b="1" strike="sngStrike" dirty="0" err="1">
                <a:latin typeface="Courier New" pitchFamily="49" charset="0"/>
                <a:cs typeface="Courier New" pitchFamily="49" charset="0"/>
              </a:rPr>
              <a:t>equiv</a:t>
            </a:r>
            <a:r>
              <a:rPr lang="en-US" sz="2400" b="1" strike="sngStrike" dirty="0">
                <a:latin typeface="Courier New" pitchFamily="49" charset="0"/>
                <a:cs typeface="Courier New" pitchFamily="49" charset="0"/>
              </a:rPr>
              <a:t>="Content-Type" content="text/html;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charset=utf-8"&gt; 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BADEC-2154-41C3-89FD-42CCD0B7F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STYLESHEET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9FF0E49-0551-5046-29FD-6263207BA75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119352" y="4218432"/>
            <a:ext cx="6629400" cy="1828800"/>
          </a:xfrm>
        </p:spPr>
        <p:txBody>
          <a:bodyPr/>
          <a:lstStyle/>
          <a:p>
            <a:r>
              <a:rPr lang="ro-RO" altLang="en-US"/>
              <a:t>HTML 5</a:t>
            </a:r>
            <a:endParaRPr lang="en-US" altLang="en-US"/>
          </a:p>
          <a:p>
            <a:pPr>
              <a:buFontTx/>
              <a:buNone/>
            </a:pPr>
            <a:r>
              <a:rPr lang="en-US" altLang="en-US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&lt;link rel="stylesheet" href="style-original.css" /&gt;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538B7-3CE0-0544-FB95-077B29F71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0752" y="2084832"/>
            <a:ext cx="7315200" cy="1371600"/>
          </a:xfrm>
          <a:ln>
            <a:miter lim="800000"/>
            <a:headEnd/>
            <a:tailEnd/>
          </a:ln>
        </p:spPr>
        <p:txBody>
          <a:bodyPr rtlCol="0">
            <a:noAutofit/>
          </a:bodyPr>
          <a:lstStyle/>
          <a:p>
            <a:pPr>
              <a:spcAft>
                <a:spcPts val="0"/>
              </a:spcAft>
              <a:defRPr/>
            </a:pPr>
            <a:r>
              <a:rPr lang="ro-RO" sz="2400" b="1" dirty="0">
                <a:latin typeface="Courier New" pitchFamily="49" charset="0"/>
                <a:cs typeface="Courier New" pitchFamily="49" charset="0"/>
              </a:rPr>
              <a:t>&lt;link rel="stylesheet" href="style-original.css" </a:t>
            </a:r>
            <a:r>
              <a:rPr lang="ro-RO" sz="2400" b="1" strike="sngStrike" dirty="0">
                <a:latin typeface="Courier New" pitchFamily="49" charset="0"/>
                <a:cs typeface="Courier New" pitchFamily="49" charset="0"/>
              </a:rPr>
              <a:t>type="text/css" </a:t>
            </a:r>
            <a:r>
              <a:rPr lang="ro-RO" sz="2400" b="1" dirty="0">
                <a:latin typeface="Courier New" pitchFamily="49" charset="0"/>
                <a:cs typeface="Courier New" pitchFamily="49" charset="0"/>
              </a:rPr>
              <a:t>/&gt; </a:t>
            </a:r>
            <a:endParaRPr lang="en-US" sz="2400" b="1" strike="sngStrike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8" name="Rectangle 12800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801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28012" name="Straight Connector 12801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ECF4FDC-B3FE-C28F-A2FA-F5CA9704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defRPr/>
            </a:pPr>
            <a:r>
              <a:rPr 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Elemente semantice de sectionare</a:t>
            </a:r>
          </a:p>
        </p:txBody>
      </p:sp>
      <p:sp>
        <p:nvSpPr>
          <p:cNvPr id="128002" name="Text Placeholder 3">
            <a:extLst>
              <a:ext uri="{FF2B5EF4-FFF2-40B4-BE49-F238E27FC236}">
                <a16:creationId xmlns:a16="http://schemas.microsoft.com/office/drawing/2014/main" id="{29312D87-61F9-EE50-A345-BE2836DBED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0600" y="4960137"/>
            <a:ext cx="3200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800">
                <a:solidFill>
                  <a:schemeClr val="tx1">
                    <a:lumMod val="95000"/>
                    <a:lumOff val="5000"/>
                  </a:schemeClr>
                </a:solidFill>
              </a:rPr>
              <a:t>HTML 4</a:t>
            </a:r>
          </a:p>
        </p:txBody>
      </p:sp>
      <p:sp useBgFill="1">
        <p:nvSpPr>
          <p:cNvPr id="128014" name="Rectangle 128013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8003" name="Picture 2">
            <a:extLst>
              <a:ext uri="{FF2B5EF4-FFF2-40B4-BE49-F238E27FC236}">
                <a16:creationId xmlns:a16="http://schemas.microsoft.com/office/drawing/2014/main" id="{57A3E2FC-1463-0315-5721-5AC38C1DD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18406" y="640080"/>
            <a:ext cx="7349383" cy="393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44" name="Rectangle 129031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29045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29046" name="Straight Connector 12903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9047" name="Rectangle 129037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0CB288-2E26-6D9E-C76D-D56F8BA5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Elemente semantice de sectionare</a:t>
            </a:r>
          </a:p>
        </p:txBody>
      </p:sp>
      <p:sp>
        <p:nvSpPr>
          <p:cNvPr id="129026" name="Content Placeholder 2">
            <a:extLst>
              <a:ext uri="{FF2B5EF4-FFF2-40B4-BE49-F238E27FC236}">
                <a16:creationId xmlns:a16="http://schemas.microsoft.com/office/drawing/2014/main" id="{2435B31C-3BE8-BF28-F29D-1518DFA277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6806" y="3849539"/>
            <a:ext cx="3378098" cy="2367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HTML 5</a:t>
            </a:r>
          </a:p>
        </p:txBody>
      </p:sp>
      <p:cxnSp>
        <p:nvCxnSpPr>
          <p:cNvPr id="129048" name="Straight Connector 129039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027" name="Picture 2">
            <a:extLst>
              <a:ext uri="{FF2B5EF4-FFF2-40B4-BE49-F238E27FC236}">
                <a16:creationId xmlns:a16="http://schemas.microsoft.com/office/drawing/2014/main" id="{C2EA1D9D-EBA4-3D07-B72B-1F7415217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984" y="886839"/>
            <a:ext cx="6896936" cy="5085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101FA28-A962-C67A-88BD-AEDE7693F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&lt;TIME&gt;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CF63E6-5CA3-27CB-2B05-645EAFE2A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8018271" cy="4023360"/>
          </a:xfrm>
        </p:spPr>
        <p:txBody>
          <a:bodyPr rtlCol="0"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en-US" sz="1700"/>
              <a:t>&lt;time </a:t>
            </a:r>
            <a:r>
              <a:rPr lang="en-US" sz="1700" err="1"/>
              <a:t>datetime</a:t>
            </a:r>
            <a:r>
              <a:rPr lang="en-US" sz="1700"/>
              <a:t>="2009-10-22" </a:t>
            </a:r>
            <a:r>
              <a:rPr lang="en-US" sz="1700" err="1"/>
              <a:t>pubdate</a:t>
            </a:r>
            <a:r>
              <a:rPr lang="en-US" sz="1700"/>
              <a:t>&gt;October 22, 2009&lt;/time&gt;</a:t>
            </a:r>
          </a:p>
          <a:p>
            <a:pPr>
              <a:spcAft>
                <a:spcPts val="0"/>
              </a:spcAft>
              <a:defRPr/>
            </a:pPr>
            <a:r>
              <a:rPr lang="en-US" sz="1700"/>
              <a:t> &lt;time </a:t>
            </a:r>
            <a:r>
              <a:rPr lang="en-US" sz="1700" err="1"/>
              <a:t>datetime</a:t>
            </a:r>
            <a:r>
              <a:rPr lang="en-US" sz="1700"/>
              <a:t>="2009-10-22T13:59:47-04:00" </a:t>
            </a:r>
            <a:r>
              <a:rPr lang="en-US" sz="1700" err="1"/>
              <a:t>pubdate</a:t>
            </a:r>
            <a:r>
              <a:rPr lang="en-US" sz="1700"/>
              <a:t>&gt; October 22, 2009 1:59pm EDT &lt;/time&gt; </a:t>
            </a:r>
          </a:p>
          <a:p>
            <a:pPr>
              <a:spcAft>
                <a:spcPts val="0"/>
              </a:spcAft>
              <a:defRPr/>
            </a:pPr>
            <a:r>
              <a:rPr lang="en-US" sz="1700"/>
              <a:t>&lt;article&gt;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US" sz="1700"/>
              <a:t>	 &lt;header&gt; </a:t>
            </a:r>
          </a:p>
          <a:p>
            <a:pPr marL="274320" lvl="1" indent="0">
              <a:spcAft>
                <a:spcPts val="0"/>
              </a:spcAft>
              <a:buNone/>
              <a:defRPr/>
            </a:pPr>
            <a:r>
              <a:rPr lang="en-US" sz="1700"/>
              <a:t>	&lt;time </a:t>
            </a:r>
            <a:r>
              <a:rPr lang="en-US" sz="1700" err="1"/>
              <a:t>datetime</a:t>
            </a:r>
            <a:r>
              <a:rPr lang="en-US" sz="1700"/>
              <a:t>="2009-10-22" </a:t>
            </a:r>
            <a:r>
              <a:rPr lang="en-US" sz="1700" err="1"/>
              <a:t>pubdate</a:t>
            </a:r>
            <a:r>
              <a:rPr lang="en-US" sz="1700"/>
              <a:t>&gt; October 22, 2009 &lt;/time&gt;</a:t>
            </a:r>
          </a:p>
          <a:p>
            <a:pPr marL="274320" lvl="1" indent="0">
              <a:spcAft>
                <a:spcPts val="0"/>
              </a:spcAft>
              <a:buNone/>
              <a:defRPr/>
            </a:pPr>
            <a:r>
              <a:rPr lang="en-US" sz="1700"/>
              <a:t>	 &lt;h1&gt; &lt;a </a:t>
            </a:r>
            <a:r>
              <a:rPr lang="en-US" sz="1700" err="1"/>
              <a:t>href</a:t>
            </a:r>
            <a:r>
              <a:rPr lang="en-US" sz="1700"/>
              <a:t>="#" </a:t>
            </a:r>
            <a:r>
              <a:rPr lang="en-US" sz="1700" err="1"/>
              <a:t>rel</a:t>
            </a:r>
            <a:r>
              <a:rPr lang="en-US" sz="1700"/>
              <a:t>="bookmark" title="link to this post"&gt; Travel day &lt;/a&gt; &lt;/h1&gt;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US" sz="1700"/>
              <a:t>	 &lt;/header&gt;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US" sz="1700"/>
              <a:t>	 &lt;p&gt;</a:t>
            </a:r>
            <a:r>
              <a:rPr lang="en-US" sz="1700" err="1"/>
              <a:t>Lorem</a:t>
            </a:r>
            <a:r>
              <a:rPr lang="en-US" sz="1700"/>
              <a:t> </a:t>
            </a:r>
            <a:r>
              <a:rPr lang="en-US" sz="1700" err="1"/>
              <a:t>ipsum</a:t>
            </a:r>
            <a:r>
              <a:rPr lang="en-US" sz="1700"/>
              <a:t> dolor sit </a:t>
            </a:r>
            <a:r>
              <a:rPr lang="en-US" sz="1700" err="1"/>
              <a:t>amet</a:t>
            </a:r>
            <a:r>
              <a:rPr lang="en-US" sz="1700"/>
              <a:t>…&lt;/p&gt;</a:t>
            </a:r>
          </a:p>
          <a:p>
            <a:pPr marL="0" indent="0">
              <a:spcAft>
                <a:spcPts val="0"/>
              </a:spcAft>
              <a:buNone/>
              <a:defRPr/>
            </a:pPr>
            <a:r>
              <a:rPr lang="en-US" sz="1700"/>
              <a:t> &lt;/article&gt;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07A03C-FD70-937E-8507-F9F83403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&lt;CANVAS&gt;</a:t>
            </a:r>
          </a:p>
        </p:txBody>
      </p:sp>
      <p:sp>
        <p:nvSpPr>
          <p:cNvPr id="141314" name="Content Placeholder 4">
            <a:extLst>
              <a:ext uri="{FF2B5EF4-FFF2-40B4-BE49-F238E27FC236}">
                <a16:creationId xmlns:a16="http://schemas.microsoft.com/office/drawing/2014/main" id="{CE150108-D0FF-EC45-6EB6-FED3FD6AAB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9" y="1918138"/>
            <a:ext cx="8018271" cy="4023360"/>
          </a:xfrm>
        </p:spPr>
        <p:txBody>
          <a:bodyPr>
            <a:normAutofit/>
          </a:bodyPr>
          <a:lstStyle/>
          <a:p>
            <a:r>
              <a:rPr lang="en-US" altLang="en-US" sz="1700" dirty="0" err="1"/>
              <a:t>Sintaxa</a:t>
            </a:r>
            <a:r>
              <a:rPr lang="en-US" altLang="en-US" sz="1700" dirty="0"/>
              <a:t>:</a:t>
            </a:r>
          </a:p>
          <a:p>
            <a:pPr>
              <a:buFontTx/>
              <a:buNone/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&lt;canvas id="a" width="300" height="225"&gt;&lt;/canvas&gt; </a:t>
            </a:r>
          </a:p>
          <a:p>
            <a:r>
              <a:rPr lang="en-US" altLang="en-US" sz="1700" dirty="0" err="1"/>
              <a:t>Utilizare</a:t>
            </a:r>
            <a:r>
              <a:rPr lang="en-US" altLang="en-US" sz="1700" dirty="0"/>
              <a:t> cu JavaScript &amp; DOM</a:t>
            </a:r>
          </a:p>
          <a:p>
            <a:pPr>
              <a:buFontTx/>
              <a:buNone/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US" alt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a_canvas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("a");</a:t>
            </a:r>
          </a:p>
          <a:p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b="1" dirty="0" err="1">
                <a:cs typeface="Courier New" panose="02070309020205020404" pitchFamily="49" charset="0"/>
              </a:rPr>
              <a:t>Desenare</a:t>
            </a:r>
            <a:endParaRPr lang="en-US" altLang="en-US" sz="1700" b="1" dirty="0"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</a:t>
            </a:r>
            <a:r>
              <a:rPr lang="en-US" alt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draw_b</a:t>
            </a: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marL="273050" lvl="1" indent="0">
              <a:buNone/>
            </a:pP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var </a:t>
            </a:r>
            <a:r>
              <a:rPr lang="en-US" alt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b_canvas</a:t>
            </a: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7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("b");</a:t>
            </a:r>
          </a:p>
          <a:p>
            <a:pPr marL="273050" lvl="1" indent="0">
              <a:buNone/>
            </a:pP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US" alt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b_context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b_canvas.getContext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("2d");//future 3D</a:t>
            </a:r>
          </a:p>
          <a:p>
            <a:pPr marL="273050" lvl="1" indent="0">
              <a:buNone/>
            </a:pP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7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b_context.fillRect</a:t>
            </a:r>
            <a:r>
              <a:rPr lang="en-US" altLang="en-US" sz="1700" b="1" dirty="0">
                <a:latin typeface="Courier New" panose="02070309020205020404" pitchFamily="49" charset="0"/>
                <a:cs typeface="Courier New" panose="02070309020205020404" pitchFamily="49" charset="0"/>
              </a:rPr>
              <a:t>(50, 25, 150, 100);</a:t>
            </a:r>
          </a:p>
          <a:p>
            <a:pPr>
              <a:buFontTx/>
              <a:buNone/>
            </a:pPr>
            <a:r>
              <a:rPr lang="en-US" alt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} </a:t>
            </a:r>
            <a:endParaRPr lang="en-US" altLang="en-US" sz="17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1319" name="Rectangle 141318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321" name="Rectangle 141320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18503B2-5E7D-BCD1-F1B9-ED50A63F0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en-US"/>
              <a:t>Canvas</a:t>
            </a:r>
          </a:p>
        </p:txBody>
      </p:sp>
      <p:sp>
        <p:nvSpPr>
          <p:cNvPr id="142338" name="Content Placeholder 3">
            <a:extLst>
              <a:ext uri="{FF2B5EF4-FFF2-40B4-BE49-F238E27FC236}">
                <a16:creationId xmlns:a16="http://schemas.microsoft.com/office/drawing/2014/main" id="{1AB36B67-5FD4-2E30-BD23-7A36095561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00958" y="1849821"/>
            <a:ext cx="8305800" cy="45720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&lt;canvas id=“canvas” width=“150” height=“150”&gt;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&lt;/canvas&gt;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function draw()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var canvas = 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document.getElementById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(“canvas”);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canvas.getContext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var 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canvas.getContext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(“2d”);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ctx.fillStyle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rgb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(200,0,0)”;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ctx.fillRect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(10,10,55,50);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1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ctx.fillStyle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= “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rgb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(0,0,200)”;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9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ctx.fillRect</a:t>
            </a: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 (30,30,55,50);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19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B7D16A-CD33-9EDB-7F88-86527964DECB}"/>
              </a:ext>
            </a:extLst>
          </p:cNvPr>
          <p:cNvSpPr/>
          <p:nvPr/>
        </p:nvSpPr>
        <p:spPr>
          <a:xfrm>
            <a:off x="3733800" y="533400"/>
            <a:ext cx="533400" cy="533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  <a:cs typeface="Arial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9EA9CA-4403-1B3B-74C8-BD23D7B6F55C}"/>
              </a:ext>
            </a:extLst>
          </p:cNvPr>
          <p:cNvSpPr/>
          <p:nvPr/>
        </p:nvSpPr>
        <p:spPr>
          <a:xfrm>
            <a:off x="4038600" y="838200"/>
            <a:ext cx="533400" cy="5334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  <a:latin typeface="Calibri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1A906-6031-6EE3-6493-7987927A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&lt;CANVAS&gt;</a:t>
            </a:r>
          </a:p>
        </p:txBody>
      </p:sp>
      <p:sp>
        <p:nvSpPr>
          <p:cNvPr id="143362" name="Content Placeholder 2">
            <a:extLst>
              <a:ext uri="{FF2B5EF4-FFF2-40B4-BE49-F238E27FC236}">
                <a16:creationId xmlns:a16="http://schemas.microsoft.com/office/drawing/2014/main" id="{AEC580CB-A3D8-D14B-EBDF-228E70CF13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918138"/>
            <a:ext cx="8018271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000" dirty="0" err="1"/>
              <a:t>Desenarea</a:t>
            </a:r>
            <a:r>
              <a:rPr lang="en-US" altLang="en-US" sz="2000" dirty="0"/>
              <a:t> in Canvas Context:</a:t>
            </a:r>
          </a:p>
          <a:p>
            <a:pPr marL="0" indent="0">
              <a:buNone/>
            </a:pPr>
            <a:r>
              <a:rPr lang="en-US" altLang="en-US" sz="2000" dirty="0"/>
              <a:t>Sunt </a:t>
            </a:r>
            <a:r>
              <a:rPr lang="en-US" altLang="en-US" sz="2000" dirty="0" err="1"/>
              <a:t>esentiale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functiile</a:t>
            </a:r>
            <a:r>
              <a:rPr lang="en-US" altLang="en-US" sz="2000" dirty="0"/>
              <a:t>:</a:t>
            </a:r>
          </a:p>
          <a:p>
            <a:pPr marL="0" indent="0">
              <a:buFont typeface="Wingdings" pitchFamily="2" charset="2"/>
              <a:buChar char="v"/>
            </a:pPr>
            <a:r>
              <a:rPr lang="ro-RO" altLang="en-US" sz="2000" b="1" dirty="0" err="1"/>
              <a:t>beginPath</a:t>
            </a:r>
            <a:r>
              <a:rPr lang="ro-RO" altLang="en-US" sz="2000" dirty="0"/>
              <a:t>()</a:t>
            </a:r>
            <a:endParaRPr lang="en-US" altLang="en-US" sz="2000" dirty="0"/>
          </a:p>
          <a:p>
            <a:pPr marL="0" indent="0">
              <a:buFont typeface="Wingdings" pitchFamily="2" charset="2"/>
              <a:buChar char="v"/>
            </a:pPr>
            <a:r>
              <a:rPr lang="ro-RO" altLang="en-US" sz="2000" b="1" dirty="0" err="1"/>
              <a:t>closePath</a:t>
            </a:r>
            <a:r>
              <a:rPr lang="ro-RO" altLang="en-US" sz="2000" dirty="0"/>
              <a:t>()</a:t>
            </a:r>
          </a:p>
          <a:p>
            <a:pPr marL="0" indent="0">
              <a:buFont typeface="Wingdings" pitchFamily="2" charset="2"/>
              <a:buChar char="v"/>
            </a:pPr>
            <a:r>
              <a:rPr lang="ro-RO" altLang="en-US" sz="2000" b="1" dirty="0" err="1"/>
              <a:t>stroke</a:t>
            </a:r>
            <a:r>
              <a:rPr lang="ro-RO" altLang="en-US" sz="2000" dirty="0"/>
              <a:t>()</a:t>
            </a:r>
          </a:p>
          <a:p>
            <a:pPr marL="0" indent="0">
              <a:buFont typeface="Wingdings" pitchFamily="2" charset="2"/>
              <a:buChar char="v"/>
            </a:pPr>
            <a:r>
              <a:rPr lang="ro-RO" altLang="en-US" sz="2000" b="1" dirty="0" err="1"/>
              <a:t>fill</a:t>
            </a:r>
            <a:r>
              <a:rPr lang="ro-RO" altLang="en-US" sz="2000" dirty="0"/>
              <a:t>() </a:t>
            </a:r>
          </a:p>
          <a:p>
            <a:pPr marL="0" indent="0">
              <a:buNone/>
            </a:pPr>
            <a:r>
              <a:rPr lang="en-US" altLang="en-US" sz="2000" dirty="0" err="1"/>
              <a:t>Proprietati</a:t>
            </a:r>
            <a:r>
              <a:rPr lang="en-US" altLang="en-US" sz="2000" dirty="0"/>
              <a:t>:</a:t>
            </a:r>
          </a:p>
          <a:p>
            <a:pPr marL="0" indent="0">
              <a:buFont typeface="Wingdings" pitchFamily="2" charset="2"/>
              <a:buChar char="v"/>
            </a:pPr>
            <a:r>
              <a:rPr lang="ro-RO" altLang="en-US" sz="2000" dirty="0" err="1"/>
              <a:t>fillStyle</a:t>
            </a:r>
            <a:r>
              <a:rPr lang="en-US" altLang="en-US" sz="2000" dirty="0"/>
              <a:t> = (CSS </a:t>
            </a:r>
            <a:r>
              <a:rPr lang="en-US" altLang="en-US" sz="2000" dirty="0" err="1"/>
              <a:t>color,pattern,gradient</a:t>
            </a:r>
            <a:r>
              <a:rPr lang="en-US" altLang="en-US" sz="2000" dirty="0"/>
              <a:t>)</a:t>
            </a:r>
          </a:p>
          <a:p>
            <a:pPr marL="0" indent="0">
              <a:buFont typeface="Wingdings" pitchFamily="2" charset="2"/>
              <a:buChar char="v"/>
            </a:pPr>
            <a:r>
              <a:rPr lang="en-US" altLang="en-US" sz="2000" dirty="0" err="1"/>
              <a:t>strokeStyle</a:t>
            </a:r>
            <a:r>
              <a:rPr lang="en-US" altLang="en-US" sz="2000" dirty="0"/>
              <a:t>= (CSS </a:t>
            </a:r>
            <a:r>
              <a:rPr lang="en-US" altLang="en-US" sz="2000" dirty="0" err="1"/>
              <a:t>color,pattern,gradient</a:t>
            </a:r>
            <a:r>
              <a:rPr lang="en-US" altLang="en-US" sz="2000" dirty="0"/>
              <a:t>)</a:t>
            </a:r>
          </a:p>
          <a:p>
            <a:pPr marL="0" indent="0">
              <a:buFont typeface="Wingdings" pitchFamily="2" charset="2"/>
              <a:buChar char="v"/>
            </a:pPr>
            <a:endParaRPr lang="en-US" altLang="en-US" sz="2000" dirty="0"/>
          </a:p>
          <a:p>
            <a:pPr marL="0" indent="0">
              <a:buFont typeface="Wingdings" pitchFamily="2" charset="2"/>
              <a:buChar char="v"/>
            </a:pPr>
            <a:endParaRPr lang="ro-RO" altLang="en-US" sz="2000" dirty="0"/>
          </a:p>
          <a:p>
            <a:pPr marL="0" indent="0">
              <a:buNone/>
            </a:pPr>
            <a:endParaRPr lang="ro-RO" altLang="en-US" sz="2000" dirty="0"/>
          </a:p>
          <a:p>
            <a:pPr marL="0" indent="0">
              <a:buNone/>
            </a:pPr>
            <a:endParaRPr lang="en-US" altLang="en-US" sz="2000" dirty="0"/>
          </a:p>
        </p:txBody>
      </p:sp>
      <p:sp>
        <p:nvSpPr>
          <p:cNvPr id="143367" name="Rectangle 143366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3369" name="Rectangle 143368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7CC7C-D355-3010-108C-5BC850DAD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443179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&lt;CANVAS&gt;</a:t>
            </a:r>
          </a:p>
        </p:txBody>
      </p:sp>
      <p:sp>
        <p:nvSpPr>
          <p:cNvPr id="144386" name="Content Placeholder 2">
            <a:extLst>
              <a:ext uri="{FF2B5EF4-FFF2-40B4-BE49-F238E27FC236}">
                <a16:creationId xmlns:a16="http://schemas.microsoft.com/office/drawing/2014/main" id="{76306D80-8479-2766-ECB9-9DDA78CF3E5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4429615" cy="393192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Alte </a:t>
            </a:r>
            <a:r>
              <a:rPr lang="en-US" altLang="en-US" sz="2400" dirty="0" err="1"/>
              <a:t>functii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desenare</a:t>
            </a:r>
            <a:r>
              <a:rPr lang="en-US" altLang="en-US" sz="2400" dirty="0"/>
              <a:t> in canvas context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 err="1"/>
              <a:t>Desenare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dreptunghiuri</a:t>
            </a:r>
            <a:endParaRPr lang="en-US" altLang="en-US" sz="2400" dirty="0"/>
          </a:p>
          <a:p>
            <a:pPr marL="925513" lvl="2" indent="-285750"/>
            <a:r>
              <a:rPr lang="en-US" altLang="en-US" sz="1600" dirty="0" err="1"/>
              <a:t>fillRect</a:t>
            </a:r>
            <a:r>
              <a:rPr lang="en-US" altLang="en-US" sz="1600" dirty="0"/>
              <a:t>(x, y, width, height)</a:t>
            </a:r>
          </a:p>
          <a:p>
            <a:pPr marL="925513" lvl="2" indent="-285750"/>
            <a:r>
              <a:rPr lang="en-US" altLang="en-US" sz="1600" dirty="0" err="1"/>
              <a:t>strokeRect</a:t>
            </a:r>
            <a:r>
              <a:rPr lang="en-US" altLang="en-US" sz="1600" dirty="0"/>
              <a:t>(x, y, width, height)</a:t>
            </a:r>
          </a:p>
          <a:p>
            <a:pPr marL="925513" lvl="2" indent="-285750"/>
            <a:r>
              <a:rPr lang="en-US" altLang="en-US" sz="1600" dirty="0" err="1"/>
              <a:t>clearRect</a:t>
            </a:r>
            <a:r>
              <a:rPr lang="en-US" altLang="en-US" sz="1600" dirty="0"/>
              <a:t>(x, y, width, height)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 err="1"/>
              <a:t>Desenare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linii</a:t>
            </a:r>
            <a:endParaRPr lang="en-US" altLang="en-US" sz="24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 err="1"/>
              <a:t>moveTo</a:t>
            </a:r>
            <a:r>
              <a:rPr lang="en-US" altLang="en-US" sz="2000" dirty="0"/>
              <a:t>(x, y)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sz="2000" dirty="0" err="1"/>
              <a:t>lineTo</a:t>
            </a:r>
            <a:r>
              <a:rPr lang="en-US" altLang="en-US" sz="2000" dirty="0"/>
              <a:t>(x, y)</a:t>
            </a:r>
          </a:p>
          <a:p>
            <a:pPr lvl="1">
              <a:buFontTx/>
              <a:buNone/>
            </a:pPr>
            <a:endParaRPr lang="en-US" altLang="en-US" sz="2000" dirty="0"/>
          </a:p>
          <a:p>
            <a:pPr lvl="1">
              <a:buFontTx/>
              <a:buNone/>
            </a:pPr>
            <a:endParaRPr lang="en-US" altLang="en-US" sz="2000" dirty="0"/>
          </a:p>
          <a:p>
            <a:pPr lvl="1">
              <a:buFontTx/>
              <a:buNone/>
            </a:pPr>
            <a:endParaRPr lang="en-US" altLang="en-US" sz="2000" dirty="0"/>
          </a:p>
        </p:txBody>
      </p:sp>
      <p:pic>
        <p:nvPicPr>
          <p:cNvPr id="144387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AA581AE1-A77A-881A-7E39-D2D3411AC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6000" y="1383030"/>
            <a:ext cx="5455921" cy="409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81D2-5685-D489-5B01-5FF199E4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&lt;CANVAS&gt;</a:t>
            </a:r>
          </a:p>
        </p:txBody>
      </p:sp>
      <p:sp>
        <p:nvSpPr>
          <p:cNvPr id="145410" name="Content Placeholder 2">
            <a:extLst>
              <a:ext uri="{FF2B5EF4-FFF2-40B4-BE49-F238E27FC236}">
                <a16:creationId xmlns:a16="http://schemas.microsoft.com/office/drawing/2014/main" id="{CC1A5D09-108D-5095-6BD3-C83C0EA216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939158"/>
            <a:ext cx="6523002" cy="4023360"/>
          </a:xfrm>
        </p:spPr>
        <p:txBody>
          <a:bodyPr>
            <a:normAutofit fontScale="92500" lnSpcReduction="10000"/>
          </a:bodyPr>
          <a:lstStyle/>
          <a:p>
            <a:pPr indent="-228600">
              <a:buClr>
                <a:srgbClr val="4F81BD"/>
              </a:buClr>
              <a:buFont typeface="Courier New" panose="02070309020205020404" pitchFamily="49" charset="0"/>
              <a:buChar char="o"/>
            </a:pPr>
            <a:r>
              <a:rPr lang="en-US" altLang="en-US" sz="1400" dirty="0" err="1">
                <a:latin typeface="Calibri" panose="020F0502020204030204" pitchFamily="34" charset="0"/>
              </a:rPr>
              <a:t>Desenare</a:t>
            </a:r>
            <a:r>
              <a:rPr lang="en-US" altLang="en-US" sz="1400" dirty="0">
                <a:latin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</a:rPr>
              <a:t>arce</a:t>
            </a:r>
            <a:endParaRPr lang="en-US" altLang="en-US" sz="1400" dirty="0">
              <a:latin typeface="Calibri" panose="020F0502020204030204" pitchFamily="34" charset="0"/>
            </a:endParaRPr>
          </a:p>
          <a:p>
            <a:pPr marL="1004888" lvl="2">
              <a:buClr>
                <a:srgbClr val="9BBB59"/>
              </a:buClr>
            </a:pPr>
            <a:r>
              <a:rPr lang="en-US" altLang="en-US" b="1" dirty="0">
                <a:latin typeface="Calibri" panose="020F0502020204030204" pitchFamily="34" charset="0"/>
              </a:rPr>
              <a:t>arc</a:t>
            </a:r>
            <a:r>
              <a:rPr lang="en-US" altLang="en-US" dirty="0">
                <a:latin typeface="Calibri" panose="020F0502020204030204" pitchFamily="34" charset="0"/>
              </a:rPr>
              <a:t>(x, y, radius, </a:t>
            </a:r>
            <a:r>
              <a:rPr lang="en-US" altLang="en-US" dirty="0" err="1">
                <a:latin typeface="Calibri" panose="020F0502020204030204" pitchFamily="34" charset="0"/>
              </a:rPr>
              <a:t>startAngle</a:t>
            </a:r>
            <a:r>
              <a:rPr lang="en-US" altLang="en-US" dirty="0">
                <a:latin typeface="Calibri" panose="020F0502020204030204" pitchFamily="34" charset="0"/>
              </a:rPr>
              <a:t>, </a:t>
            </a:r>
            <a:r>
              <a:rPr lang="en-US" altLang="en-US" dirty="0" err="1">
                <a:latin typeface="Calibri" panose="020F0502020204030204" pitchFamily="34" charset="0"/>
              </a:rPr>
              <a:t>endAngle</a:t>
            </a:r>
            <a:r>
              <a:rPr lang="en-US" altLang="en-US" dirty="0">
                <a:latin typeface="Calibri" panose="020F0502020204030204" pitchFamily="34" charset="0"/>
              </a:rPr>
              <a:t>, anticlockwise)</a:t>
            </a:r>
          </a:p>
          <a:p>
            <a:pPr marL="273050" lvl="1" indent="0">
              <a:buClr>
                <a:srgbClr val="C0504D"/>
              </a:buClr>
              <a:buNone/>
            </a:pPr>
            <a:r>
              <a:rPr lang="en-US" altLang="en-US" sz="1400" dirty="0">
                <a:latin typeface="Calibri" panose="020F0502020204030204" pitchFamily="34" charset="0"/>
              </a:rPr>
              <a:t>(</a:t>
            </a:r>
            <a:r>
              <a:rPr lang="en-US" altLang="en-US" sz="1400" dirty="0" err="1">
                <a:latin typeface="Calibri" panose="020F0502020204030204" pitchFamily="34" charset="0"/>
              </a:rPr>
              <a:t>pentru</a:t>
            </a:r>
            <a:r>
              <a:rPr lang="en-US" altLang="en-US" sz="1400" dirty="0">
                <a:latin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</a:rPr>
              <a:t>cerc</a:t>
            </a:r>
            <a:r>
              <a:rPr lang="en-US" altLang="en-US" sz="1400" dirty="0">
                <a:latin typeface="Calibri" panose="020F0502020204030204" pitchFamily="34" charset="0"/>
              </a:rPr>
              <a:t> </a:t>
            </a:r>
            <a:r>
              <a:rPr lang="en-US" altLang="en-US" sz="1400" dirty="0" err="1">
                <a:latin typeface="Calibri" panose="020F0502020204030204" pitchFamily="34" charset="0"/>
              </a:rPr>
              <a:t>startAngle</a:t>
            </a:r>
            <a:r>
              <a:rPr lang="en-US" altLang="en-US" sz="1400" dirty="0">
                <a:latin typeface="Calibri" panose="020F0502020204030204" pitchFamily="34" charset="0"/>
              </a:rPr>
              <a:t>=0, </a:t>
            </a:r>
            <a:r>
              <a:rPr lang="en-US" altLang="en-US" sz="1400" dirty="0" err="1">
                <a:latin typeface="Calibri" panose="020F0502020204030204" pitchFamily="34" charset="0"/>
              </a:rPr>
              <a:t>endAngle</a:t>
            </a:r>
            <a:r>
              <a:rPr lang="en-US" altLang="en-US" sz="1400" dirty="0">
                <a:latin typeface="Calibri" panose="020F0502020204030204" pitchFamily="34" charset="0"/>
              </a:rPr>
              <a:t>=</a:t>
            </a:r>
            <a:r>
              <a:rPr lang="en-US" altLang="en-US" sz="1400" dirty="0" err="1">
                <a:latin typeface="Calibri" panose="020F0502020204030204" pitchFamily="34" charset="0"/>
              </a:rPr>
              <a:t>Math.pi</a:t>
            </a:r>
            <a:r>
              <a:rPr lang="en-US" altLang="en-US" sz="1400" dirty="0">
                <a:latin typeface="Calibri" panose="020F0502020204030204" pitchFamily="34" charset="0"/>
              </a:rPr>
              <a:t>*2)</a:t>
            </a:r>
          </a:p>
          <a:p>
            <a:pPr marL="1004888" lvl="2">
              <a:buClr>
                <a:srgbClr val="9BBB59"/>
              </a:buClr>
            </a:pPr>
            <a:r>
              <a:rPr lang="es-E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quadraticCurveTo</a:t>
            </a:r>
            <a:r>
              <a:rPr lang="es-E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(cp1x, cp1y, x, y)</a:t>
            </a:r>
            <a:br>
              <a:rPr lang="es-E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s-ES" alt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bezierCurveTo</a:t>
            </a:r>
            <a:r>
              <a:rPr lang="es-E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(cp1x, cp1y, cp2x, cp2y, x, y)</a:t>
            </a:r>
          </a:p>
          <a:p>
            <a:pPr marL="1279525" lvl="3">
              <a:buClr>
                <a:srgbClr val="8064A2"/>
              </a:buClr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Calibri" panose="020F0502020204030204" pitchFamily="34" charset="0"/>
              </a:rPr>
              <a:t>x,y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</a:rPr>
              <a:t>coordonatele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</a:rPr>
              <a:t>punctului</a:t>
            </a:r>
            <a:r>
              <a:rPr lang="en-US" altLang="en-US" dirty="0">
                <a:latin typeface="Calibri" panose="020F0502020204030204" pitchFamily="34" charset="0"/>
              </a:rPr>
              <a:t> de </a:t>
            </a:r>
            <a:r>
              <a:rPr lang="en-US" altLang="en-US" dirty="0" err="1">
                <a:latin typeface="Calibri" panose="020F0502020204030204" pitchFamily="34" charset="0"/>
              </a:rPr>
              <a:t>sfarsit</a:t>
            </a:r>
            <a:endParaRPr lang="en-US" altLang="en-US" dirty="0">
              <a:latin typeface="Calibri" panose="020F0502020204030204" pitchFamily="34" charset="0"/>
            </a:endParaRPr>
          </a:p>
          <a:p>
            <a:pPr marL="1279525" lvl="3">
              <a:buClr>
                <a:srgbClr val="8064A2"/>
              </a:buClr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" panose="020F0502020204030204" pitchFamily="34" charset="0"/>
              </a:rPr>
              <a:t>cp1x,cp1y, cp2x,cp2y </a:t>
            </a:r>
            <a:r>
              <a:rPr lang="en-US" altLang="en-US" dirty="0" err="1">
                <a:latin typeface="Calibri" panose="020F0502020204030204" pitchFamily="34" charset="0"/>
              </a:rPr>
              <a:t>coordonatele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</a:rPr>
              <a:t>primului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</a:rPr>
              <a:t>si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</a:rPr>
              <a:t>celui</a:t>
            </a:r>
            <a:r>
              <a:rPr lang="en-US" altLang="en-US" dirty="0">
                <a:latin typeface="Calibri" panose="020F0502020204030204" pitchFamily="34" charset="0"/>
              </a:rPr>
              <a:t> de al </a:t>
            </a:r>
            <a:r>
              <a:rPr lang="en-US" altLang="en-US" dirty="0" err="1">
                <a:latin typeface="Calibri" panose="020F0502020204030204" pitchFamily="34" charset="0"/>
              </a:rPr>
              <a:t>doilea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 err="1">
                <a:latin typeface="Calibri" panose="020F0502020204030204" pitchFamily="34" charset="0"/>
              </a:rPr>
              <a:t>punct</a:t>
            </a:r>
            <a:r>
              <a:rPr lang="en-US" altLang="en-US" dirty="0">
                <a:latin typeface="Calibri" panose="020F0502020204030204" pitchFamily="34" charset="0"/>
              </a:rPr>
              <a:t> de control.</a:t>
            </a:r>
          </a:p>
          <a:p>
            <a:pPr indent="-228600">
              <a:buClr>
                <a:srgbClr val="4F81BD"/>
              </a:buClr>
              <a:buNone/>
            </a:pPr>
            <a:r>
              <a:rPr lang="en-US" altLang="en-US" sz="1400" dirty="0" err="1">
                <a:latin typeface="Calibri" panose="020F0502020204030204" pitchFamily="34" charset="0"/>
              </a:rPr>
              <a:t>Desenarea</a:t>
            </a:r>
            <a:r>
              <a:rPr lang="en-US" altLang="en-US" sz="1400" dirty="0">
                <a:latin typeface="Calibri" panose="020F0502020204030204" pitchFamily="34" charset="0"/>
              </a:rPr>
              <a:t> de text</a:t>
            </a:r>
          </a:p>
          <a:p>
            <a:pPr indent="-228600">
              <a:buClr>
                <a:srgbClr val="4F81BD"/>
              </a:buClr>
              <a:buFont typeface="Courier New" panose="02070309020205020404" pitchFamily="49" charset="0"/>
              <a:buChar char="o"/>
            </a:pPr>
            <a:r>
              <a:rPr lang="en-US" altLang="en-US" sz="1400" dirty="0" err="1">
                <a:latin typeface="Calibri" panose="020F0502020204030204" pitchFamily="34" charset="0"/>
              </a:rPr>
              <a:t>Proprietati</a:t>
            </a:r>
            <a:r>
              <a:rPr lang="en-US" altLang="en-US" sz="1400" dirty="0">
                <a:latin typeface="Calibri" panose="020F0502020204030204" pitchFamily="34" charset="0"/>
              </a:rPr>
              <a:t> context:</a:t>
            </a:r>
          </a:p>
          <a:p>
            <a:pPr indent="-228600">
              <a:buClr>
                <a:srgbClr val="4F81BD"/>
              </a:buClr>
              <a:buFont typeface="Wingdings" pitchFamily="2" charset="2"/>
              <a:buChar char="Ø"/>
            </a:pPr>
            <a:r>
              <a:rPr lang="en-US" altLang="en-US" sz="1400" dirty="0" err="1">
                <a:latin typeface="Calibri" panose="020F0502020204030204" pitchFamily="34" charset="0"/>
              </a:rPr>
              <a:t>Context.font</a:t>
            </a:r>
            <a:r>
              <a:rPr lang="en-US" altLang="en-US" sz="1400" dirty="0">
                <a:latin typeface="Calibri" panose="020F0502020204030204" pitchFamily="34" charset="0"/>
              </a:rPr>
              <a:t>= {font}</a:t>
            </a:r>
          </a:p>
          <a:p>
            <a:pPr indent="-228600">
              <a:buClr>
                <a:srgbClr val="4F81BD"/>
              </a:buClr>
              <a:buFont typeface="Wingdings" pitchFamily="2" charset="2"/>
              <a:buChar char="Ø"/>
            </a:pPr>
            <a:r>
              <a:rPr lang="en-US" altLang="en-US" sz="1400" dirty="0" err="1">
                <a:latin typeface="Calibri" panose="020F0502020204030204" pitchFamily="34" charset="0"/>
              </a:rPr>
              <a:t>Context.textAlign</a:t>
            </a:r>
            <a:r>
              <a:rPr lang="en-US" altLang="en-US" sz="1400" dirty="0">
                <a:latin typeface="Calibri" panose="020F0502020204030204" pitchFamily="34" charset="0"/>
              </a:rPr>
              <a:t>={</a:t>
            </a:r>
            <a:r>
              <a:rPr lang="en-US" altLang="en-US" sz="1400" dirty="0" err="1">
                <a:latin typeface="Calibri" panose="020F0502020204030204" pitchFamily="34" charset="0"/>
              </a:rPr>
              <a:t>start,end,left,right,center</a:t>
            </a:r>
            <a:r>
              <a:rPr lang="en-US" altLang="en-US" sz="1400" dirty="0">
                <a:latin typeface="Calibri" panose="020F0502020204030204" pitchFamily="34" charset="0"/>
              </a:rPr>
              <a:t>};</a:t>
            </a:r>
          </a:p>
          <a:p>
            <a:pPr indent="-228600">
              <a:buClr>
                <a:srgbClr val="4F81BD"/>
              </a:buClr>
              <a:buFont typeface="Wingdings" pitchFamily="2" charset="2"/>
              <a:buChar char="Ø"/>
            </a:pPr>
            <a:r>
              <a:rPr lang="en-US" altLang="en-US" sz="1400" dirty="0" err="1">
                <a:latin typeface="Calibri" panose="020F0502020204030204" pitchFamily="34" charset="0"/>
              </a:rPr>
              <a:t>Context.textBaseline</a:t>
            </a:r>
            <a:r>
              <a:rPr lang="en-US" altLang="en-US" sz="1400" dirty="0">
                <a:latin typeface="Calibri" panose="020F0502020204030204" pitchFamily="34" charset="0"/>
              </a:rPr>
              <a:t>={</a:t>
            </a:r>
            <a:r>
              <a:rPr lang="en-US" altLang="en-US" sz="1400" dirty="0" err="1">
                <a:latin typeface="Calibri" panose="020F0502020204030204" pitchFamily="34" charset="0"/>
              </a:rPr>
              <a:t>top,hanging,middle,alphabetic,ideographic,bottom</a:t>
            </a:r>
            <a:r>
              <a:rPr lang="en-US" altLang="en-US" sz="1400" dirty="0">
                <a:latin typeface="Calibri" panose="020F0502020204030204" pitchFamily="34" charset="0"/>
              </a:rPr>
              <a:t>};</a:t>
            </a:r>
          </a:p>
          <a:p>
            <a:pPr marL="273050" lvl="1" indent="0">
              <a:buClr>
                <a:srgbClr val="C0504D"/>
              </a:buClr>
              <a:buFont typeface="Courier New" panose="02070309020205020404" pitchFamily="49" charset="0"/>
              <a:buChar char="o"/>
            </a:pPr>
            <a:r>
              <a:rPr lang="en-US" altLang="en-US" sz="1400" dirty="0" err="1">
                <a:latin typeface="Calibri" panose="020F0502020204030204" pitchFamily="34" charset="0"/>
              </a:rPr>
              <a:t>Functia</a:t>
            </a:r>
            <a:r>
              <a:rPr lang="en-US" altLang="en-US" sz="1400" dirty="0">
                <a:latin typeface="Calibri" panose="020F0502020204030204" pitchFamily="34" charset="0"/>
              </a:rPr>
              <a:t> de </a:t>
            </a:r>
            <a:r>
              <a:rPr lang="en-US" altLang="en-US" sz="1400" dirty="0" err="1">
                <a:latin typeface="Calibri" panose="020F0502020204030204" pitchFamily="34" charset="0"/>
              </a:rPr>
              <a:t>desenare</a:t>
            </a:r>
            <a:endParaRPr lang="en-US" altLang="en-US" sz="1400" dirty="0">
              <a:latin typeface="Calibri" panose="020F0502020204030204" pitchFamily="34" charset="0"/>
            </a:endParaRPr>
          </a:p>
          <a:p>
            <a:pPr marL="1004888" lvl="2">
              <a:buClr>
                <a:srgbClr val="9BBB59"/>
              </a:buClr>
              <a:buFont typeface="Courier New" panose="02070309020205020404" pitchFamily="49" charset="0"/>
              <a:buChar char="o"/>
            </a:pPr>
            <a:r>
              <a:rPr lang="en-US" altLang="en-US" dirty="0" err="1">
                <a:latin typeface="Calibri" panose="020F0502020204030204" pitchFamily="34" charset="0"/>
              </a:rPr>
              <a:t>Context.fillText</a:t>
            </a:r>
            <a:r>
              <a:rPr lang="en-US" altLang="en-US" dirty="0">
                <a:latin typeface="Calibri" panose="020F0502020204030204" pitchFamily="34" charset="0"/>
              </a:rPr>
              <a:t>(</a:t>
            </a:r>
            <a:r>
              <a:rPr lang="en-US" altLang="en-US" dirty="0" err="1">
                <a:latin typeface="Calibri" panose="020F0502020204030204" pitchFamily="34" charset="0"/>
              </a:rPr>
              <a:t>text,x,y</a:t>
            </a:r>
            <a:r>
              <a:rPr lang="en-US" altLang="en-US" dirty="0">
                <a:latin typeface="Calibri" panose="020F0502020204030204" pitchFamily="34" charset="0"/>
              </a:rPr>
              <a:t>);</a:t>
            </a:r>
          </a:p>
        </p:txBody>
      </p:sp>
      <p:pic>
        <p:nvPicPr>
          <p:cNvPr id="145411" name="Picture 3">
            <a:extLst>
              <a:ext uri="{FF2B5EF4-FFF2-40B4-BE49-F238E27FC236}">
                <a16:creationId xmlns:a16="http://schemas.microsoft.com/office/drawing/2014/main" id="{E90706BD-5973-B33B-0A40-BA97CFB50C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4" r="4322" b="1"/>
          <a:stretch/>
        </p:blipFill>
        <p:spPr bwMode="auto">
          <a:xfrm>
            <a:off x="8015434" y="2386584"/>
            <a:ext cx="3152438" cy="344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C1C7-D919-2479-1DEC-FE2BC9AC3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&lt;CANVAS&gt;</a:t>
            </a:r>
          </a:p>
        </p:txBody>
      </p:sp>
      <p:sp>
        <p:nvSpPr>
          <p:cNvPr id="146434" name="Content Placeholder 2">
            <a:extLst>
              <a:ext uri="{FF2B5EF4-FFF2-40B4-BE49-F238E27FC236}">
                <a16:creationId xmlns:a16="http://schemas.microsoft.com/office/drawing/2014/main" id="{1791A1B8-9550-1013-92A9-A425A86A30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7" y="2084832"/>
            <a:ext cx="9720073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sz="2400" dirty="0" err="1"/>
              <a:t>Crearea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unui</a:t>
            </a:r>
            <a:r>
              <a:rPr lang="en-US" altLang="en-US" sz="2400" dirty="0"/>
              <a:t> gradient</a:t>
            </a:r>
          </a:p>
          <a:p>
            <a:pPr lvl="1"/>
            <a:r>
              <a:rPr lang="en-US" altLang="en-US" sz="2000" dirty="0" err="1">
                <a:solidFill>
                  <a:srgbClr val="002060"/>
                </a:solidFill>
              </a:rPr>
              <a:t>createLinearGradient</a:t>
            </a:r>
            <a:r>
              <a:rPr lang="en-US" altLang="en-US" sz="2000" dirty="0">
                <a:solidFill>
                  <a:srgbClr val="002060"/>
                </a:solidFill>
              </a:rPr>
              <a:t>(x0, y0, x1, y1)</a:t>
            </a:r>
          </a:p>
          <a:p>
            <a:pPr lvl="1"/>
            <a:r>
              <a:rPr lang="es-ES" altLang="en-US" sz="2000" dirty="0" err="1">
                <a:solidFill>
                  <a:srgbClr val="002060"/>
                </a:solidFill>
              </a:rPr>
              <a:t>createRadialGradient</a:t>
            </a:r>
            <a:r>
              <a:rPr lang="es-ES" altLang="en-US" sz="2000" dirty="0">
                <a:solidFill>
                  <a:srgbClr val="002060"/>
                </a:solidFill>
              </a:rPr>
              <a:t>(x0, y0, r0, x1, y1, r1)</a:t>
            </a:r>
            <a:endParaRPr lang="en-US" altLang="en-US" sz="2000" dirty="0">
              <a:solidFill>
                <a:srgbClr val="002060"/>
              </a:solidFill>
            </a:endParaRPr>
          </a:p>
          <a:p>
            <a:r>
              <a:rPr lang="en-US" altLang="en-US" sz="2400" dirty="0" err="1"/>
              <a:t>Exemple</a:t>
            </a:r>
            <a:r>
              <a:rPr lang="en-US" altLang="en-US" sz="2400" dirty="0"/>
              <a:t> gradient:</a:t>
            </a:r>
          </a:p>
          <a:p>
            <a:pPr>
              <a:buFont typeface="Cambria" panose="02040503050406030204" pitchFamily="18" charset="0"/>
              <a:buAutoNum type="arabicPeriod"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my_gradient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context.createLinearGradient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(0, 0, 300, 0); </a:t>
            </a:r>
          </a:p>
          <a:p>
            <a:pPr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my_gradient.addColorStop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(0, "black");</a:t>
            </a:r>
          </a:p>
          <a:p>
            <a:pPr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my_gradient.addColorStop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(1, "white");</a:t>
            </a:r>
          </a:p>
          <a:p>
            <a:pPr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context.fillStyle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my_gradient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context.fillRect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(0, 0, 300, 225); </a:t>
            </a:r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  <a:p>
            <a:endParaRPr lang="en-US" altLang="en-US" sz="2000" dirty="0"/>
          </a:p>
        </p:txBody>
      </p:sp>
      <p:pic>
        <p:nvPicPr>
          <p:cNvPr id="146435" name="Picture 2">
            <a:extLst>
              <a:ext uri="{FF2B5EF4-FFF2-40B4-BE49-F238E27FC236}">
                <a16:creationId xmlns:a16="http://schemas.microsoft.com/office/drawing/2014/main" id="{87A41BD4-BA7E-E9C2-FCC7-EAF9124DE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6" t="8563" r="10275" b="12328"/>
          <a:stretch>
            <a:fillRect/>
          </a:stretch>
        </p:blipFill>
        <p:spPr bwMode="auto">
          <a:xfrm>
            <a:off x="9296401" y="1219200"/>
            <a:ext cx="963613" cy="96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6" name="Picture 3">
            <a:extLst>
              <a:ext uri="{FF2B5EF4-FFF2-40B4-BE49-F238E27FC236}">
                <a16:creationId xmlns:a16="http://schemas.microsoft.com/office/drawing/2014/main" id="{6B380BE9-DC99-18C7-6A7C-8143DCBEC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026" y="3124201"/>
            <a:ext cx="1450975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7" name="Picture 4">
            <a:extLst>
              <a:ext uri="{FF2B5EF4-FFF2-40B4-BE49-F238E27FC236}">
                <a16:creationId xmlns:a16="http://schemas.microsoft.com/office/drawing/2014/main" id="{C60991D7-EA18-F86F-E164-CE32FF3C84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4269" y="4690110"/>
            <a:ext cx="2293938" cy="172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80469-D434-D434-52C2-1ED7C3BC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&lt;CANVAS&gt;</a:t>
            </a:r>
          </a:p>
        </p:txBody>
      </p:sp>
      <p:sp>
        <p:nvSpPr>
          <p:cNvPr id="148482" name="Content Placeholder 2">
            <a:extLst>
              <a:ext uri="{FF2B5EF4-FFF2-40B4-BE49-F238E27FC236}">
                <a16:creationId xmlns:a16="http://schemas.microsoft.com/office/drawing/2014/main" id="{7AFFECD0-F38A-F4F6-792E-2923F74E1C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6523002" cy="4023360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altLang="en-US" dirty="0" err="1"/>
              <a:t>Desenarea</a:t>
            </a:r>
            <a:r>
              <a:rPr lang="en-US" altLang="en-US" dirty="0"/>
              <a:t> de </a:t>
            </a:r>
            <a:r>
              <a:rPr lang="en-US" altLang="en-US" dirty="0" err="1"/>
              <a:t>imagini</a:t>
            </a:r>
            <a:endParaRPr lang="en-US" altLang="en-US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drawImage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(image, dx,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drawImage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(image, dx,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dh)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drawImage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(image,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sx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sy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dx,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dy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b="1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altLang="en-US" b="1">
                <a:latin typeface="Courier New" panose="02070309020205020404" pitchFamily="49" charset="0"/>
                <a:cs typeface="Courier New" panose="02070309020205020404" pitchFamily="49" charset="0"/>
              </a:rPr>
              <a:t>, dh)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altLang="en-US" dirty="0"/>
          </a:p>
        </p:txBody>
      </p:sp>
      <p:pic>
        <p:nvPicPr>
          <p:cNvPr id="148483" name="Picture 2">
            <a:extLst>
              <a:ext uri="{FF2B5EF4-FFF2-40B4-BE49-F238E27FC236}">
                <a16:creationId xmlns:a16="http://schemas.microsoft.com/office/drawing/2014/main" id="{EEC5F941-2A8E-5039-2475-7A66AFF653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6" r="-1" b="-1"/>
          <a:stretch/>
        </p:blipFill>
        <p:spPr bwMode="auto">
          <a:xfrm>
            <a:off x="8015434" y="2386584"/>
            <a:ext cx="3152438" cy="344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DE0B-21CD-78CF-2633-64DC75934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&lt;CANVAS&gt;</a:t>
            </a:r>
          </a:p>
        </p:txBody>
      </p:sp>
      <p:sp>
        <p:nvSpPr>
          <p:cNvPr id="151554" name="Content Placeholder 2">
            <a:extLst>
              <a:ext uri="{FF2B5EF4-FFF2-40B4-BE49-F238E27FC236}">
                <a16:creationId xmlns:a16="http://schemas.microsoft.com/office/drawing/2014/main" id="{BF88031D-ADB4-DC3A-8F20-C2255CE4C1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6523002" cy="4023360"/>
          </a:xfrm>
        </p:spPr>
        <p:txBody>
          <a:bodyPr>
            <a:normAutofit/>
          </a:bodyPr>
          <a:lstStyle/>
          <a:p>
            <a:pPr lvl="1"/>
            <a:r>
              <a:rPr lang="en-US" altLang="en-US"/>
              <a:t>Rotatia: </a:t>
            </a:r>
            <a:r>
              <a:rPr lang="en-US" altLang="en-US" b="1"/>
              <a:t>rotate(angle)</a:t>
            </a:r>
            <a:r>
              <a:rPr lang="en-US" altLang="en-US"/>
              <a:t> </a:t>
            </a:r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r>
              <a:rPr lang="en-US" altLang="en-US"/>
              <a:t>Scalarea: </a:t>
            </a:r>
            <a:r>
              <a:rPr lang="en-US" altLang="en-US" b="1"/>
              <a:t>scale(x, y)</a:t>
            </a:r>
            <a:endParaRPr lang="en-US" altLang="en-US"/>
          </a:p>
          <a:p>
            <a:pPr lvl="1"/>
            <a:endParaRPr lang="en-US" altLang="en-US"/>
          </a:p>
          <a:p>
            <a:r>
              <a:rPr lang="en-US" altLang="en-US"/>
              <a:t>Umbre</a:t>
            </a:r>
          </a:p>
          <a:p>
            <a:pPr lvl="1"/>
            <a:r>
              <a:rPr lang="en-US" altLang="en-US"/>
              <a:t>Proprietati context:</a:t>
            </a:r>
          </a:p>
          <a:p>
            <a:pPr lvl="2"/>
            <a:r>
              <a:rPr lang="en-US" altLang="en-US"/>
              <a:t>ShadowColor</a:t>
            </a:r>
          </a:p>
          <a:p>
            <a:pPr lvl="2"/>
            <a:r>
              <a:rPr lang="en-US" altLang="en-US"/>
              <a:t>ShadowOffsetX</a:t>
            </a:r>
          </a:p>
          <a:p>
            <a:pPr lvl="2"/>
            <a:r>
              <a:rPr lang="en-US" altLang="en-US"/>
              <a:t>ShadowOffsetY</a:t>
            </a:r>
          </a:p>
          <a:p>
            <a:pPr lvl="2"/>
            <a:r>
              <a:rPr lang="en-US" altLang="en-US"/>
              <a:t>ShadowBlur</a:t>
            </a:r>
          </a:p>
        </p:txBody>
      </p:sp>
      <p:pic>
        <p:nvPicPr>
          <p:cNvPr id="151555" name="Picture 2">
            <a:extLst>
              <a:ext uri="{FF2B5EF4-FFF2-40B4-BE49-F238E27FC236}">
                <a16:creationId xmlns:a16="http://schemas.microsoft.com/office/drawing/2014/main" id="{FD90243E-D12B-3069-DA96-E2989DCA1D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97" b="3"/>
          <a:stretch/>
        </p:blipFill>
        <p:spPr bwMode="auto">
          <a:xfrm>
            <a:off x="8015434" y="2386584"/>
            <a:ext cx="3152438" cy="344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CB9DB-EA75-9391-988B-937198B7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HTML5 API VIDEO &amp; AUDIO</a:t>
            </a:r>
          </a:p>
        </p:txBody>
      </p:sp>
      <p:sp>
        <p:nvSpPr>
          <p:cNvPr id="154626" name="Content Placeholder 2">
            <a:extLst>
              <a:ext uri="{FF2B5EF4-FFF2-40B4-BE49-F238E27FC236}">
                <a16:creationId xmlns:a16="http://schemas.microsoft.com/office/drawing/2014/main" id="{54ACBFE5-F7A8-CEFA-821B-8EC0179A5E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23544"/>
            <a:ext cx="8018271" cy="402336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1600" dirty="0" err="1"/>
              <a:t>Continut</a:t>
            </a:r>
            <a:r>
              <a:rPr lang="en-US" altLang="en-US" sz="1600" dirty="0"/>
              <a:t> media </a:t>
            </a:r>
            <a:r>
              <a:rPr lang="en-US" altLang="en-US" sz="1600" dirty="0" err="1"/>
              <a:t>fara</a:t>
            </a:r>
            <a:r>
              <a:rPr lang="en-US" altLang="en-US" sz="1600" dirty="0"/>
              <a:t> plugin</a:t>
            </a:r>
          </a:p>
          <a:p>
            <a:r>
              <a:rPr lang="en-US" altLang="en-US" sz="1600" dirty="0" err="1"/>
              <a:t>Multitudine</a:t>
            </a:r>
            <a:r>
              <a:rPr lang="en-US" altLang="en-US" sz="1600" dirty="0"/>
              <a:t> de </a:t>
            </a:r>
            <a:r>
              <a:rPr lang="en-US" altLang="en-US" sz="1600" dirty="0" err="1"/>
              <a:t>formate</a:t>
            </a:r>
            <a:r>
              <a:rPr lang="en-US" altLang="en-US" sz="1600" dirty="0"/>
              <a:t> video:</a:t>
            </a:r>
          </a:p>
          <a:p>
            <a:pPr lvl="2"/>
            <a:r>
              <a:rPr lang="en-US" altLang="en-US" sz="1600" dirty="0"/>
              <a:t>MPEG4</a:t>
            </a:r>
          </a:p>
          <a:p>
            <a:pPr lvl="2"/>
            <a:r>
              <a:rPr lang="en-US" altLang="en-US" sz="1600" dirty="0"/>
              <a:t>FLASH VIDEO</a:t>
            </a:r>
          </a:p>
          <a:p>
            <a:pPr lvl="2"/>
            <a:r>
              <a:rPr lang="en-US" altLang="en-US" sz="1600" dirty="0"/>
              <a:t>OGG</a:t>
            </a:r>
          </a:p>
          <a:p>
            <a:pPr lvl="2"/>
            <a:r>
              <a:rPr lang="en-US" altLang="en-US" sz="1600" dirty="0"/>
              <a:t>AUDIO VIDEO INTERLACED</a:t>
            </a:r>
          </a:p>
          <a:p>
            <a:r>
              <a:rPr lang="en-US" altLang="en-US" sz="1600" dirty="0"/>
              <a:t>HTML 4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buFontTx/>
              <a:buNone/>
            </a:pP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&lt;video 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video.ogg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 </a:t>
            </a:r>
            <a:endParaRPr lang="ro-RO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data="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videoplayer.swf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/x-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shockwave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-flash"&gt; </a:t>
            </a:r>
            <a:endParaRPr lang="ro-RO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&lt;param 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movie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video.swf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"/&gt; </a:t>
            </a:r>
            <a:endParaRPr lang="ro-RO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ro-RO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</a:t>
            </a: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endParaRPr lang="ro-RO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ro-RO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&lt;/video&gt;</a:t>
            </a:r>
            <a:endParaRPr lang="ro-RO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11163" lvl="1" indent="0">
              <a:buNone/>
            </a:pPr>
            <a:endParaRPr lang="en-US" altLang="en-US" sz="1600" dirty="0"/>
          </a:p>
        </p:txBody>
      </p:sp>
      <p:sp>
        <p:nvSpPr>
          <p:cNvPr id="154631" name="Rectangle 154630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4633" name="Rectangle 154632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6EA8-9783-2844-DDAD-E15BE2B5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HTML5 API VIDEO &amp; AUDIO</a:t>
            </a:r>
          </a:p>
        </p:txBody>
      </p:sp>
      <p:sp>
        <p:nvSpPr>
          <p:cNvPr id="155650" name="Content Placeholder 2">
            <a:extLst>
              <a:ext uri="{FF2B5EF4-FFF2-40B4-BE49-F238E27FC236}">
                <a16:creationId xmlns:a16="http://schemas.microsoft.com/office/drawing/2014/main" id="{6897A554-B326-1811-9178-627C54E31D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0764" y="1881351"/>
            <a:ext cx="4572000" cy="4800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HTML5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 b="1" dirty="0"/>
              <a:t>&lt;video </a:t>
            </a:r>
            <a:r>
              <a:rPr lang="en-US" altLang="en-US" sz="1400" b="1" dirty="0" err="1"/>
              <a:t>src</a:t>
            </a:r>
            <a:r>
              <a:rPr lang="en-US" altLang="en-US" sz="1400" b="1" dirty="0"/>
              <a:t>="</a:t>
            </a:r>
            <a:r>
              <a:rPr lang="en-US" altLang="en-US" sz="1400" b="1" dirty="0" err="1"/>
              <a:t>video.ogg</a:t>
            </a:r>
            <a:r>
              <a:rPr lang="en-US" altLang="en-US" sz="1400" b="1" dirty="0"/>
              <a:t>" controls&gt; </a:t>
            </a:r>
            <a:endParaRPr lang="en-US" altLang="en-US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 b="1" dirty="0"/>
              <a:t>	Your browser does not support HTML5 video. </a:t>
            </a:r>
            <a:endParaRPr lang="en-US" altLang="en-US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 b="1" dirty="0"/>
              <a:t>&lt;/video&gt;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 b="1" dirty="0"/>
              <a:t>&lt;audio controls </a:t>
            </a:r>
            <a:r>
              <a:rPr lang="en-US" altLang="en-US" sz="1400" b="1" dirty="0" err="1"/>
              <a:t>src</a:t>
            </a:r>
            <a:r>
              <a:rPr lang="en-US" altLang="en-US" sz="1400" b="1" dirty="0"/>
              <a:t>="</a:t>
            </a:r>
            <a:r>
              <a:rPr lang="en-US" altLang="en-US" sz="1400" b="1" dirty="0" err="1"/>
              <a:t>johann_sebastian_bach_air.ogg</a:t>
            </a:r>
            <a:r>
              <a:rPr lang="en-US" altLang="en-US" sz="1400" b="1" dirty="0"/>
              <a:t>"&gt; </a:t>
            </a:r>
            <a:endParaRPr lang="en-US" altLang="en-US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 b="1" dirty="0"/>
              <a:t>	An audio clip from Johann Sebastian Bach. </a:t>
            </a:r>
            <a:endParaRPr lang="en-US" altLang="en-US" sz="1400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1400" b="1" dirty="0"/>
              <a:t>&lt;/audio&gt; 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 err="1"/>
              <a:t>Functii</a:t>
            </a:r>
            <a:r>
              <a:rPr lang="en-US" altLang="en-US" dirty="0"/>
              <a:t> media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Load()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Play()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Pause()</a:t>
            </a:r>
          </a:p>
          <a:p>
            <a:pPr lvl="1">
              <a:lnSpc>
                <a:spcPct val="90000"/>
              </a:lnSpc>
            </a:pPr>
            <a:r>
              <a:rPr lang="en-US" altLang="en-US" dirty="0" err="1"/>
              <a:t>canPlayType</a:t>
            </a:r>
            <a:r>
              <a:rPr lang="en-US" altLang="en-US" dirty="0"/>
              <a:t>(type)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155651" name="TextBox 3">
            <a:extLst>
              <a:ext uri="{FF2B5EF4-FFF2-40B4-BE49-F238E27FC236}">
                <a16:creationId xmlns:a16="http://schemas.microsoft.com/office/drawing/2014/main" id="{E711108A-FAFA-2787-4F9C-B685188A0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164" y="2813353"/>
            <a:ext cx="4876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&lt;video width="320" height="240" controls&gt;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&lt;source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="pr6.mp4" type='video/mp4; codecs="avc1.42E01E, mp4a.40.2"'&gt;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&lt;source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="pr6.webm" type='video/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webm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codecs="vp8,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vorbis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"'&gt;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&lt;source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="pr6.ogv" type='video/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ogg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codecs="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theora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vorbis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"'&gt;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&lt;/video&gt; </a:t>
            </a:r>
          </a:p>
        </p:txBody>
      </p:sp>
      <p:sp>
        <p:nvSpPr>
          <p:cNvPr id="155652" name="TextBox 4">
            <a:extLst>
              <a:ext uri="{FF2B5EF4-FFF2-40B4-BE49-F238E27FC236}">
                <a16:creationId xmlns:a16="http://schemas.microsoft.com/office/drawing/2014/main" id="{4D517C19-395D-27CD-69DD-8A827EDA6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84164" y="4582838"/>
            <a:ext cx="5075237" cy="123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&lt;audio controls&gt;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&lt;source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johann_sebastian_bach_air.ogg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"&gt;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&lt;source </a:t>
            </a:r>
            <a:r>
              <a:rPr lang="en-US" alt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="johann_sebastian_bach_air.mp3"&gt;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	An audio clip from Johann Sebastian Bach.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&lt;/audio&gt;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BCA6-DB71-BCDA-5533-68BFFF1C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HTML5 API - GEOLOCATIE</a:t>
            </a:r>
          </a:p>
        </p:txBody>
      </p:sp>
      <p:sp>
        <p:nvSpPr>
          <p:cNvPr id="157698" name="Content Placeholder 2">
            <a:extLst>
              <a:ext uri="{FF2B5EF4-FFF2-40B4-BE49-F238E27FC236}">
                <a16:creationId xmlns:a16="http://schemas.microsoft.com/office/drawing/2014/main" id="{144E242F-038B-E7B3-EAC9-6ED2759D29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1823545"/>
            <a:ext cx="8018271" cy="402336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en-US" dirty="0"/>
              <a:t>O </a:t>
            </a:r>
            <a:r>
              <a:rPr lang="en-US" altLang="en-US" dirty="0" err="1"/>
              <a:t>proprietate</a:t>
            </a:r>
            <a:r>
              <a:rPr lang="en-US" altLang="en-US" dirty="0"/>
              <a:t> a </a:t>
            </a:r>
            <a:r>
              <a:rPr lang="en-US" altLang="en-US" dirty="0" err="1"/>
              <a:t>obiectului</a:t>
            </a:r>
            <a:r>
              <a:rPr lang="en-US" altLang="en-US" dirty="0"/>
              <a:t> global navigator:</a:t>
            </a:r>
          </a:p>
          <a:p>
            <a:pPr lvl="1"/>
            <a:r>
              <a:rPr lang="en-US" altLang="en-US" dirty="0" err="1"/>
              <a:t>Navigator.geoLocation</a:t>
            </a:r>
            <a:endParaRPr lang="en-US" altLang="en-US" dirty="0"/>
          </a:p>
          <a:p>
            <a:pPr marL="114300" indent="0"/>
            <a:r>
              <a:rPr lang="en-US" altLang="en-US" dirty="0" err="1"/>
              <a:t>Detecteaza</a:t>
            </a:r>
            <a:r>
              <a:rPr lang="en-US" altLang="en-US" dirty="0"/>
              <a:t> </a:t>
            </a:r>
            <a:r>
              <a:rPr lang="en-US" altLang="en-US" dirty="0" err="1"/>
              <a:t>locatia</a:t>
            </a:r>
            <a:r>
              <a:rPr lang="en-US" altLang="en-US" dirty="0"/>
              <a:t> </a:t>
            </a:r>
            <a:r>
              <a:rPr lang="en-US" altLang="en-US" dirty="0" err="1"/>
              <a:t>utilizatorului</a:t>
            </a:r>
            <a:r>
              <a:rPr lang="en-US" altLang="en-US" dirty="0"/>
              <a:t> </a:t>
            </a:r>
            <a:r>
              <a:rPr lang="en-US" altLang="en-US" dirty="0" err="1"/>
              <a:t>curent</a:t>
            </a:r>
            <a:r>
              <a:rPr lang="en-US" altLang="en-US" dirty="0"/>
              <a:t> </a:t>
            </a:r>
            <a:r>
              <a:rPr lang="en-US" altLang="en-US" dirty="0" err="1"/>
              <a:t>utilizand</a:t>
            </a:r>
            <a:r>
              <a:rPr lang="en-US" altLang="en-US" dirty="0"/>
              <a:t> </a:t>
            </a:r>
            <a:r>
              <a:rPr lang="en-US" altLang="en-US" dirty="0" err="1"/>
              <a:t>urmatoarele</a:t>
            </a:r>
            <a:r>
              <a:rPr lang="en-US" altLang="en-US" dirty="0"/>
              <a:t> </a:t>
            </a:r>
            <a:r>
              <a:rPr lang="en-US" altLang="en-US" dirty="0" err="1"/>
              <a:t>informatii</a:t>
            </a:r>
            <a:r>
              <a:rPr lang="en-US" altLang="en-US" dirty="0"/>
              <a:t>:</a:t>
            </a:r>
          </a:p>
          <a:p>
            <a:pPr lvl="2"/>
            <a:r>
              <a:rPr lang="en-US" altLang="en-US" b="1" dirty="0"/>
              <a:t>-</a:t>
            </a:r>
            <a:r>
              <a:rPr lang="en-US" altLang="en-US" b="1" dirty="0" err="1"/>
              <a:t>Adresa</a:t>
            </a:r>
            <a:r>
              <a:rPr lang="en-US" altLang="en-US" b="1" dirty="0"/>
              <a:t> IP</a:t>
            </a:r>
            <a:endParaRPr lang="en-US" altLang="en-US" dirty="0"/>
          </a:p>
          <a:p>
            <a:pPr lvl="2"/>
            <a:r>
              <a:rPr lang="en-US" altLang="en-US" b="1" dirty="0"/>
              <a:t>-</a:t>
            </a:r>
            <a:r>
              <a:rPr lang="en-US" altLang="en-US" b="1" dirty="0" err="1"/>
              <a:t>Conexiunile</a:t>
            </a:r>
            <a:r>
              <a:rPr lang="en-US" altLang="en-US" b="1" dirty="0"/>
              <a:t> la </a:t>
            </a:r>
            <a:r>
              <a:rPr lang="en-US" altLang="en-US" b="1" dirty="0" err="1"/>
              <a:t>retele</a:t>
            </a:r>
            <a:r>
              <a:rPr lang="en-US" altLang="en-US" b="1" dirty="0"/>
              <a:t> wireless</a:t>
            </a:r>
            <a:endParaRPr lang="en-US" altLang="en-US" dirty="0"/>
          </a:p>
          <a:p>
            <a:pPr lvl="2"/>
            <a:r>
              <a:rPr lang="en-US" altLang="en-US" b="1" dirty="0"/>
              <a:t>-</a:t>
            </a:r>
            <a:r>
              <a:rPr lang="en-US" altLang="en-US" b="1" dirty="0" err="1"/>
              <a:t>Turnul</a:t>
            </a:r>
            <a:r>
              <a:rPr lang="en-US" altLang="en-US" b="1" dirty="0"/>
              <a:t> de </a:t>
            </a:r>
            <a:r>
              <a:rPr lang="en-US" altLang="en-US" b="1" dirty="0" err="1"/>
              <a:t>comunicatii</a:t>
            </a:r>
            <a:r>
              <a:rPr lang="en-US" altLang="en-US" b="1" dirty="0"/>
              <a:t> cu care </a:t>
            </a:r>
            <a:r>
              <a:rPr lang="en-US" altLang="en-US" b="1" dirty="0" err="1"/>
              <a:t>comunica</a:t>
            </a:r>
            <a:r>
              <a:rPr lang="en-US" altLang="en-US" b="1" dirty="0"/>
              <a:t> </a:t>
            </a:r>
            <a:r>
              <a:rPr lang="en-US" altLang="en-US" b="1" dirty="0" err="1"/>
              <a:t>telefonul</a:t>
            </a:r>
            <a:endParaRPr lang="en-US" altLang="en-US" dirty="0"/>
          </a:p>
          <a:p>
            <a:pPr lvl="2"/>
            <a:r>
              <a:rPr lang="en-US" altLang="en-US" b="1" dirty="0"/>
              <a:t>-hardware GPS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157703" name="Rectangle 157702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7705" name="Rectangle 157704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8" name="Rectangle 158727">
            <a:extLst>
              <a:ext uri="{FF2B5EF4-FFF2-40B4-BE49-F238E27FC236}">
                <a16:creationId xmlns:a16="http://schemas.microsoft.com/office/drawing/2014/main" id="{81AEB8A9-B768-4E30-BA55-D919E6687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0001" y="-2"/>
            <a:ext cx="4069936" cy="6858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0B34B4-ADCC-101F-BEEC-FA35CD5A9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039" y="640080"/>
            <a:ext cx="3429855" cy="5613236"/>
          </a:xfrm>
        </p:spPr>
        <p:txBody>
          <a:bodyPr anchor="ctr">
            <a:normAutofit/>
          </a:bodyPr>
          <a:lstStyle/>
          <a:p>
            <a:pPr>
              <a:defRPr/>
            </a:pPr>
            <a:r>
              <a:rPr lang="en-US">
                <a:solidFill>
                  <a:srgbClr val="FFFFFF"/>
                </a:solidFill>
              </a:rPr>
              <a:t>HTML5 API - GEOLOCATIE</a:t>
            </a:r>
          </a:p>
        </p:txBody>
      </p:sp>
      <p:sp>
        <p:nvSpPr>
          <p:cNvPr id="158722" name="Content Placeholder 2">
            <a:extLst>
              <a:ext uri="{FF2B5EF4-FFF2-40B4-BE49-F238E27FC236}">
                <a16:creationId xmlns:a16="http://schemas.microsoft.com/office/drawing/2014/main" id="{A827A20B-8DF9-CCAE-5A6F-B91B64A254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99818" y="640080"/>
            <a:ext cx="7172138" cy="3745107"/>
          </a:xfrm>
        </p:spPr>
        <p:txBody>
          <a:bodyPr>
            <a:normAutofit/>
          </a:bodyPr>
          <a:lstStyle/>
          <a:p>
            <a:r>
              <a:rPr lang="en-US" altLang="en-US" sz="1500"/>
              <a:t>Exemplu de implementare:</a:t>
            </a:r>
          </a:p>
          <a:p>
            <a:pPr>
              <a:buFontTx/>
              <a:buNone/>
            </a:pPr>
            <a:r>
              <a:rPr lang="en-US" alt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function get_location() { navigator.geolocation.getCurrentPosition(show_map); } </a:t>
            </a:r>
          </a:p>
          <a:p>
            <a:pPr>
              <a:buFontTx/>
              <a:buNone/>
            </a:pPr>
            <a:r>
              <a:rPr lang="it-IT" altLang="en-US" sz="1500" i="1">
                <a:latin typeface="Courier New" panose="02070309020205020404" pitchFamily="49" charset="0"/>
                <a:cs typeface="Courier New" panose="02070309020205020404" pitchFamily="49" charset="0"/>
              </a:rPr>
              <a:t>//determina afisarea unei bare de informatii ce intreaba utilizatorul daca doreste sa isi dezvaluie locatia sa. </a:t>
            </a:r>
          </a:p>
          <a:p>
            <a:pPr>
              <a:buFontTx/>
              <a:buNone/>
            </a:pPr>
            <a:r>
              <a:rPr lang="en-US" altLang="en-US" sz="1500" i="1">
                <a:latin typeface="Courier New" panose="02070309020205020404" pitchFamily="49" charset="0"/>
                <a:cs typeface="Courier New" panose="02070309020205020404" pitchFamily="49" charset="0"/>
              </a:rPr>
              <a:t>//show_map -&gt;functia de callback</a:t>
            </a:r>
          </a:p>
          <a:p>
            <a:pPr>
              <a:buFontTx/>
              <a:buNone/>
            </a:pPr>
            <a:r>
              <a:rPr lang="en-US" alt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function show_map(position) {</a:t>
            </a:r>
          </a:p>
          <a:p>
            <a:pPr>
              <a:buFontTx/>
              <a:buNone/>
            </a:pPr>
            <a:r>
              <a:rPr lang="en-US" alt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 var latitude = position.coords.latitude; </a:t>
            </a:r>
          </a:p>
          <a:p>
            <a:pPr>
              <a:buFontTx/>
              <a:buNone/>
            </a:pPr>
            <a:r>
              <a:rPr lang="en-US" alt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var longitude = position.coords.longitude; </a:t>
            </a:r>
          </a:p>
          <a:p>
            <a:pPr>
              <a:buFontTx/>
              <a:buNone/>
            </a:pPr>
            <a:r>
              <a:rPr lang="en-US" altLang="en-US" sz="1500" b="1">
                <a:latin typeface="Courier New" panose="02070309020205020404" pitchFamily="49" charset="0"/>
                <a:cs typeface="Courier New" panose="02070309020205020404" pitchFamily="49" charset="0"/>
              </a:rPr>
              <a:t>// let's show a map or do something interesting! } </a:t>
            </a:r>
          </a:p>
          <a:p>
            <a:pPr>
              <a:buFontTx/>
              <a:buNone/>
            </a:pPr>
            <a:endParaRPr lang="en-US" altLang="en-US" sz="15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58723" name="Picture 2">
            <a:extLst>
              <a:ext uri="{FF2B5EF4-FFF2-40B4-BE49-F238E27FC236}">
                <a16:creationId xmlns:a16="http://schemas.microsoft.com/office/drawing/2014/main" id="{034F1B22-09E2-F8AC-15DB-53E595AF16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3097" y="4385187"/>
            <a:ext cx="5126638" cy="16859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53955-B251-908F-9464-17C85AC7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ofera</a:t>
            </a:r>
            <a:r>
              <a:rPr lang="en-US" dirty="0"/>
              <a:t> HTML5?</a:t>
            </a:r>
          </a:p>
        </p:txBody>
      </p:sp>
      <p:sp>
        <p:nvSpPr>
          <p:cNvPr id="175106" name="Content Placeholder 2">
            <a:extLst>
              <a:ext uri="{FF2B5EF4-FFF2-40B4-BE49-F238E27FC236}">
                <a16:creationId xmlns:a16="http://schemas.microsoft.com/office/drawing/2014/main" id="{F4600E31-8B3C-A663-D63C-D7D6969235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/>
              <a:t>Trasaturi noi formularelor (validare la nivelul clientului, date pickers, sliders)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Socket-uri Web</a:t>
            </a:r>
          </a:p>
          <a:p>
            <a:pPr>
              <a:lnSpc>
                <a:spcPct val="90000"/>
              </a:lnSpc>
            </a:pPr>
            <a:r>
              <a:rPr lang="en-US" altLang="en-US"/>
              <a:t>Web storage</a:t>
            </a:r>
          </a:p>
          <a:p>
            <a:pPr>
              <a:lnSpc>
                <a:spcPct val="90000"/>
              </a:lnSpc>
            </a:pPr>
            <a:r>
              <a:rPr lang="en-US" altLang="en-US"/>
              <a:t>Alte tag-uri noi</a:t>
            </a:r>
          </a:p>
          <a:p>
            <a:pPr>
              <a:lnSpc>
                <a:spcPct val="90000"/>
              </a:lnSpc>
            </a:pPr>
            <a:r>
              <a:rPr lang="en-US" altLang="en-US"/>
              <a:t>Manipularea istoricului browserului</a:t>
            </a:r>
          </a:p>
          <a:p>
            <a:pPr>
              <a:lnSpc>
                <a:spcPct val="90000"/>
              </a:lnSpc>
            </a:pPr>
            <a:r>
              <a:rPr lang="en-US" altLang="en-US"/>
              <a:t>Drag and Drop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  <p:pic>
        <p:nvPicPr>
          <p:cNvPr id="175107" name="Picture 3">
            <a:extLst>
              <a:ext uri="{FF2B5EF4-FFF2-40B4-BE49-F238E27FC236}">
                <a16:creationId xmlns:a16="http://schemas.microsoft.com/office/drawing/2014/main" id="{7EDD52A5-FC01-0D97-800A-63E21E931C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7708" y="2900857"/>
            <a:ext cx="4156492" cy="298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424A8-24B2-BBA4-59BB-9D71E0DB2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HTML5 Forms</a:t>
            </a:r>
          </a:p>
        </p:txBody>
      </p:sp>
      <p:sp>
        <p:nvSpPr>
          <p:cNvPr id="176130" name="Content Placeholder 2">
            <a:extLst>
              <a:ext uri="{FF2B5EF4-FFF2-40B4-BE49-F238E27FC236}">
                <a16:creationId xmlns:a16="http://schemas.microsoft.com/office/drawing/2014/main" id="{B9FAD948-94F5-F369-A7E0-D1CA1D7F55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Suplimentar </a:t>
            </a:r>
            <a:r>
              <a:rPr lang="ro-RO" altLang="en-US" b="1"/>
              <a:t>în HTML5</a:t>
            </a:r>
            <a:endParaRPr lang="en-US" altLang="en-US" b="1"/>
          </a:p>
          <a:p>
            <a:r>
              <a:rPr lang="en-US" altLang="en-US"/>
              <a:t>placeholder text</a:t>
            </a:r>
          </a:p>
          <a:p>
            <a:r>
              <a:rPr lang="en-US" altLang="en-US"/>
              <a:t>autofocus</a:t>
            </a:r>
          </a:p>
          <a:p>
            <a:r>
              <a:rPr lang="en-US" altLang="en-US"/>
              <a:t>input types for </a:t>
            </a:r>
          </a:p>
          <a:p>
            <a:pPr lvl="1"/>
            <a:r>
              <a:rPr lang="en-US" altLang="en-US"/>
              <a:t>email</a:t>
            </a:r>
          </a:p>
          <a:p>
            <a:pPr lvl="1"/>
            <a:r>
              <a:rPr lang="en-US" altLang="en-US"/>
              <a:t>url</a:t>
            </a:r>
          </a:p>
          <a:p>
            <a:pPr lvl="1"/>
            <a:r>
              <a:rPr lang="en-US" altLang="en-US"/>
              <a:t>number</a:t>
            </a:r>
          </a:p>
          <a:p>
            <a:pPr lvl="1"/>
            <a:r>
              <a:rPr lang="en-US" altLang="en-US"/>
              <a:t>range</a:t>
            </a:r>
          </a:p>
          <a:p>
            <a:pPr lvl="1"/>
            <a:r>
              <a:rPr lang="en-US" altLang="en-US"/>
              <a:t>date and time</a:t>
            </a:r>
          </a:p>
          <a:p>
            <a:endParaRPr lang="en-US" altLang="en-US"/>
          </a:p>
        </p:txBody>
      </p:sp>
      <p:sp>
        <p:nvSpPr>
          <p:cNvPr id="176131" name="Date Placeholder 3">
            <a:extLst>
              <a:ext uri="{FF2B5EF4-FFF2-40B4-BE49-F238E27FC236}">
                <a16:creationId xmlns:a16="http://schemas.microsoft.com/office/drawing/2014/main" id="{A9A24B8E-33EC-DAD8-5C82-8FFB03B8F0B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152400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04.03.2010</a:t>
            </a:r>
          </a:p>
        </p:txBody>
      </p:sp>
      <p:sp>
        <p:nvSpPr>
          <p:cNvPr id="176132" name="Footer Placeholder 4">
            <a:extLst>
              <a:ext uri="{FF2B5EF4-FFF2-40B4-BE49-F238E27FC236}">
                <a16:creationId xmlns:a16="http://schemas.microsoft.com/office/drawing/2014/main" id="{BE2E29A4-070F-6F50-3028-4D3CC49464F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8534400" y="6602414"/>
            <a:ext cx="2133600" cy="54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176133" name="Slide Number Placeholder 5">
            <a:extLst>
              <a:ext uri="{FF2B5EF4-FFF2-40B4-BE49-F238E27FC236}">
                <a16:creationId xmlns:a16="http://schemas.microsoft.com/office/drawing/2014/main" id="{D48233E8-7BDB-41E2-5FC9-692F2FF734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52400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E19BBB17-5CA7-4048-8E19-33B641D293CB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110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76134" name="Picture 4">
            <a:extLst>
              <a:ext uri="{FF2B5EF4-FFF2-40B4-BE49-F238E27FC236}">
                <a16:creationId xmlns:a16="http://schemas.microsoft.com/office/drawing/2014/main" id="{A6F9C7BE-353B-E238-E5F3-D4DDFE81E0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657601"/>
            <a:ext cx="46863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6135" name="Picture 5">
            <a:extLst>
              <a:ext uri="{FF2B5EF4-FFF2-40B4-BE49-F238E27FC236}">
                <a16:creationId xmlns:a16="http://schemas.microsoft.com/office/drawing/2014/main" id="{85437DC8-3EB8-E4BA-28DB-C94012F77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4514" y="5181600"/>
            <a:ext cx="494347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6136" name="Picture 6">
            <a:extLst>
              <a:ext uri="{FF2B5EF4-FFF2-40B4-BE49-F238E27FC236}">
                <a16:creationId xmlns:a16="http://schemas.microsoft.com/office/drawing/2014/main" id="{907356CA-5681-FD76-91A6-6487B79F1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019426"/>
            <a:ext cx="3430588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6137" name="Picture 2">
            <a:extLst>
              <a:ext uri="{FF2B5EF4-FFF2-40B4-BE49-F238E27FC236}">
                <a16:creationId xmlns:a16="http://schemas.microsoft.com/office/drawing/2014/main" id="{0FFA7F6C-B28E-5C07-5637-031ADBC19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613" y="2133600"/>
            <a:ext cx="43053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3" name="Date Placeholder 3">
            <a:extLst>
              <a:ext uri="{FF2B5EF4-FFF2-40B4-BE49-F238E27FC236}">
                <a16:creationId xmlns:a16="http://schemas.microsoft.com/office/drawing/2014/main" id="{C5FC8893-F2DF-15B4-6893-F6F32AA0F14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152400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04.03.2010</a:t>
            </a:r>
          </a:p>
        </p:txBody>
      </p:sp>
      <p:sp>
        <p:nvSpPr>
          <p:cNvPr id="177154" name="Footer Placeholder 4">
            <a:extLst>
              <a:ext uri="{FF2B5EF4-FFF2-40B4-BE49-F238E27FC236}">
                <a16:creationId xmlns:a16="http://schemas.microsoft.com/office/drawing/2014/main" id="{B8AAB790-FB37-C2D2-C476-38F84D86B90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8534400" y="6602414"/>
            <a:ext cx="2133600" cy="54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177155" name="Slide Number Placeholder 5">
            <a:extLst>
              <a:ext uri="{FF2B5EF4-FFF2-40B4-BE49-F238E27FC236}">
                <a16:creationId xmlns:a16="http://schemas.microsoft.com/office/drawing/2014/main" id="{526C6D8A-AC19-34D8-7D58-A991DB0C13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52400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91087445-CFC4-7641-973F-0E9A5B7FDD33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111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77156" name="Picture 7">
            <a:extLst>
              <a:ext uri="{FF2B5EF4-FFF2-40B4-BE49-F238E27FC236}">
                <a16:creationId xmlns:a16="http://schemas.microsoft.com/office/drawing/2014/main" id="{342BCC95-0C27-85C7-EDA4-096FAD5FF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939" y="734248"/>
            <a:ext cx="4105275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7157" name="Picture 8">
            <a:extLst>
              <a:ext uri="{FF2B5EF4-FFF2-40B4-BE49-F238E27FC236}">
                <a16:creationId xmlns:a16="http://schemas.microsoft.com/office/drawing/2014/main" id="{F1C62A6A-11AC-5751-067F-3285E07CE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947" y="796160"/>
            <a:ext cx="3267075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77" name="Picture 3">
            <a:extLst>
              <a:ext uri="{FF2B5EF4-FFF2-40B4-BE49-F238E27FC236}">
                <a16:creationId xmlns:a16="http://schemas.microsoft.com/office/drawing/2014/main" id="{9BF5FAD4-CF68-A7BB-8208-3758EA50D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528" y="1276350"/>
            <a:ext cx="3228975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8178" name="Date Placeholder 3">
            <a:extLst>
              <a:ext uri="{FF2B5EF4-FFF2-40B4-BE49-F238E27FC236}">
                <a16:creationId xmlns:a16="http://schemas.microsoft.com/office/drawing/2014/main" id="{538BB6E9-4494-187E-ACCB-852668B5AC0F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152400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04.03.2010</a:t>
            </a:r>
          </a:p>
        </p:txBody>
      </p:sp>
      <p:sp>
        <p:nvSpPr>
          <p:cNvPr id="178179" name="Footer Placeholder 4">
            <a:extLst>
              <a:ext uri="{FF2B5EF4-FFF2-40B4-BE49-F238E27FC236}">
                <a16:creationId xmlns:a16="http://schemas.microsoft.com/office/drawing/2014/main" id="{0F0E9278-8BDC-4B48-5672-A3B34161F176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8534400" y="6602414"/>
            <a:ext cx="2133600" cy="54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178180" name="Slide Number Placeholder 5">
            <a:extLst>
              <a:ext uri="{FF2B5EF4-FFF2-40B4-BE49-F238E27FC236}">
                <a16:creationId xmlns:a16="http://schemas.microsoft.com/office/drawing/2014/main" id="{6ABE2084-ED68-FE8F-7BAF-D3ED21F8E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52400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5BE8C919-AF1E-4D4B-A275-CAB10034CDA6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112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78181" name="Picture 2">
            <a:extLst>
              <a:ext uri="{FF2B5EF4-FFF2-40B4-BE49-F238E27FC236}">
                <a16:creationId xmlns:a16="http://schemas.microsoft.com/office/drawing/2014/main" id="{D31B2EB8-20E6-53FA-E43A-210044274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063" y="1038225"/>
            <a:ext cx="5419725" cy="478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1" name="Date Placeholder 3">
            <a:extLst>
              <a:ext uri="{FF2B5EF4-FFF2-40B4-BE49-F238E27FC236}">
                <a16:creationId xmlns:a16="http://schemas.microsoft.com/office/drawing/2014/main" id="{E3CA854D-521F-4ADE-D990-02260C2A4BA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152400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900">
              <a:solidFill>
                <a:schemeClr val="bg1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04.03.2010</a:t>
            </a:r>
          </a:p>
        </p:txBody>
      </p:sp>
      <p:sp>
        <p:nvSpPr>
          <p:cNvPr id="179202" name="Footer Placeholder 4">
            <a:extLst>
              <a:ext uri="{FF2B5EF4-FFF2-40B4-BE49-F238E27FC236}">
                <a16:creationId xmlns:a16="http://schemas.microsoft.com/office/drawing/2014/main" id="{728490F7-018B-AA8A-907B-0FF3B1029D2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8534400" y="6602414"/>
            <a:ext cx="2133600" cy="54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Programare Web– Curs 2</a:t>
            </a:r>
          </a:p>
        </p:txBody>
      </p:sp>
      <p:sp>
        <p:nvSpPr>
          <p:cNvPr id="179203" name="Slide Number Placeholder 5">
            <a:extLst>
              <a:ext uri="{FF2B5EF4-FFF2-40B4-BE49-F238E27FC236}">
                <a16:creationId xmlns:a16="http://schemas.microsoft.com/office/drawing/2014/main" id="{4DEF42D6-9FCF-6D49-7457-C18FF388C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524000" y="0"/>
            <a:ext cx="0" cy="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0"/>
              </a:spcBef>
              <a:buFontTx/>
              <a:buNone/>
            </a:pPr>
            <a:fld id="{1AC9BFA3-3462-9E4C-903F-9A2206543838}" type="slidenum">
              <a:rPr lang="en-US" altLang="en-US" sz="900">
                <a:solidFill>
                  <a:schemeClr val="bg1"/>
                </a:solidFill>
              </a:rPr>
              <a:pPr algn="l">
                <a:spcBef>
                  <a:spcPct val="0"/>
                </a:spcBef>
                <a:buFontTx/>
                <a:buNone/>
              </a:pPr>
              <a:t>113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79204" name="Picture 2">
            <a:extLst>
              <a:ext uri="{FF2B5EF4-FFF2-40B4-BE49-F238E27FC236}">
                <a16:creationId xmlns:a16="http://schemas.microsoft.com/office/drawing/2014/main" id="{8F21C6CB-99C3-B84E-7FFF-BE33D8B2D0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1" y="1062037"/>
            <a:ext cx="57531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9205" name="Picture 3">
            <a:extLst>
              <a:ext uri="{FF2B5EF4-FFF2-40B4-BE49-F238E27FC236}">
                <a16:creationId xmlns:a16="http://schemas.microsoft.com/office/drawing/2014/main" id="{D48663AB-4284-1573-95BE-480ACE409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169698"/>
            <a:ext cx="2724150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9206" name="Picture 4">
            <a:extLst>
              <a:ext uri="{FF2B5EF4-FFF2-40B4-BE49-F238E27FC236}">
                <a16:creationId xmlns:a16="http://schemas.microsoft.com/office/drawing/2014/main" id="{426413F7-0FBE-01FC-A344-353ECA16C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325" y="3340264"/>
            <a:ext cx="2646363" cy="3348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9D52ABA9-8686-9DF5-4ABD-560499E1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o-RO" altLang="en-US"/>
              <a:t>Îmbunătățiri pentru </a:t>
            </a:r>
            <a:r>
              <a:rPr lang="en-US" altLang="en-US"/>
              <a:t>Form</a:t>
            </a:r>
          </a:p>
        </p:txBody>
      </p:sp>
      <p:sp>
        <p:nvSpPr>
          <p:cNvPr id="180226" name="Content Placeholder 2">
            <a:extLst>
              <a:ext uri="{FF2B5EF4-FFF2-40B4-BE49-F238E27FC236}">
                <a16:creationId xmlns:a16="http://schemas.microsoft.com/office/drawing/2014/main" id="{8DAADF26-FD6D-7EF6-634B-20FDDFFD04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Placeholder</a:t>
            </a:r>
          </a:p>
          <a:p>
            <a:pPr eaLnBrk="1" hangingPunct="1"/>
            <a:r>
              <a:rPr lang="ro-RO" altLang="en-US"/>
              <a:t>T</a:t>
            </a:r>
            <a:r>
              <a:rPr lang="en-US" altLang="en-US"/>
              <a:t>ext input: email, URL, number, search</a:t>
            </a:r>
          </a:p>
          <a:p>
            <a:pPr eaLnBrk="1" hangingPunct="1"/>
            <a:r>
              <a:rPr lang="en-US" altLang="en-US"/>
              <a:t>Slider</a:t>
            </a:r>
          </a:p>
          <a:p>
            <a:pPr eaLnBrk="1" hangingPunct="1"/>
            <a:r>
              <a:rPr lang="en-US" altLang="en-US"/>
              <a:t>Date picker</a:t>
            </a:r>
          </a:p>
          <a:p>
            <a:pPr eaLnBrk="1" hangingPunct="1"/>
            <a:r>
              <a:rPr lang="ro-RO" altLang="en-US"/>
              <a:t>Validare </a:t>
            </a:r>
            <a:r>
              <a:rPr lang="en-US" altLang="en-US"/>
              <a:t>User Agen</a:t>
            </a:r>
            <a:r>
              <a:rPr lang="ro-RO" altLang="en-US"/>
              <a:t>t</a:t>
            </a:r>
            <a:endParaRPr lang="en-US" altLang="en-US"/>
          </a:p>
        </p:txBody>
      </p:sp>
      <p:pic>
        <p:nvPicPr>
          <p:cNvPr id="180227" name="Picture 5" descr="iPhone rendering input type=number field">
            <a:extLst>
              <a:ext uri="{FF2B5EF4-FFF2-40B4-BE49-F238E27FC236}">
                <a16:creationId xmlns:a16="http://schemas.microsoft.com/office/drawing/2014/main" id="{8E2B0B0C-03D8-288F-AEBA-D8363A2DA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2800" y="2725738"/>
            <a:ext cx="18288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0228" name="Picture 7" descr="Opera's type=month picker">
            <a:extLst>
              <a:ext uri="{FF2B5EF4-FFF2-40B4-BE49-F238E27FC236}">
                <a16:creationId xmlns:a16="http://schemas.microsoft.com/office/drawing/2014/main" id="{6F336EF7-C2DA-15D6-8F3F-C792365D3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3113" y="4329114"/>
            <a:ext cx="200025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0229" name="Picture 9" descr="location bar with placeholder text">
            <a:extLst>
              <a:ext uri="{FF2B5EF4-FFF2-40B4-BE49-F238E27FC236}">
                <a16:creationId xmlns:a16="http://schemas.microsoft.com/office/drawing/2014/main" id="{A8743D34-7FCD-9ED7-3ABE-A2BB7C690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76418"/>
            <a:ext cx="2552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0230" name="Picture 11" descr="Chrome rendering of input type=range field as slider control">
            <a:extLst>
              <a:ext uri="{FF2B5EF4-FFF2-40B4-BE49-F238E27FC236}">
                <a16:creationId xmlns:a16="http://schemas.microsoft.com/office/drawing/2014/main" id="{E9DE4F4F-CF17-2819-B5D5-0B83E77F96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401" y="2487614"/>
            <a:ext cx="166687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52" name="Rectangle 185351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85354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85356" name="Straight Connector 185355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5358" name="Rectangle 185357">
            <a:extLst>
              <a:ext uri="{FF2B5EF4-FFF2-40B4-BE49-F238E27FC236}">
                <a16:creationId xmlns:a16="http://schemas.microsoft.com/office/drawing/2014/main" id="{42DD0C21-8FEE-4C18-8789-CC8ABE206F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360" name="Rectangle 185359">
            <a:extLst>
              <a:ext uri="{FF2B5EF4-FFF2-40B4-BE49-F238E27FC236}">
                <a16:creationId xmlns:a16="http://schemas.microsoft.com/office/drawing/2014/main" id="{A4B51757-7607-4CEA-A0EE-3C5BDC2C1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1998"/>
            <a:ext cx="12188952" cy="22855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D469A-0EDB-9D5D-68B9-4D4AAB20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defRPr/>
            </a:pPr>
            <a:r>
              <a:rPr lang="en-US" kern="1200" cap="all" spc="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CSS3</a:t>
            </a:r>
          </a:p>
        </p:txBody>
      </p:sp>
      <p:pic>
        <p:nvPicPr>
          <p:cNvPr id="185347" name="Picture 7" descr="http://www.elevenwinds.com/Images/mike/matchmedia/css3_responsive_design.jpg">
            <a:extLst>
              <a:ext uri="{FF2B5EF4-FFF2-40B4-BE49-F238E27FC236}">
                <a16:creationId xmlns:a16="http://schemas.microsoft.com/office/drawing/2014/main" id="{EB1C6424-0F6A-B8C8-4743-210DD88E7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88793" y="640080"/>
            <a:ext cx="4408609" cy="330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85362" name="Straight Connector 185361">
            <a:extLst>
              <a:ext uri="{FF2B5EF4-FFF2-40B4-BE49-F238E27FC236}">
                <a16:creationId xmlns:a16="http://schemas.microsoft.com/office/drawing/2014/main" id="{FEF39256-F095-41C8-8707-6C1A665E8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406507" y="5220212"/>
            <a:ext cx="0" cy="91440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346" name="Slide Number Placeholder 4">
            <a:extLst>
              <a:ext uri="{FF2B5EF4-FFF2-40B4-BE49-F238E27FC236}">
                <a16:creationId xmlns:a16="http://schemas.microsoft.com/office/drawing/2014/main" id="{4F3F6A95-AE2B-56F9-1018-825B2090A4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B32F5EEE-AAC1-7342-A6E0-A41CB07AA89C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115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6FF83861-BBB6-CAE6-8CE7-4E0594BB0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8018272" cy="149961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ro-RO" altLang="en-US" dirty="0"/>
              <a:t>Efecte </a:t>
            </a:r>
            <a:r>
              <a:rPr lang="en-US" altLang="en-US" dirty="0"/>
              <a:t>CSS</a:t>
            </a:r>
          </a:p>
        </p:txBody>
      </p:sp>
      <p:sp>
        <p:nvSpPr>
          <p:cNvPr id="186370" name="Content Placeholder 2">
            <a:extLst>
              <a:ext uri="{FF2B5EF4-FFF2-40B4-BE49-F238E27FC236}">
                <a16:creationId xmlns:a16="http://schemas.microsoft.com/office/drawing/2014/main" id="{F12CC48C-ABB3-2DBB-E2DC-4514A0995A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9" y="1749972"/>
            <a:ext cx="8182933" cy="4230413"/>
          </a:xfrm>
        </p:spPr>
        <p:txBody>
          <a:bodyPr>
            <a:normAutofit fontScale="92500" lnSpcReduction="10000"/>
          </a:bodyPr>
          <a:lstStyle/>
          <a:p>
            <a:pPr eaLnBrk="1" hangingPunct="1"/>
            <a:r>
              <a:rPr lang="ro-RO" altLang="en-US" sz="1800" dirty="0"/>
              <a:t>Colțuri rotunjite</a:t>
            </a:r>
            <a:endParaRPr lang="en-US" altLang="en-US" sz="1800" dirty="0"/>
          </a:p>
          <a:p>
            <a:pPr eaLnBrk="1" hangingPunct="1"/>
            <a:r>
              <a:rPr lang="en-US" altLang="en-US" sz="1800" dirty="0"/>
              <a:t>Gradient</a:t>
            </a:r>
          </a:p>
          <a:p>
            <a:pPr eaLnBrk="1" hangingPunct="1"/>
            <a:r>
              <a:rPr lang="en-US" altLang="en-US" sz="1800" dirty="0"/>
              <a:t>Box </a:t>
            </a:r>
            <a:r>
              <a:rPr lang="ro-RO" altLang="en-US" sz="1800" dirty="0"/>
              <a:t>și </a:t>
            </a:r>
            <a:r>
              <a:rPr lang="en-US" altLang="en-US" sz="1800" dirty="0"/>
              <a:t>text shadow</a:t>
            </a:r>
          </a:p>
          <a:p>
            <a:pPr eaLnBrk="1" hangingPunct="1"/>
            <a:r>
              <a:rPr lang="en-US" altLang="en-US" sz="1800" dirty="0"/>
              <a:t>Font</a:t>
            </a:r>
            <a:r>
              <a:rPr lang="ro-RO" altLang="en-US" sz="1800" dirty="0"/>
              <a:t>uri</a:t>
            </a:r>
            <a:endParaRPr lang="en-US" altLang="en-US" sz="1800" dirty="0"/>
          </a:p>
          <a:p>
            <a:pPr eaLnBrk="1" hangingPunct="1"/>
            <a:r>
              <a:rPr lang="ro-RO" altLang="en-US" sz="1800" dirty="0"/>
              <a:t>Transparență</a:t>
            </a:r>
            <a:endParaRPr lang="en-US" altLang="en-US" sz="1800" dirty="0"/>
          </a:p>
          <a:p>
            <a:pPr eaLnBrk="1" hangingPunct="1"/>
            <a:r>
              <a:rPr lang="ro-RO" altLang="en-US" sz="1800" dirty="0"/>
              <a:t>Imagini m</a:t>
            </a:r>
            <a:r>
              <a:rPr lang="en-US" altLang="en-US" sz="1800" dirty="0" err="1"/>
              <a:t>ultiple</a:t>
            </a:r>
            <a:r>
              <a:rPr lang="en-US" altLang="en-US" sz="1800" dirty="0"/>
              <a:t> background </a:t>
            </a:r>
            <a:r>
              <a:rPr lang="ro-RO" altLang="en-US" sz="1800" dirty="0"/>
              <a:t>și imagini </a:t>
            </a:r>
            <a:r>
              <a:rPr lang="en-US" altLang="en-US" sz="1800" dirty="0"/>
              <a:t>border</a:t>
            </a:r>
          </a:p>
          <a:p>
            <a:pPr eaLnBrk="1" hangingPunct="1"/>
            <a:r>
              <a:rPr lang="ro-RO" altLang="en-US" sz="1800" dirty="0"/>
              <a:t>G</a:t>
            </a:r>
            <a:r>
              <a:rPr lang="en-US" altLang="en-US" sz="1800" dirty="0"/>
              <a:t>rid layout</a:t>
            </a:r>
          </a:p>
          <a:p>
            <a:pPr eaLnBrk="1" hangingPunct="1"/>
            <a:r>
              <a:rPr lang="ro-RO" altLang="en-US" sz="1800" dirty="0"/>
              <a:t>Dimensionare </a:t>
            </a:r>
            <a:r>
              <a:rPr lang="en-US" altLang="en-US" sz="1800" dirty="0"/>
              <a:t>Box</a:t>
            </a:r>
          </a:p>
          <a:p>
            <a:pPr eaLnBrk="1" hangingPunct="1"/>
            <a:r>
              <a:rPr lang="en-US" altLang="en-US" sz="1800" dirty="0"/>
              <a:t>Stroke </a:t>
            </a:r>
            <a:r>
              <a:rPr lang="ro-RO" altLang="en-US" sz="1800" dirty="0"/>
              <a:t>și </a:t>
            </a:r>
            <a:r>
              <a:rPr lang="en-US" altLang="en-US" sz="1800" dirty="0"/>
              <a:t>outline</a:t>
            </a:r>
          </a:p>
          <a:p>
            <a:pPr eaLnBrk="1" hangingPunct="1"/>
            <a:r>
              <a:rPr lang="en-US" altLang="en-US" sz="1800" dirty="0"/>
              <a:t>Anima</a:t>
            </a:r>
            <a:r>
              <a:rPr lang="ro-RO" altLang="en-US" sz="1800" dirty="0"/>
              <a:t>ție</a:t>
            </a:r>
            <a:r>
              <a:rPr lang="en-US" altLang="en-US" sz="1800" dirty="0"/>
              <a:t>, </a:t>
            </a:r>
            <a:r>
              <a:rPr lang="ro-RO" altLang="en-US" sz="1800" dirty="0"/>
              <a:t>mișcare și rotație</a:t>
            </a:r>
            <a:endParaRPr lang="en-US" altLang="en-US" sz="1800" dirty="0"/>
          </a:p>
          <a:p>
            <a:pPr eaLnBrk="1" hangingPunct="1"/>
            <a:r>
              <a:rPr lang="ro-RO" altLang="en-US" sz="1800" dirty="0"/>
              <a:t>Selectori noi</a:t>
            </a:r>
            <a:endParaRPr lang="en-US" altLang="en-US" sz="1800" dirty="0"/>
          </a:p>
        </p:txBody>
      </p:sp>
      <p:sp>
        <p:nvSpPr>
          <p:cNvPr id="186375" name="Rectangle 186374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6377" name="Rectangle 186376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4F210-FE81-6277-A651-8A0B83B67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Borders</a:t>
            </a:r>
            <a:endParaRPr lang="en-US" altLang="en-US"/>
          </a:p>
        </p:txBody>
      </p:sp>
      <p:sp>
        <p:nvSpPr>
          <p:cNvPr id="189442" name="Slide Number Placeholder 5">
            <a:extLst>
              <a:ext uri="{FF2B5EF4-FFF2-40B4-BE49-F238E27FC236}">
                <a16:creationId xmlns:a16="http://schemas.microsoft.com/office/drawing/2014/main" id="{6C73D3FD-CC36-1544-AB76-0D9D32A86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AA504B-E52F-3642-9FEA-669E603123D5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117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89443" name="Picture 5">
            <a:extLst>
              <a:ext uri="{FF2B5EF4-FFF2-40B4-BE49-F238E27FC236}">
                <a16:creationId xmlns:a16="http://schemas.microsoft.com/office/drawing/2014/main" id="{1939A66D-7EA9-ACB9-F126-5EF498879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38" y="2206679"/>
            <a:ext cx="6781800" cy="394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DC6159-904F-8431-4266-955B64FB5330}"/>
              </a:ext>
            </a:extLst>
          </p:cNvPr>
          <p:cNvSpPr/>
          <p:nvPr/>
        </p:nvSpPr>
        <p:spPr>
          <a:xfrm>
            <a:off x="6517124" y="3591773"/>
            <a:ext cx="5203825" cy="381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>
                <a:solidFill>
                  <a:srgbClr val="000000"/>
                </a:solidFill>
              </a:rPr>
              <a:t>width, color, style sau radius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594FFC-376E-E9BD-2DC3-2C93BF6A5A26}"/>
              </a:ext>
            </a:extLst>
          </p:cNvPr>
          <p:cNvSpPr/>
          <p:nvPr/>
        </p:nvSpPr>
        <p:spPr>
          <a:xfrm>
            <a:off x="6517126" y="3972773"/>
            <a:ext cx="5203825" cy="381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>
                <a:solidFill>
                  <a:srgbClr val="000000"/>
                </a:solidFill>
              </a:rPr>
              <a:t>Valoarea asignată porțiunii sus a marginii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341AEF-FDD8-BE7A-C65C-4C46AD490B17}"/>
              </a:ext>
            </a:extLst>
          </p:cNvPr>
          <p:cNvSpPr/>
          <p:nvPr/>
        </p:nvSpPr>
        <p:spPr>
          <a:xfrm>
            <a:off x="6517126" y="4379173"/>
            <a:ext cx="5203825" cy="381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>
                <a:solidFill>
                  <a:srgbClr val="000000"/>
                </a:solidFill>
              </a:rPr>
              <a:t>Valoarea asignată porțiunii dreapta a marginii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49B4DA-D0A5-29F2-3B19-B88391048C6A}"/>
              </a:ext>
            </a:extLst>
          </p:cNvPr>
          <p:cNvSpPr/>
          <p:nvPr/>
        </p:nvSpPr>
        <p:spPr>
          <a:xfrm>
            <a:off x="6517126" y="4768111"/>
            <a:ext cx="5203825" cy="381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>
                <a:solidFill>
                  <a:srgbClr val="000000"/>
                </a:solidFill>
              </a:rPr>
              <a:t>Valoarea asignată porțiunii jos a marginii</a:t>
            </a:r>
            <a:endParaRPr lang="en-US" altLang="en-US" sz="1800">
              <a:solidFill>
                <a:srgbClr val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51FE3D-FEE6-2C92-BC0E-09E4641C770C}"/>
              </a:ext>
            </a:extLst>
          </p:cNvPr>
          <p:cNvSpPr/>
          <p:nvPr/>
        </p:nvSpPr>
        <p:spPr>
          <a:xfrm>
            <a:off x="6517126" y="5150698"/>
            <a:ext cx="5203825" cy="381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lang="ro-RO" altLang="en-US" sz="1800" dirty="0">
                <a:solidFill>
                  <a:srgbClr val="000000"/>
                </a:solidFill>
              </a:rPr>
              <a:t>Valoarea asignată porțiunii stânga a marginii</a:t>
            </a:r>
            <a:endParaRPr lang="en-US" altLang="en-US" sz="1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1AD8-EA7E-19E5-04C8-45B51A47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481388"/>
            <a:ext cx="3733800" cy="4889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altLang="en-US"/>
              <a:t>Borders</a:t>
            </a:r>
            <a:endParaRPr lang="en-US" altLang="en-US"/>
          </a:p>
        </p:txBody>
      </p:sp>
      <p:sp>
        <p:nvSpPr>
          <p:cNvPr id="190466" name="Footer Placeholder 4">
            <a:extLst>
              <a:ext uri="{FF2B5EF4-FFF2-40B4-BE49-F238E27FC236}">
                <a16:creationId xmlns:a16="http://schemas.microsoft.com/office/drawing/2014/main" id="{522E6217-82CA-ED44-AA9A-78698AC5543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3886200" y="6316663"/>
            <a:ext cx="38862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900">
                <a:solidFill>
                  <a:schemeClr val="bg1"/>
                </a:solidFill>
              </a:rPr>
              <a:t>Curs Programare Web, anul 4 C5 – Curs 6</a:t>
            </a:r>
          </a:p>
        </p:txBody>
      </p:sp>
      <p:sp>
        <p:nvSpPr>
          <p:cNvPr id="190467" name="Slide Number Placeholder 5">
            <a:extLst>
              <a:ext uri="{FF2B5EF4-FFF2-40B4-BE49-F238E27FC236}">
                <a16:creationId xmlns:a16="http://schemas.microsoft.com/office/drawing/2014/main" id="{4848581E-E5FD-989C-56B8-067476598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534400" y="6308726"/>
            <a:ext cx="2133600" cy="5492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F4DBDC-D0F3-574C-A0DB-C71B54DE8A63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118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190468" name="Picture 5">
            <a:extLst>
              <a:ext uri="{FF2B5EF4-FFF2-40B4-BE49-F238E27FC236}">
                <a16:creationId xmlns:a16="http://schemas.microsoft.com/office/drawing/2014/main" id="{F2BD2166-E924-CDF4-93B3-333E00174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96913"/>
            <a:ext cx="5867400" cy="257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0469" name="Picture 6">
            <a:extLst>
              <a:ext uri="{FF2B5EF4-FFF2-40B4-BE49-F238E27FC236}">
                <a16:creationId xmlns:a16="http://schemas.microsoft.com/office/drawing/2014/main" id="{3C5D0B07-F780-A63C-5DDE-DB4DA5FA0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432175"/>
            <a:ext cx="5715000" cy="313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509" name="Rectangle 191496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151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1511" name="Straight Connector 191500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04986B1-02E1-48B1-609C-64A76FD8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defRPr/>
            </a:pPr>
            <a:r>
              <a:rPr lang="en-US" altLang="en-US" kern="1200" cap="all" spc="200" baseline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Borders</a:t>
            </a:r>
          </a:p>
        </p:txBody>
      </p:sp>
      <p:sp useBgFill="1">
        <p:nvSpPr>
          <p:cNvPr id="191512" name="Rectangle 191502">
            <a:extLst>
              <a:ext uri="{FF2B5EF4-FFF2-40B4-BE49-F238E27FC236}">
                <a16:creationId xmlns:a16="http://schemas.microsoft.com/office/drawing/2014/main" id="{C6D18C07-B1F9-42F0-8956-B88FC37A6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1492" name="Picture 6">
            <a:extLst>
              <a:ext uri="{FF2B5EF4-FFF2-40B4-BE49-F238E27FC236}">
                <a16:creationId xmlns:a16="http://schemas.microsoft.com/office/drawing/2014/main" id="{86B961AD-8142-E934-ED4A-8A80A3EBF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53433" y="640080"/>
            <a:ext cx="9279330" cy="393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1490" name="Footer Placeholder 4">
            <a:extLst>
              <a:ext uri="{FF2B5EF4-FFF2-40B4-BE49-F238E27FC236}">
                <a16:creationId xmlns:a16="http://schemas.microsoft.com/office/drawing/2014/main" id="{87CB86CC-F43F-706D-AE13-E218707DBF8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842932" y="6470704"/>
            <a:ext cx="5901459" cy="2743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000" kern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rPr>
              <a:t>Curs Programare Web, anul 4 C5 – Curs 6</a:t>
            </a:r>
          </a:p>
        </p:txBody>
      </p:sp>
      <p:sp>
        <p:nvSpPr>
          <p:cNvPr id="191491" name="Slide Number Placeholder 5">
            <a:extLst>
              <a:ext uri="{FF2B5EF4-FFF2-40B4-BE49-F238E27FC236}">
                <a16:creationId xmlns:a16="http://schemas.microsoft.com/office/drawing/2014/main" id="{3E15DBD1-5D78-4304-1095-200A274525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251F9878-2836-D940-8DFD-DE861D985DE2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119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30" name="Rectangle 192520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2531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2532" name="Straight Connector 192524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2533" name="Rectangle 192526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56ECF-5A2A-6EE9-8BC2-E70E90182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Borders</a:t>
            </a:r>
          </a:p>
        </p:txBody>
      </p:sp>
      <p:cxnSp>
        <p:nvCxnSpPr>
          <p:cNvPr id="192529" name="Straight Connector 192528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2516" name="Picture 5">
            <a:extLst>
              <a:ext uri="{FF2B5EF4-FFF2-40B4-BE49-F238E27FC236}">
                <a16:creationId xmlns:a16="http://schemas.microsoft.com/office/drawing/2014/main" id="{0EA901F6-B4FE-A2CE-B4BF-00A8FFEE5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00373" y="640080"/>
            <a:ext cx="6206157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514" name="Footer Placeholder 4">
            <a:extLst>
              <a:ext uri="{FF2B5EF4-FFF2-40B4-BE49-F238E27FC236}">
                <a16:creationId xmlns:a16="http://schemas.microsoft.com/office/drawing/2014/main" id="{DD58EAEA-8B37-E685-A3EE-B0DDA8488EA4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 bwMode="auto">
          <a:xfrm>
            <a:off x="4842932" y="6470704"/>
            <a:ext cx="5901459" cy="2743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000" kern="12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n-ea"/>
                <a:cs typeface="+mn-cs"/>
              </a:rPr>
              <a:t>Curs Programare Web, anul 4 C5 – Curs 6</a:t>
            </a:r>
          </a:p>
        </p:txBody>
      </p:sp>
      <p:sp>
        <p:nvSpPr>
          <p:cNvPr id="192515" name="Slide Number Placeholder 5">
            <a:extLst>
              <a:ext uri="{FF2B5EF4-FFF2-40B4-BE49-F238E27FC236}">
                <a16:creationId xmlns:a16="http://schemas.microsoft.com/office/drawing/2014/main" id="{3396F925-A00F-BADD-03E5-3BFA2470E5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9B76BD02-80EE-3442-8C97-68F8B44CFCB7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120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8" name="Rectangle 19456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457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4572" name="Straight Connector 19457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4574" name="Rectangle 194573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D33DE-72E4-0518-564E-335D84229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Borders</a:t>
            </a:r>
          </a:p>
        </p:txBody>
      </p:sp>
      <p:cxnSp>
        <p:nvCxnSpPr>
          <p:cNvPr id="194576" name="Straight Connector 194575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563" name="Picture 5">
            <a:extLst>
              <a:ext uri="{FF2B5EF4-FFF2-40B4-BE49-F238E27FC236}">
                <a16:creationId xmlns:a16="http://schemas.microsoft.com/office/drawing/2014/main" id="{DD0BBDB7-E63C-A0CB-A2C3-B4B5310E7A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984" y="1118331"/>
            <a:ext cx="6896936" cy="462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62" name="Slide Number Placeholder 5">
            <a:extLst>
              <a:ext uri="{FF2B5EF4-FFF2-40B4-BE49-F238E27FC236}">
                <a16:creationId xmlns:a16="http://schemas.microsoft.com/office/drawing/2014/main" id="{DA0534A7-1D7F-7E80-A879-D62B7248C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850ECFCB-1C65-8842-828B-935F5BFE79DE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121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6" name="Rectangle 196615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6618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6620" name="Straight Connector 196619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6622" name="Rectangle 196621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F7715-0A14-DF5A-20AA-48C71F30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Borders</a:t>
            </a:r>
          </a:p>
        </p:txBody>
      </p:sp>
      <p:cxnSp>
        <p:nvCxnSpPr>
          <p:cNvPr id="196624" name="Straight Connector 196623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6611" name="Picture 5">
            <a:extLst>
              <a:ext uri="{FF2B5EF4-FFF2-40B4-BE49-F238E27FC236}">
                <a16:creationId xmlns:a16="http://schemas.microsoft.com/office/drawing/2014/main" id="{E38AB0C9-50AD-6BE4-CB91-504D143538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984" y="1060792"/>
            <a:ext cx="6896936" cy="4737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6610" name="Slide Number Placeholder 5">
            <a:extLst>
              <a:ext uri="{FF2B5EF4-FFF2-40B4-BE49-F238E27FC236}">
                <a16:creationId xmlns:a16="http://schemas.microsoft.com/office/drawing/2014/main" id="{531F2B3C-49DA-5D64-0DC5-CA97A357DE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37B58663-5F9E-AF4A-8F52-0FB618D365FE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122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40" name="Rectangle 197639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7642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7644" name="Straight Connector 197643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7646" name="Rectangle 197645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4C916F-809B-BA40-D654-40EBE4820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Borders</a:t>
            </a:r>
          </a:p>
        </p:txBody>
      </p:sp>
      <p:cxnSp>
        <p:nvCxnSpPr>
          <p:cNvPr id="197648" name="Straight Connector 197647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7635" name="Picture 5">
            <a:extLst>
              <a:ext uri="{FF2B5EF4-FFF2-40B4-BE49-F238E27FC236}">
                <a16:creationId xmlns:a16="http://schemas.microsoft.com/office/drawing/2014/main" id="{4C588552-FFDD-5CE5-4CDB-886376E12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984" y="1353847"/>
            <a:ext cx="6896936" cy="415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7634" name="Slide Number Placeholder 5">
            <a:extLst>
              <a:ext uri="{FF2B5EF4-FFF2-40B4-BE49-F238E27FC236}">
                <a16:creationId xmlns:a16="http://schemas.microsoft.com/office/drawing/2014/main" id="{9992F75B-BEBA-24F5-63D2-2AF37A8314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D5963D13-AA02-E44C-9467-235502E148AB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123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8" name="Rectangle 19968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9969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199692" name="Straight Connector 19969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99694" name="Rectangle 199693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C32B5-BA1D-5049-35CB-075458DC7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Borders</a:t>
            </a:r>
          </a:p>
        </p:txBody>
      </p:sp>
      <p:cxnSp>
        <p:nvCxnSpPr>
          <p:cNvPr id="199696" name="Straight Connector 199695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9683" name="Picture 5">
            <a:extLst>
              <a:ext uri="{FF2B5EF4-FFF2-40B4-BE49-F238E27FC236}">
                <a16:creationId xmlns:a16="http://schemas.microsoft.com/office/drawing/2014/main" id="{69907757-FEEF-0088-4E40-2EA8C69CD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984" y="1002409"/>
            <a:ext cx="6896936" cy="4854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9682" name="Slide Number Placeholder 5">
            <a:extLst>
              <a:ext uri="{FF2B5EF4-FFF2-40B4-BE49-F238E27FC236}">
                <a16:creationId xmlns:a16="http://schemas.microsoft.com/office/drawing/2014/main" id="{1ACA97B5-4006-7768-4E1B-0451FC7651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F58D31A8-238E-2A4B-B82F-F637AB48523B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124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634E-F2D9-29F6-F60B-D8CD5432C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6066818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 altLang="en-US"/>
              <a:t>Background</a:t>
            </a:r>
            <a:endParaRPr lang="en-US" altLang="en-US"/>
          </a:p>
        </p:txBody>
      </p:sp>
      <p:sp>
        <p:nvSpPr>
          <p:cNvPr id="200706" name="Content Placeholder 2">
            <a:extLst>
              <a:ext uri="{FF2B5EF4-FFF2-40B4-BE49-F238E27FC236}">
                <a16:creationId xmlns:a16="http://schemas.microsoft.com/office/drawing/2014/main" id="{9607AE48-653E-5697-E587-A4A3C1D144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4128" y="2286000"/>
            <a:ext cx="6066818" cy="4023360"/>
          </a:xfrm>
        </p:spPr>
        <p:txBody>
          <a:bodyPr>
            <a:normAutofit/>
          </a:bodyPr>
          <a:lstStyle/>
          <a:p>
            <a:r>
              <a:rPr lang="ro-RO" altLang="en-US">
                <a:latin typeface="Georgia" panose="02040502050405020303" pitchFamily="18" charset="0"/>
              </a:rPr>
              <a:t>Mai multe </a:t>
            </a:r>
            <a:r>
              <a:rPr lang="en-US" altLang="en-US">
                <a:latin typeface="Georgia" panose="02040502050405020303" pitchFamily="18" charset="0"/>
              </a:rPr>
              <a:t>intr</a:t>
            </a:r>
            <a:r>
              <a:rPr lang="ro-RO" altLang="en-US">
                <a:latin typeface="Georgia" panose="02040502050405020303" pitchFamily="18" charset="0"/>
              </a:rPr>
              <a:t>ări </a:t>
            </a:r>
            <a:r>
              <a:rPr lang="en-US" altLang="en-US">
                <a:latin typeface="Georgia" panose="02040502050405020303" pitchFamily="18" charset="0"/>
              </a:rPr>
              <a:t>Backgrounds</a:t>
            </a:r>
          </a:p>
          <a:p>
            <a:r>
              <a:rPr lang="ro-RO" altLang="en-US">
                <a:latin typeface="Georgia" panose="02040502050405020303" pitchFamily="18" charset="0"/>
              </a:rPr>
              <a:t>Ex: mai jos folosim mai multe backrounds pentru </a:t>
            </a:r>
            <a:r>
              <a:rPr lang="en-GB" altLang="en-US">
                <a:latin typeface="Georgia" panose="02040502050405020303" pitchFamily="18" charset="0"/>
              </a:rPr>
              <a:t>top border, </a:t>
            </a:r>
            <a:r>
              <a:rPr lang="ro-RO" altLang="en-US">
                <a:latin typeface="Georgia" panose="02040502050405020303" pitchFamily="18" charset="0"/>
              </a:rPr>
              <a:t>unul repetitiv vertical pentru </a:t>
            </a:r>
            <a:r>
              <a:rPr lang="en-GB" altLang="en-US">
                <a:latin typeface="Georgia" panose="02040502050405020303" pitchFamily="18" charset="0"/>
              </a:rPr>
              <a:t>left </a:t>
            </a:r>
            <a:r>
              <a:rPr lang="ro-RO" altLang="en-US">
                <a:latin typeface="Georgia" panose="02040502050405020303" pitchFamily="18" charset="0"/>
              </a:rPr>
              <a:t>și </a:t>
            </a:r>
            <a:r>
              <a:rPr lang="en-GB" altLang="en-US">
                <a:latin typeface="Georgia" panose="02040502050405020303" pitchFamily="18" charset="0"/>
              </a:rPr>
              <a:t>right</a:t>
            </a:r>
            <a:r>
              <a:rPr lang="ro-RO" altLang="en-US">
                <a:latin typeface="Georgia" panose="02040502050405020303" pitchFamily="18" charset="0"/>
              </a:rPr>
              <a:t>…</a:t>
            </a:r>
            <a:endParaRPr lang="en-GB" altLang="en-US">
              <a:latin typeface="Georgia" panose="02040502050405020303" pitchFamily="18" charset="0"/>
            </a:endParaRPr>
          </a:p>
          <a:p>
            <a:endParaRPr lang="en-US" altLang="en-US"/>
          </a:p>
        </p:txBody>
      </p:sp>
      <p:pic>
        <p:nvPicPr>
          <p:cNvPr id="200709" name="Picture 8">
            <a:extLst>
              <a:ext uri="{FF2B5EF4-FFF2-40B4-BE49-F238E27FC236}">
                <a16:creationId xmlns:a16="http://schemas.microsoft.com/office/drawing/2014/main" id="{2D6BC8F0-E5DA-BB85-75C6-7AFF3A00B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727833" y="640080"/>
            <a:ext cx="3648521" cy="2628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0708" name="Picture 7">
            <a:extLst>
              <a:ext uri="{FF2B5EF4-FFF2-40B4-BE49-F238E27FC236}">
                <a16:creationId xmlns:a16="http://schemas.microsoft.com/office/drawing/2014/main" id="{D87372C7-E99F-9161-F062-D48A82DC1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2267" y="3589867"/>
            <a:ext cx="3999654" cy="236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0707" name="Slide Number Placeholder 5">
            <a:extLst>
              <a:ext uri="{FF2B5EF4-FFF2-40B4-BE49-F238E27FC236}">
                <a16:creationId xmlns:a16="http://schemas.microsoft.com/office/drawing/2014/main" id="{88C11E2B-81A5-9B2E-7616-4FDFAD32E5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21CFB75B-4108-314A-B443-51030617A12B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125</a:t>
            </a:fld>
            <a:endParaRPr lang="en-US" altLang="en-US" sz="130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729" name="Picture 6">
            <a:extLst>
              <a:ext uri="{FF2B5EF4-FFF2-40B4-BE49-F238E27FC236}">
                <a16:creationId xmlns:a16="http://schemas.microsoft.com/office/drawing/2014/main" id="{439CA924-4444-087E-3A7F-C824070A63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1" y="457201"/>
            <a:ext cx="6856413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57F0883-6CBA-8524-C281-ECFB59383985}"/>
              </a:ext>
            </a:extLst>
          </p:cNvPr>
          <p:cNvSpPr/>
          <p:nvPr/>
        </p:nvSpPr>
        <p:spPr>
          <a:xfrm>
            <a:off x="1524000" y="5464176"/>
            <a:ext cx="6629400" cy="7143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>
              <a:solidFill>
                <a:srgbClr val="FFFFFF"/>
              </a:solidFill>
            </a:endParaRPr>
          </a:p>
        </p:txBody>
      </p:sp>
      <p:sp>
        <p:nvSpPr>
          <p:cNvPr id="201731" name="Slide Number Placeholder 5">
            <a:extLst>
              <a:ext uri="{FF2B5EF4-FFF2-40B4-BE49-F238E27FC236}">
                <a16:creationId xmlns:a16="http://schemas.microsoft.com/office/drawing/2014/main" id="{FFD011C4-1484-9513-734A-C14AA3EB3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20B573-6756-9443-B4D5-94CB3002A902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126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201732" name="Picture 6">
            <a:extLst>
              <a:ext uri="{FF2B5EF4-FFF2-40B4-BE49-F238E27FC236}">
                <a16:creationId xmlns:a16="http://schemas.microsoft.com/office/drawing/2014/main" id="{9BE1C3EC-E18E-E902-8781-5CD19FEC4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5464175"/>
            <a:ext cx="6067425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096DC6-6C43-7F4C-AD4D-FA011049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0" y="3810001"/>
            <a:ext cx="4572000" cy="487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altLang="en-US"/>
              <a:t>Efecte text</a:t>
            </a:r>
            <a:endParaRPr lang="en-US" alt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84" name="Rectangle 203783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3786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3788" name="Straight Connector 203787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3790" name="Rectangle 203789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97CDC-0D79-131C-241C-D3D943B51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Efecte text</a:t>
            </a:r>
          </a:p>
        </p:txBody>
      </p:sp>
      <p:cxnSp>
        <p:nvCxnSpPr>
          <p:cNvPr id="203792" name="Straight Connector 203791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3779" name="Picture 5">
            <a:extLst>
              <a:ext uri="{FF2B5EF4-FFF2-40B4-BE49-F238E27FC236}">
                <a16:creationId xmlns:a16="http://schemas.microsoft.com/office/drawing/2014/main" id="{5A582DE8-2D7F-F113-2E4D-B3F95F1046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62753" y="640080"/>
            <a:ext cx="5681397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3778" name="Slide Number Placeholder 5">
            <a:extLst>
              <a:ext uri="{FF2B5EF4-FFF2-40B4-BE49-F238E27FC236}">
                <a16:creationId xmlns:a16="http://schemas.microsoft.com/office/drawing/2014/main" id="{E1883B55-29E7-2E7B-F89A-32FF470320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BE5AFDE0-7F83-6A4E-8449-13BC3C2473BD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127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8" name="Rectangle 204807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4810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4812" name="Straight Connector 204811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4814" name="Rectangle 204813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1DD6F0-7A91-43D1-5B58-7527D307A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Efecte text</a:t>
            </a:r>
          </a:p>
        </p:txBody>
      </p:sp>
      <p:cxnSp>
        <p:nvCxnSpPr>
          <p:cNvPr id="204816" name="Straight Connector 204815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803" name="Picture 5">
            <a:extLst>
              <a:ext uri="{FF2B5EF4-FFF2-40B4-BE49-F238E27FC236}">
                <a16:creationId xmlns:a16="http://schemas.microsoft.com/office/drawing/2014/main" id="{CA099DEE-A5A7-3928-6415-0D32E8758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984" y="871198"/>
            <a:ext cx="6896936" cy="5116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02" name="Slide Number Placeholder 5">
            <a:extLst>
              <a:ext uri="{FF2B5EF4-FFF2-40B4-BE49-F238E27FC236}">
                <a16:creationId xmlns:a16="http://schemas.microsoft.com/office/drawing/2014/main" id="{B8D829EB-A564-5560-C672-59B2F97315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841F5AB6-456E-F44A-877C-B3BB99ED5F63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128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5" name="Slide Number Placeholder 5">
            <a:extLst>
              <a:ext uri="{FF2B5EF4-FFF2-40B4-BE49-F238E27FC236}">
                <a16:creationId xmlns:a16="http://schemas.microsoft.com/office/drawing/2014/main" id="{F9FA4600-76D5-46A2-6AED-9174E0648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CC7C18-AA28-0B4E-B5B7-C1E32D3B89F3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129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205826" name="Picture 5">
            <a:extLst>
              <a:ext uri="{FF2B5EF4-FFF2-40B4-BE49-F238E27FC236}">
                <a16:creationId xmlns:a16="http://schemas.microsoft.com/office/drawing/2014/main" id="{93956B22-C365-CD4E-97A9-440469177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533401"/>
            <a:ext cx="5943600" cy="564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5F9321-14FF-A329-5308-EE9FE1D8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24600" y="3429001"/>
            <a:ext cx="4191000" cy="4873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ro-RO" altLang="en-US" dirty="0"/>
              <a:t>Fonturi în CSS3</a:t>
            </a:r>
            <a:endParaRPr lang="en-US" altLang="en-US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6" name="Rectangle 206855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6858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6860" name="Straight Connector 206859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6862" name="Rectangle 206861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A0C01-6F9A-1941-F626-8A850159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Fonturi</a:t>
            </a:r>
          </a:p>
        </p:txBody>
      </p:sp>
      <p:cxnSp>
        <p:nvCxnSpPr>
          <p:cNvPr id="206864" name="Straight Connector 206863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851" name="Picture 5">
            <a:extLst>
              <a:ext uri="{FF2B5EF4-FFF2-40B4-BE49-F238E27FC236}">
                <a16:creationId xmlns:a16="http://schemas.microsoft.com/office/drawing/2014/main" id="{E8BD3881-1434-F3DE-BA41-300EFF5DC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984" y="771294"/>
            <a:ext cx="6896936" cy="531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6850" name="Slide Number Placeholder 5">
            <a:extLst>
              <a:ext uri="{FF2B5EF4-FFF2-40B4-BE49-F238E27FC236}">
                <a16:creationId xmlns:a16="http://schemas.microsoft.com/office/drawing/2014/main" id="{E86C0A6C-44B5-CAA9-0223-35707E22A8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0AB93311-82B6-EC40-B0DA-1A17EDDE39AE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130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80" name="Rectangle 207879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7882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7884" name="Straight Connector 207883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7886" name="Rectangle 207885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1C110-563B-AA13-D1E6-1987DC049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Fonturi</a:t>
            </a:r>
          </a:p>
        </p:txBody>
      </p:sp>
      <p:cxnSp>
        <p:nvCxnSpPr>
          <p:cNvPr id="207888" name="Straight Connector 207887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7875" name="Picture 5">
            <a:extLst>
              <a:ext uri="{FF2B5EF4-FFF2-40B4-BE49-F238E27FC236}">
                <a16:creationId xmlns:a16="http://schemas.microsoft.com/office/drawing/2014/main" id="{729A8D26-A153-4990-AC5C-DAA8D9DC6E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48893" y="640080"/>
            <a:ext cx="6309118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874" name="Slide Number Placeholder 5">
            <a:extLst>
              <a:ext uri="{FF2B5EF4-FFF2-40B4-BE49-F238E27FC236}">
                <a16:creationId xmlns:a16="http://schemas.microsoft.com/office/drawing/2014/main" id="{67B208D1-B0BA-728D-424F-5B57BA42EA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AA6B6BA9-9541-1A4D-A06B-B76B3E1B4B49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131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03" name="Rectangle 208902">
            <a:extLst>
              <a:ext uri="{FF2B5EF4-FFF2-40B4-BE49-F238E27FC236}">
                <a16:creationId xmlns:a16="http://schemas.microsoft.com/office/drawing/2014/main" id="{3A8EC506-B1DA-46A1-B44D-774E68468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08905" name="Oval 5">
            <a:extLst>
              <a:ext uri="{FF2B5EF4-FFF2-40B4-BE49-F238E27FC236}">
                <a16:creationId xmlns:a16="http://schemas.microsoft.com/office/drawing/2014/main" id="{BFF30785-305E-45D7-984F-5AA93D3CA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08907" name="Straight Connector 208906">
            <a:extLst>
              <a:ext uri="{FF2B5EF4-FFF2-40B4-BE49-F238E27FC236}">
                <a16:creationId xmlns:a16="http://schemas.microsoft.com/office/drawing/2014/main" id="{15E01FA5-D766-43CA-A83D-E7CF3F04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8909" name="Rectangle 208908">
            <a:extLst>
              <a:ext uri="{FF2B5EF4-FFF2-40B4-BE49-F238E27FC236}">
                <a16:creationId xmlns:a16="http://schemas.microsoft.com/office/drawing/2014/main" id="{CA73784B-AC76-4BAD-93AF-C72D0EDFD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7381ED-A491-836B-B658-051A84F6D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805" y="640080"/>
            <a:ext cx="3378099" cy="303485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defRPr/>
            </a:pPr>
            <a:r>
              <a:rPr lang="en-US" altLang="en-US" sz="4400" kern="1200" cap="all" spc="2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rPr>
              <a:t>Umbre</a:t>
            </a:r>
          </a:p>
        </p:txBody>
      </p:sp>
      <p:cxnSp>
        <p:nvCxnSpPr>
          <p:cNvPr id="208911" name="Straight Connector 208910">
            <a:extLst>
              <a:ext uri="{FF2B5EF4-FFF2-40B4-BE49-F238E27FC236}">
                <a16:creationId xmlns:a16="http://schemas.microsoft.com/office/drawing/2014/main" id="{811DCF04-0C7C-44FC-8246-FC8D736B1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0698" y="3765314"/>
            <a:ext cx="320040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8898" name="Picture 6">
            <a:extLst>
              <a:ext uri="{FF2B5EF4-FFF2-40B4-BE49-F238E27FC236}">
                <a16:creationId xmlns:a16="http://schemas.microsoft.com/office/drawing/2014/main" id="{8A07B5D7-4C56-CCE3-80E1-7F49AA5A6C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82728" y="640080"/>
            <a:ext cx="6641447" cy="5578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8897" name="Slide Number Placeholder 5">
            <a:extLst>
              <a:ext uri="{FF2B5EF4-FFF2-40B4-BE49-F238E27FC236}">
                <a16:creationId xmlns:a16="http://schemas.microsoft.com/office/drawing/2014/main" id="{87D39697-2E46-47A0-BAD5-421AC369A1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defTabSz="914400">
              <a:spcBef>
                <a:spcPct val="0"/>
              </a:spcBef>
              <a:spcAft>
                <a:spcPts val="600"/>
              </a:spcAft>
              <a:buFontTx/>
              <a:buNone/>
            </a:pPr>
            <a:fld id="{F3669B0C-902B-A142-B5AC-A39508A5996B}" type="slidenum">
              <a:rPr lang="en-US" altLang="en-US"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pPr defTabSz="914400"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132</a:t>
            </a:fld>
            <a:endParaRPr lang="en-US" altLang="en-US" sz="100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758B8-51E6-01C4-E007-2D3D58459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Transformări și tranziții</a:t>
            </a:r>
            <a:endParaRPr lang="en-US" altLang="en-US"/>
          </a:p>
        </p:txBody>
      </p:sp>
      <p:sp>
        <p:nvSpPr>
          <p:cNvPr id="214018" name="Slide Number Placeholder 5">
            <a:extLst>
              <a:ext uri="{FF2B5EF4-FFF2-40B4-BE49-F238E27FC236}">
                <a16:creationId xmlns:a16="http://schemas.microsoft.com/office/drawing/2014/main" id="{E031BC69-9137-D26A-39BE-8FC1F933F6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3D53C21-81C8-6F48-BEA8-DC66DC48A4C9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133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214019" name="Picture 4">
            <a:extLst>
              <a:ext uri="{FF2B5EF4-FFF2-40B4-BE49-F238E27FC236}">
                <a16:creationId xmlns:a16="http://schemas.microsoft.com/office/drawing/2014/main" id="{45702B10-2701-96A3-AF73-689CAE223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945" y="2423569"/>
            <a:ext cx="2362200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4020" name="Text Box 5">
            <a:extLst>
              <a:ext uri="{FF2B5EF4-FFF2-40B4-BE49-F238E27FC236}">
                <a16:creationId xmlns:a16="http://schemas.microsoft.com/office/drawing/2014/main" id="{3852C5CC-6237-8991-9725-57D754D68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9870" y="1882231"/>
            <a:ext cx="5638800" cy="58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ro-RO" altLang="en-US" sz="1600" dirty="0">
                <a:latin typeface="Georgia" panose="02040502050405020303" pitchFamily="18" charset="0"/>
              </a:rPr>
              <a:t>Să spunem că vrem să mutăm </a:t>
            </a:r>
            <a:r>
              <a:rPr lang="ro-RO" altLang="en-US" sz="1600" dirty="0" err="1">
                <a:latin typeface="Georgia" panose="02040502050405020303" pitchFamily="18" charset="0"/>
              </a:rPr>
              <a:t>cuvând</a:t>
            </a:r>
            <a:r>
              <a:rPr lang="ro-RO" altLang="en-US" sz="1600" dirty="0">
                <a:latin typeface="Georgia" panose="02040502050405020303" pitchFamily="18" charset="0"/>
              </a:rPr>
              <a:t> </a:t>
            </a:r>
            <a:r>
              <a:rPr lang="en-GB" altLang="en-US" sz="1600" dirty="0">
                <a:latin typeface="Georgia" panose="02040502050405020303" pitchFamily="18" charset="0"/>
              </a:rPr>
              <a:t>“dukes” </a:t>
            </a:r>
            <a:r>
              <a:rPr lang="ro-RO" altLang="en-US" sz="1600" dirty="0">
                <a:latin typeface="Georgia" panose="02040502050405020303" pitchFamily="18" charset="0"/>
              </a:rPr>
              <a:t>la dreapta, când utilizatorul mută cursorul mouse-ului peste text:</a:t>
            </a:r>
            <a:endParaRPr lang="en-GB" altLang="en-US" sz="1600" dirty="0">
              <a:latin typeface="Georgia" panose="02040502050405020303" pitchFamily="18" charset="0"/>
            </a:endParaRPr>
          </a:p>
        </p:txBody>
      </p:sp>
      <p:sp>
        <p:nvSpPr>
          <p:cNvPr id="214021" name="Text Box 6">
            <a:extLst>
              <a:ext uri="{FF2B5EF4-FFF2-40B4-BE49-F238E27FC236}">
                <a16:creationId xmlns:a16="http://schemas.microsoft.com/office/drawing/2014/main" id="{A0966FC1-165E-F465-FCC8-4DEF758E3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9871" y="2804568"/>
            <a:ext cx="3444875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Georgia" panose="02040502050405020303" pitchFamily="18" charset="0"/>
              </a:rPr>
              <a:t>#</a:t>
            </a:r>
            <a:r>
              <a:rPr lang="en-GB" altLang="en-US" sz="1400" dirty="0" err="1">
                <a:latin typeface="Georgia" panose="02040502050405020303" pitchFamily="18" charset="0"/>
              </a:rPr>
              <a:t>ourExample</a:t>
            </a:r>
            <a:r>
              <a:rPr lang="en-GB" altLang="en-US" sz="1400" dirty="0">
                <a:latin typeface="Georgia" panose="02040502050405020303" pitchFamily="18" charset="0"/>
              </a:rPr>
              <a:t> h1:hover span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 err="1">
                <a:latin typeface="Georgia" panose="02040502050405020303" pitchFamily="18" charset="0"/>
              </a:rPr>
              <a:t>color</a:t>
            </a:r>
            <a:r>
              <a:rPr lang="en-GB" altLang="en-US" sz="1400" dirty="0">
                <a:latin typeface="Georgia" panose="02040502050405020303" pitchFamily="18" charset="0"/>
              </a:rPr>
              <a:t>: #484848;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Georgia" panose="02040502050405020303" pitchFamily="18" charset="0"/>
              </a:rPr>
              <a:t>-</a:t>
            </a:r>
            <a:r>
              <a:rPr lang="en-GB" altLang="en-US" sz="1400" dirty="0" err="1">
                <a:latin typeface="Georgia" panose="02040502050405020303" pitchFamily="18" charset="0"/>
              </a:rPr>
              <a:t>webkit</a:t>
            </a:r>
            <a:r>
              <a:rPr lang="en-GB" altLang="en-US" sz="1400" dirty="0">
                <a:latin typeface="Georgia" panose="02040502050405020303" pitchFamily="18" charset="0"/>
              </a:rPr>
              <a:t>-transform: </a:t>
            </a:r>
            <a:r>
              <a:rPr lang="en-GB" altLang="en-US" sz="1400" dirty="0" err="1">
                <a:latin typeface="Georgia" panose="02040502050405020303" pitchFamily="18" charset="0"/>
              </a:rPr>
              <a:t>translateX</a:t>
            </a:r>
            <a:r>
              <a:rPr lang="en-GB" altLang="en-US" sz="1400" dirty="0">
                <a:latin typeface="Georgia" panose="02040502050405020303" pitchFamily="18" charset="0"/>
              </a:rPr>
              <a:t>(40px);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Georgia" panose="02040502050405020303" pitchFamily="18" charset="0"/>
              </a:rPr>
              <a:t>-</a:t>
            </a:r>
            <a:r>
              <a:rPr lang="en-GB" altLang="en-US" sz="1400" dirty="0" err="1">
                <a:latin typeface="Georgia" panose="02040502050405020303" pitchFamily="18" charset="0"/>
              </a:rPr>
              <a:t>moz</a:t>
            </a:r>
            <a:r>
              <a:rPr lang="en-GB" altLang="en-US" sz="1400" dirty="0">
                <a:latin typeface="Georgia" panose="02040502050405020303" pitchFamily="18" charset="0"/>
              </a:rPr>
              <a:t>-transform: </a:t>
            </a:r>
            <a:r>
              <a:rPr lang="en-GB" altLang="en-US" sz="1400" dirty="0" err="1">
                <a:latin typeface="Georgia" panose="02040502050405020303" pitchFamily="18" charset="0"/>
              </a:rPr>
              <a:t>translateX</a:t>
            </a:r>
            <a:r>
              <a:rPr lang="en-GB" altLang="en-US" sz="1400" dirty="0">
                <a:latin typeface="Georgia" panose="02040502050405020303" pitchFamily="18" charset="0"/>
              </a:rPr>
              <a:t>(40px);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Georgia" panose="02040502050405020303" pitchFamily="18" charset="0"/>
              </a:rPr>
              <a:t>-</a:t>
            </a:r>
            <a:r>
              <a:rPr lang="en-GB" altLang="en-US" sz="1400" dirty="0" err="1">
                <a:latin typeface="Georgia" panose="02040502050405020303" pitchFamily="18" charset="0"/>
              </a:rPr>
              <a:t>ms</a:t>
            </a:r>
            <a:r>
              <a:rPr lang="en-GB" altLang="en-US" sz="1400" dirty="0">
                <a:latin typeface="Georgia" panose="02040502050405020303" pitchFamily="18" charset="0"/>
              </a:rPr>
              <a:t>-transform: </a:t>
            </a:r>
            <a:r>
              <a:rPr lang="en-GB" altLang="en-US" sz="1400" dirty="0" err="1">
                <a:latin typeface="Georgia" panose="02040502050405020303" pitchFamily="18" charset="0"/>
              </a:rPr>
              <a:t>translateX</a:t>
            </a:r>
            <a:r>
              <a:rPr lang="en-GB" altLang="en-US" sz="1400" dirty="0">
                <a:latin typeface="Georgia" panose="02040502050405020303" pitchFamily="18" charset="0"/>
              </a:rPr>
              <a:t>(40px);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Georgia" panose="02040502050405020303" pitchFamily="18" charset="0"/>
              </a:rPr>
              <a:t>-</a:t>
            </a:r>
            <a:r>
              <a:rPr lang="en-GB" altLang="en-US" sz="1400" dirty="0" err="1">
                <a:latin typeface="Georgia" panose="02040502050405020303" pitchFamily="18" charset="0"/>
              </a:rPr>
              <a:t>o-transform:translateX</a:t>
            </a:r>
            <a:r>
              <a:rPr lang="en-GB" altLang="en-US" sz="1400" dirty="0">
                <a:latin typeface="Georgia" panose="02040502050405020303" pitchFamily="18" charset="0"/>
              </a:rPr>
              <a:t>(40px);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Georgia" panose="02040502050405020303" pitchFamily="18" charset="0"/>
              </a:rPr>
              <a:t>transform: </a:t>
            </a:r>
            <a:r>
              <a:rPr lang="en-GB" altLang="en-US" sz="1400" dirty="0" err="1">
                <a:latin typeface="Georgia" panose="02040502050405020303" pitchFamily="18" charset="0"/>
              </a:rPr>
              <a:t>translateX</a:t>
            </a:r>
            <a:r>
              <a:rPr lang="en-GB" altLang="en-US" sz="1400" dirty="0">
                <a:latin typeface="Georgia" panose="02040502050405020303" pitchFamily="18" charset="0"/>
              </a:rPr>
              <a:t>(40px);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 dirty="0">
                <a:latin typeface="Georgia" panose="02040502050405020303" pitchFamily="18" charset="0"/>
              </a:rPr>
              <a:t>}</a:t>
            </a:r>
          </a:p>
        </p:txBody>
      </p:sp>
      <p:pic>
        <p:nvPicPr>
          <p:cNvPr id="214022" name="Picture 7">
            <a:extLst>
              <a:ext uri="{FF2B5EF4-FFF2-40B4-BE49-F238E27FC236}">
                <a16:creationId xmlns:a16="http://schemas.microsoft.com/office/drawing/2014/main" id="{660B7331-D2DF-7F79-6FE0-D074DE72B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262" y="4811766"/>
            <a:ext cx="3276600" cy="165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BE737-EEC3-C403-756B-3287EF05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Scalare</a:t>
            </a:r>
            <a:endParaRPr lang="en-US" altLang="en-US"/>
          </a:p>
        </p:txBody>
      </p:sp>
      <p:sp>
        <p:nvSpPr>
          <p:cNvPr id="215042" name="Slide Number Placeholder 5">
            <a:extLst>
              <a:ext uri="{FF2B5EF4-FFF2-40B4-BE49-F238E27FC236}">
                <a16:creationId xmlns:a16="http://schemas.microsoft.com/office/drawing/2014/main" id="{A0F66A10-D2D6-C0A8-29EA-A8040D2873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BD3AA0-16C4-3D46-AB3C-4653DB02E554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134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215043" name="Picture 4">
            <a:extLst>
              <a:ext uri="{FF2B5EF4-FFF2-40B4-BE49-F238E27FC236}">
                <a16:creationId xmlns:a16="http://schemas.microsoft.com/office/drawing/2014/main" id="{73F97F6D-EB42-2297-D27F-6A0FD5E8D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821" y="1886114"/>
            <a:ext cx="2362200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44" name="Text Box 6">
            <a:extLst>
              <a:ext uri="{FF2B5EF4-FFF2-40B4-BE49-F238E27FC236}">
                <a16:creationId xmlns:a16="http://schemas.microsoft.com/office/drawing/2014/main" id="{D8D8D5A5-D18C-3AE7-2128-6A3FB5C05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1" y="2362200"/>
            <a:ext cx="408797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#ourExample h1:hover span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color: #484848;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-webkit-transform: translateX(40px) </a:t>
            </a:r>
            <a:r>
              <a:rPr lang="en-GB" altLang="en-US" sz="1400" b="1">
                <a:latin typeface="Georgia" panose="02040502050405020303" pitchFamily="18" charset="0"/>
              </a:rPr>
              <a:t>scale(1.5)</a:t>
            </a:r>
            <a:r>
              <a:rPr lang="en-GB" altLang="en-US" sz="1400">
                <a:latin typeface="Georgia" panose="02040502050405020303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-moz-transform: translateX(40px) </a:t>
            </a:r>
            <a:r>
              <a:rPr lang="en-GB" altLang="en-US" sz="1400" b="1">
                <a:latin typeface="Georgia" panose="02040502050405020303" pitchFamily="18" charset="0"/>
              </a:rPr>
              <a:t>scale(1.5)</a:t>
            </a:r>
            <a:r>
              <a:rPr lang="en-GB" altLang="en-US" sz="1400">
                <a:latin typeface="Georgia" panose="02040502050405020303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-ms-transform: translateX(40px) </a:t>
            </a:r>
            <a:r>
              <a:rPr lang="en-GB" altLang="en-US" sz="1400" b="1">
                <a:latin typeface="Georgia" panose="02040502050405020303" pitchFamily="18" charset="0"/>
              </a:rPr>
              <a:t>scale(1.5)</a:t>
            </a:r>
            <a:r>
              <a:rPr lang="en-GB" altLang="en-US" sz="1400">
                <a:latin typeface="Georgia" panose="02040502050405020303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-o-transform:translateX(40px) </a:t>
            </a:r>
            <a:r>
              <a:rPr lang="en-GB" altLang="en-US" sz="1400" b="1">
                <a:latin typeface="Georgia" panose="02040502050405020303" pitchFamily="18" charset="0"/>
              </a:rPr>
              <a:t>scale(1.5)</a:t>
            </a:r>
            <a:r>
              <a:rPr lang="en-GB" altLang="en-US" sz="1400">
                <a:latin typeface="Georgia" panose="02040502050405020303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transform: translateX(40px) </a:t>
            </a:r>
            <a:r>
              <a:rPr lang="en-GB" altLang="en-US" sz="1400" b="1">
                <a:latin typeface="Georgia" panose="02040502050405020303" pitchFamily="18" charset="0"/>
              </a:rPr>
              <a:t>scale(1.5)</a:t>
            </a:r>
            <a:r>
              <a:rPr lang="en-GB" altLang="en-US" sz="1400">
                <a:latin typeface="Georgia" panose="02040502050405020303" pitchFamily="18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}</a:t>
            </a:r>
          </a:p>
        </p:txBody>
      </p:sp>
      <p:pic>
        <p:nvPicPr>
          <p:cNvPr id="215045" name="Picture 9">
            <a:extLst>
              <a:ext uri="{FF2B5EF4-FFF2-40B4-BE49-F238E27FC236}">
                <a16:creationId xmlns:a16="http://schemas.microsoft.com/office/drawing/2014/main" id="{2B9CCBFE-1886-B931-58B5-B429A9BE23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4191001"/>
            <a:ext cx="3581400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EC48F-CFC7-4E8A-9A26-46640E57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o-RO" altLang="en-US"/>
              <a:t>Rotație</a:t>
            </a:r>
            <a:endParaRPr lang="en-US" altLang="en-US"/>
          </a:p>
        </p:txBody>
      </p:sp>
      <p:sp>
        <p:nvSpPr>
          <p:cNvPr id="216066" name="Slide Number Placeholder 5">
            <a:extLst>
              <a:ext uri="{FF2B5EF4-FFF2-40B4-BE49-F238E27FC236}">
                <a16:creationId xmlns:a16="http://schemas.microsoft.com/office/drawing/2014/main" id="{0BB7759F-842D-4FAD-52AC-6A327A3AEB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D168E2-FAC9-0F4F-92B6-C2482F5EFD37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135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216067" name="Picture 4">
            <a:extLst>
              <a:ext uri="{FF2B5EF4-FFF2-40B4-BE49-F238E27FC236}">
                <a16:creationId xmlns:a16="http://schemas.microsoft.com/office/drawing/2014/main" id="{576A63F0-160E-0F90-A18C-350709274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237" y="2077928"/>
            <a:ext cx="2362200" cy="134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6068" name="Text Box 6">
            <a:extLst>
              <a:ext uri="{FF2B5EF4-FFF2-40B4-BE49-F238E27FC236}">
                <a16:creationId xmlns:a16="http://schemas.microsoft.com/office/drawing/2014/main" id="{529B7A19-4257-3AA0-8E7D-A0128FC07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0576" y="2514600"/>
            <a:ext cx="521649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#ourExample h1:hover span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color: #484848;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-webkit-transform:</a:t>
            </a:r>
            <a:r>
              <a:rPr lang="en-GB" altLang="en-US" sz="1400" b="1">
                <a:latin typeface="Georgia" panose="02040502050405020303" pitchFamily="18" charset="0"/>
              </a:rPr>
              <a:t>rotate(10deg) </a:t>
            </a:r>
            <a:r>
              <a:rPr lang="en-GB" altLang="en-US" sz="1400">
                <a:latin typeface="Georgia" panose="02040502050405020303" pitchFamily="18" charset="0"/>
              </a:rPr>
              <a:t>translateX(40px) scale(1.5);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-moz-transform:</a:t>
            </a:r>
            <a:r>
              <a:rPr lang="en-GB" altLang="en-US" sz="1400" b="1">
                <a:latin typeface="Georgia" panose="02040502050405020303" pitchFamily="18" charset="0"/>
              </a:rPr>
              <a:t>rotate(10deg) </a:t>
            </a:r>
            <a:r>
              <a:rPr lang="en-GB" altLang="en-US" sz="1400">
                <a:latin typeface="Georgia" panose="02040502050405020303" pitchFamily="18" charset="0"/>
              </a:rPr>
              <a:t>translateX(40px) scale(1.5);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-ms-transform:</a:t>
            </a:r>
            <a:r>
              <a:rPr lang="en-GB" altLang="en-US" sz="1400" b="1">
                <a:latin typeface="Georgia" panose="02040502050405020303" pitchFamily="18" charset="0"/>
              </a:rPr>
              <a:t>rotate(10deg) </a:t>
            </a:r>
            <a:r>
              <a:rPr lang="en-GB" altLang="en-US" sz="1400">
                <a:latin typeface="Georgia" panose="02040502050405020303" pitchFamily="18" charset="0"/>
              </a:rPr>
              <a:t>translateX(40px) scale(1.5);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-o-transform:</a:t>
            </a:r>
            <a:r>
              <a:rPr lang="en-GB" altLang="en-US" sz="1400" b="1">
                <a:latin typeface="Georgia" panose="02040502050405020303" pitchFamily="18" charset="0"/>
              </a:rPr>
              <a:t>rotate(10deg) </a:t>
            </a:r>
            <a:r>
              <a:rPr lang="en-GB" altLang="en-US" sz="1400">
                <a:latin typeface="Georgia" panose="02040502050405020303" pitchFamily="18" charset="0"/>
              </a:rPr>
              <a:t>translateX(40px) scale(1.5);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transform:</a:t>
            </a:r>
            <a:r>
              <a:rPr lang="en-GB" altLang="en-US" sz="1400" b="1">
                <a:latin typeface="Georgia" panose="02040502050405020303" pitchFamily="18" charset="0"/>
              </a:rPr>
              <a:t>rotate(10deg) </a:t>
            </a:r>
            <a:r>
              <a:rPr lang="en-GB" altLang="en-US" sz="1400">
                <a:latin typeface="Georgia" panose="02040502050405020303" pitchFamily="18" charset="0"/>
              </a:rPr>
              <a:t>translateX(40px) scale(1.5);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1400">
                <a:latin typeface="Georgia" panose="02040502050405020303" pitchFamily="18" charset="0"/>
              </a:rPr>
              <a:t>}</a:t>
            </a:r>
          </a:p>
        </p:txBody>
      </p:sp>
      <p:pic>
        <p:nvPicPr>
          <p:cNvPr id="216069" name="Picture 9">
            <a:extLst>
              <a:ext uri="{FF2B5EF4-FFF2-40B4-BE49-F238E27FC236}">
                <a16:creationId xmlns:a16="http://schemas.microsoft.com/office/drawing/2014/main" id="{30EF66A5-6BE8-1BEA-1559-E5AB22F69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410" y="4461641"/>
            <a:ext cx="3429000" cy="1550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B887D-C4A1-1749-D84C-B7475735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964" y="0"/>
            <a:ext cx="8018272" cy="149961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o-RO" altLang="en-US" dirty="0"/>
              <a:t>Coloane multiple</a:t>
            </a:r>
            <a:endParaRPr lang="en-US" altLang="en-US" dirty="0"/>
          </a:p>
        </p:txBody>
      </p:sp>
      <p:sp>
        <p:nvSpPr>
          <p:cNvPr id="227330" name="Content Placeholder 2">
            <a:extLst>
              <a:ext uri="{FF2B5EF4-FFF2-40B4-BE49-F238E27FC236}">
                <a16:creationId xmlns:a16="http://schemas.microsoft.com/office/drawing/2014/main" id="{D1962E10-A319-A449-5E46-1F5AFD91D8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9718" y="1129862"/>
            <a:ext cx="8681841" cy="4023360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ro-RO" altLang="en-US" sz="1400" dirty="0"/>
              <a:t>Proprietatea </a:t>
            </a:r>
            <a:r>
              <a:rPr lang="en-US" altLang="en-US" sz="1400" dirty="0"/>
              <a:t>column-gap</a:t>
            </a:r>
            <a:r>
              <a:rPr lang="ro-RO" altLang="en-US" sz="1400" dirty="0"/>
              <a:t> specifică dimensiunea spațiului între coloane:</a:t>
            </a:r>
            <a:endParaRPr lang="en-US" altLang="en-US" sz="1400" dirty="0"/>
          </a:p>
          <a:p>
            <a:pPr>
              <a:buFontTx/>
              <a:buNone/>
            </a:pPr>
            <a:r>
              <a:rPr lang="en-US" altLang="en-US" sz="1400" dirty="0"/>
              <a:t>Ex: #primary article .content {</a:t>
            </a:r>
          </a:p>
          <a:p>
            <a:pPr lvl="1">
              <a:buFontTx/>
              <a:buNone/>
            </a:pPr>
            <a:r>
              <a:rPr lang="en-US" altLang="en-US" sz="1400" dirty="0"/>
              <a:t>-</a:t>
            </a:r>
            <a:r>
              <a:rPr lang="en-US" altLang="en-US" sz="1400" dirty="0" err="1"/>
              <a:t>webkit</a:t>
            </a:r>
            <a:r>
              <a:rPr lang="en-US" altLang="en-US" sz="1400" dirty="0"/>
              <a:t>-column-gap: 10px;</a:t>
            </a:r>
          </a:p>
          <a:p>
            <a:pPr lvl="1">
              <a:buFontTx/>
              <a:buNone/>
            </a:pPr>
            <a:r>
              <a:rPr lang="en-US" altLang="en-US" sz="1400" dirty="0"/>
              <a:t>-</a:t>
            </a:r>
            <a:r>
              <a:rPr lang="en-US" altLang="en-US" sz="1400" dirty="0" err="1"/>
              <a:t>moz</a:t>
            </a:r>
            <a:r>
              <a:rPr lang="en-US" altLang="en-US" sz="1400" dirty="0"/>
              <a:t>-column-gap: 10px;</a:t>
            </a:r>
          </a:p>
          <a:p>
            <a:pPr lvl="1">
              <a:buFontTx/>
              <a:buNone/>
            </a:pPr>
            <a:r>
              <a:rPr lang="en-US" altLang="en-US" sz="1400" dirty="0"/>
              <a:t>column-gap: 10px;</a:t>
            </a:r>
          </a:p>
          <a:p>
            <a:pPr>
              <a:buFontTx/>
              <a:buNone/>
            </a:pPr>
            <a:r>
              <a:rPr lang="en-US" altLang="en-US" sz="1400" dirty="0"/>
              <a:t>}</a:t>
            </a:r>
          </a:p>
          <a:p>
            <a:pPr>
              <a:buFontTx/>
              <a:buNone/>
            </a:pPr>
            <a:r>
              <a:rPr lang="ro-RO" altLang="en-US" sz="1400" dirty="0"/>
              <a:t>Proprietatea </a:t>
            </a:r>
            <a:r>
              <a:rPr lang="en-US" altLang="en-US" sz="1400" dirty="0"/>
              <a:t>column-width</a:t>
            </a:r>
            <a:r>
              <a:rPr lang="ro-RO" altLang="en-US" sz="1400" dirty="0"/>
              <a:t> specifică dimensiunea minimă a coloanei.</a:t>
            </a:r>
          </a:p>
          <a:p>
            <a:pPr>
              <a:buFontTx/>
              <a:buNone/>
            </a:pPr>
            <a:r>
              <a:rPr lang="en-US" altLang="en-US" sz="1400" dirty="0"/>
              <a:t>Ex: #primary article .content {</a:t>
            </a:r>
          </a:p>
          <a:p>
            <a:pPr lvl="1">
              <a:buFontTx/>
              <a:buNone/>
            </a:pPr>
            <a:r>
              <a:rPr lang="en-US" altLang="en-US" sz="1400" dirty="0"/>
              <a:t>-</a:t>
            </a:r>
            <a:r>
              <a:rPr lang="en-US" altLang="en-US" sz="1400" dirty="0" err="1"/>
              <a:t>webkit</a:t>
            </a:r>
            <a:r>
              <a:rPr lang="en-US" altLang="en-US" sz="1400" dirty="0"/>
              <a:t>-column-width: 150px;</a:t>
            </a:r>
          </a:p>
          <a:p>
            <a:pPr lvl="1">
              <a:buFontTx/>
              <a:buNone/>
            </a:pPr>
            <a:r>
              <a:rPr lang="en-US" altLang="en-US" sz="1400" dirty="0"/>
              <a:t>-</a:t>
            </a:r>
            <a:r>
              <a:rPr lang="en-US" altLang="en-US" sz="1400" dirty="0" err="1"/>
              <a:t>moz</a:t>
            </a:r>
            <a:r>
              <a:rPr lang="en-US" altLang="en-US" sz="1400" dirty="0"/>
              <a:t>-column-width: 150px;</a:t>
            </a:r>
          </a:p>
          <a:p>
            <a:pPr lvl="1">
              <a:buFontTx/>
              <a:buNone/>
            </a:pPr>
            <a:r>
              <a:rPr lang="en-US" altLang="en-US" sz="1400" dirty="0"/>
              <a:t>column-width: 150px;</a:t>
            </a:r>
          </a:p>
          <a:p>
            <a:pPr>
              <a:buFontTx/>
              <a:buNone/>
            </a:pPr>
            <a:r>
              <a:rPr lang="en-US" altLang="en-US" sz="1400" dirty="0"/>
              <a:t>}</a:t>
            </a:r>
            <a:endParaRPr lang="ro-RO" altLang="en-US" sz="1400" dirty="0"/>
          </a:p>
          <a:p>
            <a:pPr>
              <a:buFontTx/>
              <a:buNone/>
            </a:pPr>
            <a:r>
              <a:rPr lang="ro-RO" altLang="en-US" sz="1400" dirty="0"/>
              <a:t>Proprietatea </a:t>
            </a:r>
            <a:r>
              <a:rPr lang="en-US" altLang="en-US" sz="1400" dirty="0"/>
              <a:t>column-rule</a:t>
            </a:r>
            <a:r>
              <a:rPr lang="ro-RO" altLang="en-US" sz="1400" dirty="0"/>
              <a:t> specifică reguli – margini între coloane (</a:t>
            </a:r>
            <a:r>
              <a:rPr lang="ro-RO" altLang="en-US" sz="1400" dirty="0" err="1"/>
              <a:t>border</a:t>
            </a:r>
            <a:r>
              <a:rPr lang="ro-RO" altLang="en-US" sz="1400" dirty="0"/>
              <a:t>): </a:t>
            </a:r>
            <a:r>
              <a:rPr lang="en-US" altLang="en-US" sz="1400" dirty="0"/>
              <a:t>color, style, width</a:t>
            </a:r>
            <a:r>
              <a:rPr lang="ro-RO" altLang="en-US" sz="1400" dirty="0"/>
              <a:t>…</a:t>
            </a:r>
          </a:p>
          <a:p>
            <a:pPr>
              <a:buFontTx/>
              <a:buNone/>
            </a:pPr>
            <a:r>
              <a:rPr lang="en-US" altLang="en-US" sz="1400" dirty="0"/>
              <a:t>Ex: #primary article .content {</a:t>
            </a:r>
          </a:p>
          <a:p>
            <a:pPr lvl="1">
              <a:buFontTx/>
              <a:buNone/>
            </a:pPr>
            <a:r>
              <a:rPr lang="en-US" altLang="en-US" sz="1400" dirty="0"/>
              <a:t>-</a:t>
            </a:r>
            <a:r>
              <a:rPr lang="en-US" altLang="en-US" sz="1400" dirty="0" err="1"/>
              <a:t>webkit</a:t>
            </a:r>
            <a:r>
              <a:rPr lang="en-US" altLang="en-US" sz="1400" dirty="0"/>
              <a:t>-column-rule: 1px solid #ccc;</a:t>
            </a:r>
          </a:p>
          <a:p>
            <a:pPr lvl="1">
              <a:buFontTx/>
              <a:buNone/>
            </a:pPr>
            <a:r>
              <a:rPr lang="en-US" altLang="en-US" sz="1400" dirty="0"/>
              <a:t>-</a:t>
            </a:r>
            <a:r>
              <a:rPr lang="en-US" altLang="en-US" sz="1400" dirty="0" err="1"/>
              <a:t>moz</a:t>
            </a:r>
            <a:r>
              <a:rPr lang="en-US" altLang="en-US" sz="1400" dirty="0"/>
              <a:t>-column-rule: 1px solid #ccc;</a:t>
            </a:r>
          </a:p>
          <a:p>
            <a:pPr lvl="1">
              <a:buFontTx/>
              <a:buNone/>
            </a:pPr>
            <a:r>
              <a:rPr lang="en-US" altLang="en-US" sz="1400" dirty="0"/>
              <a:t>column-gap: 1px solid #ccc;</a:t>
            </a:r>
          </a:p>
          <a:p>
            <a:pPr>
              <a:buFontTx/>
              <a:buNone/>
            </a:pPr>
            <a:r>
              <a:rPr lang="en-US" altLang="en-US" sz="1400" dirty="0"/>
              <a:t>}</a:t>
            </a:r>
          </a:p>
          <a:p>
            <a:pPr>
              <a:buFontTx/>
              <a:buNone/>
            </a:pPr>
            <a:endParaRPr lang="en-US" altLang="en-US" sz="1400" dirty="0"/>
          </a:p>
          <a:p>
            <a:pPr>
              <a:buFontTx/>
              <a:buNone/>
            </a:pPr>
            <a:endParaRPr lang="en-US" altLang="en-US" sz="1400" dirty="0"/>
          </a:p>
          <a:p>
            <a:pPr>
              <a:buFontTx/>
              <a:buNone/>
            </a:pPr>
            <a:endParaRPr lang="en-US" altLang="en-US" sz="1400" dirty="0"/>
          </a:p>
        </p:txBody>
      </p:sp>
      <p:sp>
        <p:nvSpPr>
          <p:cNvPr id="227337" name="Rectangle 227335">
            <a:extLst>
              <a:ext uri="{FF2B5EF4-FFF2-40B4-BE49-F238E27FC236}">
                <a16:creationId xmlns:a16="http://schemas.microsoft.com/office/drawing/2014/main" id="{77D7B666-D5E6-48CE-B26A-FB5E5C34AF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325601"/>
            <a:ext cx="2286920" cy="3908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7339" name="Rectangle 227337">
            <a:extLst>
              <a:ext uri="{FF2B5EF4-FFF2-40B4-BE49-F238E27FC236}">
                <a16:creationId xmlns:a16="http://schemas.microsoft.com/office/drawing/2014/main" id="{F6EE670A-A41A-44AD-BC1C-2090365EB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83348" y="4394539"/>
            <a:ext cx="2286920" cy="2029724"/>
          </a:xfrm>
          <a:prstGeom prst="rect">
            <a:avLst/>
          </a:prstGeom>
          <a:solidFill>
            <a:schemeClr val="tx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331" name="Slide Number Placeholder 5">
            <a:extLst>
              <a:ext uri="{FF2B5EF4-FFF2-40B4-BE49-F238E27FC236}">
                <a16:creationId xmlns:a16="http://schemas.microsoft.com/office/drawing/2014/main" id="{31D6AC61-5305-C06F-81FE-7A64BD9AF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837333" y="6470704"/>
            <a:ext cx="973667" cy="27432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fld id="{F75D2689-EF98-7448-9BDD-3630AFFF8216}" type="slidenum">
              <a:rPr lang="en-US" altLang="en-US" sz="1300"/>
              <a:pPr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FontTx/>
                <a:buNone/>
              </a:pPr>
              <a:t>136</a:t>
            </a:fld>
            <a:endParaRPr lang="en-US" altLang="en-US" sz="1300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5" name="Slide Number Placeholder 5">
            <a:extLst>
              <a:ext uri="{FF2B5EF4-FFF2-40B4-BE49-F238E27FC236}">
                <a16:creationId xmlns:a16="http://schemas.microsoft.com/office/drawing/2014/main" id="{BF2E5439-1EFA-AB60-C3B1-3A6C3082E3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D23B69-C60A-B942-AB3F-88F1178718B5}" type="slidenum">
              <a:rPr lang="en-US" altLang="en-US" sz="90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137</a:t>
            </a:fld>
            <a:endParaRPr lang="en-US" altLang="en-US" sz="900">
              <a:solidFill>
                <a:schemeClr val="bg1"/>
              </a:solidFill>
            </a:endParaRPr>
          </a:p>
        </p:txBody>
      </p:sp>
      <p:pic>
        <p:nvPicPr>
          <p:cNvPr id="228356" name="Picture 2">
            <a:extLst>
              <a:ext uri="{FF2B5EF4-FFF2-40B4-BE49-F238E27FC236}">
                <a16:creationId xmlns:a16="http://schemas.microsoft.com/office/drawing/2014/main" id="{371ECAC8-F46E-CE1C-ED0D-85C8C6EC0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720726"/>
            <a:ext cx="7334250" cy="580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3411" name="Picture 3">
            <a:extLst>
              <a:ext uri="{FF2B5EF4-FFF2-40B4-BE49-F238E27FC236}">
                <a16:creationId xmlns:a16="http://schemas.microsoft.com/office/drawing/2014/main" id="{1D1C35F3-D331-48A3-01C3-47362F66A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6" y="1447800"/>
            <a:ext cx="71723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73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1CABAFB-689F-2259-50B3-8C879A188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941" y="282833"/>
            <a:ext cx="9720072" cy="1499616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dirty="0" err="1"/>
              <a:t>Efect</a:t>
            </a:r>
            <a:r>
              <a:rPr lang="en-US" altLang="en-US" dirty="0"/>
              <a:t> CSS</a:t>
            </a:r>
          </a:p>
        </p:txBody>
      </p:sp>
      <p:sp>
        <p:nvSpPr>
          <p:cNvPr id="235522" name="Content Placeholder 5">
            <a:extLst>
              <a:ext uri="{FF2B5EF4-FFF2-40B4-BE49-F238E27FC236}">
                <a16:creationId xmlns:a16="http://schemas.microsoft.com/office/drawing/2014/main" id="{171741F2-89C7-F859-4A16-255FAE0C65A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887494" y="1505081"/>
            <a:ext cx="6234211" cy="4023360"/>
          </a:xfrm>
        </p:spPr>
        <p:txBody>
          <a:bodyPr>
            <a:noAutofit/>
          </a:bodyPr>
          <a:lstStyle/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.amazing {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border: 1px solid blue;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color: red;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background-color: gold;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-</a:t>
            </a:r>
            <a:r>
              <a:rPr lang="en-US" altLang="en-US" sz="1600" dirty="0" err="1">
                <a:cs typeface="Courier New" panose="02070309020205020404" pitchFamily="49" charset="0"/>
              </a:rPr>
              <a:t>webkit</a:t>
            </a:r>
            <a:r>
              <a:rPr lang="en-US" altLang="en-US" sz="1600" dirty="0">
                <a:cs typeface="Courier New" panose="02070309020205020404" pitchFamily="49" charset="0"/>
              </a:rPr>
              <a:t>-border-radius: 40px;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-</a:t>
            </a:r>
            <a:r>
              <a:rPr lang="en-US" altLang="en-US" sz="1600" dirty="0" err="1">
                <a:cs typeface="Courier New" panose="02070309020205020404" pitchFamily="49" charset="0"/>
              </a:rPr>
              <a:t>moz</a:t>
            </a:r>
            <a:r>
              <a:rPr lang="en-US" altLang="en-US" sz="1600" dirty="0">
                <a:cs typeface="Courier New" panose="02070309020205020404" pitchFamily="49" charset="0"/>
              </a:rPr>
              <a:t>-border-radius: 40px;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border-radius: 40px;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-</a:t>
            </a:r>
            <a:r>
              <a:rPr lang="en-US" altLang="en-US" sz="1600" dirty="0" err="1">
                <a:cs typeface="Courier New" panose="02070309020205020404" pitchFamily="49" charset="0"/>
              </a:rPr>
              <a:t>webkit</a:t>
            </a:r>
            <a:r>
              <a:rPr lang="en-US" altLang="en-US" sz="1600" dirty="0">
                <a:cs typeface="Courier New" panose="02070309020205020404" pitchFamily="49" charset="0"/>
              </a:rPr>
              <a:t>-box-shadow: 8px 8px 6px #474747;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-</a:t>
            </a:r>
            <a:r>
              <a:rPr lang="en-US" altLang="en-US" sz="1600" dirty="0" err="1">
                <a:cs typeface="Courier New" panose="02070309020205020404" pitchFamily="49" charset="0"/>
              </a:rPr>
              <a:t>moz</a:t>
            </a:r>
            <a:r>
              <a:rPr lang="en-US" altLang="en-US" sz="1600" dirty="0">
                <a:cs typeface="Courier New" panose="02070309020205020404" pitchFamily="49" charset="0"/>
              </a:rPr>
              <a:t>-box-shadow: 8px 8px 6px #474747;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box-shadow: 8px 8px 6px #474747;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endParaRPr lang="en-US" altLang="en-US" sz="1600" dirty="0">
              <a:cs typeface="Courier New" panose="02070309020205020404" pitchFamily="49" charset="0"/>
            </a:endParaRP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text-shadow: 8px 8px 2px #595959;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filter: </a:t>
            </a:r>
            <a:r>
              <a:rPr lang="en-US" altLang="en-US" sz="1600" dirty="0" err="1">
                <a:cs typeface="Courier New" panose="02070309020205020404" pitchFamily="49" charset="0"/>
              </a:rPr>
              <a:t>dropshadow</a:t>
            </a:r>
            <a:r>
              <a:rPr lang="en-US" altLang="en-US" sz="1600" dirty="0">
                <a:cs typeface="Courier New" panose="02070309020205020404" pitchFamily="49" charset="0"/>
              </a:rPr>
              <a:t>(color=#595959, </a:t>
            </a:r>
            <a:r>
              <a:rPr lang="en-US" altLang="en-US" sz="1600" dirty="0" err="1">
                <a:cs typeface="Courier New" panose="02070309020205020404" pitchFamily="49" charset="0"/>
              </a:rPr>
              <a:t>offx</a:t>
            </a:r>
            <a:r>
              <a:rPr lang="en-US" altLang="en-US" sz="1600" dirty="0">
                <a:cs typeface="Courier New" panose="02070309020205020404" pitchFamily="49" charset="0"/>
              </a:rPr>
              <a:t>=8, </a:t>
            </a:r>
            <a:r>
              <a:rPr lang="en-US" altLang="en-US" sz="1600" dirty="0" err="1">
                <a:cs typeface="Courier New" panose="02070309020205020404" pitchFamily="49" charset="0"/>
              </a:rPr>
              <a:t>offy</a:t>
            </a:r>
            <a:r>
              <a:rPr lang="en-US" altLang="en-US" sz="1600" dirty="0">
                <a:cs typeface="Courier New" panose="02070309020205020404" pitchFamily="49" charset="0"/>
              </a:rPr>
              <a:t>=8);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en-US" sz="1600" dirty="0"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ACA5BF6-39FC-0629-2B14-13A8F3BA35C1}"/>
              </a:ext>
            </a:extLst>
          </p:cNvPr>
          <p:cNvSpPr/>
          <p:nvPr/>
        </p:nvSpPr>
        <p:spPr>
          <a:xfrm>
            <a:off x="6096000" y="1782449"/>
            <a:ext cx="4038600" cy="4495800"/>
          </a:xfrm>
          <a:prstGeom prst="roundRect">
            <a:avLst>
              <a:gd name="adj" fmla="val 12186"/>
            </a:avLst>
          </a:prstGeom>
          <a:solidFill>
            <a:srgbClr val="FFC000"/>
          </a:solidFill>
          <a:ln>
            <a:solidFill>
              <a:srgbClr val="0070C0"/>
            </a:solidFill>
          </a:ln>
          <a:effectLst>
            <a:outerShdw blurRad="76200" dist="1016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4400" dirty="0">
                <a:solidFill>
                  <a:srgbClr val="C00000"/>
                </a:solidFill>
                <a:effectLst>
                  <a:outerShdw blurRad="50800" dist="177800" dir="2700000" algn="tl" rotWithShape="0">
                    <a:prstClr val="black">
                      <a:alpha val="40000"/>
                    </a:prstClr>
                  </a:outerShdw>
                </a:effectLst>
              </a:rPr>
              <a:t>Amazing CSS Effects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8355</Words>
  <Application>Microsoft Macintosh PowerPoint</Application>
  <PresentationFormat>Widescreen</PresentationFormat>
  <Paragraphs>1132</Paragraphs>
  <Slides>138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138</vt:i4>
      </vt:variant>
    </vt:vector>
  </HeadingPairs>
  <TitlesOfParts>
    <vt:vector size="153" baseType="lpstr">
      <vt:lpstr>Arial Unicode MS</vt:lpstr>
      <vt:lpstr>Arial</vt:lpstr>
      <vt:lpstr>Calibri</vt:lpstr>
      <vt:lpstr>Cambria</vt:lpstr>
      <vt:lpstr>Comic Sans MS</vt:lpstr>
      <vt:lpstr>Courier New</vt:lpstr>
      <vt:lpstr>Georgia</vt:lpstr>
      <vt:lpstr>Times</vt:lpstr>
      <vt:lpstr>Times New Roman</vt:lpstr>
      <vt:lpstr>Trebuchet MS</vt:lpstr>
      <vt:lpstr>Tw Cen MT</vt:lpstr>
      <vt:lpstr>Tw Cen MT Condensed</vt:lpstr>
      <vt:lpstr>Wingdings</vt:lpstr>
      <vt:lpstr>Wingdings 3</vt:lpstr>
      <vt:lpstr>Integral</vt:lpstr>
      <vt:lpstr>Tehnologii WEB – HTML si CSS</vt:lpstr>
      <vt:lpstr>Client-side</vt:lpstr>
      <vt:lpstr>Solar System: Markup</vt:lpstr>
      <vt:lpstr>Solar System: Markup + Style</vt:lpstr>
      <vt:lpstr>Solar System: Markup + Style + Function</vt:lpstr>
      <vt:lpstr>Markup Evolution</vt:lpstr>
      <vt:lpstr>Limbajul HTML</vt:lpstr>
      <vt:lpstr>Generalități</vt:lpstr>
      <vt:lpstr>Format general</vt:lpstr>
      <vt:lpstr>Hello World</vt:lpstr>
      <vt:lpstr>Exemplu</vt:lpstr>
      <vt:lpstr>PowerPoint Presentation</vt:lpstr>
      <vt:lpstr>Elementul &lt;div&gt;</vt:lpstr>
      <vt:lpstr>Ancora (link)</vt:lpstr>
      <vt:lpstr>URL</vt:lpstr>
      <vt:lpstr>URL</vt:lpstr>
      <vt:lpstr>Hypertext</vt:lpstr>
      <vt:lpstr>Bookmark</vt:lpstr>
      <vt:lpstr>Exemplu - cuprins</vt:lpstr>
      <vt:lpstr>Exemplu - documentul</vt:lpstr>
      <vt:lpstr>Imagini</vt:lpstr>
      <vt:lpstr>Imaginea Link</vt:lpstr>
      <vt:lpstr>Zona HEAD</vt:lpstr>
      <vt:lpstr>HEAD - META</vt:lpstr>
      <vt:lpstr>Exemplu</vt:lpstr>
      <vt:lpstr>Alt exemplu</vt:lpstr>
      <vt:lpstr>Exemple de alte seturi de caractere</vt:lpstr>
      <vt:lpstr>Formulare</vt:lpstr>
      <vt:lpstr>Formulare</vt:lpstr>
      <vt:lpstr>Exemple</vt:lpstr>
      <vt:lpstr>Exemplu</vt:lpstr>
      <vt:lpstr>Exemplu</vt:lpstr>
      <vt:lpstr>FORM</vt:lpstr>
      <vt:lpstr>FORM</vt:lpstr>
      <vt:lpstr>INPUT</vt:lpstr>
      <vt:lpstr>INPUT</vt:lpstr>
      <vt:lpstr>Type=TEXT</vt:lpstr>
      <vt:lpstr>Exemplu</vt:lpstr>
      <vt:lpstr>Type=SUBMIT</vt:lpstr>
      <vt:lpstr>Exemplu</vt:lpstr>
      <vt:lpstr>Type = CHECKBOX</vt:lpstr>
      <vt:lpstr>Type = RADIO</vt:lpstr>
      <vt:lpstr>Liste SELECT</vt:lpstr>
      <vt:lpstr>TEXTAREA</vt:lpstr>
      <vt:lpstr>PowerPoint Presentation</vt:lpstr>
      <vt:lpstr>File Upload</vt:lpstr>
      <vt:lpstr>XHTML</vt:lpstr>
      <vt:lpstr>HTML 4</vt:lpstr>
      <vt:lpstr>Problema cu HTML</vt:lpstr>
      <vt:lpstr>HTML vs. XML</vt:lpstr>
      <vt:lpstr>De la HTML la XHTML, I</vt:lpstr>
      <vt:lpstr>De la HTML la XHTML, II</vt:lpstr>
      <vt:lpstr>XHTML și DTD-uri</vt:lpstr>
      <vt:lpstr>Declaraţia DOCTYPE</vt:lpstr>
      <vt:lpstr>Declaraţia DOCTYPE</vt:lpstr>
      <vt:lpstr>"Strict" vs "Transitional"</vt:lpstr>
      <vt:lpstr>Exemplu de document XHTML</vt:lpstr>
      <vt:lpstr>CSS  (Cascading Style Sheet )</vt:lpstr>
      <vt:lpstr>PowerPoint Presentation</vt:lpstr>
      <vt:lpstr>Problema cu HTML</vt:lpstr>
      <vt:lpstr>Cascading Style Sheets</vt:lpstr>
      <vt:lpstr>Exemplu: Harvard Summer School</vt:lpstr>
      <vt:lpstr>Sintaxa CSS</vt:lpstr>
      <vt:lpstr>Sintaxa CSS</vt:lpstr>
      <vt:lpstr>Anatomia unei reguli CSS</vt:lpstr>
      <vt:lpstr>PowerPoint Presentation</vt:lpstr>
      <vt:lpstr>Exemplu de CSS</vt:lpstr>
      <vt:lpstr>Selectori</vt:lpstr>
      <vt:lpstr>Reguli combinate</vt:lpstr>
      <vt:lpstr>Selectori</vt:lpstr>
      <vt:lpstr>Selectori</vt:lpstr>
      <vt:lpstr>Combinarea selectorilor</vt:lpstr>
      <vt:lpstr>Valori</vt:lpstr>
      <vt:lpstr>Atributul class</vt:lpstr>
      <vt:lpstr>Atributul id</vt:lpstr>
      <vt:lpstr>div și span</vt:lpstr>
      <vt:lpstr>Folosirea elementelor CSS</vt:lpstr>
      <vt:lpstr>External style sheet</vt:lpstr>
      <vt:lpstr>Embedded style sheet</vt:lpstr>
      <vt:lpstr>Inline style sheet</vt:lpstr>
      <vt:lpstr>Ordinea de cascadare</vt:lpstr>
      <vt:lpstr>Exemplu de ordine de cascadare</vt:lpstr>
      <vt:lpstr>PowerPoint Presentation</vt:lpstr>
      <vt:lpstr>Forma prescurtată de specificare a proprietăţilor</vt:lpstr>
      <vt:lpstr>Culori și lungimi</vt:lpstr>
      <vt:lpstr>Pseudo-clase</vt:lpstr>
      <vt:lpstr>HTML 5</vt:lpstr>
      <vt:lpstr>Markup Evolution</vt:lpstr>
      <vt:lpstr>Istoria Standardelor Web</vt:lpstr>
      <vt:lpstr>DOCTYPE</vt:lpstr>
      <vt:lpstr>Radacina HTML</vt:lpstr>
      <vt:lpstr>CHARSET</vt:lpstr>
      <vt:lpstr>STYLESHEET</vt:lpstr>
      <vt:lpstr>Elemente semantice de sectionare</vt:lpstr>
      <vt:lpstr>Elemente semantice de sectionare</vt:lpstr>
      <vt:lpstr>&lt;TIME&gt;</vt:lpstr>
      <vt:lpstr>&lt;CANVAS&gt;</vt:lpstr>
      <vt:lpstr>Canvas</vt:lpstr>
      <vt:lpstr>&lt;CANVAS&gt;</vt:lpstr>
      <vt:lpstr>&lt;CANVAS&gt;</vt:lpstr>
      <vt:lpstr>&lt;CANVAS&gt;</vt:lpstr>
      <vt:lpstr>&lt;CANVAS&gt;</vt:lpstr>
      <vt:lpstr>&lt;CANVAS&gt;</vt:lpstr>
      <vt:lpstr>&lt;CANVAS&gt;</vt:lpstr>
      <vt:lpstr>HTML5 API VIDEO &amp; AUDIO</vt:lpstr>
      <vt:lpstr>HTML5 API VIDEO &amp; AUDIO</vt:lpstr>
      <vt:lpstr>HTML5 API - GEOLOCATIE</vt:lpstr>
      <vt:lpstr>HTML5 API - GEOLOCATIE</vt:lpstr>
      <vt:lpstr>Ce mai ofera HTML5?</vt:lpstr>
      <vt:lpstr>HTML5 Forms</vt:lpstr>
      <vt:lpstr>PowerPoint Presentation</vt:lpstr>
      <vt:lpstr>PowerPoint Presentation</vt:lpstr>
      <vt:lpstr>PowerPoint Presentation</vt:lpstr>
      <vt:lpstr>Îmbunătățiri pentru Form</vt:lpstr>
      <vt:lpstr>CSS3</vt:lpstr>
      <vt:lpstr>Efecte CSS</vt:lpstr>
      <vt:lpstr>Borders</vt:lpstr>
      <vt:lpstr>Borders</vt:lpstr>
      <vt:lpstr>Borders</vt:lpstr>
      <vt:lpstr>Borders</vt:lpstr>
      <vt:lpstr>Borders</vt:lpstr>
      <vt:lpstr>Borders</vt:lpstr>
      <vt:lpstr>Borders</vt:lpstr>
      <vt:lpstr>Borders</vt:lpstr>
      <vt:lpstr>Background</vt:lpstr>
      <vt:lpstr>Efecte text</vt:lpstr>
      <vt:lpstr>Efecte text</vt:lpstr>
      <vt:lpstr>Efecte text</vt:lpstr>
      <vt:lpstr>Fonturi în CSS3</vt:lpstr>
      <vt:lpstr>Fonturi</vt:lpstr>
      <vt:lpstr>Fonturi</vt:lpstr>
      <vt:lpstr>Umbre</vt:lpstr>
      <vt:lpstr>Transformări și tranziții</vt:lpstr>
      <vt:lpstr>Scalare</vt:lpstr>
      <vt:lpstr>Rotație</vt:lpstr>
      <vt:lpstr>Coloane multiple</vt:lpstr>
      <vt:lpstr>PowerPoint Presentation</vt:lpstr>
      <vt:lpstr>Efect CSS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2019-06-12T17:39:09Z</dcterms:created>
  <dcterms:modified xsi:type="dcterms:W3CDTF">2025-03-01T17:14:23Z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