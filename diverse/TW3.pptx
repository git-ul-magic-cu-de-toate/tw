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46"/>
  </p:notesMasterIdLst>
  <p:sldIdLst>
    <p:sldId id="256" r:id="rId5"/>
    <p:sldId id="349" r:id="rId6"/>
    <p:sldId id="320" r:id="rId7"/>
    <p:sldId id="313" r:id="rId8"/>
    <p:sldId id="322" r:id="rId9"/>
    <p:sldId id="323" r:id="rId10"/>
    <p:sldId id="324" r:id="rId11"/>
    <p:sldId id="328" r:id="rId12"/>
    <p:sldId id="350" r:id="rId13"/>
    <p:sldId id="352" r:id="rId14"/>
    <p:sldId id="351" r:id="rId15"/>
    <p:sldId id="330" r:id="rId16"/>
    <p:sldId id="331" r:id="rId17"/>
    <p:sldId id="332" r:id="rId18"/>
    <p:sldId id="334" r:id="rId19"/>
    <p:sldId id="353" r:id="rId20"/>
    <p:sldId id="354" r:id="rId21"/>
    <p:sldId id="355" r:id="rId22"/>
    <p:sldId id="356" r:id="rId23"/>
    <p:sldId id="316" r:id="rId24"/>
    <p:sldId id="337" r:id="rId25"/>
    <p:sldId id="339" r:id="rId26"/>
    <p:sldId id="359" r:id="rId27"/>
    <p:sldId id="360" r:id="rId28"/>
    <p:sldId id="361" r:id="rId29"/>
    <p:sldId id="362" r:id="rId30"/>
    <p:sldId id="363" r:id="rId31"/>
    <p:sldId id="357" r:id="rId32"/>
    <p:sldId id="358" r:id="rId33"/>
    <p:sldId id="343" r:id="rId34"/>
    <p:sldId id="344" r:id="rId35"/>
    <p:sldId id="366" r:id="rId36"/>
    <p:sldId id="367" r:id="rId37"/>
    <p:sldId id="364" r:id="rId38"/>
    <p:sldId id="365" r:id="rId39"/>
    <p:sldId id="368" r:id="rId40"/>
    <p:sldId id="369" r:id="rId41"/>
    <p:sldId id="370" r:id="rId42"/>
    <p:sldId id="371" r:id="rId43"/>
    <p:sldId id="372" r:id="rId44"/>
    <p:sldId id="411"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773" autoAdjust="0"/>
    <p:restoredTop sz="94966" autoAdjust="0"/>
  </p:normalViewPr>
  <p:slideViewPr>
    <p:cSldViewPr snapToGrid="0">
      <p:cViewPr varScale="1">
        <p:scale>
          <a:sx n="121" d="100"/>
          <a:sy n="121" d="100"/>
        </p:scale>
        <p:origin x="288" y="1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3/1/25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2"/>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2"/>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005E26E-BCB2-4FD5-8FD5-81A5EAE94C21}" type="datetime1">
              <a:rPr lang="en-US" smtClean="0"/>
              <a:t>3/1/25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85C470-CD19-455C-B830-6D252EAD7FE5}" type="datetime1">
              <a:rPr lang="en-US" smtClean="0"/>
              <a:t>3/1/25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2"/>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2"/>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85C43C-50D9-4F49-A136-0EFF292F93ED}" type="datetime1">
              <a:rPr lang="en-US" smtClean="0"/>
              <a:t>3/1/25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53B1A3-0AEF-4064-A724-D27D660C8653}" type="datetime1">
              <a:rPr lang="en-US" smtClean="0"/>
              <a:t>3/1/25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D5D0F2-BF66-4A24-9384-A0129B196518}" type="datetime1">
              <a:rPr lang="en-US" smtClean="0"/>
              <a:t>3/1/25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318A6C-4F6B-48D2-BDB0-D7413B3FDB0A}" type="datetime1">
              <a:rPr lang="en-US" smtClean="0"/>
              <a:t>3/1/25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1ECED-6ECE-4989-B917-9D4D7E6D3C76}" type="datetime1">
              <a:rPr lang="en-US" smtClean="0"/>
              <a:t>3/1/25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B570E1-CB40-488E-8C6F-EF4211DFFCB0}" type="datetime1">
              <a:rPr lang="en-US" smtClean="0"/>
              <a:t>3/1/25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CEB6AF-9F5C-43BE-879E-CB9514111250}" type="datetime1">
              <a:rPr lang="en-US" smtClean="0"/>
              <a:t>3/1/25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C2E9B8-0487-42E4-B571-744A3D775783}" type="datetime1">
              <a:rPr lang="en-US" smtClean="0"/>
              <a:t>3/1/25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2"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52E32D-1E84-43FD-8158-FFFE757EB0E8}" type="datetime1">
              <a:rPr lang="en-US" smtClean="0"/>
              <a:t>3/1/25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9"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30"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E424C-FCA3-4EDD-B274-8E055D649B7D}" type="datetime1">
              <a:rPr lang="en-US" smtClean="0"/>
              <a:t>3/1/25</a:t>
            </a:fld>
            <a:endParaRPr lang="en-US" dirty="0"/>
          </a:p>
        </p:txBody>
      </p:sp>
      <p:sp>
        <p:nvSpPr>
          <p:cNvPr id="5" name="Footer Placeholder 4"/>
          <p:cNvSpPr>
            <a:spLocks noGrp="1"/>
          </p:cNvSpPr>
          <p:nvPr>
            <p:ph type="ftr" sz="quarter" idx="3"/>
          </p:nvPr>
        </p:nvSpPr>
        <p:spPr>
          <a:xfrm>
            <a:off x="4842933"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mail.google.com/"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2"/>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2"/>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8"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D84FB-5D02-47D2-98FD-4F01A02E2AEA}"/>
              </a:ext>
            </a:extLst>
          </p:cNvPr>
          <p:cNvSpPr>
            <a:spLocks noGrp="1"/>
          </p:cNvSpPr>
          <p:nvPr>
            <p:ph type="ctrTitle"/>
          </p:nvPr>
        </p:nvSpPr>
        <p:spPr>
          <a:xfrm>
            <a:off x="4309351" y="3429000"/>
            <a:ext cx="7501651" cy="1090938"/>
          </a:xfrm>
        </p:spPr>
        <p:txBody>
          <a:bodyPr anchor="b">
            <a:normAutofit/>
          </a:bodyPr>
          <a:lstStyle/>
          <a:p>
            <a:pPr algn="l"/>
            <a:r>
              <a:rPr lang="en-US" dirty="0" err="1">
                <a:solidFill>
                  <a:srgbClr val="FFFFFF"/>
                </a:solidFill>
              </a:rPr>
              <a:t>Tehnologii</a:t>
            </a:r>
            <a:r>
              <a:rPr lang="en-US" dirty="0">
                <a:solidFill>
                  <a:srgbClr val="FFFFFF"/>
                </a:solidFill>
              </a:rPr>
              <a:t> Web</a:t>
            </a:r>
          </a:p>
        </p:txBody>
      </p:sp>
      <p:sp>
        <p:nvSpPr>
          <p:cNvPr id="3" name="Subtitle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501650" cy="514816"/>
          </a:xfrm>
        </p:spPr>
        <p:txBody>
          <a:bodyPr anchor="t">
            <a:normAutofit fontScale="92500" lnSpcReduction="10000"/>
          </a:bodyPr>
          <a:lstStyle/>
          <a:p>
            <a:r>
              <a:rPr lang="en-US" sz="3200" dirty="0" err="1">
                <a:solidFill>
                  <a:srgbClr val="FFFFFF"/>
                </a:solidFill>
              </a:rPr>
              <a:t>Concepte</a:t>
            </a:r>
            <a:r>
              <a:rPr lang="en-US" sz="3200" dirty="0">
                <a:solidFill>
                  <a:srgbClr val="FFFFFF"/>
                </a:solidFill>
              </a:rPr>
              <a:t> </a:t>
            </a:r>
            <a:r>
              <a:rPr lang="en-US" sz="3200" dirty="0" err="1">
                <a:solidFill>
                  <a:srgbClr val="FFFFFF"/>
                </a:solidFill>
              </a:rPr>
              <a:t>si</a:t>
            </a:r>
            <a:r>
              <a:rPr lang="en-US" sz="3200" dirty="0">
                <a:solidFill>
                  <a:srgbClr val="FFFFFF"/>
                </a:solidFill>
              </a:rPr>
              <a:t> </a:t>
            </a:r>
            <a:r>
              <a:rPr lang="en-US" sz="3200" dirty="0" err="1">
                <a:solidFill>
                  <a:srgbClr val="FFFFFF"/>
                </a:solidFill>
              </a:rPr>
              <a:t>arhitecturi</a:t>
            </a:r>
            <a:r>
              <a:rPr lang="en-US" sz="3200" dirty="0">
                <a:solidFill>
                  <a:srgbClr val="FFFFFF"/>
                </a:solidFill>
              </a:rPr>
              <a:t> web</a:t>
            </a:r>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51"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6" name="Picture 5" descr="A blue and black logo&#10;&#10;AI-generated content may be incorrect.">
            <a:extLst>
              <a:ext uri="{FF2B5EF4-FFF2-40B4-BE49-F238E27FC236}">
                <a16:creationId xmlns:a16="http://schemas.microsoft.com/office/drawing/2014/main" id="{A655C155-0202-72F2-89EA-CA10761A4AFD}"/>
              </a:ext>
            </a:extLst>
          </p:cNvPr>
          <p:cNvPicPr>
            <a:picLocks noChangeAspect="1"/>
          </p:cNvPicPr>
          <p:nvPr/>
        </p:nvPicPr>
        <p:blipFill>
          <a:blip r:embed="rId3"/>
          <a:stretch>
            <a:fillRect/>
          </a:stretch>
        </p:blipFill>
        <p:spPr>
          <a:xfrm>
            <a:off x="0" y="273363"/>
            <a:ext cx="4627418" cy="1739689"/>
          </a:xfrm>
          <a:prstGeom prst="rect">
            <a:avLst/>
          </a:prstGeom>
        </p:spPr>
      </p:pic>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1D807-1C0F-881D-601F-59FD3A0EB53C}"/>
              </a:ext>
            </a:extLst>
          </p:cNvPr>
          <p:cNvSpPr>
            <a:spLocks noGrp="1"/>
          </p:cNvSpPr>
          <p:nvPr>
            <p:ph type="title"/>
          </p:nvPr>
        </p:nvSpPr>
        <p:spPr/>
        <p:txBody>
          <a:bodyPr/>
          <a:lstStyle/>
          <a:p>
            <a:r>
              <a:rPr lang="en-GB" dirty="0" err="1"/>
              <a:t>Arhitectură</a:t>
            </a:r>
            <a:r>
              <a:rPr lang="en-GB" dirty="0"/>
              <a:t> WEB</a:t>
            </a:r>
          </a:p>
        </p:txBody>
      </p:sp>
      <p:sp>
        <p:nvSpPr>
          <p:cNvPr id="3" name="Content Placeholder 2">
            <a:extLst>
              <a:ext uri="{FF2B5EF4-FFF2-40B4-BE49-F238E27FC236}">
                <a16:creationId xmlns:a16="http://schemas.microsoft.com/office/drawing/2014/main" id="{DD6218F4-2514-9D0A-8676-AC91B339B072}"/>
              </a:ext>
            </a:extLst>
          </p:cNvPr>
          <p:cNvSpPr>
            <a:spLocks noGrp="1"/>
          </p:cNvSpPr>
          <p:nvPr>
            <p:ph idx="1"/>
          </p:nvPr>
        </p:nvSpPr>
        <p:spPr>
          <a:xfrm>
            <a:off x="1024128" y="1813035"/>
            <a:ext cx="9720073" cy="4023360"/>
          </a:xfrm>
        </p:spPr>
        <p:txBody>
          <a:bodyPr>
            <a:normAutofit/>
          </a:bodyPr>
          <a:lstStyle/>
          <a:p>
            <a:r>
              <a:rPr lang="ro-RO" dirty="0"/>
              <a:t>De obicei, o arhitectură de aplicație Web cuprinde 3 componente de bază:</a:t>
            </a:r>
          </a:p>
          <a:p>
            <a:pPr marL="457200" indent="-457200">
              <a:buFont typeface="+mj-lt"/>
              <a:buAutoNum type="arabicPeriod"/>
            </a:pPr>
            <a:r>
              <a:rPr lang="ro-RO" b="1" dirty="0"/>
              <a:t>Browser web</a:t>
            </a:r>
            <a:r>
              <a:rPr lang="ro-RO" dirty="0"/>
              <a:t>: Componenta </a:t>
            </a:r>
            <a:r>
              <a:rPr lang="ro-RO" dirty="0" err="1"/>
              <a:t>frontend</a:t>
            </a:r>
            <a:r>
              <a:rPr lang="ro-RO" dirty="0"/>
              <a:t> este componenta cheie care interacționează cu utilizatorul și gestionează logica prezentării în timp ce controlează interacțiunile utilizatorului cu aplicația. Intrările utilizatorului sunt, de asemenea, validate aici.</a:t>
            </a:r>
          </a:p>
          <a:p>
            <a:pPr marL="457200" indent="-457200">
              <a:buFont typeface="+mj-lt"/>
              <a:buAutoNum type="arabicPeriod"/>
            </a:pPr>
            <a:r>
              <a:rPr lang="ro-RO" b="1" dirty="0"/>
              <a:t>Server web</a:t>
            </a:r>
            <a:r>
              <a:rPr lang="ro-RO" dirty="0"/>
              <a:t>: Componentă </a:t>
            </a:r>
            <a:r>
              <a:rPr lang="ro-RO" dirty="0" err="1"/>
              <a:t>backend</a:t>
            </a:r>
            <a:r>
              <a:rPr lang="ro-RO" dirty="0"/>
              <a:t> se ocupă de logica de business și prelucrează cererile utilizatorilor prin direcționarea lor către componenta potrivită. În plus, poate prelua solicitările de la o mare varietate de clienți.</a:t>
            </a:r>
          </a:p>
          <a:p>
            <a:pPr marL="457200" indent="-457200">
              <a:buFont typeface="+mj-lt"/>
              <a:buAutoNum type="arabicPeriod"/>
            </a:pPr>
            <a:r>
              <a:rPr lang="ro-RO" b="1" dirty="0"/>
              <a:t>Server de bază de date</a:t>
            </a:r>
            <a:r>
              <a:rPr lang="ro-RO" dirty="0"/>
              <a:t>: Serverul DB oferă datele necesare pentru aplicație. Într-o arhitectură pe mai multe niveluri, serverele DB pot, în plus, gestiona logica de afaceri cu ajutorul procedurilor stocate.</a:t>
            </a:r>
          </a:p>
        </p:txBody>
      </p:sp>
    </p:spTree>
    <p:extLst>
      <p:ext uri="{BB962C8B-B14F-4D97-AF65-F5344CB8AC3E}">
        <p14:creationId xmlns:p14="http://schemas.microsoft.com/office/powerpoint/2010/main" val="1104740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0DA8861-7907-4963-AA47-89255972CFDA}"/>
              </a:ext>
            </a:extLst>
          </p:cNvPr>
          <p:cNvSpPr>
            <a:spLocks noGrp="1"/>
          </p:cNvSpPr>
          <p:nvPr>
            <p:ph type="title"/>
          </p:nvPr>
        </p:nvSpPr>
        <p:spPr>
          <a:xfrm>
            <a:off x="1024128" y="585216"/>
            <a:ext cx="8018272" cy="1499616"/>
          </a:xfrm>
        </p:spPr>
        <p:txBody>
          <a:bodyPr>
            <a:normAutofit/>
          </a:bodyPr>
          <a:lstStyle/>
          <a:p>
            <a:r>
              <a:rPr lang="ro-RO" dirty="0"/>
              <a:t>Arhitectura “</a:t>
            </a:r>
            <a:r>
              <a:rPr lang="ro-RO" dirty="0" err="1"/>
              <a:t>Multi</a:t>
            </a:r>
            <a:r>
              <a:rPr lang="ro-RO" dirty="0"/>
              <a:t> </a:t>
            </a:r>
            <a:r>
              <a:rPr lang="ro-RO" dirty="0" err="1"/>
              <a:t>tier</a:t>
            </a:r>
            <a:r>
              <a:rPr lang="ro-RO" dirty="0"/>
              <a:t>”</a:t>
            </a:r>
          </a:p>
        </p:txBody>
      </p:sp>
      <p:sp>
        <p:nvSpPr>
          <p:cNvPr id="10" name="Content Placeholder 2">
            <a:extLst>
              <a:ext uri="{FF2B5EF4-FFF2-40B4-BE49-F238E27FC236}">
                <a16:creationId xmlns:a16="http://schemas.microsoft.com/office/drawing/2014/main" id="{D8900D13-5BBD-4C86-958C-75CDF2338661}"/>
              </a:ext>
            </a:extLst>
          </p:cNvPr>
          <p:cNvSpPr>
            <a:spLocks noGrp="1"/>
          </p:cNvSpPr>
          <p:nvPr>
            <p:ph idx="1"/>
          </p:nvPr>
        </p:nvSpPr>
        <p:spPr>
          <a:xfrm>
            <a:off x="1024128" y="2286000"/>
            <a:ext cx="8018271" cy="4023360"/>
          </a:xfrm>
        </p:spPr>
        <p:txBody>
          <a:bodyPr>
            <a:normAutofit/>
          </a:bodyPr>
          <a:lstStyle/>
          <a:p>
            <a:pPr lvl="1">
              <a:buFont typeface="Wingdings" panose="05000000000000000000" pitchFamily="2" charset="2"/>
              <a:buChar char="q"/>
            </a:pPr>
            <a:r>
              <a:rPr lang="ro-RO" sz="3200" dirty="0"/>
              <a:t> Împărțirea aplicației pe nivele </a:t>
            </a:r>
            <a:r>
              <a:rPr lang="ro-RO" sz="3200" b="1" i="1" dirty="0"/>
              <a:t>fizice</a:t>
            </a:r>
            <a:r>
              <a:rPr lang="ro-RO" sz="3200" dirty="0"/>
              <a:t> separate</a:t>
            </a:r>
          </a:p>
          <a:p>
            <a:pPr lvl="1">
              <a:buFont typeface="Wingdings" panose="05000000000000000000" pitchFamily="2" charset="2"/>
              <a:buChar char="q"/>
            </a:pPr>
            <a:r>
              <a:rPr lang="ro-RO" sz="3200" dirty="0"/>
              <a:t> Fiecare nivel rezolvă câte o problemă </a:t>
            </a:r>
          </a:p>
          <a:p>
            <a:pPr lvl="1">
              <a:buFont typeface="Wingdings" panose="05000000000000000000" pitchFamily="2" charset="2"/>
              <a:buChar char="q"/>
            </a:pPr>
            <a:r>
              <a:rPr lang="ro-RO" sz="3200" dirty="0"/>
              <a:t> Nivelele sunt </a:t>
            </a:r>
            <a:r>
              <a:rPr lang="ro-RO" sz="3200" b="1" dirty="0"/>
              <a:t>strâns</a:t>
            </a:r>
            <a:r>
              <a:rPr lang="ro-RO" sz="3200" dirty="0"/>
              <a:t> cuplate</a:t>
            </a:r>
          </a:p>
          <a:p>
            <a:pPr lvl="1">
              <a:buFont typeface="Wingdings" panose="05000000000000000000" pitchFamily="2" charset="2"/>
              <a:buChar char="q"/>
            </a:pPr>
            <a:r>
              <a:rPr lang="ro-RO" sz="3200" dirty="0"/>
              <a:t> Nivelele comunică între ele liniar, de sus in jos (nivelul k cu nivelul k+1 sau k-1)</a:t>
            </a:r>
          </a:p>
        </p:txBody>
      </p:sp>
      <p:sp>
        <p:nvSpPr>
          <p:cNvPr id="15" name="Rectangle 14">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3"/>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5177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46" name="Straight Connector 39">
            <a:extLst>
              <a:ext uri="{FF2B5EF4-FFF2-40B4-BE49-F238E27FC236}">
                <a16:creationId xmlns:a16="http://schemas.microsoft.com/office/drawing/2014/main" id="{9200C8B5-FB5A-4F8B-A9BD-693C051418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B4E1A44A-EA50-495C-871B-2238A6B83C51}"/>
              </a:ext>
            </a:extLst>
          </p:cNvPr>
          <p:cNvSpPr txBox="1">
            <a:spLocks/>
          </p:cNvSpPr>
          <p:nvPr/>
        </p:nvSpPr>
        <p:spPr>
          <a:xfrm>
            <a:off x="1024129" y="585216"/>
            <a:ext cx="4431792" cy="14996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pPr>
              <a:lnSpc>
                <a:spcPct val="80000"/>
              </a:lnSpc>
              <a:spcAft>
                <a:spcPts val="600"/>
              </a:spcAft>
            </a:pPr>
            <a:r>
              <a:rPr lang="en-US" sz="5000" cap="all">
                <a:solidFill>
                  <a:schemeClr val="tx1">
                    <a:lumMod val="95000"/>
                    <a:lumOff val="5000"/>
                  </a:schemeClr>
                </a:solidFill>
              </a:rPr>
              <a:t>Arhitectura “3-tier”</a:t>
            </a:r>
          </a:p>
        </p:txBody>
      </p:sp>
      <p:sp>
        <p:nvSpPr>
          <p:cNvPr id="3" name="Substituent conținut 2"/>
          <p:cNvSpPr>
            <a:spLocks noGrp="1"/>
          </p:cNvSpPr>
          <p:nvPr>
            <p:ph sz="half" idx="1"/>
          </p:nvPr>
        </p:nvSpPr>
        <p:spPr>
          <a:xfrm>
            <a:off x="1024128" y="2286000"/>
            <a:ext cx="4429615" cy="3931920"/>
          </a:xfrm>
          <a:prstGeom prst="rect">
            <a:avLst/>
          </a:prstGeom>
        </p:spPr>
        <p:txBody>
          <a:bodyPr vert="horz" lIns="45720" tIns="45720" rIns="45720" bIns="45720" rtlCol="0">
            <a:normAutofit/>
          </a:bodyPr>
          <a:lstStyle/>
          <a:p>
            <a:pPr>
              <a:buFont typeface="Courier New" panose="02070309020205020404" pitchFamily="49" charset="0"/>
              <a:buChar char="o"/>
            </a:pPr>
            <a:r>
              <a:rPr lang="en-US"/>
              <a:t> Cea mai des întâlnită</a:t>
            </a:r>
          </a:p>
          <a:p>
            <a:pPr>
              <a:buFont typeface="Courier New" panose="02070309020205020404" pitchFamily="49" charset="0"/>
              <a:buChar char="o"/>
            </a:pPr>
            <a:r>
              <a:rPr lang="en-US"/>
              <a:t> Nivelul de prezentare – </a:t>
            </a:r>
            <a:r>
              <a:rPr lang="en-US" b="1"/>
              <a:t>Frontend</a:t>
            </a:r>
          </a:p>
          <a:p>
            <a:pPr>
              <a:buFont typeface="Courier New" panose="02070309020205020404" pitchFamily="49" charset="0"/>
              <a:buChar char="o"/>
            </a:pPr>
            <a:r>
              <a:rPr lang="en-US"/>
              <a:t> Nivelul de logică - </a:t>
            </a:r>
            <a:r>
              <a:rPr lang="en-US" b="1"/>
              <a:t>Backend</a:t>
            </a:r>
          </a:p>
          <a:p>
            <a:pPr>
              <a:buFont typeface="Courier New" panose="02070309020205020404" pitchFamily="49" charset="0"/>
              <a:buChar char="o"/>
            </a:pPr>
            <a:r>
              <a:rPr lang="en-US"/>
              <a:t> Nivelul de date – </a:t>
            </a:r>
            <a:r>
              <a:rPr lang="en-US" b="1"/>
              <a:t>Sistemul de stocare (baze de date, fișiere, cache, etc…)</a:t>
            </a:r>
          </a:p>
        </p:txBody>
      </p:sp>
      <p:pic>
        <p:nvPicPr>
          <p:cNvPr id="4" name="Picture 3" descr="Diagram&#10;&#10;Description automatically generated">
            <a:extLst>
              <a:ext uri="{FF2B5EF4-FFF2-40B4-BE49-F238E27FC236}">
                <a16:creationId xmlns:a16="http://schemas.microsoft.com/office/drawing/2014/main" id="{D5B06AFA-E5B5-0666-8308-117270EE603F}"/>
              </a:ext>
            </a:extLst>
          </p:cNvPr>
          <p:cNvPicPr>
            <a:picLocks noChangeAspect="1"/>
          </p:cNvPicPr>
          <p:nvPr/>
        </p:nvPicPr>
        <p:blipFill>
          <a:blip r:embed="rId2"/>
          <a:stretch>
            <a:fillRect/>
          </a:stretch>
        </p:blipFill>
        <p:spPr>
          <a:xfrm>
            <a:off x="5453743" y="826324"/>
            <a:ext cx="6591670" cy="5240376"/>
          </a:xfrm>
          <a:prstGeom prst="rect">
            <a:avLst/>
          </a:prstGeom>
        </p:spPr>
      </p:pic>
    </p:spTree>
    <p:extLst>
      <p:ext uri="{BB962C8B-B14F-4D97-AF65-F5344CB8AC3E}">
        <p14:creationId xmlns:p14="http://schemas.microsoft.com/office/powerpoint/2010/main" val="4206988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C6982-E93A-41FC-AD3F-D6211BB1EE4C}"/>
              </a:ext>
            </a:extLst>
          </p:cNvPr>
          <p:cNvSpPr>
            <a:spLocks noGrp="1"/>
          </p:cNvSpPr>
          <p:nvPr>
            <p:ph type="title"/>
          </p:nvPr>
        </p:nvSpPr>
        <p:spPr/>
        <p:txBody>
          <a:bodyPr/>
          <a:lstStyle/>
          <a:p>
            <a:r>
              <a:rPr lang="en-US" dirty="0"/>
              <a:t>Model-View-Controller (MVC)</a:t>
            </a:r>
          </a:p>
        </p:txBody>
      </p:sp>
      <p:sp>
        <p:nvSpPr>
          <p:cNvPr id="3" name="Content Placeholder 2">
            <a:extLst>
              <a:ext uri="{FF2B5EF4-FFF2-40B4-BE49-F238E27FC236}">
                <a16:creationId xmlns:a16="http://schemas.microsoft.com/office/drawing/2014/main" id="{05CF29BD-04EE-45BC-93B7-2E590A29D33A}"/>
              </a:ext>
            </a:extLst>
          </p:cNvPr>
          <p:cNvSpPr>
            <a:spLocks noGrp="1"/>
          </p:cNvSpPr>
          <p:nvPr>
            <p:ph idx="1"/>
          </p:nvPr>
        </p:nvSpPr>
        <p:spPr/>
        <p:txBody>
          <a:bodyPr>
            <a:normAutofit/>
          </a:bodyPr>
          <a:lstStyle/>
          <a:p>
            <a:pPr>
              <a:buFont typeface="Wingdings" panose="05000000000000000000" pitchFamily="2" charset="2"/>
              <a:buChar char="q"/>
            </a:pPr>
            <a:r>
              <a:rPr lang="ro-RO" sz="2800" dirty="0"/>
              <a:t> Design pattern folosit de obicei pentru interfețele cu utilizatorul (UI)</a:t>
            </a:r>
          </a:p>
          <a:p>
            <a:pPr>
              <a:buFont typeface="Wingdings" panose="05000000000000000000" pitchFamily="2" charset="2"/>
              <a:buChar char="q"/>
            </a:pPr>
            <a:r>
              <a:rPr lang="ro-RO" sz="2800" dirty="0"/>
              <a:t> Compus din 3 nivele logice (Model, </a:t>
            </a:r>
            <a:r>
              <a:rPr lang="ro-RO" sz="2800" dirty="0" err="1"/>
              <a:t>View</a:t>
            </a:r>
            <a:r>
              <a:rPr lang="ro-RO" sz="2800" dirty="0"/>
              <a:t>, Controller)</a:t>
            </a:r>
          </a:p>
          <a:p>
            <a:pPr>
              <a:buFont typeface="Wingdings" panose="05000000000000000000" pitchFamily="2" charset="2"/>
              <a:buChar char="q"/>
            </a:pPr>
            <a:r>
              <a:rPr lang="ro-RO" sz="2800" dirty="0"/>
              <a:t> Nivelele comunică între ele triangular, fiecare cu fiecare</a:t>
            </a:r>
          </a:p>
          <a:p>
            <a:pPr>
              <a:buFont typeface="Wingdings" panose="05000000000000000000" pitchFamily="2" charset="2"/>
              <a:buChar char="q"/>
            </a:pPr>
            <a:r>
              <a:rPr lang="ro-RO" sz="2800" dirty="0"/>
              <a:t> Poate fi folosit atât pe </a:t>
            </a:r>
            <a:r>
              <a:rPr lang="ro-RO" sz="2800" dirty="0" err="1"/>
              <a:t>backend</a:t>
            </a:r>
            <a:r>
              <a:rPr lang="ro-RO" sz="2800" dirty="0"/>
              <a:t>, cât și pe </a:t>
            </a:r>
            <a:r>
              <a:rPr lang="ro-RO" sz="2800" dirty="0" err="1"/>
              <a:t>frontend</a:t>
            </a:r>
            <a:r>
              <a:rPr lang="ro-RO" sz="2800" dirty="0"/>
              <a:t> sau chiar pentru amândouă concomitent</a:t>
            </a:r>
          </a:p>
          <a:p>
            <a:endParaRPr lang="ro-RO" sz="2800" dirty="0"/>
          </a:p>
        </p:txBody>
      </p:sp>
    </p:spTree>
    <p:extLst>
      <p:ext uri="{BB962C8B-B14F-4D97-AF65-F5344CB8AC3E}">
        <p14:creationId xmlns:p14="http://schemas.microsoft.com/office/powerpoint/2010/main" val="1505481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4C18B-A28D-4D31-BFE3-987CE5206266}"/>
              </a:ext>
            </a:extLst>
          </p:cNvPr>
          <p:cNvSpPr>
            <a:spLocks noGrp="1"/>
          </p:cNvSpPr>
          <p:nvPr>
            <p:ph type="title"/>
          </p:nvPr>
        </p:nvSpPr>
        <p:spPr>
          <a:xfrm>
            <a:off x="1024129" y="585216"/>
            <a:ext cx="4431792" cy="1499616"/>
          </a:xfrm>
        </p:spPr>
        <p:txBody>
          <a:bodyPr>
            <a:normAutofit/>
          </a:bodyPr>
          <a:lstStyle/>
          <a:p>
            <a:r>
              <a:rPr lang="en-US" dirty="0" err="1"/>
              <a:t>Componente</a:t>
            </a:r>
            <a:r>
              <a:rPr lang="en-US" dirty="0"/>
              <a:t> MVC</a:t>
            </a:r>
          </a:p>
        </p:txBody>
      </p:sp>
      <p:sp>
        <p:nvSpPr>
          <p:cNvPr id="3" name="Content Placeholder 2">
            <a:extLst>
              <a:ext uri="{FF2B5EF4-FFF2-40B4-BE49-F238E27FC236}">
                <a16:creationId xmlns:a16="http://schemas.microsoft.com/office/drawing/2014/main" id="{CF32AAC6-407A-4354-92BE-8E5923D6C1AE}"/>
              </a:ext>
            </a:extLst>
          </p:cNvPr>
          <p:cNvSpPr>
            <a:spLocks noGrp="1"/>
          </p:cNvSpPr>
          <p:nvPr>
            <p:ph idx="1"/>
          </p:nvPr>
        </p:nvSpPr>
        <p:spPr>
          <a:xfrm>
            <a:off x="919025" y="1865586"/>
            <a:ext cx="4429615" cy="3931920"/>
          </a:xfrm>
        </p:spPr>
        <p:txBody>
          <a:bodyPr>
            <a:normAutofit/>
          </a:bodyPr>
          <a:lstStyle/>
          <a:p>
            <a:pPr>
              <a:buFont typeface="Arial" panose="020B0604020202020204" pitchFamily="34" charset="0"/>
              <a:buChar char="•"/>
            </a:pPr>
            <a:r>
              <a:rPr lang="ro-RO" dirty="0"/>
              <a:t> </a:t>
            </a:r>
            <a:r>
              <a:rPr lang="ro-RO" b="1" dirty="0"/>
              <a:t>Model</a:t>
            </a:r>
            <a:r>
              <a:rPr lang="ro-RO" dirty="0"/>
              <a:t> – nivelul de date, business logic și reguli ale aplicației. Considerat elementul critic în MVC</a:t>
            </a:r>
          </a:p>
          <a:p>
            <a:pPr>
              <a:buFont typeface="Arial" panose="020B0604020202020204" pitchFamily="34" charset="0"/>
              <a:buChar char="•"/>
            </a:pPr>
            <a:r>
              <a:rPr lang="ro-RO" dirty="0"/>
              <a:t> </a:t>
            </a:r>
            <a:r>
              <a:rPr lang="ro-RO" b="1" dirty="0" err="1"/>
              <a:t>View</a:t>
            </a:r>
            <a:r>
              <a:rPr lang="ro-RO" dirty="0"/>
              <a:t> – nivelul de prezentare. Afișează informațiile din model către utilizator</a:t>
            </a:r>
          </a:p>
          <a:p>
            <a:pPr>
              <a:buFont typeface="Arial" panose="020B0604020202020204" pitchFamily="34" charset="0"/>
              <a:buChar char="•"/>
            </a:pPr>
            <a:r>
              <a:rPr lang="ro-RO" dirty="0"/>
              <a:t> </a:t>
            </a:r>
            <a:r>
              <a:rPr lang="ro-RO" b="1" dirty="0"/>
              <a:t>Controller</a:t>
            </a:r>
            <a:r>
              <a:rPr lang="ro-RO" dirty="0"/>
              <a:t> – nivelul de legătura dintre model și </a:t>
            </a:r>
            <a:r>
              <a:rPr lang="ro-RO" dirty="0" err="1"/>
              <a:t>view</a:t>
            </a:r>
            <a:r>
              <a:rPr lang="ro-RO" dirty="0"/>
              <a:t>. Acesta preia input din </a:t>
            </a:r>
            <a:r>
              <a:rPr lang="ro-RO" dirty="0" err="1"/>
              <a:t>view</a:t>
            </a:r>
            <a:r>
              <a:rPr lang="ro-RO" dirty="0"/>
              <a:t> și trimite mai departe comenzi către model. </a:t>
            </a:r>
          </a:p>
          <a:p>
            <a:endParaRPr lang="ro-RO" dirty="0"/>
          </a:p>
        </p:txBody>
      </p:sp>
      <p:pic>
        <p:nvPicPr>
          <p:cNvPr id="1026" name="Picture 2" descr="Model–view–controller - Wikipedia">
            <a:extLst>
              <a:ext uri="{FF2B5EF4-FFF2-40B4-BE49-F238E27FC236}">
                <a16:creationId xmlns:a16="http://schemas.microsoft.com/office/drawing/2014/main" id="{088F7DCA-66D0-B8BC-1643-BC86AE0E11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7887" y="0"/>
            <a:ext cx="62341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8025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8980B-F6E9-48B4-A1C6-40CBAC65C5F5}"/>
              </a:ext>
            </a:extLst>
          </p:cNvPr>
          <p:cNvSpPr>
            <a:spLocks noGrp="1"/>
          </p:cNvSpPr>
          <p:nvPr>
            <p:ph type="title"/>
          </p:nvPr>
        </p:nvSpPr>
        <p:spPr>
          <a:xfrm>
            <a:off x="1024128" y="585216"/>
            <a:ext cx="3133581" cy="1499616"/>
          </a:xfrm>
        </p:spPr>
        <p:txBody>
          <a:bodyPr>
            <a:normAutofit/>
          </a:bodyPr>
          <a:lstStyle/>
          <a:p>
            <a:r>
              <a:rPr lang="en-US" sz="4000" dirty="0"/>
              <a:t>Flow MVC</a:t>
            </a:r>
          </a:p>
        </p:txBody>
      </p:sp>
      <p:sp>
        <p:nvSpPr>
          <p:cNvPr id="3" name="Content Placeholder 2">
            <a:extLst>
              <a:ext uri="{FF2B5EF4-FFF2-40B4-BE49-F238E27FC236}">
                <a16:creationId xmlns:a16="http://schemas.microsoft.com/office/drawing/2014/main" id="{5AC90A6E-180F-40A2-93FE-05D74721C642}"/>
              </a:ext>
            </a:extLst>
          </p:cNvPr>
          <p:cNvSpPr>
            <a:spLocks noGrp="1"/>
          </p:cNvSpPr>
          <p:nvPr>
            <p:ph idx="1"/>
          </p:nvPr>
        </p:nvSpPr>
        <p:spPr>
          <a:xfrm>
            <a:off x="647361" y="2084832"/>
            <a:ext cx="3994983" cy="3931920"/>
          </a:xfrm>
        </p:spPr>
        <p:txBody>
          <a:bodyPr>
            <a:normAutofit/>
          </a:bodyPr>
          <a:lstStyle/>
          <a:p>
            <a:pPr marL="457200" indent="-457200">
              <a:buFont typeface="+mj-lt"/>
              <a:buAutoNum type="arabicPeriod"/>
            </a:pPr>
            <a:r>
              <a:rPr lang="en-US" sz="2400" dirty="0" err="1"/>
              <a:t>Utilizatorul</a:t>
            </a:r>
            <a:r>
              <a:rPr lang="en-US" sz="2400" dirty="0"/>
              <a:t> </a:t>
            </a:r>
            <a:r>
              <a:rPr lang="en-US" sz="2400" dirty="0" err="1"/>
              <a:t>interactioneaza</a:t>
            </a:r>
            <a:r>
              <a:rPr lang="en-US" sz="2400" dirty="0"/>
              <a:t> cu view</a:t>
            </a:r>
          </a:p>
          <a:p>
            <a:pPr marL="457200" indent="-457200">
              <a:buFont typeface="+mj-lt"/>
              <a:buAutoNum type="arabicPeriod"/>
            </a:pPr>
            <a:r>
              <a:rPr lang="en-US" sz="2400" dirty="0" err="1"/>
              <a:t>Interactiunea</a:t>
            </a:r>
            <a:r>
              <a:rPr lang="en-US" sz="2400" dirty="0"/>
              <a:t> </a:t>
            </a:r>
            <a:r>
              <a:rPr lang="en-US" sz="2400" dirty="0" err="1"/>
              <a:t>este</a:t>
            </a:r>
            <a:r>
              <a:rPr lang="en-US" sz="2400" dirty="0"/>
              <a:t> </a:t>
            </a:r>
            <a:r>
              <a:rPr lang="en-US" sz="2400" dirty="0" err="1"/>
              <a:t>preluata</a:t>
            </a:r>
            <a:r>
              <a:rPr lang="en-US" sz="2400" dirty="0"/>
              <a:t> de controller </a:t>
            </a:r>
            <a:r>
              <a:rPr lang="en-US" sz="2400" dirty="0" err="1"/>
              <a:t>si</a:t>
            </a:r>
            <a:r>
              <a:rPr lang="en-US" sz="2400" dirty="0"/>
              <a:t> </a:t>
            </a:r>
            <a:r>
              <a:rPr lang="en-US" sz="2400" dirty="0" err="1"/>
              <a:t>trimisa</a:t>
            </a:r>
            <a:r>
              <a:rPr lang="en-US" sz="2400" dirty="0"/>
              <a:t> </a:t>
            </a:r>
            <a:r>
              <a:rPr lang="en-US" sz="2400" dirty="0" err="1"/>
              <a:t>catre</a:t>
            </a:r>
            <a:r>
              <a:rPr lang="en-US" sz="2400" dirty="0"/>
              <a:t> model</a:t>
            </a:r>
          </a:p>
          <a:p>
            <a:pPr marL="457200" indent="-457200">
              <a:buFont typeface="+mj-lt"/>
              <a:buAutoNum type="arabicPeriod"/>
            </a:pPr>
            <a:r>
              <a:rPr lang="en-US" sz="2400" dirty="0" err="1"/>
              <a:t>Modelul</a:t>
            </a:r>
            <a:r>
              <a:rPr lang="en-US" sz="2400" dirty="0"/>
              <a:t> </a:t>
            </a:r>
            <a:r>
              <a:rPr lang="en-US" sz="2400" dirty="0" err="1"/>
              <a:t>actualizeaza</a:t>
            </a:r>
            <a:r>
              <a:rPr lang="en-US" sz="2400" dirty="0"/>
              <a:t> </a:t>
            </a:r>
            <a:r>
              <a:rPr lang="en-US" sz="2400" dirty="0" err="1"/>
              <a:t>starea</a:t>
            </a:r>
            <a:r>
              <a:rPr lang="en-US" sz="2400" dirty="0"/>
              <a:t> interna a </a:t>
            </a:r>
            <a:r>
              <a:rPr lang="en-US" sz="2400" dirty="0" err="1"/>
              <a:t>aplicatiei</a:t>
            </a:r>
            <a:r>
              <a:rPr lang="en-US" sz="2400" dirty="0"/>
              <a:t> </a:t>
            </a:r>
            <a:r>
              <a:rPr lang="en-US" sz="2400" dirty="0" err="1"/>
              <a:t>si</a:t>
            </a:r>
            <a:r>
              <a:rPr lang="en-US" sz="2400" dirty="0"/>
              <a:t> </a:t>
            </a:r>
            <a:r>
              <a:rPr lang="en-US" sz="2400" dirty="0" err="1"/>
              <a:t>modificarile</a:t>
            </a:r>
            <a:r>
              <a:rPr lang="en-US" sz="2400" dirty="0"/>
              <a:t> se </a:t>
            </a:r>
            <a:r>
              <a:rPr lang="en-US" sz="2400" dirty="0" err="1"/>
              <a:t>resimt</a:t>
            </a:r>
            <a:r>
              <a:rPr lang="en-US" sz="2400" dirty="0"/>
              <a:t> in view</a:t>
            </a:r>
          </a:p>
          <a:p>
            <a:endParaRPr lang="en-US" sz="2400" dirty="0"/>
          </a:p>
        </p:txBody>
      </p:sp>
      <p:pic>
        <p:nvPicPr>
          <p:cNvPr id="9" name="Picture 8" descr="Diagram&#10;&#10;Description automatically generated">
            <a:extLst>
              <a:ext uri="{FF2B5EF4-FFF2-40B4-BE49-F238E27FC236}">
                <a16:creationId xmlns:a16="http://schemas.microsoft.com/office/drawing/2014/main" id="{A7E8B4D8-902E-4045-8492-6625255E8C0C}"/>
              </a:ext>
            </a:extLst>
          </p:cNvPr>
          <p:cNvPicPr>
            <a:picLocks noChangeAspect="1"/>
          </p:cNvPicPr>
          <p:nvPr/>
        </p:nvPicPr>
        <p:blipFill>
          <a:blip r:embed="rId2"/>
          <a:stretch>
            <a:fillRect/>
          </a:stretch>
        </p:blipFill>
        <p:spPr>
          <a:xfrm>
            <a:off x="4926124" y="1335024"/>
            <a:ext cx="6909577" cy="3765719"/>
          </a:xfrm>
          <a:prstGeom prst="rect">
            <a:avLst/>
          </a:prstGeom>
        </p:spPr>
      </p:pic>
    </p:spTree>
    <p:extLst>
      <p:ext uri="{BB962C8B-B14F-4D97-AF65-F5344CB8AC3E}">
        <p14:creationId xmlns:p14="http://schemas.microsoft.com/office/powerpoint/2010/main" val="1395134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C6982-E93A-41FC-AD3F-D6211BB1EE4C}"/>
              </a:ext>
            </a:extLst>
          </p:cNvPr>
          <p:cNvSpPr>
            <a:spLocks noGrp="1"/>
          </p:cNvSpPr>
          <p:nvPr>
            <p:ph type="title"/>
          </p:nvPr>
        </p:nvSpPr>
        <p:spPr>
          <a:xfrm>
            <a:off x="1024129" y="585216"/>
            <a:ext cx="4431792" cy="1499616"/>
          </a:xfrm>
        </p:spPr>
        <p:txBody>
          <a:bodyPr>
            <a:normAutofit/>
          </a:bodyPr>
          <a:lstStyle/>
          <a:p>
            <a:r>
              <a:rPr lang="en-US" spc="200" dirty="0"/>
              <a:t>3-tier vs </a:t>
            </a:r>
            <a:r>
              <a:rPr lang="en-US" spc="200" dirty="0" err="1"/>
              <a:t>mvc</a:t>
            </a:r>
            <a:endParaRPr lang="en-US" dirty="0"/>
          </a:p>
        </p:txBody>
      </p:sp>
      <p:sp>
        <p:nvSpPr>
          <p:cNvPr id="3" name="Content Placeholder 2">
            <a:extLst>
              <a:ext uri="{FF2B5EF4-FFF2-40B4-BE49-F238E27FC236}">
                <a16:creationId xmlns:a16="http://schemas.microsoft.com/office/drawing/2014/main" id="{05CF29BD-04EE-45BC-93B7-2E590A29D33A}"/>
              </a:ext>
            </a:extLst>
          </p:cNvPr>
          <p:cNvSpPr>
            <a:spLocks noGrp="1"/>
          </p:cNvSpPr>
          <p:nvPr>
            <p:ph idx="1"/>
          </p:nvPr>
        </p:nvSpPr>
        <p:spPr>
          <a:xfrm>
            <a:off x="908014" y="2084832"/>
            <a:ext cx="9728455" cy="4572000"/>
          </a:xfrm>
        </p:spPr>
        <p:txBody>
          <a:bodyPr>
            <a:normAutofit/>
          </a:bodyPr>
          <a:lstStyle/>
          <a:p>
            <a:pPr>
              <a:buFont typeface="Wingdings" panose="05000000000000000000" pitchFamily="2" charset="2"/>
              <a:buChar char="q"/>
            </a:pPr>
            <a:r>
              <a:rPr lang="ro-RO" sz="2800" dirty="0"/>
              <a:t> 3-tier este o arhitectură web, MVC este un design pattern</a:t>
            </a:r>
          </a:p>
          <a:p>
            <a:pPr>
              <a:buFont typeface="Wingdings" panose="05000000000000000000" pitchFamily="2" charset="2"/>
              <a:buChar char="q"/>
            </a:pPr>
            <a:r>
              <a:rPr lang="ro-RO" sz="2800" dirty="0"/>
              <a:t> 3-tier are separație fizică între nivele, MVC are separație logică </a:t>
            </a:r>
          </a:p>
          <a:p>
            <a:pPr>
              <a:buFont typeface="Wingdings" panose="05000000000000000000" pitchFamily="2" charset="2"/>
              <a:buChar char="q"/>
            </a:pPr>
            <a:r>
              <a:rPr lang="ro-RO" sz="2800" dirty="0"/>
              <a:t> MVC poate fi inclus în nivele din 3-tier, de exemplu în </a:t>
            </a:r>
            <a:r>
              <a:rPr lang="ro-RO" sz="2800" dirty="0" err="1"/>
              <a:t>Presentation</a:t>
            </a:r>
            <a:r>
              <a:rPr lang="ro-RO" sz="2800" dirty="0"/>
              <a:t> </a:t>
            </a:r>
            <a:r>
              <a:rPr lang="ro-RO" sz="2800" dirty="0" err="1"/>
              <a:t>Layer</a:t>
            </a:r>
            <a:r>
              <a:rPr lang="ro-RO" sz="2800" dirty="0"/>
              <a:t> sau Logic </a:t>
            </a:r>
            <a:r>
              <a:rPr lang="ro-RO" sz="2800" dirty="0" err="1"/>
              <a:t>Layer</a:t>
            </a:r>
            <a:r>
              <a:rPr lang="ro-RO" sz="2800" dirty="0"/>
              <a:t> sau chiar în ambele:</a:t>
            </a:r>
          </a:p>
          <a:p>
            <a:pPr lvl="1">
              <a:buFont typeface="Wingdings" panose="05000000000000000000" pitchFamily="2" charset="2"/>
              <a:buChar char="q"/>
            </a:pPr>
            <a:r>
              <a:rPr lang="ro-RO" sz="2400" dirty="0"/>
              <a:t> </a:t>
            </a:r>
            <a:r>
              <a:rPr lang="ro-RO" sz="2400" dirty="0" err="1"/>
              <a:t>Frontendul</a:t>
            </a:r>
            <a:r>
              <a:rPr lang="ro-RO" sz="2400" dirty="0"/>
              <a:t> poate avea MVC ca și design pattern preferat (Angular)</a:t>
            </a:r>
          </a:p>
          <a:p>
            <a:pPr lvl="1">
              <a:buFont typeface="Wingdings" panose="05000000000000000000" pitchFamily="2" charset="2"/>
              <a:buChar char="q"/>
            </a:pPr>
            <a:r>
              <a:rPr lang="ro-RO" sz="2400" dirty="0" err="1"/>
              <a:t>Backendul</a:t>
            </a:r>
            <a:r>
              <a:rPr lang="ro-RO" sz="2400" dirty="0"/>
              <a:t> poate avea MVC ca și design pattern preferat (Java, C#)</a:t>
            </a:r>
          </a:p>
          <a:p>
            <a:endParaRPr lang="ro-RO" sz="2800" dirty="0"/>
          </a:p>
        </p:txBody>
      </p:sp>
    </p:spTree>
    <p:extLst>
      <p:ext uri="{BB962C8B-B14F-4D97-AF65-F5344CB8AC3E}">
        <p14:creationId xmlns:p14="http://schemas.microsoft.com/office/powerpoint/2010/main" val="831410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FFE69-67B8-EDB3-283A-989AC07065D2}"/>
              </a:ext>
            </a:extLst>
          </p:cNvPr>
          <p:cNvSpPr>
            <a:spLocks noGrp="1"/>
          </p:cNvSpPr>
          <p:nvPr>
            <p:ph type="title"/>
          </p:nvPr>
        </p:nvSpPr>
        <p:spPr>
          <a:xfrm>
            <a:off x="771880" y="311947"/>
            <a:ext cx="9720072" cy="1499616"/>
          </a:xfrm>
        </p:spPr>
        <p:txBody>
          <a:bodyPr>
            <a:normAutofit/>
          </a:bodyPr>
          <a:lstStyle/>
          <a:p>
            <a:pPr algn="l"/>
            <a:r>
              <a:rPr lang="en-GB" sz="4000">
                <a:latin typeface="Open Sans" panose="020B0606030504020204" pitchFamily="34" charset="0"/>
              </a:rPr>
              <a:t>O arhitectură de lucru</a:t>
            </a:r>
            <a:endParaRPr lang="en-GB" sz="4000" dirty="0">
              <a:latin typeface="Open Sans" panose="020B0606030504020204" pitchFamily="34" charset="0"/>
            </a:endParaRPr>
          </a:p>
        </p:txBody>
      </p:sp>
      <p:pic>
        <p:nvPicPr>
          <p:cNvPr id="8" name="Picture 7">
            <a:extLst>
              <a:ext uri="{FF2B5EF4-FFF2-40B4-BE49-F238E27FC236}">
                <a16:creationId xmlns:a16="http://schemas.microsoft.com/office/drawing/2014/main" id="{FBDB32C1-FD39-CE57-434A-18D4DFD41418}"/>
              </a:ext>
            </a:extLst>
          </p:cNvPr>
          <p:cNvPicPr>
            <a:picLocks noChangeAspect="1"/>
          </p:cNvPicPr>
          <p:nvPr/>
        </p:nvPicPr>
        <p:blipFill>
          <a:blip r:embed="rId2"/>
          <a:stretch>
            <a:fillRect/>
          </a:stretch>
        </p:blipFill>
        <p:spPr>
          <a:xfrm>
            <a:off x="1997964" y="1544836"/>
            <a:ext cx="7772400" cy="5313164"/>
          </a:xfrm>
          <a:prstGeom prst="rect">
            <a:avLst/>
          </a:prstGeom>
        </p:spPr>
      </p:pic>
    </p:spTree>
    <p:extLst>
      <p:ext uri="{BB962C8B-B14F-4D97-AF65-F5344CB8AC3E}">
        <p14:creationId xmlns:p14="http://schemas.microsoft.com/office/powerpoint/2010/main" val="2686474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8">
            <a:extLst>
              <a:ext uri="{FF2B5EF4-FFF2-40B4-BE49-F238E27FC236}">
                <a16:creationId xmlns:a16="http://schemas.microsoft.com/office/drawing/2014/main" id="{8CD2B798-7994-4548-A2BE-4AEF9C1A5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2" name="Oval 5">
            <a:extLst>
              <a:ext uri="{FF2B5EF4-FFF2-40B4-BE49-F238E27FC236}">
                <a16:creationId xmlns:a16="http://schemas.microsoft.com/office/drawing/2014/main" id="{E6162320-3B67-42BB-AF9D-939326E64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23" name="Straight Connector 12">
            <a:extLst>
              <a:ext uri="{FF2B5EF4-FFF2-40B4-BE49-F238E27FC236}">
                <a16:creationId xmlns:a16="http://schemas.microsoft.com/office/drawing/2014/main" id="{6722E143-84C1-4F95-937C-78B92D2811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Rectangle 14">
            <a:extLst>
              <a:ext uri="{FF2B5EF4-FFF2-40B4-BE49-F238E27FC236}">
                <a16:creationId xmlns:a16="http://schemas.microsoft.com/office/drawing/2014/main" id="{774A886E-E8EF-48CC-8764-20EAE4538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78CB49-9425-8F72-0582-5D66EFCB6442}"/>
              </a:ext>
            </a:extLst>
          </p:cNvPr>
          <p:cNvSpPr>
            <a:spLocks noGrp="1"/>
          </p:cNvSpPr>
          <p:nvPr>
            <p:ph type="title"/>
          </p:nvPr>
        </p:nvSpPr>
        <p:spPr>
          <a:xfrm>
            <a:off x="636805" y="640080"/>
            <a:ext cx="3378099" cy="4077145"/>
          </a:xfrm>
        </p:spPr>
        <p:txBody>
          <a:bodyPr vert="horz" lIns="91440" tIns="45720" rIns="91440" bIns="45720" rtlCol="0" anchor="b">
            <a:normAutofit/>
          </a:bodyPr>
          <a:lstStyle/>
          <a:p>
            <a:pPr algn="r"/>
            <a:r>
              <a:rPr lang="en-US" sz="4000" kern="1200" cap="all" spc="200" baseline="0">
                <a:solidFill>
                  <a:schemeClr val="tx1">
                    <a:lumMod val="95000"/>
                    <a:lumOff val="5000"/>
                  </a:schemeClr>
                </a:solidFill>
                <a:latin typeface="+mj-lt"/>
                <a:ea typeface="+mj-ea"/>
                <a:cs typeface="+mj-cs"/>
              </a:rPr>
              <a:t>Client-side</a:t>
            </a:r>
          </a:p>
        </p:txBody>
      </p:sp>
      <p:cxnSp>
        <p:nvCxnSpPr>
          <p:cNvPr id="25" name="Straight Connector 16">
            <a:extLst>
              <a:ext uri="{FF2B5EF4-FFF2-40B4-BE49-F238E27FC236}">
                <a16:creationId xmlns:a16="http://schemas.microsoft.com/office/drawing/2014/main" id="{EB1993F9-CFC5-495F-9F26-19953445357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71704" y="4831176"/>
            <a:ext cx="2743200" cy="0"/>
          </a:xfrm>
          <a:prstGeom prst="line">
            <a:avLst/>
          </a:prstGeom>
          <a:ln w="19050">
            <a:solidFill>
              <a:srgbClr val="77E3F9"/>
            </a:solidFill>
          </a:ln>
        </p:spPr>
        <p:style>
          <a:lnRef idx="1">
            <a:schemeClr val="accent1"/>
          </a:lnRef>
          <a:fillRef idx="0">
            <a:schemeClr val="accent1"/>
          </a:fillRef>
          <a:effectRef idx="0">
            <a:schemeClr val="accent1"/>
          </a:effectRef>
          <a:fontRef idx="minor">
            <a:schemeClr val="tx1"/>
          </a:fontRef>
        </p:style>
      </p:cxnSp>
      <p:pic>
        <p:nvPicPr>
          <p:cNvPr id="4" name="Picture 3" descr="Graphical user interface, diagram, application&#10;&#10;Description automatically generated">
            <a:extLst>
              <a:ext uri="{FF2B5EF4-FFF2-40B4-BE49-F238E27FC236}">
                <a16:creationId xmlns:a16="http://schemas.microsoft.com/office/drawing/2014/main" id="{4F22A930-4A8B-5136-D875-4FEAD273DA5E}"/>
              </a:ext>
            </a:extLst>
          </p:cNvPr>
          <p:cNvPicPr>
            <a:picLocks noChangeAspect="1"/>
          </p:cNvPicPr>
          <p:nvPr/>
        </p:nvPicPr>
        <p:blipFill rotWithShape="1">
          <a:blip r:embed="rId2"/>
          <a:srcRect l="12293" r="12294"/>
          <a:stretch/>
        </p:blipFill>
        <p:spPr>
          <a:xfrm>
            <a:off x="4654984" y="640080"/>
            <a:ext cx="6896936" cy="5578816"/>
          </a:xfrm>
          <a:prstGeom prst="rect">
            <a:avLst/>
          </a:prstGeom>
        </p:spPr>
      </p:pic>
    </p:spTree>
    <p:extLst>
      <p:ext uri="{BB962C8B-B14F-4D97-AF65-F5344CB8AC3E}">
        <p14:creationId xmlns:p14="http://schemas.microsoft.com/office/powerpoint/2010/main" val="3605987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21727-50AB-1AA1-BF23-4E028862F67C}"/>
              </a:ext>
            </a:extLst>
          </p:cNvPr>
          <p:cNvSpPr>
            <a:spLocks noGrp="1"/>
          </p:cNvSpPr>
          <p:nvPr>
            <p:ph type="title"/>
          </p:nvPr>
        </p:nvSpPr>
        <p:spPr>
          <a:xfrm>
            <a:off x="1024129" y="585216"/>
            <a:ext cx="4431792" cy="1499616"/>
          </a:xfrm>
        </p:spPr>
        <p:txBody>
          <a:bodyPr>
            <a:normAutofit/>
          </a:bodyPr>
          <a:lstStyle/>
          <a:p>
            <a:r>
              <a:rPr lang="en-GB"/>
              <a:t>Client-side</a:t>
            </a:r>
          </a:p>
        </p:txBody>
      </p:sp>
      <p:sp>
        <p:nvSpPr>
          <p:cNvPr id="3" name="Content Placeholder 2">
            <a:extLst>
              <a:ext uri="{FF2B5EF4-FFF2-40B4-BE49-F238E27FC236}">
                <a16:creationId xmlns:a16="http://schemas.microsoft.com/office/drawing/2014/main" id="{3592444D-FE68-D8B8-FE35-F11D873B99BB}"/>
              </a:ext>
            </a:extLst>
          </p:cNvPr>
          <p:cNvSpPr>
            <a:spLocks noGrp="1"/>
          </p:cNvSpPr>
          <p:nvPr>
            <p:ph idx="1"/>
          </p:nvPr>
        </p:nvSpPr>
        <p:spPr>
          <a:xfrm>
            <a:off x="318717" y="1833319"/>
            <a:ext cx="11764772" cy="4824984"/>
          </a:xfrm>
        </p:spPr>
        <p:txBody>
          <a:bodyPr>
            <a:normAutofit lnSpcReduction="10000"/>
          </a:bodyPr>
          <a:lstStyle/>
          <a:p>
            <a:pPr marL="0" indent="0">
              <a:spcBef>
                <a:spcPts val="600"/>
              </a:spcBef>
              <a:buNone/>
            </a:pPr>
            <a:r>
              <a:rPr lang="ro-RO" sz="1400" b="1" dirty="0" err="1"/>
              <a:t>ReactJS</a:t>
            </a:r>
            <a:endParaRPr lang="ro-RO" sz="1400" b="1" dirty="0"/>
          </a:p>
          <a:p>
            <a:pPr>
              <a:spcBef>
                <a:spcPts val="600"/>
              </a:spcBef>
              <a:buFont typeface="Arial" panose="020B0604020202020204" pitchFamily="34" charset="0"/>
              <a:buChar char="•"/>
            </a:pPr>
            <a:r>
              <a:rPr lang="ro-RO" sz="1400" dirty="0"/>
              <a:t>Bibliotecă </a:t>
            </a:r>
            <a:r>
              <a:rPr lang="ro-RO" sz="1400" dirty="0" err="1"/>
              <a:t>JavaScript</a:t>
            </a:r>
            <a:r>
              <a:rPr lang="ro-RO" sz="1400" dirty="0"/>
              <a:t> open-</a:t>
            </a:r>
            <a:r>
              <a:rPr lang="ro-RO" sz="1400" dirty="0" err="1"/>
              <a:t>source</a:t>
            </a:r>
            <a:r>
              <a:rPr lang="ro-RO" sz="1400" dirty="0"/>
              <a:t> care a câștigat popularitate în ultimii ani. </a:t>
            </a:r>
            <a:r>
              <a:rPr lang="ro-RO" sz="1400" dirty="0" err="1"/>
              <a:t>ReactJS</a:t>
            </a:r>
            <a:r>
              <a:rPr lang="ro-RO" sz="1400" dirty="0"/>
              <a:t> este ușor de învățat și de utilizat. Există o documentație extinsă și o mulțime de instrumente la îndemână disponibile pentru dezvoltatori. Codul este reutilizabil. </a:t>
            </a:r>
          </a:p>
          <a:p>
            <a:pPr>
              <a:spcBef>
                <a:spcPts val="600"/>
              </a:spcBef>
              <a:buFont typeface="Arial" panose="020B0604020202020204" pitchFamily="34" charset="0"/>
              <a:buChar char="•"/>
            </a:pPr>
            <a:r>
              <a:rPr lang="ro-RO" sz="1400" dirty="0" err="1"/>
              <a:t>ReactJS</a:t>
            </a:r>
            <a:r>
              <a:rPr lang="ro-RO" sz="1400" dirty="0"/>
              <a:t> folosește un DOM virtual, ceea ce înseamnă că elementele în cauză sunt actualizate atunci când se face o modificare, în loc ca întregul arbore DOM să fie rescris. </a:t>
            </a:r>
          </a:p>
          <a:p>
            <a:pPr>
              <a:spcBef>
                <a:spcPts val="600"/>
              </a:spcBef>
              <a:buFont typeface="Arial" panose="020B0604020202020204" pitchFamily="34" charset="0"/>
              <a:buChar char="•"/>
            </a:pPr>
            <a:r>
              <a:rPr lang="ro-RO" sz="1400" dirty="0"/>
              <a:t>Îmbunătățește eficiența și optimizează utilizarea memoriei. </a:t>
            </a:r>
            <a:r>
              <a:rPr lang="ro-RO" sz="1400" dirty="0" err="1"/>
              <a:t>ReactJS</a:t>
            </a:r>
            <a:r>
              <a:rPr lang="ro-RO" sz="1400" dirty="0"/>
              <a:t> utilizează un flux de date unidirecțional, ceea ce înseamnă că modificările aduse elementelor „copil” nu afectează elementul „părinte”. Codul este ușor de testat și prietenos cu SEO.</a:t>
            </a:r>
          </a:p>
          <a:p>
            <a:pPr marL="0" indent="0">
              <a:spcBef>
                <a:spcPts val="600"/>
              </a:spcBef>
              <a:buNone/>
            </a:pPr>
            <a:r>
              <a:rPr lang="ro-RO" sz="1400" b="1" dirty="0" err="1"/>
              <a:t>Vue.js</a:t>
            </a:r>
            <a:endParaRPr lang="ro-RO" sz="1400" b="1" dirty="0"/>
          </a:p>
          <a:p>
            <a:pPr>
              <a:spcBef>
                <a:spcPts val="600"/>
              </a:spcBef>
              <a:buFont typeface="Arial" panose="020B0604020202020204" pitchFamily="34" charset="0"/>
              <a:buChar char="•"/>
            </a:pPr>
            <a:r>
              <a:rPr lang="ro-RO" sz="1400" dirty="0"/>
              <a:t>Bibliotecă </a:t>
            </a:r>
            <a:r>
              <a:rPr lang="ro-RO" sz="1400" dirty="0" err="1"/>
              <a:t>JavaScript</a:t>
            </a:r>
            <a:r>
              <a:rPr lang="ro-RO" sz="1400" dirty="0"/>
              <a:t> open-</a:t>
            </a:r>
            <a:r>
              <a:rPr lang="ro-RO" sz="1400" dirty="0" err="1"/>
              <a:t>source</a:t>
            </a:r>
            <a:r>
              <a:rPr lang="ro-RO" sz="1400" dirty="0"/>
              <a:t> ce permite dezvoltatorilor să construiască cu ușurință interfețe UI pentru web, desktop și dispozitive mobile. </a:t>
            </a:r>
          </a:p>
          <a:p>
            <a:pPr>
              <a:spcBef>
                <a:spcPts val="600"/>
              </a:spcBef>
              <a:buFont typeface="Arial" panose="020B0604020202020204" pitchFamily="34" charset="0"/>
              <a:buChar char="•"/>
            </a:pPr>
            <a:r>
              <a:rPr lang="ro-RO" sz="1400" dirty="0" err="1"/>
              <a:t>Vue.js</a:t>
            </a:r>
            <a:r>
              <a:rPr lang="ro-RO" sz="1400" dirty="0"/>
              <a:t> vine cu instrumente utile care servesc nevoilor de programare de bază. Este ușor de învățat și utilizat. Folosește un DOM virtual astfel încât atunci când un utilizator interacționează cu un element, </a:t>
            </a:r>
            <a:r>
              <a:rPr lang="ro-RO" sz="1400" dirty="0" err="1"/>
              <a:t>browserul</a:t>
            </a:r>
            <a:r>
              <a:rPr lang="ro-RO" sz="1400" dirty="0"/>
              <a:t> nu trebuie să redea întreaga pagină, ci doar elementul. Viteza și performanța sunt bune. Utilizează un model bidirecțional de legare a datelor care vă permite să urmăriți datele și să actualizați componentele aferente mai eficient. Componentele sunt reutilizabile. Se integrează cu ușurință cu aplicațiile existente. Documentația este concisă și bine structurată. Sprijinul comunității este bun.</a:t>
            </a:r>
          </a:p>
          <a:p>
            <a:pPr marL="0" indent="0">
              <a:spcBef>
                <a:spcPts val="600"/>
              </a:spcBef>
              <a:buNone/>
            </a:pPr>
            <a:r>
              <a:rPr lang="ro-RO" sz="1400" b="1" dirty="0" err="1"/>
              <a:t>Angular.js</a:t>
            </a:r>
            <a:endParaRPr lang="ro-RO" sz="1400" b="1" dirty="0"/>
          </a:p>
          <a:p>
            <a:pPr>
              <a:spcBef>
                <a:spcPts val="600"/>
              </a:spcBef>
              <a:buFont typeface="Arial" panose="020B0604020202020204" pitchFamily="34" charset="0"/>
              <a:buChar char="•"/>
            </a:pPr>
            <a:r>
              <a:rPr lang="ro-RO" sz="1400" dirty="0" err="1"/>
              <a:t>Bibiotecă</a:t>
            </a:r>
            <a:r>
              <a:rPr lang="ro-RO" sz="1400" dirty="0"/>
              <a:t> open-</a:t>
            </a:r>
            <a:r>
              <a:rPr lang="ro-RO" sz="1400" dirty="0" err="1"/>
              <a:t>source</a:t>
            </a:r>
            <a:r>
              <a:rPr lang="ro-RO" sz="1400" dirty="0"/>
              <a:t> dezvoltată de Google în 2016. </a:t>
            </a:r>
          </a:p>
          <a:p>
            <a:pPr>
              <a:spcBef>
                <a:spcPts val="600"/>
              </a:spcBef>
              <a:buFont typeface="Arial" panose="020B0604020202020204" pitchFamily="34" charset="0"/>
              <a:buChar char="•"/>
            </a:pPr>
            <a:r>
              <a:rPr lang="ro-RO" sz="1400" dirty="0" err="1"/>
              <a:t>NGModules</a:t>
            </a:r>
            <a:r>
              <a:rPr lang="ro-RO" sz="1400" dirty="0"/>
              <a:t> este blocul de bază al Angular, oferind toate funcționalitățile pentru dezvoltarea aplicațiilor, cum ar fi componente, module, șabloane, directive, injecții de servicii și dependențe, rutare etc. Ajută dezvoltatorii să construiască rapid prototipuri. Folosește șabloane HTML simplu. Testarea este rapidă și ușoară datorită stilului arhitecturii de injectare a dependenței.</a:t>
            </a:r>
          </a:p>
          <a:p>
            <a:pPr>
              <a:spcBef>
                <a:spcPts val="600"/>
              </a:spcBef>
              <a:buFont typeface="Arial" panose="020B0604020202020204" pitchFamily="34" charset="0"/>
              <a:buChar char="•"/>
            </a:pPr>
            <a:r>
              <a:rPr lang="ro-RO" sz="1400" dirty="0"/>
              <a:t>Angular folosește legarea bidirecțională a datelor, ceea ce face ca manipulările DOM să fie ușoare și rapide. Caracteristicile de îmbunătățire a performanței procesorului îl fac o alegere bună pentru aplicațiile la scară largă. Vine cu diverse </a:t>
            </a:r>
            <a:r>
              <a:rPr lang="ro-RO" sz="1400" dirty="0" err="1"/>
              <a:t>plugin</a:t>
            </a:r>
            <a:r>
              <a:rPr lang="ro-RO" sz="1400" dirty="0"/>
              <a:t>-uri, instrumente gata de fabricație. </a:t>
            </a:r>
          </a:p>
        </p:txBody>
      </p:sp>
    </p:spTree>
    <p:extLst>
      <p:ext uri="{BB962C8B-B14F-4D97-AF65-F5344CB8AC3E}">
        <p14:creationId xmlns:p14="http://schemas.microsoft.com/office/powerpoint/2010/main" val="1869351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C6982-E93A-41FC-AD3F-D6211BB1EE4C}"/>
              </a:ext>
            </a:extLst>
          </p:cNvPr>
          <p:cNvSpPr>
            <a:spLocks noGrp="1"/>
          </p:cNvSpPr>
          <p:nvPr>
            <p:ph type="title"/>
          </p:nvPr>
        </p:nvSpPr>
        <p:spPr/>
        <p:txBody>
          <a:bodyPr/>
          <a:lstStyle/>
          <a:p>
            <a:r>
              <a:rPr lang="en-US" dirty="0" err="1"/>
              <a:t>Frontendul</a:t>
            </a:r>
            <a:r>
              <a:rPr lang="en-US" dirty="0"/>
              <a:t> modern</a:t>
            </a:r>
          </a:p>
        </p:txBody>
      </p:sp>
      <p:sp>
        <p:nvSpPr>
          <p:cNvPr id="3" name="Content Placeholder 2">
            <a:extLst>
              <a:ext uri="{FF2B5EF4-FFF2-40B4-BE49-F238E27FC236}">
                <a16:creationId xmlns:a16="http://schemas.microsoft.com/office/drawing/2014/main" id="{05CF29BD-04EE-45BC-93B7-2E590A29D33A}"/>
              </a:ext>
            </a:extLst>
          </p:cNvPr>
          <p:cNvSpPr>
            <a:spLocks noGrp="1"/>
          </p:cNvSpPr>
          <p:nvPr>
            <p:ph idx="1"/>
          </p:nvPr>
        </p:nvSpPr>
        <p:spPr>
          <a:xfrm>
            <a:off x="1024127" y="1918138"/>
            <a:ext cx="9720073" cy="4023360"/>
          </a:xfrm>
        </p:spPr>
        <p:txBody>
          <a:bodyPr>
            <a:normAutofit/>
          </a:bodyPr>
          <a:lstStyle/>
          <a:p>
            <a:pPr lvl="1">
              <a:buFont typeface="Wingdings" panose="05000000000000000000" pitchFamily="2" charset="2"/>
              <a:buChar char="q"/>
            </a:pPr>
            <a:r>
              <a:rPr lang="ro-RO" sz="3200" dirty="0"/>
              <a:t> </a:t>
            </a:r>
            <a:r>
              <a:rPr lang="ro-RO" sz="3200" dirty="0" err="1"/>
              <a:t>Frontendul</a:t>
            </a:r>
            <a:r>
              <a:rPr lang="ro-RO" sz="3200" dirty="0"/>
              <a:t> a evoluat, de la pagini web simple s-a ajuns la </a:t>
            </a:r>
            <a:r>
              <a:rPr lang="ro-RO" sz="3200" b="1" dirty="0"/>
              <a:t>platforme complexe</a:t>
            </a:r>
            <a:r>
              <a:rPr lang="ro-RO" sz="3200" dirty="0"/>
              <a:t> și site-uri masive de </a:t>
            </a:r>
            <a:r>
              <a:rPr lang="ro-RO" sz="3200" b="1" dirty="0"/>
              <a:t>e-</a:t>
            </a:r>
            <a:r>
              <a:rPr lang="ro-RO" sz="3200" b="1" dirty="0" err="1"/>
              <a:t>commerce</a:t>
            </a:r>
            <a:r>
              <a:rPr lang="ro-RO" sz="3200" b="1" dirty="0"/>
              <a:t> </a:t>
            </a:r>
            <a:r>
              <a:rPr lang="ro-RO" sz="3200" dirty="0"/>
              <a:t>și </a:t>
            </a:r>
            <a:r>
              <a:rPr lang="ro-RO" sz="3200" b="1" dirty="0"/>
              <a:t>media </a:t>
            </a:r>
          </a:p>
          <a:p>
            <a:pPr lvl="1">
              <a:buFont typeface="Wingdings" panose="05000000000000000000" pitchFamily="2" charset="2"/>
              <a:buChar char="q"/>
            </a:pPr>
            <a:r>
              <a:rPr lang="ro-RO" sz="3200" dirty="0"/>
              <a:t>Cele doua standarde pentru </a:t>
            </a:r>
            <a:r>
              <a:rPr lang="ro-RO" sz="3200" dirty="0" err="1"/>
              <a:t>frontend</a:t>
            </a:r>
            <a:r>
              <a:rPr lang="ro-RO" sz="3200" dirty="0"/>
              <a:t> sunt:</a:t>
            </a:r>
          </a:p>
          <a:p>
            <a:pPr lvl="2"/>
            <a:r>
              <a:rPr lang="ro-RO" sz="3000" b="1" dirty="0"/>
              <a:t> MPA</a:t>
            </a:r>
            <a:r>
              <a:rPr lang="ro-RO" sz="3000" dirty="0"/>
              <a:t> – </a:t>
            </a:r>
            <a:r>
              <a:rPr lang="ro-RO" sz="3000" dirty="0" err="1"/>
              <a:t>multi</a:t>
            </a:r>
            <a:r>
              <a:rPr lang="ro-RO" sz="3000" dirty="0"/>
              <a:t>-page </a:t>
            </a:r>
            <a:r>
              <a:rPr lang="ro-RO" sz="3000" dirty="0" err="1"/>
              <a:t>application</a:t>
            </a:r>
            <a:endParaRPr lang="ro-RO" sz="3000" dirty="0"/>
          </a:p>
          <a:p>
            <a:pPr lvl="2"/>
            <a:r>
              <a:rPr lang="ro-RO" sz="3000" b="1" dirty="0"/>
              <a:t> SPA</a:t>
            </a:r>
            <a:r>
              <a:rPr lang="ro-RO" sz="3000" dirty="0"/>
              <a:t> – single-page </a:t>
            </a:r>
            <a:r>
              <a:rPr lang="ro-RO" sz="3000" dirty="0" err="1"/>
              <a:t>application</a:t>
            </a:r>
            <a:endParaRPr lang="ro-RO" sz="2800" dirty="0"/>
          </a:p>
        </p:txBody>
      </p:sp>
    </p:spTree>
    <p:extLst>
      <p:ext uri="{BB962C8B-B14F-4D97-AF65-F5344CB8AC3E}">
        <p14:creationId xmlns:p14="http://schemas.microsoft.com/office/powerpoint/2010/main" val="3211759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C6982-E93A-41FC-AD3F-D6211BB1EE4C}"/>
              </a:ext>
            </a:extLst>
          </p:cNvPr>
          <p:cNvSpPr>
            <a:spLocks noGrp="1"/>
          </p:cNvSpPr>
          <p:nvPr>
            <p:ph type="title"/>
          </p:nvPr>
        </p:nvSpPr>
        <p:spPr>
          <a:xfrm>
            <a:off x="1024129" y="585216"/>
            <a:ext cx="4431792" cy="1499616"/>
          </a:xfrm>
        </p:spPr>
        <p:txBody>
          <a:bodyPr>
            <a:normAutofit/>
          </a:bodyPr>
          <a:lstStyle/>
          <a:p>
            <a:r>
              <a:rPr lang="en-US" dirty="0"/>
              <a:t>Ce </a:t>
            </a:r>
            <a:r>
              <a:rPr lang="en-US" dirty="0" err="1"/>
              <a:t>este</a:t>
            </a:r>
            <a:r>
              <a:rPr lang="en-US" dirty="0"/>
              <a:t> MPA?</a:t>
            </a:r>
          </a:p>
        </p:txBody>
      </p:sp>
      <p:sp>
        <p:nvSpPr>
          <p:cNvPr id="3" name="Content Placeholder 2">
            <a:extLst>
              <a:ext uri="{FF2B5EF4-FFF2-40B4-BE49-F238E27FC236}">
                <a16:creationId xmlns:a16="http://schemas.microsoft.com/office/drawing/2014/main" id="{05CF29BD-04EE-45BC-93B7-2E590A29D33A}"/>
              </a:ext>
            </a:extLst>
          </p:cNvPr>
          <p:cNvSpPr>
            <a:spLocks noGrp="1"/>
          </p:cNvSpPr>
          <p:nvPr>
            <p:ph idx="1"/>
          </p:nvPr>
        </p:nvSpPr>
        <p:spPr>
          <a:xfrm>
            <a:off x="950555" y="1865590"/>
            <a:ext cx="4745396" cy="4303982"/>
          </a:xfrm>
        </p:spPr>
        <p:txBody>
          <a:bodyPr>
            <a:normAutofit/>
          </a:bodyPr>
          <a:lstStyle/>
          <a:p>
            <a:pPr lvl="1">
              <a:buFont typeface="Wingdings" panose="05000000000000000000" pitchFamily="2" charset="2"/>
              <a:buChar char="q"/>
            </a:pPr>
            <a:r>
              <a:rPr lang="ro-RO" sz="2000" dirty="0"/>
              <a:t> </a:t>
            </a:r>
            <a:r>
              <a:rPr lang="ro-RO" sz="2000" b="1" dirty="0"/>
              <a:t>MPA</a:t>
            </a:r>
            <a:r>
              <a:rPr lang="ro-RO" sz="2000" dirty="0"/>
              <a:t> este </a:t>
            </a:r>
            <a:r>
              <a:rPr lang="ro-RO" sz="2000" dirty="0" err="1"/>
              <a:t>frontendul</a:t>
            </a:r>
            <a:r>
              <a:rPr lang="ro-RO" sz="2000" dirty="0"/>
              <a:t> clasic, compus din mai multe pagini </a:t>
            </a:r>
            <a:r>
              <a:rPr lang="ro-RO" sz="2000" b="1" dirty="0"/>
              <a:t>HTML </a:t>
            </a:r>
            <a:r>
              <a:rPr lang="ro-RO" sz="2000" dirty="0"/>
              <a:t>(și resurse </a:t>
            </a:r>
            <a:r>
              <a:rPr lang="ro-RO" sz="2000" b="1" dirty="0" err="1"/>
              <a:t>js</a:t>
            </a:r>
            <a:r>
              <a:rPr lang="ro-RO" sz="2000" dirty="0"/>
              <a:t> și </a:t>
            </a:r>
            <a:r>
              <a:rPr lang="ro-RO" sz="2000" b="1" dirty="0" err="1"/>
              <a:t>css</a:t>
            </a:r>
            <a:r>
              <a:rPr lang="ro-RO" sz="2000" dirty="0"/>
              <a:t>)</a:t>
            </a:r>
            <a:endParaRPr lang="ro-RO" sz="2000" b="1" dirty="0"/>
          </a:p>
          <a:p>
            <a:pPr lvl="1">
              <a:buFont typeface="Wingdings" panose="05000000000000000000" pitchFamily="2" charset="2"/>
              <a:buChar char="q"/>
            </a:pPr>
            <a:r>
              <a:rPr lang="ro-RO" sz="2000" dirty="0"/>
              <a:t> Fiecare pagină este returnată de către server, în urma unei cereri HTTP (</a:t>
            </a:r>
            <a:r>
              <a:rPr lang="ro-RO" sz="2000" b="1" dirty="0"/>
              <a:t>server </a:t>
            </a:r>
            <a:r>
              <a:rPr lang="ro-RO" sz="2000" b="1" dirty="0" err="1"/>
              <a:t>side</a:t>
            </a:r>
            <a:r>
              <a:rPr lang="ro-RO" sz="2000" b="1" dirty="0"/>
              <a:t> </a:t>
            </a:r>
            <a:r>
              <a:rPr lang="ro-RO" sz="2000" b="1" dirty="0" err="1"/>
              <a:t>render</a:t>
            </a:r>
            <a:r>
              <a:rPr lang="ro-RO" sz="2000" dirty="0"/>
              <a:t>)</a:t>
            </a:r>
          </a:p>
          <a:p>
            <a:pPr lvl="1">
              <a:buFont typeface="Wingdings" panose="05000000000000000000" pitchFamily="2" charset="2"/>
              <a:buChar char="q"/>
            </a:pPr>
            <a:r>
              <a:rPr lang="ro-RO" sz="2000" dirty="0"/>
              <a:t> Interacțiunea cu </a:t>
            </a:r>
            <a:r>
              <a:rPr lang="ro-RO" sz="2000" dirty="0" err="1"/>
              <a:t>frontendul</a:t>
            </a:r>
            <a:r>
              <a:rPr lang="ro-RO" sz="2000" dirty="0"/>
              <a:t> rezultă în </a:t>
            </a:r>
            <a:r>
              <a:rPr lang="ro-RO" sz="2000" dirty="0" err="1"/>
              <a:t>refresh</a:t>
            </a:r>
            <a:r>
              <a:rPr lang="ro-RO" sz="2000" dirty="0"/>
              <a:t>, adică printr-o nouă resursă întoarsă de la server (aceeași pagină modificată, sau o nouă pagină)</a:t>
            </a:r>
          </a:p>
          <a:p>
            <a:pPr lvl="1">
              <a:buFont typeface="Wingdings" panose="05000000000000000000" pitchFamily="2" charset="2"/>
              <a:buChar char="q"/>
            </a:pPr>
            <a:r>
              <a:rPr lang="ro-RO" sz="2000" dirty="0"/>
              <a:t> Exemplu: </a:t>
            </a:r>
            <a:r>
              <a:rPr lang="ro-RO" sz="2000" dirty="0" err="1"/>
              <a:t>https</a:t>
            </a:r>
            <a:r>
              <a:rPr lang="ro-RO" sz="2000" dirty="0"/>
              <a:t>://</a:t>
            </a:r>
            <a:r>
              <a:rPr lang="ro-RO" sz="2000" dirty="0" err="1"/>
              <a:t>www.amazon.com</a:t>
            </a:r>
            <a:r>
              <a:rPr lang="ro-RO" sz="2000" dirty="0"/>
              <a:t>/</a:t>
            </a:r>
          </a:p>
          <a:p>
            <a:pPr lvl="2"/>
            <a:endParaRPr lang="ro-RO" sz="1600" dirty="0"/>
          </a:p>
        </p:txBody>
      </p:sp>
      <p:pic>
        <p:nvPicPr>
          <p:cNvPr id="7" name="Picture 6" descr="Diagram&#10;&#10;Description automatically generated">
            <a:extLst>
              <a:ext uri="{FF2B5EF4-FFF2-40B4-BE49-F238E27FC236}">
                <a16:creationId xmlns:a16="http://schemas.microsoft.com/office/drawing/2014/main" id="{46717414-F836-4E41-BBB9-04900505FE78}"/>
              </a:ext>
            </a:extLst>
          </p:cNvPr>
          <p:cNvPicPr>
            <a:picLocks noChangeAspect="1"/>
          </p:cNvPicPr>
          <p:nvPr/>
        </p:nvPicPr>
        <p:blipFill>
          <a:blip r:embed="rId2"/>
          <a:stretch>
            <a:fillRect/>
          </a:stretch>
        </p:blipFill>
        <p:spPr>
          <a:xfrm>
            <a:off x="5695951" y="1298020"/>
            <a:ext cx="6315075" cy="4499490"/>
          </a:xfrm>
          <a:prstGeom prst="rect">
            <a:avLst/>
          </a:prstGeom>
        </p:spPr>
      </p:pic>
    </p:spTree>
    <p:extLst>
      <p:ext uri="{BB962C8B-B14F-4D97-AF65-F5344CB8AC3E}">
        <p14:creationId xmlns:p14="http://schemas.microsoft.com/office/powerpoint/2010/main" val="3323314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3695938C-67BE-4CFB-8B12-E97CED88CDAF}"/>
              </a:ext>
            </a:extLst>
          </p:cNvPr>
          <p:cNvPicPr>
            <a:picLocks noChangeAspect="1"/>
          </p:cNvPicPr>
          <p:nvPr/>
        </p:nvPicPr>
        <p:blipFill>
          <a:blip r:embed="rId2"/>
          <a:stretch>
            <a:fillRect/>
          </a:stretch>
        </p:blipFill>
        <p:spPr>
          <a:xfrm>
            <a:off x="5328557" y="843339"/>
            <a:ext cx="6863443" cy="4838727"/>
          </a:xfrm>
          <a:prstGeom prst="rect">
            <a:avLst/>
          </a:prstGeom>
        </p:spPr>
      </p:pic>
      <p:sp>
        <p:nvSpPr>
          <p:cNvPr id="2" name="Title 1">
            <a:extLst>
              <a:ext uri="{FF2B5EF4-FFF2-40B4-BE49-F238E27FC236}">
                <a16:creationId xmlns:a16="http://schemas.microsoft.com/office/drawing/2014/main" id="{3C8C6982-E93A-41FC-AD3F-D6211BB1EE4C}"/>
              </a:ext>
            </a:extLst>
          </p:cNvPr>
          <p:cNvSpPr>
            <a:spLocks noGrp="1"/>
          </p:cNvSpPr>
          <p:nvPr>
            <p:ph type="title"/>
          </p:nvPr>
        </p:nvSpPr>
        <p:spPr>
          <a:xfrm>
            <a:off x="1024129" y="585216"/>
            <a:ext cx="4431792" cy="1499616"/>
          </a:xfrm>
        </p:spPr>
        <p:txBody>
          <a:bodyPr>
            <a:normAutofit/>
          </a:bodyPr>
          <a:lstStyle/>
          <a:p>
            <a:r>
              <a:rPr lang="en-US" dirty="0"/>
              <a:t>Ce </a:t>
            </a:r>
            <a:r>
              <a:rPr lang="en-US" dirty="0" err="1"/>
              <a:t>este</a:t>
            </a:r>
            <a:r>
              <a:rPr lang="en-US" dirty="0"/>
              <a:t> spa?</a:t>
            </a:r>
          </a:p>
        </p:txBody>
      </p:sp>
      <p:sp>
        <p:nvSpPr>
          <p:cNvPr id="3" name="Content Placeholder 2">
            <a:extLst>
              <a:ext uri="{FF2B5EF4-FFF2-40B4-BE49-F238E27FC236}">
                <a16:creationId xmlns:a16="http://schemas.microsoft.com/office/drawing/2014/main" id="{05CF29BD-04EE-45BC-93B7-2E590A29D33A}"/>
              </a:ext>
            </a:extLst>
          </p:cNvPr>
          <p:cNvSpPr>
            <a:spLocks noGrp="1"/>
          </p:cNvSpPr>
          <p:nvPr>
            <p:ph idx="1"/>
          </p:nvPr>
        </p:nvSpPr>
        <p:spPr>
          <a:xfrm>
            <a:off x="898944" y="1960179"/>
            <a:ext cx="4429615" cy="3931920"/>
          </a:xfrm>
        </p:spPr>
        <p:txBody>
          <a:bodyPr>
            <a:normAutofit/>
          </a:bodyPr>
          <a:lstStyle/>
          <a:p>
            <a:pPr lvl="1">
              <a:buFont typeface="Wingdings" panose="05000000000000000000" pitchFamily="2" charset="2"/>
              <a:buChar char="q"/>
            </a:pPr>
            <a:r>
              <a:rPr lang="ro-RO" sz="2000" dirty="0"/>
              <a:t> </a:t>
            </a:r>
            <a:r>
              <a:rPr lang="ro-RO" sz="2000" b="1" dirty="0"/>
              <a:t>SPA </a:t>
            </a:r>
            <a:r>
              <a:rPr lang="ro-RO" sz="2000" dirty="0"/>
              <a:t>presupune un </a:t>
            </a:r>
            <a:r>
              <a:rPr lang="ro-RO" sz="2000" dirty="0" err="1"/>
              <a:t>frontend</a:t>
            </a:r>
            <a:r>
              <a:rPr lang="ro-RO" sz="2000" dirty="0"/>
              <a:t> realizat integral sub forma unei aplicații individuale, decuplate de </a:t>
            </a:r>
            <a:r>
              <a:rPr lang="ro-RO" sz="2000" dirty="0" err="1"/>
              <a:t>backend</a:t>
            </a:r>
            <a:endParaRPr lang="ro-RO" sz="2000" dirty="0"/>
          </a:p>
          <a:p>
            <a:pPr lvl="1">
              <a:buFont typeface="Wingdings" panose="05000000000000000000" pitchFamily="2" charset="2"/>
              <a:buChar char="q"/>
            </a:pPr>
            <a:r>
              <a:rPr lang="ro-RO" sz="2000" dirty="0"/>
              <a:t> </a:t>
            </a:r>
            <a:r>
              <a:rPr lang="ro-RO" sz="2000" dirty="0" err="1"/>
              <a:t>Frontendul</a:t>
            </a:r>
            <a:r>
              <a:rPr lang="ro-RO" sz="2000" dirty="0"/>
              <a:t> este </a:t>
            </a:r>
            <a:r>
              <a:rPr lang="ro-RO" sz="2000" b="1" dirty="0"/>
              <a:t>procesat</a:t>
            </a:r>
            <a:r>
              <a:rPr lang="ro-RO" sz="2000" dirty="0"/>
              <a:t> complet de către </a:t>
            </a:r>
            <a:r>
              <a:rPr lang="ro-RO" sz="2000" dirty="0" err="1"/>
              <a:t>browserul</a:t>
            </a:r>
            <a:r>
              <a:rPr lang="ro-RO" sz="2000" dirty="0"/>
              <a:t> utilizatorului</a:t>
            </a:r>
          </a:p>
          <a:p>
            <a:pPr lvl="1">
              <a:buFont typeface="Wingdings" panose="05000000000000000000" pitchFamily="2" charset="2"/>
              <a:buChar char="q"/>
            </a:pPr>
            <a:r>
              <a:rPr lang="ro-RO" sz="2000" dirty="0"/>
              <a:t> Interacțiunea cu </a:t>
            </a:r>
            <a:r>
              <a:rPr lang="ro-RO" sz="2000" dirty="0" err="1"/>
              <a:t>frontendul</a:t>
            </a:r>
            <a:r>
              <a:rPr lang="ro-RO" sz="2000" dirty="0"/>
              <a:t> rezultă în cereri </a:t>
            </a:r>
            <a:r>
              <a:rPr lang="ro-RO" sz="2000" b="1" dirty="0"/>
              <a:t>AJAX</a:t>
            </a:r>
            <a:r>
              <a:rPr lang="ro-RO" sz="2000" dirty="0"/>
              <a:t>, adică cereri HTTP asincrone transmise către server pentru </a:t>
            </a:r>
            <a:r>
              <a:rPr lang="ro-RO" sz="2000" b="1" dirty="0"/>
              <a:t>schimb de informații </a:t>
            </a:r>
            <a:r>
              <a:rPr lang="ro-RO" sz="2000" dirty="0"/>
              <a:t>(ex: JSON)</a:t>
            </a:r>
          </a:p>
          <a:p>
            <a:pPr lvl="1">
              <a:buFont typeface="Wingdings" panose="05000000000000000000" pitchFamily="2" charset="2"/>
              <a:buChar char="q"/>
            </a:pPr>
            <a:r>
              <a:rPr lang="ro-RO" sz="2000" dirty="0"/>
              <a:t> Exemplu: </a:t>
            </a:r>
            <a:r>
              <a:rPr lang="ro-RO" sz="2000" dirty="0">
                <a:hlinkClick r:id="rId3"/>
              </a:rPr>
              <a:t>https://mail.google.com/</a:t>
            </a:r>
            <a:endParaRPr lang="ro-RO" sz="2000" dirty="0"/>
          </a:p>
          <a:p>
            <a:pPr lvl="2"/>
            <a:endParaRPr lang="ro-RO" sz="1600" dirty="0"/>
          </a:p>
        </p:txBody>
      </p:sp>
    </p:spTree>
    <p:extLst>
      <p:ext uri="{BB962C8B-B14F-4D97-AF65-F5344CB8AC3E}">
        <p14:creationId xmlns:p14="http://schemas.microsoft.com/office/powerpoint/2010/main" val="2275383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stituent conținut 2">
            <a:extLst>
              <a:ext uri="{FF2B5EF4-FFF2-40B4-BE49-F238E27FC236}">
                <a16:creationId xmlns:a16="http://schemas.microsoft.com/office/drawing/2014/main" id="{CA0CAF55-CBD0-4EB0-A61D-ECAC73B31C3F}"/>
              </a:ext>
            </a:extLst>
          </p:cNvPr>
          <p:cNvSpPr>
            <a:spLocks noGrp="1"/>
          </p:cNvSpPr>
          <p:nvPr>
            <p:ph sz="half" idx="1"/>
          </p:nvPr>
        </p:nvSpPr>
        <p:spPr/>
        <p:txBody>
          <a:bodyPr/>
          <a:lstStyle/>
          <a:p>
            <a:pPr>
              <a:buFont typeface="Wingdings" panose="05000000000000000000" pitchFamily="2" charset="2"/>
              <a:buChar char="q"/>
            </a:pPr>
            <a:r>
              <a:rPr lang="ro-RO" b="1" dirty="0"/>
              <a:t> SPA</a:t>
            </a:r>
            <a:r>
              <a:rPr lang="ro-RO" dirty="0"/>
              <a:t> este mai rapid și mai </a:t>
            </a:r>
            <a:r>
              <a:rPr lang="ro-RO" dirty="0" err="1"/>
              <a:t>responsive</a:t>
            </a:r>
            <a:r>
              <a:rPr lang="ro-RO" dirty="0"/>
              <a:t>, datorită </a:t>
            </a:r>
            <a:r>
              <a:rPr lang="ro-RO" dirty="0" err="1"/>
              <a:t>randării</a:t>
            </a:r>
            <a:r>
              <a:rPr lang="ro-RO" dirty="0"/>
              <a:t> locale în browser și a cererilor AJAX care nu blochează pagina</a:t>
            </a:r>
          </a:p>
          <a:p>
            <a:pPr>
              <a:buFont typeface="Wingdings" panose="05000000000000000000" pitchFamily="2" charset="2"/>
              <a:buChar char="q"/>
            </a:pPr>
            <a:r>
              <a:rPr lang="ro-RO" dirty="0"/>
              <a:t> Management mai bun a stării interne, utilizând cache-</a:t>
            </a:r>
            <a:r>
              <a:rPr lang="ro-RO" dirty="0" err="1"/>
              <a:t>ul</a:t>
            </a:r>
            <a:r>
              <a:rPr lang="ro-RO" dirty="0"/>
              <a:t> </a:t>
            </a:r>
            <a:r>
              <a:rPr lang="ro-RO" dirty="0" err="1"/>
              <a:t>browserului</a:t>
            </a:r>
            <a:endParaRPr lang="ro-RO" b="1" dirty="0"/>
          </a:p>
          <a:p>
            <a:pPr>
              <a:buFont typeface="Wingdings" panose="05000000000000000000" pitchFamily="2" charset="2"/>
              <a:buChar char="q"/>
            </a:pPr>
            <a:r>
              <a:rPr lang="ro-RO" dirty="0"/>
              <a:t> Mai ușor de dezvoltat și </a:t>
            </a:r>
            <a:r>
              <a:rPr lang="ro-RO" dirty="0" err="1"/>
              <a:t>întretinut</a:t>
            </a:r>
            <a:endParaRPr lang="ro-RO" dirty="0"/>
          </a:p>
        </p:txBody>
      </p:sp>
      <p:sp>
        <p:nvSpPr>
          <p:cNvPr id="4" name="Substituent conținut 3">
            <a:extLst>
              <a:ext uri="{FF2B5EF4-FFF2-40B4-BE49-F238E27FC236}">
                <a16:creationId xmlns:a16="http://schemas.microsoft.com/office/drawing/2014/main" id="{DE50F46D-E38A-4D4E-B7E4-6DD410DEEE11}"/>
              </a:ext>
            </a:extLst>
          </p:cNvPr>
          <p:cNvSpPr>
            <a:spLocks noGrp="1"/>
          </p:cNvSpPr>
          <p:nvPr>
            <p:ph sz="half" idx="2"/>
          </p:nvPr>
        </p:nvSpPr>
        <p:spPr/>
        <p:txBody>
          <a:bodyPr/>
          <a:lstStyle/>
          <a:p>
            <a:pPr>
              <a:buFont typeface="Wingdings" panose="05000000000000000000" pitchFamily="2" charset="2"/>
              <a:buChar char="q"/>
            </a:pPr>
            <a:r>
              <a:rPr lang="ro-RO" b="1" dirty="0"/>
              <a:t> MPA</a:t>
            </a:r>
            <a:r>
              <a:rPr lang="ro-RO" dirty="0"/>
              <a:t> permite realizarea </a:t>
            </a:r>
            <a:r>
              <a:rPr lang="ro-RO" b="1" dirty="0"/>
              <a:t>SEO</a:t>
            </a:r>
            <a:r>
              <a:rPr lang="ro-RO" dirty="0"/>
              <a:t>-ului mult mai </a:t>
            </a:r>
            <a:r>
              <a:rPr lang="ro-RO" dirty="0" err="1"/>
              <a:t>usor</a:t>
            </a:r>
            <a:r>
              <a:rPr lang="ro-RO" dirty="0"/>
              <a:t> și performant</a:t>
            </a:r>
          </a:p>
          <a:p>
            <a:pPr>
              <a:buFont typeface="Wingdings" panose="05000000000000000000" pitchFamily="2" charset="2"/>
              <a:buChar char="q"/>
            </a:pPr>
            <a:r>
              <a:rPr lang="ro-RO" b="1" dirty="0"/>
              <a:t> MPA</a:t>
            </a:r>
            <a:r>
              <a:rPr lang="ro-RO" dirty="0"/>
              <a:t> nu sunt atât de vulnerabile la atacuri </a:t>
            </a:r>
            <a:r>
              <a:rPr lang="ro-RO" i="1" dirty="0" err="1"/>
              <a:t>cross</a:t>
            </a:r>
            <a:r>
              <a:rPr lang="ro-RO" i="1" dirty="0"/>
              <a:t>-site </a:t>
            </a:r>
            <a:r>
              <a:rPr lang="ro-RO" i="1" dirty="0" err="1"/>
              <a:t>scripting</a:t>
            </a:r>
            <a:endParaRPr lang="ro-RO" b="1" i="1" dirty="0"/>
          </a:p>
          <a:p>
            <a:pPr>
              <a:buFont typeface="Wingdings" panose="05000000000000000000" pitchFamily="2" charset="2"/>
              <a:buChar char="q"/>
            </a:pPr>
            <a:r>
              <a:rPr lang="ro-RO" dirty="0"/>
              <a:t> Potențial de </a:t>
            </a:r>
            <a:r>
              <a:rPr lang="ro-RO" dirty="0" err="1"/>
              <a:t>scalabilitate</a:t>
            </a:r>
            <a:r>
              <a:rPr lang="ro-RO" dirty="0"/>
              <a:t> mai mare, deoarece pot fi cuplate oricând mai multe pagini web </a:t>
            </a:r>
          </a:p>
        </p:txBody>
      </p:sp>
      <p:sp>
        <p:nvSpPr>
          <p:cNvPr id="5" name="Title 1">
            <a:extLst>
              <a:ext uri="{FF2B5EF4-FFF2-40B4-BE49-F238E27FC236}">
                <a16:creationId xmlns:a16="http://schemas.microsoft.com/office/drawing/2014/main" id="{C40FE581-6224-4ECA-A928-15CB00E78134}"/>
              </a:ext>
            </a:extLst>
          </p:cNvPr>
          <p:cNvSpPr txBox="1">
            <a:spLocks/>
          </p:cNvSpPr>
          <p:nvPr/>
        </p:nvSpPr>
        <p:spPr>
          <a:xfrm>
            <a:off x="819150" y="673202"/>
            <a:ext cx="4419600" cy="111104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pPr>
              <a:spcAft>
                <a:spcPts val="600"/>
              </a:spcAft>
            </a:pPr>
            <a:r>
              <a:rPr lang="en-US" sz="6000" dirty="0"/>
              <a:t>SPA vs MPA</a:t>
            </a:r>
            <a:endParaRPr lang="ro-RO" sz="6000" dirty="0"/>
          </a:p>
        </p:txBody>
      </p:sp>
    </p:spTree>
    <p:extLst>
      <p:ext uri="{BB962C8B-B14F-4D97-AF65-F5344CB8AC3E}">
        <p14:creationId xmlns:p14="http://schemas.microsoft.com/office/powerpoint/2010/main" val="2467935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CD2B798-7994-4548-A2BE-4AEF9C1A5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Oval 5">
            <a:extLst>
              <a:ext uri="{FF2B5EF4-FFF2-40B4-BE49-F238E27FC236}">
                <a16:creationId xmlns:a16="http://schemas.microsoft.com/office/drawing/2014/main" id="{E6162320-3B67-42BB-AF9D-939326E64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13" name="Straight Connector 12">
            <a:extLst>
              <a:ext uri="{FF2B5EF4-FFF2-40B4-BE49-F238E27FC236}">
                <a16:creationId xmlns:a16="http://schemas.microsoft.com/office/drawing/2014/main" id="{6722E143-84C1-4F95-937C-78B92D2811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774A886E-E8EF-48CC-8764-20EAE4538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B74912-77CB-B1F5-4ABC-7A81E7A278F1}"/>
              </a:ext>
            </a:extLst>
          </p:cNvPr>
          <p:cNvSpPr>
            <a:spLocks noGrp="1"/>
          </p:cNvSpPr>
          <p:nvPr>
            <p:ph type="title"/>
          </p:nvPr>
        </p:nvSpPr>
        <p:spPr>
          <a:xfrm>
            <a:off x="636805" y="640080"/>
            <a:ext cx="3378099" cy="4077145"/>
          </a:xfrm>
        </p:spPr>
        <p:txBody>
          <a:bodyPr vert="horz" lIns="91440" tIns="45720" rIns="91440" bIns="45720" rtlCol="0" anchor="b">
            <a:normAutofit/>
          </a:bodyPr>
          <a:lstStyle/>
          <a:p>
            <a:pPr algn="r"/>
            <a:r>
              <a:rPr lang="en-US" sz="4000" kern="1200" cap="all" spc="200" baseline="0">
                <a:solidFill>
                  <a:schemeClr val="tx1">
                    <a:lumMod val="95000"/>
                    <a:lumOff val="5000"/>
                  </a:schemeClr>
                </a:solidFill>
                <a:latin typeface="+mj-lt"/>
                <a:ea typeface="+mj-ea"/>
                <a:cs typeface="+mj-cs"/>
              </a:rPr>
              <a:t>Server-Side</a:t>
            </a:r>
          </a:p>
        </p:txBody>
      </p:sp>
      <p:cxnSp>
        <p:nvCxnSpPr>
          <p:cNvPr id="23" name="Straight Connector 16">
            <a:extLst>
              <a:ext uri="{FF2B5EF4-FFF2-40B4-BE49-F238E27FC236}">
                <a16:creationId xmlns:a16="http://schemas.microsoft.com/office/drawing/2014/main" id="{EB1993F9-CFC5-495F-9F26-19953445357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71704" y="4831176"/>
            <a:ext cx="2743200" cy="0"/>
          </a:xfrm>
          <a:prstGeom prst="line">
            <a:avLst/>
          </a:prstGeom>
          <a:ln w="19050">
            <a:solidFill>
              <a:srgbClr val="FDB751"/>
            </a:solidFill>
          </a:ln>
        </p:spPr>
        <p:style>
          <a:lnRef idx="1">
            <a:schemeClr val="accent1"/>
          </a:lnRef>
          <a:fillRef idx="0">
            <a:schemeClr val="accent1"/>
          </a:fillRef>
          <a:effectRef idx="0">
            <a:schemeClr val="accent1"/>
          </a:effectRef>
          <a:fontRef idx="minor">
            <a:schemeClr val="tx1"/>
          </a:fontRef>
        </p:style>
      </p:cxnSp>
      <p:pic>
        <p:nvPicPr>
          <p:cNvPr id="4" name="Picture 3" descr="Graphical user interface, application&#10;&#10;Description automatically generated">
            <a:extLst>
              <a:ext uri="{FF2B5EF4-FFF2-40B4-BE49-F238E27FC236}">
                <a16:creationId xmlns:a16="http://schemas.microsoft.com/office/drawing/2014/main" id="{8ED5C2DA-7CB4-0D61-0FB1-C8ED14EA43B8}"/>
              </a:ext>
            </a:extLst>
          </p:cNvPr>
          <p:cNvPicPr>
            <a:picLocks noChangeAspect="1"/>
          </p:cNvPicPr>
          <p:nvPr/>
        </p:nvPicPr>
        <p:blipFill rotWithShape="1">
          <a:blip r:embed="rId2"/>
          <a:srcRect l="21715" r="2873"/>
          <a:stretch/>
        </p:blipFill>
        <p:spPr>
          <a:xfrm>
            <a:off x="4654984" y="640080"/>
            <a:ext cx="6896936" cy="5578816"/>
          </a:xfrm>
          <a:prstGeom prst="rect">
            <a:avLst/>
          </a:prstGeom>
        </p:spPr>
      </p:pic>
    </p:spTree>
    <p:extLst>
      <p:ext uri="{BB962C8B-B14F-4D97-AF65-F5344CB8AC3E}">
        <p14:creationId xmlns:p14="http://schemas.microsoft.com/office/powerpoint/2010/main" val="1246940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735D6-7EEB-9D3F-2140-342EFCA2AD66}"/>
              </a:ext>
            </a:extLst>
          </p:cNvPr>
          <p:cNvSpPr>
            <a:spLocks noGrp="1"/>
          </p:cNvSpPr>
          <p:nvPr>
            <p:ph type="title"/>
          </p:nvPr>
        </p:nvSpPr>
        <p:spPr/>
        <p:txBody>
          <a:bodyPr>
            <a:normAutofit/>
          </a:bodyPr>
          <a:lstStyle/>
          <a:p>
            <a:r>
              <a:rPr lang="en-GB" sz="4400" b="0" i="0" dirty="0">
                <a:effectLst/>
                <a:latin typeface="Open Sans" panose="020B0606030504020204" pitchFamily="34" charset="0"/>
              </a:rPr>
              <a:t>Application Programming Interface (API)</a:t>
            </a:r>
            <a:endParaRPr lang="en-GB" sz="4400" dirty="0"/>
          </a:p>
        </p:txBody>
      </p:sp>
      <p:sp>
        <p:nvSpPr>
          <p:cNvPr id="3" name="Content Placeholder 2">
            <a:extLst>
              <a:ext uri="{FF2B5EF4-FFF2-40B4-BE49-F238E27FC236}">
                <a16:creationId xmlns:a16="http://schemas.microsoft.com/office/drawing/2014/main" id="{BEFFB1CE-2E00-9935-0129-DB50EED7F91F}"/>
              </a:ext>
            </a:extLst>
          </p:cNvPr>
          <p:cNvSpPr>
            <a:spLocks noGrp="1"/>
          </p:cNvSpPr>
          <p:nvPr>
            <p:ph idx="1"/>
          </p:nvPr>
        </p:nvSpPr>
        <p:spPr/>
        <p:txBody>
          <a:bodyPr>
            <a:normAutofit fontScale="92500" lnSpcReduction="10000"/>
          </a:bodyPr>
          <a:lstStyle/>
          <a:p>
            <a:r>
              <a:rPr lang="en-GB" dirty="0"/>
              <a:t>API </a:t>
            </a:r>
            <a:r>
              <a:rPr lang="en-GB" dirty="0" err="1"/>
              <a:t>permite</a:t>
            </a:r>
            <a:r>
              <a:rPr lang="en-GB" dirty="0"/>
              <a:t> </a:t>
            </a:r>
            <a:r>
              <a:rPr lang="en-GB" dirty="0" err="1"/>
              <a:t>dezvoltatorilor</a:t>
            </a:r>
            <a:r>
              <a:rPr lang="en-GB" dirty="0"/>
              <a:t> </a:t>
            </a:r>
            <a:r>
              <a:rPr lang="en-GB" dirty="0" err="1"/>
              <a:t>să</a:t>
            </a:r>
            <a:r>
              <a:rPr lang="en-GB" dirty="0"/>
              <a:t> </a:t>
            </a:r>
            <a:r>
              <a:rPr lang="en-GB" dirty="0" err="1"/>
              <a:t>acceseze</a:t>
            </a:r>
            <a:r>
              <a:rPr lang="en-GB" dirty="0"/>
              <a:t> </a:t>
            </a:r>
            <a:r>
              <a:rPr lang="en-GB" dirty="0" err="1"/>
              <a:t>anumite</a:t>
            </a:r>
            <a:r>
              <a:rPr lang="en-GB" dirty="0"/>
              <a:t> date </a:t>
            </a:r>
            <a:r>
              <a:rPr lang="en-GB" dirty="0" err="1"/>
              <a:t>și</a:t>
            </a:r>
            <a:r>
              <a:rPr lang="en-GB" dirty="0"/>
              <a:t> </a:t>
            </a:r>
            <a:r>
              <a:rPr lang="en-GB" dirty="0" err="1"/>
              <a:t>funcții</a:t>
            </a:r>
            <a:r>
              <a:rPr lang="en-GB" dirty="0"/>
              <a:t>, un mediator care </a:t>
            </a:r>
            <a:r>
              <a:rPr lang="en-GB" dirty="0" err="1"/>
              <a:t>cuprinde</a:t>
            </a:r>
            <a:r>
              <a:rPr lang="en-GB" dirty="0"/>
              <a:t> </a:t>
            </a:r>
            <a:r>
              <a:rPr lang="en-GB" dirty="0" err="1"/>
              <a:t>protocoale</a:t>
            </a:r>
            <a:r>
              <a:rPr lang="en-GB" dirty="0"/>
              <a:t>, </a:t>
            </a:r>
            <a:r>
              <a:rPr lang="en-GB" dirty="0" err="1"/>
              <a:t>instrumente</a:t>
            </a:r>
            <a:r>
              <a:rPr lang="en-GB" dirty="0"/>
              <a:t> </a:t>
            </a:r>
            <a:r>
              <a:rPr lang="en-GB" dirty="0" err="1"/>
              <a:t>și</a:t>
            </a:r>
            <a:r>
              <a:rPr lang="en-GB" dirty="0"/>
              <a:t> </a:t>
            </a:r>
            <a:r>
              <a:rPr lang="en-GB" dirty="0" err="1"/>
              <a:t>definiții</a:t>
            </a:r>
            <a:r>
              <a:rPr lang="en-GB" dirty="0"/>
              <a:t> de </a:t>
            </a:r>
            <a:r>
              <a:rPr lang="en-GB" dirty="0" err="1"/>
              <a:t>subrutine</a:t>
            </a:r>
            <a:r>
              <a:rPr lang="en-GB" dirty="0"/>
              <a:t> </a:t>
            </a:r>
            <a:r>
              <a:rPr lang="en-GB" dirty="0" err="1"/>
              <a:t>necesare</a:t>
            </a:r>
            <a:r>
              <a:rPr lang="en-GB" dirty="0"/>
              <a:t> </a:t>
            </a:r>
            <a:r>
              <a:rPr lang="en-GB" dirty="0" err="1"/>
              <a:t>pentru</a:t>
            </a:r>
            <a:r>
              <a:rPr lang="en-GB" dirty="0"/>
              <a:t> a </a:t>
            </a:r>
            <a:r>
              <a:rPr lang="en-GB" dirty="0" err="1"/>
              <a:t>construi</a:t>
            </a:r>
            <a:r>
              <a:rPr lang="en-GB" dirty="0"/>
              <a:t> </a:t>
            </a:r>
            <a:r>
              <a:rPr lang="en-GB" dirty="0" err="1"/>
              <a:t>aplicația</a:t>
            </a:r>
            <a:r>
              <a:rPr lang="en-GB" dirty="0"/>
              <a:t> Web.</a:t>
            </a:r>
          </a:p>
          <a:p>
            <a:r>
              <a:rPr lang="en-GB" dirty="0" err="1"/>
              <a:t>Există</a:t>
            </a:r>
            <a:r>
              <a:rPr lang="en-GB" dirty="0"/>
              <a:t> </a:t>
            </a:r>
            <a:r>
              <a:rPr lang="en-GB" dirty="0" err="1"/>
              <a:t>diferite</a:t>
            </a:r>
            <a:r>
              <a:rPr lang="en-GB" dirty="0"/>
              <a:t> </a:t>
            </a:r>
            <a:r>
              <a:rPr lang="en-GB" dirty="0" err="1"/>
              <a:t>tipuri</a:t>
            </a:r>
            <a:r>
              <a:rPr lang="en-GB" dirty="0"/>
              <a:t> de API-</a:t>
            </a:r>
            <a:r>
              <a:rPr lang="en-GB" dirty="0" err="1"/>
              <a:t>uri</a:t>
            </a:r>
            <a:r>
              <a:rPr lang="en-GB" dirty="0"/>
              <a:t>:</a:t>
            </a:r>
          </a:p>
          <a:p>
            <a:pPr>
              <a:buFont typeface="Arial" panose="020B0604020202020204" pitchFamily="34" charset="0"/>
              <a:buChar char="•"/>
            </a:pPr>
            <a:r>
              <a:rPr lang="en-GB" b="1" dirty="0"/>
              <a:t>API RESTful</a:t>
            </a:r>
            <a:r>
              <a:rPr lang="en-GB" dirty="0"/>
              <a:t>: Representational State Transfer API ]n format JSON. Este </a:t>
            </a:r>
            <a:r>
              <a:rPr lang="en-GB" dirty="0" err="1"/>
              <a:t>extrem</a:t>
            </a:r>
            <a:r>
              <a:rPr lang="en-GB" dirty="0"/>
              <a:t> de </a:t>
            </a:r>
            <a:r>
              <a:rPr lang="en-GB" dirty="0" err="1"/>
              <a:t>scalabil</a:t>
            </a:r>
            <a:r>
              <a:rPr lang="en-GB" dirty="0"/>
              <a:t>, de </a:t>
            </a:r>
            <a:r>
              <a:rPr lang="en-GB" dirty="0" err="1"/>
              <a:t>încredere</a:t>
            </a:r>
            <a:r>
              <a:rPr lang="en-GB" dirty="0"/>
              <a:t> </a:t>
            </a:r>
            <a:r>
              <a:rPr lang="en-GB" dirty="0" err="1"/>
              <a:t>și</a:t>
            </a:r>
            <a:r>
              <a:rPr lang="en-GB" dirty="0"/>
              <a:t> </a:t>
            </a:r>
            <a:r>
              <a:rPr lang="en-GB" dirty="0" err="1"/>
              <a:t>oferă</a:t>
            </a:r>
            <a:r>
              <a:rPr lang="en-GB" dirty="0"/>
              <a:t> </a:t>
            </a:r>
            <a:r>
              <a:rPr lang="en-GB" dirty="0" err="1"/>
              <a:t>performanțe</a:t>
            </a:r>
            <a:r>
              <a:rPr lang="en-GB" dirty="0"/>
              <a:t> </a:t>
            </a:r>
            <a:r>
              <a:rPr lang="en-GB" dirty="0" err="1"/>
              <a:t>rapide</a:t>
            </a:r>
            <a:r>
              <a:rPr lang="en-GB" dirty="0"/>
              <a:t>, </a:t>
            </a:r>
            <a:r>
              <a:rPr lang="en-GB" dirty="0" err="1"/>
              <a:t>ceea</a:t>
            </a:r>
            <a:r>
              <a:rPr lang="en-GB" dirty="0"/>
              <a:t> </a:t>
            </a:r>
            <a:r>
              <a:rPr lang="en-GB" dirty="0" err="1"/>
              <a:t>ce</a:t>
            </a:r>
            <a:r>
              <a:rPr lang="en-GB" dirty="0"/>
              <a:t> </a:t>
            </a:r>
            <a:r>
              <a:rPr lang="en-GB" dirty="0" err="1"/>
              <a:t>îl</a:t>
            </a:r>
            <a:r>
              <a:rPr lang="en-GB" dirty="0"/>
              <a:t> face </a:t>
            </a:r>
            <a:r>
              <a:rPr lang="en-GB" dirty="0" err="1"/>
              <a:t>cel</a:t>
            </a:r>
            <a:r>
              <a:rPr lang="en-GB" dirty="0"/>
              <a:t> </a:t>
            </a:r>
            <a:r>
              <a:rPr lang="en-GB" dirty="0" err="1"/>
              <a:t>mai</a:t>
            </a:r>
            <a:r>
              <a:rPr lang="en-GB" dirty="0"/>
              <a:t> popular API.</a:t>
            </a:r>
          </a:p>
          <a:p>
            <a:pPr>
              <a:buFont typeface="Arial" panose="020B0604020202020204" pitchFamily="34" charset="0"/>
              <a:buChar char="•"/>
            </a:pPr>
            <a:r>
              <a:rPr lang="en-GB" b="1" dirty="0"/>
              <a:t>XML-RPC</a:t>
            </a:r>
            <a:r>
              <a:rPr lang="en-GB" dirty="0"/>
              <a:t>: Extensible Markup Language – Remote Procedure Calls </a:t>
            </a:r>
            <a:r>
              <a:rPr lang="en-GB" dirty="0" err="1"/>
              <a:t>utilizează</a:t>
            </a:r>
            <a:r>
              <a:rPr lang="en-GB" dirty="0"/>
              <a:t> un format XML specific </a:t>
            </a:r>
            <a:r>
              <a:rPr lang="en-GB" dirty="0" err="1"/>
              <a:t>pentru</a:t>
            </a:r>
            <a:r>
              <a:rPr lang="en-GB" dirty="0"/>
              <a:t> </a:t>
            </a:r>
            <a:r>
              <a:rPr lang="en-GB" dirty="0" err="1"/>
              <a:t>transmiterea</a:t>
            </a:r>
            <a:r>
              <a:rPr lang="en-GB" dirty="0"/>
              <a:t> </a:t>
            </a:r>
            <a:r>
              <a:rPr lang="en-GB" dirty="0" err="1"/>
              <a:t>datelor</a:t>
            </a:r>
            <a:r>
              <a:rPr lang="en-GB" dirty="0"/>
              <a:t>.</a:t>
            </a:r>
          </a:p>
          <a:p>
            <a:pPr>
              <a:buFont typeface="Arial" panose="020B0604020202020204" pitchFamily="34" charset="0"/>
              <a:buChar char="•"/>
            </a:pPr>
            <a:r>
              <a:rPr lang="en-GB" b="1" dirty="0"/>
              <a:t>JSON-RPC</a:t>
            </a:r>
            <a:r>
              <a:rPr lang="en-GB" dirty="0"/>
              <a:t>: </a:t>
            </a:r>
            <a:r>
              <a:rPr lang="en-GB" dirty="0" err="1"/>
              <a:t>folosește</a:t>
            </a:r>
            <a:r>
              <a:rPr lang="en-GB" dirty="0"/>
              <a:t> </a:t>
            </a:r>
            <a:r>
              <a:rPr lang="en-GB" dirty="0" err="1"/>
              <a:t>formatul</a:t>
            </a:r>
            <a:r>
              <a:rPr lang="en-GB" dirty="0"/>
              <a:t> JSON </a:t>
            </a:r>
            <a:r>
              <a:rPr lang="en-GB" dirty="0" err="1"/>
              <a:t>pentru</a:t>
            </a:r>
            <a:r>
              <a:rPr lang="en-GB" dirty="0"/>
              <a:t> </a:t>
            </a:r>
            <a:r>
              <a:rPr lang="en-GB" dirty="0" err="1"/>
              <a:t>transmiterea</a:t>
            </a:r>
            <a:r>
              <a:rPr lang="en-GB" dirty="0"/>
              <a:t> </a:t>
            </a:r>
            <a:r>
              <a:rPr lang="en-GB" dirty="0" err="1"/>
              <a:t>datelor</a:t>
            </a:r>
            <a:r>
              <a:rPr lang="en-GB" dirty="0"/>
              <a:t>.</a:t>
            </a:r>
          </a:p>
          <a:p>
            <a:pPr marL="0" indent="0">
              <a:buNone/>
            </a:pPr>
            <a:r>
              <a:rPr lang="en-GB" dirty="0" err="1"/>
              <a:t>și</a:t>
            </a:r>
            <a:r>
              <a:rPr lang="en-GB" dirty="0"/>
              <a:t> </a:t>
            </a:r>
            <a:r>
              <a:rPr lang="en-GB" dirty="0" err="1"/>
              <a:t>tehnologii</a:t>
            </a:r>
            <a:r>
              <a:rPr lang="en-GB" dirty="0"/>
              <a:t>: </a:t>
            </a:r>
            <a:r>
              <a:rPr lang="en-GB" dirty="0" err="1"/>
              <a:t>sincron</a:t>
            </a:r>
            <a:r>
              <a:rPr lang="en-GB" dirty="0"/>
              <a:t> (REST HTTP/S, </a:t>
            </a:r>
            <a:r>
              <a:rPr lang="en-GB" dirty="0" err="1"/>
              <a:t>gRPC,etc</a:t>
            </a:r>
            <a:r>
              <a:rPr lang="en-GB" dirty="0"/>
              <a:t>) </a:t>
            </a:r>
            <a:r>
              <a:rPr lang="en-GB" dirty="0" err="1"/>
              <a:t>și</a:t>
            </a:r>
            <a:r>
              <a:rPr lang="en-GB" dirty="0"/>
              <a:t> </a:t>
            </a:r>
            <a:r>
              <a:rPr lang="en-GB" dirty="0" err="1"/>
              <a:t>asincron</a:t>
            </a:r>
            <a:r>
              <a:rPr lang="en-GB" dirty="0"/>
              <a:t> (AMQP </a:t>
            </a:r>
            <a:r>
              <a:rPr lang="en-GB" dirty="0" err="1"/>
              <a:t>si</a:t>
            </a:r>
            <a:r>
              <a:rPr lang="en-GB" dirty="0"/>
              <a:t> </a:t>
            </a:r>
            <a:r>
              <a:rPr lang="en-GB" dirty="0" err="1"/>
              <a:t>altele</a:t>
            </a:r>
            <a:r>
              <a:rPr lang="en-GB" dirty="0"/>
              <a:t> similar)</a:t>
            </a:r>
          </a:p>
          <a:p>
            <a:pPr marL="0" indent="0">
              <a:buNone/>
            </a:pPr>
            <a:r>
              <a:rPr lang="en-GB" dirty="0" err="1"/>
              <a:t>Când</a:t>
            </a:r>
            <a:r>
              <a:rPr lang="en-GB" dirty="0"/>
              <a:t> am </a:t>
            </a:r>
            <a:r>
              <a:rPr lang="en-GB" dirty="0" err="1"/>
              <a:t>mai</a:t>
            </a:r>
            <a:r>
              <a:rPr lang="en-GB" dirty="0"/>
              <a:t> </a:t>
            </a:r>
            <a:r>
              <a:rPr lang="en-GB" dirty="0" err="1"/>
              <a:t>mulți</a:t>
            </a:r>
            <a:r>
              <a:rPr lang="en-GB" dirty="0"/>
              <a:t> </a:t>
            </a:r>
            <a:r>
              <a:rPr lang="en-GB" dirty="0" err="1"/>
              <a:t>destinatari</a:t>
            </a:r>
            <a:r>
              <a:rPr lang="en-GB" dirty="0"/>
              <a:t>, </a:t>
            </a:r>
            <a:r>
              <a:rPr lang="en-GB" dirty="0" err="1"/>
              <a:t>folosesc</a:t>
            </a:r>
            <a:r>
              <a:rPr lang="en-GB" dirty="0"/>
              <a:t> publish/subscribe (event-driven architecture, ex. Azure Service Bus)</a:t>
            </a:r>
          </a:p>
        </p:txBody>
      </p:sp>
    </p:spTree>
    <p:extLst>
      <p:ext uri="{BB962C8B-B14F-4D97-AF65-F5344CB8AC3E}">
        <p14:creationId xmlns:p14="http://schemas.microsoft.com/office/powerpoint/2010/main" val="130520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5ED68-BA12-E60E-D62D-A07091AB9547}"/>
              </a:ext>
            </a:extLst>
          </p:cNvPr>
          <p:cNvSpPr>
            <a:spLocks noGrp="1"/>
          </p:cNvSpPr>
          <p:nvPr>
            <p:ph type="title"/>
          </p:nvPr>
        </p:nvSpPr>
        <p:spPr/>
        <p:txBody>
          <a:bodyPr/>
          <a:lstStyle/>
          <a:p>
            <a:r>
              <a:rPr lang="en-GB" dirty="0"/>
              <a:t>Trend-</a:t>
            </a:r>
            <a:r>
              <a:rPr lang="en-GB" dirty="0" err="1"/>
              <a:t>uri</a:t>
            </a:r>
            <a:r>
              <a:rPr lang="en-GB" dirty="0"/>
              <a:t> la </a:t>
            </a:r>
            <a:r>
              <a:rPr lang="en-GB" dirty="0" err="1"/>
              <a:t>nivelul</a:t>
            </a:r>
            <a:r>
              <a:rPr lang="en-GB" dirty="0"/>
              <a:t> </a:t>
            </a:r>
            <a:r>
              <a:rPr lang="en-GB" dirty="0" err="1"/>
              <a:t>Arhitecturii</a:t>
            </a:r>
            <a:endParaRPr lang="en-GB" dirty="0"/>
          </a:p>
        </p:txBody>
      </p:sp>
      <p:sp>
        <p:nvSpPr>
          <p:cNvPr id="3" name="Content Placeholder 2">
            <a:extLst>
              <a:ext uri="{FF2B5EF4-FFF2-40B4-BE49-F238E27FC236}">
                <a16:creationId xmlns:a16="http://schemas.microsoft.com/office/drawing/2014/main" id="{12666F15-E0C1-AE94-3EB1-15ED2773DE3B}"/>
              </a:ext>
            </a:extLst>
          </p:cNvPr>
          <p:cNvSpPr>
            <a:spLocks noGrp="1"/>
          </p:cNvSpPr>
          <p:nvPr>
            <p:ph idx="1"/>
          </p:nvPr>
        </p:nvSpPr>
        <p:spPr>
          <a:xfrm>
            <a:off x="614225" y="2057085"/>
            <a:ext cx="10553647" cy="4589237"/>
          </a:xfrm>
        </p:spPr>
        <p:txBody>
          <a:bodyPr>
            <a:normAutofit fontScale="92500" lnSpcReduction="10000"/>
          </a:bodyPr>
          <a:lstStyle/>
          <a:p>
            <a:r>
              <a:rPr lang="ro-RO" b="1" dirty="0"/>
              <a:t>Sistem de stocare în cache</a:t>
            </a:r>
          </a:p>
          <a:p>
            <a:r>
              <a:rPr lang="ro-RO" dirty="0"/>
              <a:t>Sistemul de stocare în cache poate fi proiectat folosind 4 modele:</a:t>
            </a:r>
          </a:p>
          <a:p>
            <a:pPr>
              <a:buFont typeface="Arial" panose="020B0604020202020204" pitchFamily="34" charset="0"/>
              <a:buChar char="•"/>
            </a:pPr>
            <a:r>
              <a:rPr lang="ro-RO" b="1" dirty="0"/>
              <a:t>Cache pentru serverul de aplicații</a:t>
            </a:r>
            <a:r>
              <a:rPr lang="ro-RO" dirty="0"/>
              <a:t>: cache în memorie alături de serverul de aplicații (pentru aplicațiile care au un singur nod)</a:t>
            </a:r>
          </a:p>
          <a:p>
            <a:pPr>
              <a:buFont typeface="Arial" panose="020B0604020202020204" pitchFamily="34" charset="0"/>
              <a:buChar char="•"/>
            </a:pPr>
            <a:r>
              <a:rPr lang="ro-RO" b="1" dirty="0"/>
              <a:t>Cache global</a:t>
            </a:r>
            <a:r>
              <a:rPr lang="ro-RO" dirty="0"/>
              <a:t>: Toate nodurile accesează un singur spațiu cache</a:t>
            </a:r>
          </a:p>
          <a:p>
            <a:pPr>
              <a:buFont typeface="Arial" panose="020B0604020202020204" pitchFamily="34" charset="0"/>
              <a:buChar char="•"/>
            </a:pPr>
            <a:r>
              <a:rPr lang="ro-RO" b="1" dirty="0"/>
              <a:t>Cache distribuit</a:t>
            </a:r>
            <a:r>
              <a:rPr lang="ro-RO" dirty="0"/>
              <a:t>: memoria cache este distribuită între noduri în care funcția de </a:t>
            </a:r>
            <a:r>
              <a:rPr lang="ro-RO" dirty="0" err="1"/>
              <a:t>hashing</a:t>
            </a:r>
            <a:r>
              <a:rPr lang="ro-RO" dirty="0"/>
              <a:t> consecventă este utilizată pentru a direcționa cererea către datele necesare.</a:t>
            </a:r>
          </a:p>
          <a:p>
            <a:pPr>
              <a:buFont typeface="Arial" panose="020B0604020202020204" pitchFamily="34" charset="0"/>
              <a:buChar char="•"/>
            </a:pPr>
            <a:r>
              <a:rPr lang="ro-RO" b="1" dirty="0"/>
              <a:t>Content </a:t>
            </a:r>
            <a:r>
              <a:rPr lang="ro-RO" b="1" dirty="0" err="1"/>
              <a:t>Delivery</a:t>
            </a:r>
            <a:r>
              <a:rPr lang="ro-RO" b="1" dirty="0"/>
              <a:t> </a:t>
            </a:r>
            <a:r>
              <a:rPr lang="ro-RO" b="1" dirty="0" err="1"/>
              <a:t>Network</a:t>
            </a:r>
            <a:r>
              <a:rPr lang="ro-RO" b="1" dirty="0"/>
              <a:t> (CDN)</a:t>
            </a:r>
            <a:r>
              <a:rPr lang="ro-RO" dirty="0"/>
              <a:t>: este folosită pentru a furniza cantități mari de date statice.</a:t>
            </a:r>
          </a:p>
          <a:p>
            <a:r>
              <a:rPr lang="ro-RO" dirty="0"/>
              <a:t>Instrumente de stocare în cache:</a:t>
            </a:r>
          </a:p>
          <a:p>
            <a:r>
              <a:rPr lang="ro-RO" dirty="0"/>
              <a:t>Redis și </a:t>
            </a:r>
            <a:r>
              <a:rPr lang="ro-RO" dirty="0" err="1"/>
              <a:t>Memcached</a:t>
            </a:r>
            <a:r>
              <a:rPr lang="ro-RO" dirty="0"/>
              <a:t> sunt cele mai populare două sisteme de stocare în cache cu caracteristici similare. Cu toate acestea, Redis oferă un set bogat de instrumente care îl fac aplicabil pentru realizarea unei varietăți de sarcini. Pe de altă parte, </a:t>
            </a:r>
            <a:r>
              <a:rPr lang="ro-RO" dirty="0" err="1"/>
              <a:t>Memcached</a:t>
            </a:r>
            <a:r>
              <a:rPr lang="ro-RO" dirty="0"/>
              <a:t> este simplu și ușor de utilizat.</a:t>
            </a:r>
          </a:p>
        </p:txBody>
      </p:sp>
    </p:spTree>
    <p:extLst>
      <p:ext uri="{BB962C8B-B14F-4D97-AF65-F5344CB8AC3E}">
        <p14:creationId xmlns:p14="http://schemas.microsoft.com/office/powerpoint/2010/main" val="2162464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6A3F5-6CC1-48A7-5732-00B7D426C3BF}"/>
              </a:ext>
            </a:extLst>
          </p:cNvPr>
          <p:cNvSpPr>
            <a:spLocks noGrp="1"/>
          </p:cNvSpPr>
          <p:nvPr>
            <p:ph type="title"/>
          </p:nvPr>
        </p:nvSpPr>
        <p:spPr/>
        <p:txBody>
          <a:bodyPr/>
          <a:lstStyle/>
          <a:p>
            <a:r>
              <a:rPr lang="en-GB" dirty="0"/>
              <a:t>Trend-</a:t>
            </a:r>
            <a:r>
              <a:rPr lang="en-GB" dirty="0" err="1"/>
              <a:t>uri</a:t>
            </a:r>
            <a:r>
              <a:rPr lang="en-GB" dirty="0"/>
              <a:t> la </a:t>
            </a:r>
            <a:r>
              <a:rPr lang="en-GB" dirty="0" err="1"/>
              <a:t>nivelul</a:t>
            </a:r>
            <a:r>
              <a:rPr lang="en-GB" dirty="0"/>
              <a:t> </a:t>
            </a:r>
            <a:r>
              <a:rPr lang="en-GB" dirty="0" err="1"/>
              <a:t>Arhitecturii</a:t>
            </a:r>
            <a:endParaRPr lang="en-GB" dirty="0"/>
          </a:p>
        </p:txBody>
      </p:sp>
      <p:sp>
        <p:nvSpPr>
          <p:cNvPr id="3" name="Content Placeholder 2">
            <a:extLst>
              <a:ext uri="{FF2B5EF4-FFF2-40B4-BE49-F238E27FC236}">
                <a16:creationId xmlns:a16="http://schemas.microsoft.com/office/drawing/2014/main" id="{ECDE1425-2F1C-F220-E70A-633F39BC82C1}"/>
              </a:ext>
            </a:extLst>
          </p:cNvPr>
          <p:cNvSpPr>
            <a:spLocks noGrp="1"/>
          </p:cNvSpPr>
          <p:nvPr>
            <p:ph idx="1"/>
          </p:nvPr>
        </p:nvSpPr>
        <p:spPr>
          <a:xfrm>
            <a:off x="866474" y="1970690"/>
            <a:ext cx="9720073" cy="4023360"/>
          </a:xfrm>
        </p:spPr>
        <p:txBody>
          <a:bodyPr>
            <a:normAutofit/>
          </a:bodyPr>
          <a:lstStyle/>
          <a:p>
            <a:r>
              <a:rPr lang="ro-RO" b="1" dirty="0" err="1"/>
              <a:t>Load</a:t>
            </a:r>
            <a:r>
              <a:rPr lang="ro-RO" b="1" dirty="0"/>
              <a:t> </a:t>
            </a:r>
            <a:r>
              <a:rPr lang="ro-RO" b="1" dirty="0" err="1"/>
              <a:t>Balancer</a:t>
            </a:r>
            <a:endParaRPr lang="ro-RO" b="1" dirty="0"/>
          </a:p>
          <a:p>
            <a:r>
              <a:rPr lang="ro-RO" dirty="0"/>
              <a:t>Serviciu care balansează încărcarea de trafic prin distribuția pe diverse servere în funcție de disponibilitate sau de politicile predefinite. Atunci când o solicitare este primită, </a:t>
            </a:r>
            <a:r>
              <a:rPr lang="ro-RO" dirty="0" err="1"/>
              <a:t>Load</a:t>
            </a:r>
            <a:r>
              <a:rPr lang="ro-RO" dirty="0"/>
              <a:t> </a:t>
            </a:r>
            <a:r>
              <a:rPr lang="ro-RO" dirty="0" err="1"/>
              <a:t>Balancerul</a:t>
            </a:r>
            <a:r>
              <a:rPr lang="ro-RO" dirty="0"/>
              <a:t> preia starea serverului (în termeni de disponibilitate și </a:t>
            </a:r>
            <a:r>
              <a:rPr lang="ro-RO" dirty="0" err="1"/>
              <a:t>scalabilitate</a:t>
            </a:r>
            <a:r>
              <a:rPr lang="ro-RO" dirty="0"/>
              <a:t>) și direcționează cererea către cel mai bun server. </a:t>
            </a:r>
          </a:p>
          <a:p>
            <a:r>
              <a:rPr lang="ro-RO" dirty="0"/>
              <a:t>Un echilibrator de încărcare poate fi o componentă hardware sau un program software. Balansarea sarcinii se poate face în două moduri:</a:t>
            </a:r>
          </a:p>
          <a:p>
            <a:r>
              <a:rPr lang="ro-RO" dirty="0"/>
              <a:t>1) </a:t>
            </a:r>
            <a:r>
              <a:rPr lang="ro-RO" b="1" dirty="0" err="1"/>
              <a:t>Load</a:t>
            </a:r>
            <a:r>
              <a:rPr lang="ro-RO" b="1" dirty="0"/>
              <a:t> </a:t>
            </a:r>
            <a:r>
              <a:rPr lang="ro-RO" b="1" dirty="0" err="1"/>
              <a:t>Balancer</a:t>
            </a:r>
            <a:r>
              <a:rPr lang="ro-RO" b="1" dirty="0"/>
              <a:t> la nivel TCP/IP</a:t>
            </a:r>
            <a:r>
              <a:rPr lang="ro-RO" dirty="0"/>
              <a:t>: Balansarea de încărcare bazată pe DNS.</a:t>
            </a:r>
          </a:p>
          <a:p>
            <a:r>
              <a:rPr lang="ro-RO" dirty="0"/>
              <a:t>2) </a:t>
            </a:r>
            <a:r>
              <a:rPr lang="ro-RO" b="1" dirty="0" err="1"/>
              <a:t>Load</a:t>
            </a:r>
            <a:r>
              <a:rPr lang="ro-RO" b="1" dirty="0"/>
              <a:t> </a:t>
            </a:r>
            <a:r>
              <a:rPr lang="ro-RO" b="1" dirty="0" err="1"/>
              <a:t>Balancer</a:t>
            </a:r>
            <a:r>
              <a:rPr lang="ro-RO" b="1" dirty="0"/>
              <a:t> la nivel de aplicație</a:t>
            </a:r>
            <a:r>
              <a:rPr lang="ro-RO" dirty="0"/>
              <a:t>: Balansarea sarcinii bazată pe încărcarea aplicației.</a:t>
            </a:r>
          </a:p>
        </p:txBody>
      </p:sp>
    </p:spTree>
    <p:extLst>
      <p:ext uri="{BB962C8B-B14F-4D97-AF65-F5344CB8AC3E}">
        <p14:creationId xmlns:p14="http://schemas.microsoft.com/office/powerpoint/2010/main" val="2793784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9200C8B5-FB5A-4F8B-A9BD-693C051418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u 1"/>
          <p:cNvSpPr>
            <a:spLocks noGrp="1"/>
          </p:cNvSpPr>
          <p:nvPr>
            <p:ph type="title"/>
          </p:nvPr>
        </p:nvSpPr>
        <p:spPr>
          <a:xfrm>
            <a:off x="1024129" y="585216"/>
            <a:ext cx="4431792" cy="1499616"/>
          </a:xfrm>
        </p:spPr>
        <p:txBody>
          <a:bodyPr vert="horz" lIns="91440" tIns="45720" rIns="91440" bIns="45720" rtlCol="0" anchor="ctr">
            <a:normAutofit/>
          </a:bodyPr>
          <a:lstStyle/>
          <a:p>
            <a:r>
              <a:rPr lang="en-US"/>
              <a:t>Monolit</a:t>
            </a:r>
          </a:p>
        </p:txBody>
      </p:sp>
      <p:sp>
        <p:nvSpPr>
          <p:cNvPr id="3" name="Content Placeholder 2">
            <a:extLst>
              <a:ext uri="{FF2B5EF4-FFF2-40B4-BE49-F238E27FC236}">
                <a16:creationId xmlns:a16="http://schemas.microsoft.com/office/drawing/2014/main" id="{3DA7B80B-368E-450A-9B2F-776CCB99F292}"/>
              </a:ext>
            </a:extLst>
          </p:cNvPr>
          <p:cNvSpPr txBox="1">
            <a:spLocks/>
          </p:cNvSpPr>
          <p:nvPr/>
        </p:nvSpPr>
        <p:spPr>
          <a:xfrm>
            <a:off x="762000" y="1912882"/>
            <a:ext cx="4813664" cy="4133088"/>
          </a:xfrm>
          <a:prstGeom prst="rect">
            <a:avLst/>
          </a:prstGeom>
        </p:spPr>
        <p:txBody>
          <a:bodyPr vert="horz" lIns="45720" tIns="45720" rIns="45720" bIns="45720" rtlCol="0">
            <a:normAutofit lnSpcReduction="10000"/>
          </a:bodyPr>
          <a:lstStyle>
            <a:lvl1pPr marL="223838" indent="-223838" algn="l" defTabSz="914400" rtl="0" eaLnBrk="1" latinLnBrk="0" hangingPunct="1">
              <a:lnSpc>
                <a:spcPct val="90000"/>
              </a:lnSpc>
              <a:spcBef>
                <a:spcPts val="1800"/>
              </a:spcBef>
              <a:buClr>
                <a:schemeClr val="accent1"/>
              </a:buClr>
              <a:buSzPct val="100000"/>
              <a:buFont typeface="Arial"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4pPr>
            <a:lvl5pPr marL="1030288" indent="-173038"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a:lstStyle>
          <a:p>
            <a:pPr lvl="1">
              <a:buFont typeface="Wingdings" panose="05000000000000000000" pitchFamily="2" charset="2"/>
              <a:buChar char="q"/>
            </a:pPr>
            <a:r>
              <a:rPr lang="ro-RO" sz="2400" dirty="0"/>
              <a:t> Natura </a:t>
            </a:r>
            <a:r>
              <a:rPr lang="ro-RO" sz="2400" b="1" dirty="0"/>
              <a:t>unitară</a:t>
            </a:r>
            <a:endParaRPr lang="ro-RO" sz="2400" dirty="0"/>
          </a:p>
          <a:p>
            <a:pPr lvl="1">
              <a:buFont typeface="Wingdings" panose="05000000000000000000" pitchFamily="2" charset="2"/>
              <a:buChar char="q"/>
            </a:pPr>
            <a:r>
              <a:rPr lang="ro-RO" sz="2400" dirty="0"/>
              <a:t> Toate funcționalitățile într-un singur program</a:t>
            </a:r>
          </a:p>
          <a:p>
            <a:pPr lvl="1">
              <a:buFont typeface="Wingdings" panose="05000000000000000000" pitchFamily="2" charset="2"/>
              <a:buChar char="q"/>
            </a:pPr>
            <a:r>
              <a:rPr lang="ro-RO" sz="2400" dirty="0"/>
              <a:t> Modularizat din punct de vedere </a:t>
            </a:r>
            <a:r>
              <a:rPr lang="ro-RO" sz="2400" b="1" dirty="0"/>
              <a:t>logic</a:t>
            </a:r>
          </a:p>
          <a:p>
            <a:pPr lvl="1">
              <a:buFont typeface="Wingdings" panose="05000000000000000000" pitchFamily="2" charset="2"/>
              <a:buChar char="q"/>
            </a:pPr>
            <a:r>
              <a:rPr lang="ro-RO" sz="2400" dirty="0"/>
              <a:t> Comunicație </a:t>
            </a:r>
            <a:r>
              <a:rPr lang="ro-RO" sz="2400" b="1" dirty="0"/>
              <a:t>in-</a:t>
            </a:r>
            <a:r>
              <a:rPr lang="ro-RO" sz="2400" b="1" dirty="0" err="1"/>
              <a:t>process</a:t>
            </a:r>
            <a:r>
              <a:rPr lang="ro-RO" sz="2400" dirty="0"/>
              <a:t>, prin </a:t>
            </a:r>
            <a:r>
              <a:rPr lang="ro-RO" sz="2400" b="1" dirty="0"/>
              <a:t>apeluri de funcții </a:t>
            </a:r>
            <a:r>
              <a:rPr lang="ro-RO" sz="2400" dirty="0"/>
              <a:t>sau prin </a:t>
            </a:r>
            <a:r>
              <a:rPr lang="ro-RO" sz="2400" b="1" dirty="0"/>
              <a:t>evenimente</a:t>
            </a:r>
          </a:p>
          <a:p>
            <a:pPr lvl="1">
              <a:buFont typeface="Wingdings" panose="05000000000000000000" pitchFamily="2" charset="2"/>
              <a:buChar char="q"/>
            </a:pPr>
            <a:r>
              <a:rPr lang="ro-RO" sz="2400" dirty="0"/>
              <a:t> Greu de </a:t>
            </a:r>
            <a:r>
              <a:rPr lang="ro-RO" sz="2400" b="1" dirty="0"/>
              <a:t>izolat funcționalități</a:t>
            </a:r>
            <a:r>
              <a:rPr lang="ro-RO" sz="2400" dirty="0"/>
              <a:t> în caz de </a:t>
            </a:r>
            <a:r>
              <a:rPr lang="ro-RO" sz="2400" dirty="0" err="1"/>
              <a:t>debug</a:t>
            </a:r>
            <a:endParaRPr lang="ro-RO" sz="2400" b="1" dirty="0"/>
          </a:p>
          <a:p>
            <a:pPr lvl="1">
              <a:buFont typeface="Wingdings" panose="05000000000000000000" pitchFamily="2" charset="2"/>
              <a:buChar char="q"/>
            </a:pPr>
            <a:r>
              <a:rPr lang="ro-RO" sz="2400" dirty="0"/>
              <a:t> Ușor de implementat</a:t>
            </a:r>
          </a:p>
          <a:p>
            <a:pPr marL="231775" lvl="1" indent="0">
              <a:buNone/>
            </a:pPr>
            <a:endParaRPr lang="ro-RO" sz="2400" b="1" dirty="0"/>
          </a:p>
          <a:p>
            <a:pPr lvl="1"/>
            <a:endParaRPr lang="ro-RO" sz="2400" dirty="0"/>
          </a:p>
        </p:txBody>
      </p:sp>
      <p:pic>
        <p:nvPicPr>
          <p:cNvPr id="5" name="Picture 4" descr="A picture containing grass, building, megalith, stone&#10;&#10;Description automatically generated">
            <a:extLst>
              <a:ext uri="{FF2B5EF4-FFF2-40B4-BE49-F238E27FC236}">
                <a16:creationId xmlns:a16="http://schemas.microsoft.com/office/drawing/2014/main" id="{485CF274-0346-4D5C-8FC4-2541774564C7}"/>
              </a:ext>
            </a:extLst>
          </p:cNvPr>
          <p:cNvPicPr>
            <a:picLocks noChangeAspect="1"/>
          </p:cNvPicPr>
          <p:nvPr/>
        </p:nvPicPr>
        <p:blipFill>
          <a:blip r:embed="rId2"/>
          <a:stretch>
            <a:fillRect/>
          </a:stretch>
        </p:blipFill>
        <p:spPr>
          <a:xfrm>
            <a:off x="6096002" y="1669467"/>
            <a:ext cx="5455921" cy="3519069"/>
          </a:xfrm>
          <a:prstGeom prst="rect">
            <a:avLst/>
          </a:prstGeom>
        </p:spPr>
      </p:pic>
    </p:spTree>
    <p:extLst>
      <p:ext uri="{BB962C8B-B14F-4D97-AF65-F5344CB8AC3E}">
        <p14:creationId xmlns:p14="http://schemas.microsoft.com/office/powerpoint/2010/main" val="2590506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6" name="Straight Connector 9">
            <a:extLst>
              <a:ext uri="{FF2B5EF4-FFF2-40B4-BE49-F238E27FC236}">
                <a16:creationId xmlns:a16="http://schemas.microsoft.com/office/drawing/2014/main" id="{9200C8B5-FB5A-4F8B-A9BD-693C051418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u 1"/>
          <p:cNvSpPr>
            <a:spLocks noGrp="1"/>
          </p:cNvSpPr>
          <p:nvPr>
            <p:ph type="title"/>
          </p:nvPr>
        </p:nvSpPr>
        <p:spPr>
          <a:xfrm>
            <a:off x="1024129" y="585216"/>
            <a:ext cx="4431792" cy="1499616"/>
          </a:xfrm>
        </p:spPr>
        <p:txBody>
          <a:bodyPr vert="horz" lIns="91440" tIns="45720" rIns="91440" bIns="45720" rtlCol="0" anchor="ctr">
            <a:normAutofit/>
          </a:bodyPr>
          <a:lstStyle/>
          <a:p>
            <a:r>
              <a:rPr lang="en-US"/>
              <a:t>Microservicii</a:t>
            </a:r>
          </a:p>
        </p:txBody>
      </p:sp>
      <p:sp>
        <p:nvSpPr>
          <p:cNvPr id="3" name="Content Placeholder 2">
            <a:extLst>
              <a:ext uri="{FF2B5EF4-FFF2-40B4-BE49-F238E27FC236}">
                <a16:creationId xmlns:a16="http://schemas.microsoft.com/office/drawing/2014/main" id="{3DA7B80B-368E-450A-9B2F-776CCB99F292}"/>
              </a:ext>
            </a:extLst>
          </p:cNvPr>
          <p:cNvSpPr txBox="1">
            <a:spLocks/>
          </p:cNvSpPr>
          <p:nvPr/>
        </p:nvSpPr>
        <p:spPr>
          <a:xfrm>
            <a:off x="640077" y="1737666"/>
            <a:ext cx="5592554" cy="4724407"/>
          </a:xfrm>
          <a:prstGeom prst="rect">
            <a:avLst/>
          </a:prstGeom>
        </p:spPr>
        <p:txBody>
          <a:bodyPr vert="horz" lIns="45720" tIns="45720" rIns="45720" bIns="45720" rtlCol="0">
            <a:normAutofit fontScale="92500"/>
          </a:bodyPr>
          <a:lstStyle>
            <a:lvl1pPr marL="223838" indent="-223838" algn="l" defTabSz="914400" rtl="0" eaLnBrk="1" latinLnBrk="0" hangingPunct="1">
              <a:lnSpc>
                <a:spcPct val="90000"/>
              </a:lnSpc>
              <a:spcBef>
                <a:spcPts val="1800"/>
              </a:spcBef>
              <a:buClr>
                <a:schemeClr val="accent1"/>
              </a:buClr>
              <a:buSzPct val="100000"/>
              <a:buFont typeface="Arial"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4pPr>
            <a:lvl5pPr marL="1030288" indent="-173038"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a:lstStyle>
          <a:p>
            <a:pPr lvl="1">
              <a:buFont typeface="Wingdings" panose="05000000000000000000" pitchFamily="2" charset="2"/>
              <a:buChar char="q"/>
            </a:pPr>
            <a:r>
              <a:rPr lang="ro-RO" dirty="0"/>
              <a:t> Natură </a:t>
            </a:r>
            <a:r>
              <a:rPr lang="ro-RO" b="1" dirty="0"/>
              <a:t>distribuită</a:t>
            </a:r>
            <a:endParaRPr lang="ro-RO" dirty="0"/>
          </a:p>
          <a:p>
            <a:pPr lvl="1">
              <a:buFont typeface="Wingdings" panose="05000000000000000000" pitchFamily="2" charset="2"/>
              <a:buChar char="q"/>
            </a:pPr>
            <a:r>
              <a:rPr lang="ro-RO" dirty="0"/>
              <a:t> Funcționalitățile </a:t>
            </a:r>
            <a:r>
              <a:rPr lang="ro-RO" b="1" i="1" dirty="0"/>
              <a:t>disjuncte</a:t>
            </a:r>
            <a:r>
              <a:rPr lang="ro-RO" dirty="0"/>
              <a:t> sunt implementate în module </a:t>
            </a:r>
            <a:r>
              <a:rPr lang="ro-RO" b="1" dirty="0"/>
              <a:t>fizice separate</a:t>
            </a:r>
          </a:p>
          <a:p>
            <a:pPr lvl="1">
              <a:buFont typeface="Wingdings" panose="05000000000000000000" pitchFamily="2" charset="2"/>
              <a:buChar char="q"/>
            </a:pPr>
            <a:r>
              <a:rPr lang="ro-RO" dirty="0"/>
              <a:t> Fiecare </a:t>
            </a:r>
            <a:r>
              <a:rPr lang="ro-RO" dirty="0" err="1"/>
              <a:t>microserviciu</a:t>
            </a:r>
            <a:r>
              <a:rPr lang="ro-RO" dirty="0"/>
              <a:t> trebuie să fie capabil să execute acțiunile pentru care a fost făcut cu ajutor minimal din exterior </a:t>
            </a:r>
            <a:r>
              <a:rPr lang="ro-RO" b="1" dirty="0"/>
              <a:t>(compact </a:t>
            </a:r>
            <a:r>
              <a:rPr lang="ro-RO" dirty="0"/>
              <a:t>și</a:t>
            </a:r>
            <a:r>
              <a:rPr lang="ro-RO" b="1" dirty="0"/>
              <a:t> self-</a:t>
            </a:r>
            <a:r>
              <a:rPr lang="ro-RO" b="1" dirty="0" err="1"/>
              <a:t>contained</a:t>
            </a:r>
            <a:r>
              <a:rPr lang="ro-RO" b="1" dirty="0"/>
              <a:t>)</a:t>
            </a:r>
            <a:endParaRPr lang="ro-RO" dirty="0"/>
          </a:p>
          <a:p>
            <a:pPr lvl="1">
              <a:buFont typeface="Wingdings" panose="05000000000000000000" pitchFamily="2" charset="2"/>
              <a:buChar char="q"/>
            </a:pPr>
            <a:r>
              <a:rPr lang="ro-RO" dirty="0"/>
              <a:t> </a:t>
            </a:r>
            <a:r>
              <a:rPr lang="ro-RO" dirty="0" err="1"/>
              <a:t>Microserviciile</a:t>
            </a:r>
            <a:r>
              <a:rPr lang="ro-RO" dirty="0"/>
              <a:t> comunică între ele prin mai două moduri:</a:t>
            </a:r>
          </a:p>
          <a:p>
            <a:pPr lvl="2">
              <a:buFont typeface="Wingdings" panose="05000000000000000000" pitchFamily="2" charset="2"/>
              <a:buChar char="q"/>
            </a:pPr>
            <a:r>
              <a:rPr lang="ro-RO" sz="2000" b="1" dirty="0"/>
              <a:t> Sincron – REST, </a:t>
            </a:r>
            <a:r>
              <a:rPr lang="ro-RO" sz="2000" b="1" dirty="0" err="1"/>
              <a:t>gRPC</a:t>
            </a:r>
            <a:endParaRPr lang="ro-RO" sz="2000" dirty="0"/>
          </a:p>
          <a:p>
            <a:pPr lvl="2">
              <a:buFont typeface="Wingdings" panose="05000000000000000000" pitchFamily="2" charset="2"/>
              <a:buChar char="q"/>
            </a:pPr>
            <a:r>
              <a:rPr lang="ro-RO" sz="2000" b="1" dirty="0"/>
              <a:t> Asincron – cozi de mesaje (</a:t>
            </a:r>
            <a:r>
              <a:rPr lang="ro-RO" sz="2000" dirty="0" err="1"/>
              <a:t>RabbitMQ</a:t>
            </a:r>
            <a:r>
              <a:rPr lang="ro-RO" sz="2000" dirty="0"/>
              <a:t>, Kafka)</a:t>
            </a:r>
            <a:r>
              <a:rPr lang="ro-RO" sz="2000" b="1" dirty="0"/>
              <a:t> </a:t>
            </a:r>
          </a:p>
          <a:p>
            <a:pPr lvl="1">
              <a:buFont typeface="Wingdings" panose="05000000000000000000" pitchFamily="2" charset="2"/>
              <a:buChar char="q"/>
            </a:pPr>
            <a:r>
              <a:rPr lang="ro-RO" b="1" dirty="0"/>
              <a:t> Dificil</a:t>
            </a:r>
            <a:r>
              <a:rPr lang="ro-RO" dirty="0"/>
              <a:t> de gestionat date</a:t>
            </a:r>
          </a:p>
          <a:p>
            <a:pPr lvl="2">
              <a:buFont typeface="Wingdings" panose="05000000000000000000" pitchFamily="2" charset="2"/>
              <a:buChar char="q"/>
            </a:pPr>
            <a:r>
              <a:rPr lang="ro-RO" dirty="0"/>
              <a:t>Fiecare </a:t>
            </a:r>
            <a:r>
              <a:rPr lang="ro-RO" dirty="0" err="1"/>
              <a:t>microserviciu</a:t>
            </a:r>
            <a:r>
              <a:rPr lang="ro-RO" dirty="0"/>
              <a:t> </a:t>
            </a:r>
            <a:r>
              <a:rPr lang="ro-RO" b="1" i="1" dirty="0"/>
              <a:t>ar trebui</a:t>
            </a:r>
            <a:r>
              <a:rPr lang="ro-RO" dirty="0"/>
              <a:t> să aibă </a:t>
            </a:r>
            <a:r>
              <a:rPr lang="ro-RO" b="1" dirty="0"/>
              <a:t>doar </a:t>
            </a:r>
            <a:r>
              <a:rPr lang="ro-RO" dirty="0"/>
              <a:t>informația lui privată</a:t>
            </a:r>
          </a:p>
          <a:p>
            <a:pPr lvl="1">
              <a:buFont typeface="Wingdings" panose="05000000000000000000" pitchFamily="2" charset="2"/>
              <a:buChar char="q"/>
            </a:pPr>
            <a:r>
              <a:rPr lang="ro-RO" dirty="0"/>
              <a:t> </a:t>
            </a:r>
            <a:r>
              <a:rPr lang="ro-RO" b="1" dirty="0"/>
              <a:t>Dificil </a:t>
            </a:r>
            <a:r>
              <a:rPr lang="ro-RO" dirty="0"/>
              <a:t>de implementat</a:t>
            </a:r>
          </a:p>
          <a:p>
            <a:pPr marL="231775" lvl="1" indent="0">
              <a:buNone/>
            </a:pPr>
            <a:endParaRPr lang="ro-RO" b="1" dirty="0"/>
          </a:p>
          <a:p>
            <a:pPr lvl="1"/>
            <a:endParaRPr lang="ro-RO" dirty="0"/>
          </a:p>
        </p:txBody>
      </p:sp>
      <p:pic>
        <p:nvPicPr>
          <p:cNvPr id="5" name="Picture 4">
            <a:extLst>
              <a:ext uri="{FF2B5EF4-FFF2-40B4-BE49-F238E27FC236}">
                <a16:creationId xmlns:a16="http://schemas.microsoft.com/office/drawing/2014/main" id="{2B633731-D16F-49D8-97D5-B43BF92EF482}"/>
              </a:ext>
            </a:extLst>
          </p:cNvPr>
          <p:cNvPicPr>
            <a:picLocks noChangeAspect="1"/>
          </p:cNvPicPr>
          <p:nvPr/>
        </p:nvPicPr>
        <p:blipFill>
          <a:blip r:embed="rId2"/>
          <a:stretch>
            <a:fillRect/>
          </a:stretch>
        </p:blipFill>
        <p:spPr>
          <a:xfrm>
            <a:off x="6096002" y="1737666"/>
            <a:ext cx="5455921" cy="3382671"/>
          </a:xfrm>
          <a:prstGeom prst="rect">
            <a:avLst/>
          </a:prstGeom>
        </p:spPr>
      </p:pic>
    </p:spTree>
    <p:extLst>
      <p:ext uri="{BB962C8B-B14F-4D97-AF65-F5344CB8AC3E}">
        <p14:creationId xmlns:p14="http://schemas.microsoft.com/office/powerpoint/2010/main" val="2726565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AA3BD-D700-4B52-B2FA-3BF3E253AF8F}"/>
              </a:ext>
            </a:extLst>
          </p:cNvPr>
          <p:cNvSpPr>
            <a:spLocks noGrp="1"/>
          </p:cNvSpPr>
          <p:nvPr>
            <p:ph type="title"/>
          </p:nvPr>
        </p:nvSpPr>
        <p:spPr/>
        <p:txBody>
          <a:bodyPr/>
          <a:lstStyle/>
          <a:p>
            <a:r>
              <a:rPr lang="en-US" sz="5400" dirty="0" err="1"/>
              <a:t>Monolit</a:t>
            </a:r>
            <a:r>
              <a:rPr lang="en-US" sz="5400" dirty="0"/>
              <a:t> vs </a:t>
            </a:r>
            <a:r>
              <a:rPr lang="en-US" sz="5400" dirty="0" err="1"/>
              <a:t>Microservicii</a:t>
            </a:r>
            <a:endParaRPr lang="en-US" dirty="0"/>
          </a:p>
        </p:txBody>
      </p:sp>
      <p:sp>
        <p:nvSpPr>
          <p:cNvPr id="6" name="Text Placeholder 5">
            <a:extLst>
              <a:ext uri="{FF2B5EF4-FFF2-40B4-BE49-F238E27FC236}">
                <a16:creationId xmlns:a16="http://schemas.microsoft.com/office/drawing/2014/main" id="{BCA4F608-FFB9-4BAE-82E4-755FA8E0CD41}"/>
              </a:ext>
            </a:extLst>
          </p:cNvPr>
          <p:cNvSpPr>
            <a:spLocks noGrp="1"/>
          </p:cNvSpPr>
          <p:nvPr>
            <p:ph type="body" idx="1"/>
          </p:nvPr>
        </p:nvSpPr>
        <p:spPr>
          <a:xfrm>
            <a:off x="1119567" y="1591650"/>
            <a:ext cx="4754880" cy="822960"/>
          </a:xfrm>
        </p:spPr>
        <p:txBody>
          <a:bodyPr/>
          <a:lstStyle/>
          <a:p>
            <a:r>
              <a:rPr lang="en-US" dirty="0" err="1"/>
              <a:t>Monolit</a:t>
            </a:r>
            <a:endParaRPr lang="en-US" dirty="0"/>
          </a:p>
        </p:txBody>
      </p:sp>
      <p:sp>
        <p:nvSpPr>
          <p:cNvPr id="3" name="Substituent conținut 2">
            <a:extLst>
              <a:ext uri="{FF2B5EF4-FFF2-40B4-BE49-F238E27FC236}">
                <a16:creationId xmlns:a16="http://schemas.microsoft.com/office/drawing/2014/main" id="{CA0CAF55-CBD0-4EB0-A61D-ECAC73B31C3F}"/>
              </a:ext>
            </a:extLst>
          </p:cNvPr>
          <p:cNvSpPr>
            <a:spLocks noGrp="1"/>
          </p:cNvSpPr>
          <p:nvPr>
            <p:ph sz="half" idx="2"/>
          </p:nvPr>
        </p:nvSpPr>
        <p:spPr>
          <a:xfrm>
            <a:off x="1024128" y="2421250"/>
            <a:ext cx="4754880" cy="3341572"/>
          </a:xfrm>
        </p:spPr>
        <p:txBody>
          <a:bodyPr>
            <a:noAutofit/>
          </a:bodyPr>
          <a:lstStyle/>
          <a:p>
            <a:pPr>
              <a:buFont typeface="Wingdings" panose="05000000000000000000" pitchFamily="2" charset="2"/>
              <a:buChar char="§"/>
            </a:pPr>
            <a:r>
              <a:rPr lang="ro-RO" sz="1600" dirty="0"/>
              <a:t> mai ușor de dezvoltat (companii la început de drum)</a:t>
            </a:r>
          </a:p>
          <a:p>
            <a:pPr>
              <a:buFont typeface="Wingdings" panose="05000000000000000000" pitchFamily="2" charset="2"/>
              <a:buChar char="§"/>
            </a:pPr>
            <a:r>
              <a:rPr lang="ro-RO" sz="1600" dirty="0"/>
              <a:t> indicat pentru aplicații mici, fără multă complexitate</a:t>
            </a:r>
          </a:p>
          <a:p>
            <a:pPr>
              <a:buFont typeface="Wingdings" panose="05000000000000000000" pitchFamily="2" charset="2"/>
              <a:buChar char="§"/>
            </a:pPr>
            <a:r>
              <a:rPr lang="ro-RO" sz="1600" dirty="0"/>
              <a:t> folosește același limbaj de programare pentru fiecare modul al său (sau un singur </a:t>
            </a:r>
            <a:r>
              <a:rPr lang="ro-RO" sz="1600" dirty="0" err="1"/>
              <a:t>framework</a:t>
            </a:r>
            <a:r>
              <a:rPr lang="ro-RO" sz="1600" dirty="0"/>
              <a:t>/proiect)</a:t>
            </a:r>
          </a:p>
          <a:p>
            <a:pPr>
              <a:buFont typeface="Wingdings" panose="05000000000000000000" pitchFamily="2" charset="2"/>
              <a:buChar char="§"/>
            </a:pPr>
            <a:r>
              <a:rPr lang="ro-RO" sz="1600" b="1" dirty="0"/>
              <a:t> greu de </a:t>
            </a:r>
            <a:r>
              <a:rPr lang="ro-RO" sz="1600" b="1" dirty="0" err="1"/>
              <a:t>scalat</a:t>
            </a:r>
            <a:r>
              <a:rPr lang="ro-RO" sz="1600" dirty="0"/>
              <a:t>, deoarece toata aplicația trebuie replicate integral</a:t>
            </a:r>
            <a:endParaRPr lang="ro-RO" sz="1600" b="1" dirty="0"/>
          </a:p>
          <a:p>
            <a:pPr>
              <a:buFont typeface="Wingdings" panose="05000000000000000000" pitchFamily="2" charset="2"/>
              <a:buChar char="§"/>
            </a:pPr>
            <a:r>
              <a:rPr lang="ro-RO" sz="1600" b="1" dirty="0"/>
              <a:t> </a:t>
            </a:r>
            <a:r>
              <a:rPr lang="ro-RO" sz="1600" b="1" dirty="0" err="1"/>
              <a:t>Deployment-ul</a:t>
            </a:r>
            <a:r>
              <a:rPr lang="ro-RO" sz="1600" dirty="0"/>
              <a:t> are de suferit deoarece toată aplicația trebuie recompilată si re-rulată la fiecare modificare</a:t>
            </a:r>
          </a:p>
          <a:p>
            <a:pPr>
              <a:buFont typeface="Wingdings" panose="05000000000000000000" pitchFamily="2" charset="2"/>
              <a:buChar char="§"/>
            </a:pPr>
            <a:r>
              <a:rPr lang="ro-RO" sz="1600" dirty="0"/>
              <a:t>nu adera la practicile </a:t>
            </a:r>
            <a:r>
              <a:rPr lang="ro-RO" sz="1600" b="1" dirty="0"/>
              <a:t>Agile </a:t>
            </a:r>
            <a:r>
              <a:rPr lang="ro-RO" sz="1600" dirty="0"/>
              <a:t>la fel ca </a:t>
            </a:r>
            <a:r>
              <a:rPr lang="ro-RO" sz="1600" dirty="0" err="1"/>
              <a:t>microserviciile</a:t>
            </a:r>
            <a:endParaRPr lang="ro-RO" sz="1600" dirty="0"/>
          </a:p>
        </p:txBody>
      </p:sp>
      <p:sp>
        <p:nvSpPr>
          <p:cNvPr id="7" name="Text Placeholder 6">
            <a:extLst>
              <a:ext uri="{FF2B5EF4-FFF2-40B4-BE49-F238E27FC236}">
                <a16:creationId xmlns:a16="http://schemas.microsoft.com/office/drawing/2014/main" id="{96316371-CF71-462C-B09B-C21EA86B3994}"/>
              </a:ext>
            </a:extLst>
          </p:cNvPr>
          <p:cNvSpPr>
            <a:spLocks noGrp="1"/>
          </p:cNvSpPr>
          <p:nvPr>
            <p:ph type="body" sz="quarter" idx="3"/>
          </p:nvPr>
        </p:nvSpPr>
        <p:spPr>
          <a:xfrm>
            <a:off x="6096000" y="1591650"/>
            <a:ext cx="4754880" cy="822960"/>
          </a:xfrm>
        </p:spPr>
        <p:txBody>
          <a:bodyPr/>
          <a:lstStyle/>
          <a:p>
            <a:r>
              <a:rPr lang="en-US" dirty="0" err="1"/>
              <a:t>Microservicii</a:t>
            </a:r>
            <a:endParaRPr lang="en-US" dirty="0"/>
          </a:p>
        </p:txBody>
      </p:sp>
      <p:sp>
        <p:nvSpPr>
          <p:cNvPr id="4" name="Substituent conținut 3">
            <a:extLst>
              <a:ext uri="{FF2B5EF4-FFF2-40B4-BE49-F238E27FC236}">
                <a16:creationId xmlns:a16="http://schemas.microsoft.com/office/drawing/2014/main" id="{DE50F46D-E38A-4D4E-B7E4-6DD410DEEE11}"/>
              </a:ext>
            </a:extLst>
          </p:cNvPr>
          <p:cNvSpPr>
            <a:spLocks noGrp="1"/>
          </p:cNvSpPr>
          <p:nvPr>
            <p:ph sz="quarter" idx="4"/>
          </p:nvPr>
        </p:nvSpPr>
        <p:spPr>
          <a:xfrm>
            <a:off x="6222114" y="2295126"/>
            <a:ext cx="5318243" cy="3341572"/>
          </a:xfrm>
        </p:spPr>
        <p:txBody>
          <a:bodyPr>
            <a:noAutofit/>
          </a:bodyPr>
          <a:lstStyle/>
          <a:p>
            <a:pPr>
              <a:buFont typeface="Wingdings" panose="05000000000000000000" pitchFamily="2" charset="2"/>
              <a:buChar char="§"/>
            </a:pPr>
            <a:r>
              <a:rPr lang="ro-RO" sz="1600" b="1" dirty="0"/>
              <a:t> </a:t>
            </a:r>
            <a:r>
              <a:rPr lang="ro-RO" sz="1600" b="1" dirty="0" err="1"/>
              <a:t>microserviciile</a:t>
            </a:r>
            <a:r>
              <a:rPr lang="ro-RO" sz="1600" b="1" dirty="0"/>
              <a:t> </a:t>
            </a:r>
            <a:r>
              <a:rPr lang="ro-RO" sz="1600" dirty="0"/>
              <a:t>separă problemele de business in servicii decuplate fizic</a:t>
            </a:r>
          </a:p>
          <a:p>
            <a:pPr>
              <a:buFont typeface="Wingdings" panose="05000000000000000000" pitchFamily="2" charset="2"/>
              <a:buChar char="§"/>
            </a:pPr>
            <a:r>
              <a:rPr lang="ro-RO" sz="1600" dirty="0"/>
              <a:t> fiecare </a:t>
            </a:r>
            <a:r>
              <a:rPr lang="ro-RO" sz="1600" b="1" dirty="0" err="1"/>
              <a:t>microserviciu</a:t>
            </a:r>
            <a:r>
              <a:rPr lang="ro-RO" sz="1600" dirty="0"/>
              <a:t> poate fi dezvoltat în orice tehnologie</a:t>
            </a:r>
          </a:p>
          <a:p>
            <a:pPr>
              <a:buFont typeface="Wingdings" panose="05000000000000000000" pitchFamily="2" charset="2"/>
              <a:buChar char="§"/>
            </a:pPr>
            <a:r>
              <a:rPr lang="ro-RO" sz="1600" dirty="0"/>
              <a:t> ușor de </a:t>
            </a:r>
            <a:r>
              <a:rPr lang="ro-RO" sz="1600" b="1" dirty="0" err="1"/>
              <a:t>scalat</a:t>
            </a:r>
            <a:r>
              <a:rPr lang="ro-RO" sz="1600" dirty="0"/>
              <a:t>, deoarece </a:t>
            </a:r>
            <a:r>
              <a:rPr lang="ro-RO" sz="1600" dirty="0" err="1"/>
              <a:t>microserviciile</a:t>
            </a:r>
            <a:r>
              <a:rPr lang="ro-RO" sz="1600" dirty="0"/>
              <a:t> critice pot fi </a:t>
            </a:r>
            <a:r>
              <a:rPr lang="ro-RO" sz="1600" dirty="0" err="1"/>
              <a:t>scalate</a:t>
            </a:r>
            <a:r>
              <a:rPr lang="ro-RO" sz="1600" dirty="0"/>
              <a:t> individual</a:t>
            </a:r>
          </a:p>
          <a:p>
            <a:pPr>
              <a:buFont typeface="Wingdings" panose="05000000000000000000" pitchFamily="2" charset="2"/>
              <a:buChar char="§"/>
            </a:pPr>
            <a:r>
              <a:rPr lang="ro-RO" sz="1600" b="1" dirty="0"/>
              <a:t> </a:t>
            </a:r>
            <a:r>
              <a:rPr lang="ro-RO" sz="1600" b="1" dirty="0" err="1"/>
              <a:t>deployment</a:t>
            </a:r>
            <a:r>
              <a:rPr lang="ro-RO" sz="1600" dirty="0"/>
              <a:t> superior, deoarece fiecare </a:t>
            </a:r>
            <a:r>
              <a:rPr lang="ro-RO" sz="1600" dirty="0" err="1"/>
              <a:t>microserviciu</a:t>
            </a:r>
            <a:r>
              <a:rPr lang="ro-RO" sz="1600" dirty="0"/>
              <a:t> este </a:t>
            </a:r>
            <a:r>
              <a:rPr lang="ro-RO" sz="1600" b="1" dirty="0"/>
              <a:t>o unitate individuală</a:t>
            </a:r>
            <a:endParaRPr lang="ro-RO" sz="1600" dirty="0"/>
          </a:p>
          <a:p>
            <a:pPr>
              <a:buFont typeface="Wingdings" panose="05000000000000000000" pitchFamily="2" charset="2"/>
              <a:buChar char="§"/>
            </a:pPr>
            <a:r>
              <a:rPr lang="ro-RO" sz="1600" dirty="0"/>
              <a:t> </a:t>
            </a:r>
            <a:r>
              <a:rPr lang="ro-RO" sz="1600" b="1" dirty="0"/>
              <a:t>mult mai greu de dezvoltat</a:t>
            </a:r>
            <a:r>
              <a:rPr lang="ro-RO" sz="1600" dirty="0"/>
              <a:t>, deoarece este nevoie de analiza in ansamblu cu privire la:</a:t>
            </a:r>
          </a:p>
          <a:p>
            <a:pPr lvl="1"/>
            <a:r>
              <a:rPr lang="ro-RO" sz="1600" b="1" dirty="0"/>
              <a:t>Obiectivul</a:t>
            </a:r>
            <a:r>
              <a:rPr lang="ro-RO" sz="1600" dirty="0"/>
              <a:t> fiecărui serviciu</a:t>
            </a:r>
          </a:p>
          <a:p>
            <a:pPr lvl="1"/>
            <a:r>
              <a:rPr lang="ro-RO" sz="1600" b="1" dirty="0"/>
              <a:t>Comunicarea</a:t>
            </a:r>
            <a:r>
              <a:rPr lang="ro-RO" sz="1600" dirty="0"/>
              <a:t> dintre servicii</a:t>
            </a:r>
          </a:p>
          <a:p>
            <a:pPr lvl="1"/>
            <a:r>
              <a:rPr lang="ro-RO" sz="1600" dirty="0"/>
              <a:t>Organizarea </a:t>
            </a:r>
            <a:r>
              <a:rPr lang="ro-RO" sz="1600" b="1" dirty="0"/>
              <a:t>datelor </a:t>
            </a:r>
            <a:r>
              <a:rPr lang="ro-RO" sz="1600" dirty="0"/>
              <a:t>în </a:t>
            </a:r>
            <a:r>
              <a:rPr lang="ro-RO" sz="1600" dirty="0" err="1"/>
              <a:t>microservicii</a:t>
            </a:r>
            <a:endParaRPr lang="ro-RO" sz="1600" dirty="0"/>
          </a:p>
        </p:txBody>
      </p:sp>
    </p:spTree>
    <p:extLst>
      <p:ext uri="{BB962C8B-B14F-4D97-AF65-F5344CB8AC3E}">
        <p14:creationId xmlns:p14="http://schemas.microsoft.com/office/powerpoint/2010/main" val="4093572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7C8A8-7B67-BFA4-71C1-C2DAD0D0BAE5}"/>
              </a:ext>
            </a:extLst>
          </p:cNvPr>
          <p:cNvSpPr>
            <a:spLocks noGrp="1"/>
          </p:cNvSpPr>
          <p:nvPr>
            <p:ph type="title"/>
          </p:nvPr>
        </p:nvSpPr>
        <p:spPr/>
        <p:txBody>
          <a:bodyPr/>
          <a:lstStyle/>
          <a:p>
            <a:endParaRPr lang="en-GB"/>
          </a:p>
        </p:txBody>
      </p:sp>
      <p:pic>
        <p:nvPicPr>
          <p:cNvPr id="7" name="Picture 6">
            <a:extLst>
              <a:ext uri="{FF2B5EF4-FFF2-40B4-BE49-F238E27FC236}">
                <a16:creationId xmlns:a16="http://schemas.microsoft.com/office/drawing/2014/main" id="{0AC168BF-45D9-CD2F-8238-DEA7023C0F1E}"/>
              </a:ext>
            </a:extLst>
          </p:cNvPr>
          <p:cNvPicPr>
            <a:picLocks noChangeAspect="1"/>
          </p:cNvPicPr>
          <p:nvPr/>
        </p:nvPicPr>
        <p:blipFill>
          <a:blip r:embed="rId2"/>
          <a:stretch>
            <a:fillRect/>
          </a:stretch>
        </p:blipFill>
        <p:spPr>
          <a:xfrm>
            <a:off x="1328928" y="433222"/>
            <a:ext cx="8133727" cy="6424778"/>
          </a:xfrm>
          <a:prstGeom prst="rect">
            <a:avLst/>
          </a:prstGeom>
        </p:spPr>
      </p:pic>
    </p:spTree>
    <p:extLst>
      <p:ext uri="{BB962C8B-B14F-4D97-AF65-F5344CB8AC3E}">
        <p14:creationId xmlns:p14="http://schemas.microsoft.com/office/powerpoint/2010/main" val="27466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7FD95E-AD42-2967-CBC1-C0074C6E529A}"/>
              </a:ext>
            </a:extLst>
          </p:cNvPr>
          <p:cNvPicPr>
            <a:picLocks noChangeAspect="1"/>
          </p:cNvPicPr>
          <p:nvPr/>
        </p:nvPicPr>
        <p:blipFill>
          <a:blip r:embed="rId2"/>
          <a:stretch>
            <a:fillRect/>
          </a:stretch>
        </p:blipFill>
        <p:spPr>
          <a:xfrm>
            <a:off x="5339604" y="857106"/>
            <a:ext cx="6852396" cy="4728151"/>
          </a:xfrm>
          <a:prstGeom prst="rect">
            <a:avLst/>
          </a:prstGeom>
        </p:spPr>
      </p:pic>
      <p:pic>
        <p:nvPicPr>
          <p:cNvPr id="7" name="Picture 6">
            <a:extLst>
              <a:ext uri="{FF2B5EF4-FFF2-40B4-BE49-F238E27FC236}">
                <a16:creationId xmlns:a16="http://schemas.microsoft.com/office/drawing/2014/main" id="{4AC4962D-34CE-1904-546F-5BDAEE09D51C}"/>
              </a:ext>
            </a:extLst>
          </p:cNvPr>
          <p:cNvPicPr>
            <a:picLocks noChangeAspect="1"/>
          </p:cNvPicPr>
          <p:nvPr/>
        </p:nvPicPr>
        <p:blipFill rotWithShape="1">
          <a:blip r:embed="rId3"/>
          <a:srcRect t="2419" b="20954"/>
          <a:stretch/>
        </p:blipFill>
        <p:spPr>
          <a:xfrm>
            <a:off x="194180" y="2476112"/>
            <a:ext cx="5291667" cy="1905776"/>
          </a:xfrm>
          <a:prstGeom prst="rect">
            <a:avLst/>
          </a:prstGeom>
        </p:spPr>
      </p:pic>
    </p:spTree>
    <p:extLst>
      <p:ext uri="{BB962C8B-B14F-4D97-AF65-F5344CB8AC3E}">
        <p14:creationId xmlns:p14="http://schemas.microsoft.com/office/powerpoint/2010/main" val="8777657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EF922-3220-A9BF-1DD6-054BAA36870F}"/>
              </a:ext>
            </a:extLst>
          </p:cNvPr>
          <p:cNvSpPr>
            <a:spLocks noGrp="1"/>
          </p:cNvSpPr>
          <p:nvPr>
            <p:ph type="title"/>
          </p:nvPr>
        </p:nvSpPr>
        <p:spPr/>
        <p:txBody>
          <a:bodyPr/>
          <a:lstStyle/>
          <a:p>
            <a:endParaRPr lang="en-GB"/>
          </a:p>
        </p:txBody>
      </p:sp>
      <p:pic>
        <p:nvPicPr>
          <p:cNvPr id="7" name="Picture 6">
            <a:extLst>
              <a:ext uri="{FF2B5EF4-FFF2-40B4-BE49-F238E27FC236}">
                <a16:creationId xmlns:a16="http://schemas.microsoft.com/office/drawing/2014/main" id="{38F4869E-CFB0-E9B3-995C-94888B6555F2}"/>
              </a:ext>
            </a:extLst>
          </p:cNvPr>
          <p:cNvPicPr>
            <a:picLocks noChangeAspect="1"/>
          </p:cNvPicPr>
          <p:nvPr/>
        </p:nvPicPr>
        <p:blipFill>
          <a:blip r:embed="rId2"/>
          <a:stretch>
            <a:fillRect/>
          </a:stretch>
        </p:blipFill>
        <p:spPr>
          <a:xfrm>
            <a:off x="1321818" y="873125"/>
            <a:ext cx="9548363" cy="5111750"/>
          </a:xfrm>
          <a:prstGeom prst="rect">
            <a:avLst/>
          </a:prstGeom>
        </p:spPr>
      </p:pic>
    </p:spTree>
    <p:extLst>
      <p:ext uri="{BB962C8B-B14F-4D97-AF65-F5344CB8AC3E}">
        <p14:creationId xmlns:p14="http://schemas.microsoft.com/office/powerpoint/2010/main" val="8339071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61182-4E43-2E6C-43D2-0F604F7C5FC2}"/>
              </a:ext>
            </a:extLst>
          </p:cNvPr>
          <p:cNvSpPr>
            <a:spLocks noGrp="1"/>
          </p:cNvSpPr>
          <p:nvPr>
            <p:ph type="title"/>
          </p:nvPr>
        </p:nvSpPr>
        <p:spPr/>
        <p:txBody>
          <a:bodyPr/>
          <a:lstStyle/>
          <a:p>
            <a:endParaRPr lang="en-GB"/>
          </a:p>
        </p:txBody>
      </p:sp>
      <p:pic>
        <p:nvPicPr>
          <p:cNvPr id="7" name="Picture 6">
            <a:extLst>
              <a:ext uri="{FF2B5EF4-FFF2-40B4-BE49-F238E27FC236}">
                <a16:creationId xmlns:a16="http://schemas.microsoft.com/office/drawing/2014/main" id="{D9291EE0-B489-1DE0-EB1A-CA59ABA02500}"/>
              </a:ext>
            </a:extLst>
          </p:cNvPr>
          <p:cNvPicPr>
            <a:picLocks noChangeAspect="1"/>
          </p:cNvPicPr>
          <p:nvPr/>
        </p:nvPicPr>
        <p:blipFill>
          <a:blip r:embed="rId2"/>
          <a:stretch>
            <a:fillRect/>
          </a:stretch>
        </p:blipFill>
        <p:spPr>
          <a:xfrm>
            <a:off x="1095486" y="893500"/>
            <a:ext cx="10001027" cy="5297094"/>
          </a:xfrm>
          <a:prstGeom prst="rect">
            <a:avLst/>
          </a:prstGeom>
        </p:spPr>
      </p:pic>
    </p:spTree>
    <p:extLst>
      <p:ext uri="{BB962C8B-B14F-4D97-AF65-F5344CB8AC3E}">
        <p14:creationId xmlns:p14="http://schemas.microsoft.com/office/powerpoint/2010/main" val="1571652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BEC0B-52F5-F446-4B7F-E0B6011C0D84}"/>
              </a:ext>
            </a:extLst>
          </p:cNvPr>
          <p:cNvSpPr>
            <a:spLocks noGrp="1"/>
          </p:cNvSpPr>
          <p:nvPr>
            <p:ph type="title"/>
          </p:nvPr>
        </p:nvSpPr>
        <p:spPr/>
        <p:txBody>
          <a:bodyPr/>
          <a:lstStyle/>
          <a:p>
            <a:endParaRPr lang="en-GB"/>
          </a:p>
        </p:txBody>
      </p:sp>
      <p:pic>
        <p:nvPicPr>
          <p:cNvPr id="7" name="Picture 6">
            <a:extLst>
              <a:ext uri="{FF2B5EF4-FFF2-40B4-BE49-F238E27FC236}">
                <a16:creationId xmlns:a16="http://schemas.microsoft.com/office/drawing/2014/main" id="{EDA61954-4C11-31DB-E514-9EA2F8A547FF}"/>
              </a:ext>
            </a:extLst>
          </p:cNvPr>
          <p:cNvPicPr>
            <a:picLocks noChangeAspect="1"/>
          </p:cNvPicPr>
          <p:nvPr/>
        </p:nvPicPr>
        <p:blipFill>
          <a:blip r:embed="rId2"/>
          <a:stretch>
            <a:fillRect/>
          </a:stretch>
        </p:blipFill>
        <p:spPr>
          <a:xfrm>
            <a:off x="1024128" y="528135"/>
            <a:ext cx="10230657" cy="5801729"/>
          </a:xfrm>
          <a:prstGeom prst="rect">
            <a:avLst/>
          </a:prstGeom>
        </p:spPr>
      </p:pic>
    </p:spTree>
    <p:extLst>
      <p:ext uri="{BB962C8B-B14F-4D97-AF65-F5344CB8AC3E}">
        <p14:creationId xmlns:p14="http://schemas.microsoft.com/office/powerpoint/2010/main" val="3348327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13" name="Straight Connector 12">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29" name="Rectangle 14">
            <a:extLst>
              <a:ext uri="{FF2B5EF4-FFF2-40B4-BE49-F238E27FC236}">
                <a16:creationId xmlns:a16="http://schemas.microsoft.com/office/drawing/2014/main" id="{CA73784B-AC76-4BAD-93AF-C72D0EDFD7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1EFEA6-E55B-1176-9EC2-80CEED2F89A3}"/>
              </a:ext>
            </a:extLst>
          </p:cNvPr>
          <p:cNvSpPr>
            <a:spLocks noGrp="1"/>
          </p:cNvSpPr>
          <p:nvPr>
            <p:ph type="title"/>
          </p:nvPr>
        </p:nvSpPr>
        <p:spPr>
          <a:xfrm>
            <a:off x="636805" y="640080"/>
            <a:ext cx="2589871" cy="3049048"/>
          </a:xfrm>
        </p:spPr>
        <p:txBody>
          <a:bodyPr vert="horz" lIns="91440" tIns="45720" rIns="91440" bIns="45720" rtlCol="0" anchor="b">
            <a:normAutofit/>
          </a:bodyPr>
          <a:lstStyle/>
          <a:p>
            <a:pPr algn="r"/>
            <a:r>
              <a:rPr lang="en-US" sz="4400" kern="1200" cap="all" spc="200" baseline="0" dirty="0">
                <a:solidFill>
                  <a:schemeClr val="tx1">
                    <a:lumMod val="95000"/>
                    <a:lumOff val="5000"/>
                  </a:schemeClr>
                </a:solidFill>
                <a:latin typeface="+mj-lt"/>
                <a:ea typeface="+mj-ea"/>
                <a:cs typeface="+mj-cs"/>
              </a:rPr>
              <a:t>Serverless Computing</a:t>
            </a:r>
          </a:p>
        </p:txBody>
      </p:sp>
      <p:cxnSp>
        <p:nvCxnSpPr>
          <p:cNvPr id="30" name="Straight Connector 16">
            <a:extLst>
              <a:ext uri="{FF2B5EF4-FFF2-40B4-BE49-F238E27FC236}">
                <a16:creationId xmlns:a16="http://schemas.microsoft.com/office/drawing/2014/main" id="{811DCF04-0C7C-44FC-8246-FC8D736B1A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0698" y="3765314"/>
            <a:ext cx="3200400"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Picture 3" descr="Diagram&#10;&#10;Description automatically generated">
            <a:extLst>
              <a:ext uri="{FF2B5EF4-FFF2-40B4-BE49-F238E27FC236}">
                <a16:creationId xmlns:a16="http://schemas.microsoft.com/office/drawing/2014/main" id="{EB46E2BE-CAE3-5E04-F67A-E79CACCC10F4}"/>
              </a:ext>
            </a:extLst>
          </p:cNvPr>
          <p:cNvPicPr>
            <a:picLocks noChangeAspect="1"/>
          </p:cNvPicPr>
          <p:nvPr/>
        </p:nvPicPr>
        <p:blipFill>
          <a:blip r:embed="rId2"/>
          <a:stretch>
            <a:fillRect/>
          </a:stretch>
        </p:blipFill>
        <p:spPr>
          <a:xfrm>
            <a:off x="3363313" y="406296"/>
            <a:ext cx="8825413" cy="6045408"/>
          </a:xfrm>
          <a:prstGeom prst="rect">
            <a:avLst/>
          </a:prstGeom>
        </p:spPr>
      </p:pic>
    </p:spTree>
    <p:extLst>
      <p:ext uri="{BB962C8B-B14F-4D97-AF65-F5344CB8AC3E}">
        <p14:creationId xmlns:p14="http://schemas.microsoft.com/office/powerpoint/2010/main" val="38758177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CCBD9-D71E-9A27-F932-E0AC1E933C52}"/>
              </a:ext>
            </a:extLst>
          </p:cNvPr>
          <p:cNvSpPr>
            <a:spLocks noGrp="1"/>
          </p:cNvSpPr>
          <p:nvPr>
            <p:ph type="title"/>
          </p:nvPr>
        </p:nvSpPr>
        <p:spPr/>
        <p:txBody>
          <a:bodyPr/>
          <a:lstStyle/>
          <a:p>
            <a:r>
              <a:rPr lang="en-US" sz="5400" kern="1200" cap="all" spc="200" baseline="0" dirty="0">
                <a:solidFill>
                  <a:schemeClr val="tx1">
                    <a:lumMod val="95000"/>
                    <a:lumOff val="5000"/>
                  </a:schemeClr>
                </a:solidFill>
                <a:latin typeface="+mj-lt"/>
                <a:ea typeface="+mj-ea"/>
                <a:cs typeface="+mj-cs"/>
              </a:rPr>
              <a:t>Serverless Computing</a:t>
            </a:r>
            <a:endParaRPr lang="en-GB" dirty="0"/>
          </a:p>
        </p:txBody>
      </p:sp>
      <p:sp>
        <p:nvSpPr>
          <p:cNvPr id="3" name="Content Placeholder 2">
            <a:extLst>
              <a:ext uri="{FF2B5EF4-FFF2-40B4-BE49-F238E27FC236}">
                <a16:creationId xmlns:a16="http://schemas.microsoft.com/office/drawing/2014/main" id="{74F72DE3-DD60-FD25-8105-B57641E420B5}"/>
              </a:ext>
            </a:extLst>
          </p:cNvPr>
          <p:cNvSpPr>
            <a:spLocks noGrp="1"/>
          </p:cNvSpPr>
          <p:nvPr>
            <p:ph idx="1"/>
          </p:nvPr>
        </p:nvSpPr>
        <p:spPr>
          <a:xfrm>
            <a:off x="1024127" y="1970690"/>
            <a:ext cx="9720073" cy="4023360"/>
          </a:xfrm>
        </p:spPr>
        <p:txBody>
          <a:bodyPr>
            <a:normAutofit lnSpcReduction="10000"/>
          </a:bodyPr>
          <a:lstStyle/>
          <a:p>
            <a:r>
              <a:rPr lang="ro-RO" dirty="0"/>
              <a:t>Arhitectura </a:t>
            </a:r>
            <a:r>
              <a:rPr lang="ro-RO" dirty="0" err="1"/>
              <a:t>serverless</a:t>
            </a:r>
            <a:r>
              <a:rPr lang="ro-RO" dirty="0"/>
              <a:t> este un model de dezvoltare a aplicațiilor software. </a:t>
            </a:r>
          </a:p>
          <a:p>
            <a:pPr>
              <a:buFont typeface="Arial" panose="020B0604020202020204" pitchFamily="34" charset="0"/>
              <a:buChar char="•"/>
            </a:pPr>
            <a:r>
              <a:rPr lang="ro-RO" dirty="0"/>
              <a:t> Furnizarea infrastructurii de bază este gestionată de un furnizor de servicii de infrastructură.</a:t>
            </a:r>
          </a:p>
          <a:p>
            <a:pPr>
              <a:buFont typeface="Arial" panose="020B0604020202020204" pitchFamily="34" charset="0"/>
              <a:buChar char="•"/>
            </a:pPr>
            <a:r>
              <a:rPr lang="ro-RO" dirty="0"/>
              <a:t> Se plătește pentru infrastructură doar atunci când este în uz </a:t>
            </a:r>
          </a:p>
          <a:p>
            <a:pPr>
              <a:buFont typeface="Arial" panose="020B0604020202020204" pitchFamily="34" charset="0"/>
              <a:buChar char="•"/>
            </a:pPr>
            <a:r>
              <a:rPr lang="ro-RO" dirty="0"/>
              <a:t> Sarcinile de scalare sunt gestionate de furnizorul de </a:t>
            </a:r>
            <a:r>
              <a:rPr lang="ro-RO" dirty="0" err="1"/>
              <a:t>cloud</a:t>
            </a:r>
            <a:r>
              <a:rPr lang="ro-RO" dirty="0"/>
              <a:t>. Mai mult, codul </a:t>
            </a:r>
            <a:r>
              <a:rPr lang="ro-RO" dirty="0" err="1"/>
              <a:t>backend</a:t>
            </a:r>
            <a:r>
              <a:rPr lang="ro-RO" dirty="0"/>
              <a:t> este simplificat. Reduce eforturile de dezvoltare, costurile și aduce un timp mai rapid pe piață.</a:t>
            </a:r>
          </a:p>
          <a:p>
            <a:r>
              <a:rPr lang="ro-RO" dirty="0"/>
              <a:t>Procesarea multimedia, </a:t>
            </a:r>
            <a:r>
              <a:rPr lang="ro-RO" dirty="0" err="1"/>
              <a:t>streaming</a:t>
            </a:r>
            <a:r>
              <a:rPr lang="ro-RO" dirty="0"/>
              <a:t> live, chat-boții CI </a:t>
            </a:r>
            <a:r>
              <a:rPr lang="ro-RO" dirty="0" err="1"/>
              <a:t>Pipelines</a:t>
            </a:r>
            <a:r>
              <a:rPr lang="ro-RO" dirty="0"/>
              <a:t>, mesajele senzorilor </a:t>
            </a:r>
            <a:r>
              <a:rPr lang="ro-RO" dirty="0" err="1"/>
              <a:t>IoT</a:t>
            </a:r>
            <a:r>
              <a:rPr lang="ro-RO" dirty="0"/>
              <a:t> etc. sunt câteva dintre cazurile de utilizare pentru calculul fără server.</a:t>
            </a:r>
          </a:p>
          <a:p>
            <a:r>
              <a:rPr lang="ro-RO" dirty="0"/>
              <a:t>Într-o arhitectură pe </a:t>
            </a:r>
            <a:r>
              <a:rPr lang="ro-RO" dirty="0" err="1"/>
              <a:t>microservicii</a:t>
            </a:r>
            <a:r>
              <a:rPr lang="ro-RO" dirty="0"/>
              <a:t>, putem avea </a:t>
            </a:r>
            <a:r>
              <a:rPr lang="ro-RO" dirty="0" err="1"/>
              <a:t>Serverless</a:t>
            </a:r>
            <a:r>
              <a:rPr lang="ro-RO" dirty="0"/>
              <a:t> </a:t>
            </a:r>
            <a:r>
              <a:rPr lang="ro-RO" dirty="0" err="1"/>
              <a:t>Computing</a:t>
            </a:r>
            <a:r>
              <a:rPr lang="ro-RO" dirty="0"/>
              <a:t> folosind AWS Lambda, API Gateway și API Step </a:t>
            </a:r>
            <a:r>
              <a:rPr lang="ro-RO" dirty="0" err="1"/>
              <a:t>Functions</a:t>
            </a:r>
            <a:r>
              <a:rPr lang="ro-RO" dirty="0"/>
              <a:t>.</a:t>
            </a:r>
          </a:p>
        </p:txBody>
      </p:sp>
    </p:spTree>
    <p:extLst>
      <p:ext uri="{BB962C8B-B14F-4D97-AF65-F5344CB8AC3E}">
        <p14:creationId xmlns:p14="http://schemas.microsoft.com/office/powerpoint/2010/main" val="7535173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a:xfrm>
            <a:off x="1024128" y="585216"/>
            <a:ext cx="9643871" cy="1499616"/>
          </a:xfrm>
        </p:spPr>
        <p:txBody>
          <a:bodyPr vert="horz" lIns="91440" tIns="45720" rIns="91440" bIns="45720" rtlCol="0" anchor="ctr">
            <a:normAutofit/>
          </a:bodyPr>
          <a:lstStyle/>
          <a:p>
            <a:r>
              <a:rPr lang="en-US" sz="3500" dirty="0" err="1"/>
              <a:t>Microservicii</a:t>
            </a:r>
            <a:r>
              <a:rPr lang="en-US" sz="3500" dirty="0"/>
              <a:t>. </a:t>
            </a:r>
            <a:r>
              <a:rPr lang="en-US" sz="3500" dirty="0" err="1"/>
              <a:t>Tehnici</a:t>
            </a:r>
            <a:r>
              <a:rPr lang="en-US" sz="3500" dirty="0"/>
              <a:t> </a:t>
            </a:r>
            <a:r>
              <a:rPr lang="en-US" sz="3500" dirty="0" err="1"/>
              <a:t>avansate</a:t>
            </a:r>
            <a:r>
              <a:rPr lang="en-US" sz="3500" dirty="0"/>
              <a:t>. Domain driven design</a:t>
            </a:r>
          </a:p>
        </p:txBody>
      </p:sp>
      <p:sp>
        <p:nvSpPr>
          <p:cNvPr id="4" name="Content Placeholder 3">
            <a:extLst>
              <a:ext uri="{FF2B5EF4-FFF2-40B4-BE49-F238E27FC236}">
                <a16:creationId xmlns:a16="http://schemas.microsoft.com/office/drawing/2014/main" id="{A47A95F3-B2C8-40AC-B85D-1AC706920013}"/>
              </a:ext>
            </a:extLst>
          </p:cNvPr>
          <p:cNvSpPr>
            <a:spLocks noGrp="1"/>
          </p:cNvSpPr>
          <p:nvPr>
            <p:ph idx="1"/>
          </p:nvPr>
        </p:nvSpPr>
        <p:spPr>
          <a:xfrm>
            <a:off x="802455" y="1876630"/>
            <a:ext cx="4901887" cy="4396154"/>
          </a:xfrm>
        </p:spPr>
        <p:txBody>
          <a:bodyPr>
            <a:normAutofit/>
          </a:bodyPr>
          <a:lstStyle/>
          <a:p>
            <a:pPr>
              <a:buFont typeface="Wingdings" panose="05000000000000000000" pitchFamily="2" charset="2"/>
              <a:buChar char="q"/>
            </a:pPr>
            <a:r>
              <a:rPr lang="ro-RO" sz="1800" dirty="0"/>
              <a:t> </a:t>
            </a:r>
            <a:r>
              <a:rPr lang="ro-RO" sz="1800" b="1" dirty="0"/>
              <a:t>Focusul</a:t>
            </a:r>
            <a:r>
              <a:rPr lang="ro-RO" sz="1800" dirty="0"/>
              <a:t> este pus pe </a:t>
            </a:r>
            <a:r>
              <a:rPr lang="ro-RO" sz="1800" b="1" dirty="0"/>
              <a:t>business </a:t>
            </a:r>
            <a:r>
              <a:rPr lang="ro-RO" sz="1800" b="1" dirty="0" err="1"/>
              <a:t>domain</a:t>
            </a:r>
            <a:endParaRPr lang="ro-RO" sz="1800" b="1" dirty="0"/>
          </a:p>
          <a:p>
            <a:pPr>
              <a:buFont typeface="Wingdings" panose="05000000000000000000" pitchFamily="2" charset="2"/>
              <a:buChar char="q"/>
            </a:pPr>
            <a:r>
              <a:rPr lang="ro-RO" sz="1800" dirty="0"/>
              <a:t> Ajută la realizarea unei arhitecturi </a:t>
            </a:r>
            <a:r>
              <a:rPr lang="ro-RO" sz="1800" dirty="0" err="1"/>
              <a:t>mapate</a:t>
            </a:r>
            <a:r>
              <a:rPr lang="ro-RO" sz="1800" dirty="0"/>
              <a:t> cât mai mult pe </a:t>
            </a:r>
            <a:r>
              <a:rPr lang="ro-RO" sz="1800" b="1" dirty="0"/>
              <a:t>procesele de business</a:t>
            </a:r>
          </a:p>
          <a:p>
            <a:pPr>
              <a:buFont typeface="Wingdings" panose="05000000000000000000" pitchFamily="2" charset="2"/>
              <a:buChar char="q"/>
            </a:pPr>
            <a:r>
              <a:rPr lang="ro-RO" sz="1800" dirty="0"/>
              <a:t> Ajută la realizarea unui model arhitectural înțeles atât de oameni tehnici, cât și de business </a:t>
            </a:r>
            <a:r>
              <a:rPr lang="ro-RO" sz="1800" dirty="0" err="1"/>
              <a:t>stakeholders</a:t>
            </a:r>
            <a:endParaRPr lang="ro-RO" sz="1800" dirty="0"/>
          </a:p>
          <a:p>
            <a:pPr>
              <a:buFont typeface="Wingdings" panose="05000000000000000000" pitchFamily="2" charset="2"/>
              <a:buChar char="q"/>
            </a:pPr>
            <a:r>
              <a:rPr lang="ro-RO" sz="1800" dirty="0"/>
              <a:t> Separarea clară a </a:t>
            </a:r>
            <a:r>
              <a:rPr lang="ro-RO" sz="1800" dirty="0" err="1"/>
              <a:t>functionalităților</a:t>
            </a:r>
            <a:r>
              <a:rPr lang="ro-RO" sz="1800" dirty="0"/>
              <a:t> (</a:t>
            </a:r>
            <a:r>
              <a:rPr lang="ro-RO" sz="1800" b="1" dirty="0" err="1"/>
              <a:t>bounded</a:t>
            </a:r>
            <a:r>
              <a:rPr lang="ro-RO" sz="1800" b="1" dirty="0"/>
              <a:t> context</a:t>
            </a:r>
            <a:r>
              <a:rPr lang="ro-RO" sz="1800" dirty="0"/>
              <a:t>)</a:t>
            </a:r>
          </a:p>
          <a:p>
            <a:pPr>
              <a:buFont typeface="Wingdings" panose="05000000000000000000" pitchFamily="2" charset="2"/>
              <a:buChar char="q"/>
            </a:pPr>
            <a:r>
              <a:rPr lang="ro-RO" sz="1800" dirty="0"/>
              <a:t> Trasarea legăturilor intre BC (</a:t>
            </a:r>
            <a:r>
              <a:rPr lang="ro-RO" sz="1800" b="1" dirty="0"/>
              <a:t>context </a:t>
            </a:r>
            <a:r>
              <a:rPr lang="ro-RO" sz="1800" b="1" dirty="0" err="1"/>
              <a:t>map</a:t>
            </a:r>
            <a:r>
              <a:rPr lang="ro-RO" sz="1800" dirty="0"/>
              <a:t>)</a:t>
            </a:r>
          </a:p>
          <a:p>
            <a:pPr>
              <a:buFont typeface="Wingdings" panose="05000000000000000000" pitchFamily="2" charset="2"/>
              <a:buChar char="q"/>
            </a:pPr>
            <a:r>
              <a:rPr lang="ro-RO" sz="1800" dirty="0"/>
              <a:t> Fiecare BC este stăpân pe domeniul său de valori (</a:t>
            </a:r>
            <a:r>
              <a:rPr lang="ro-RO" sz="1800" b="1" dirty="0"/>
              <a:t>model</a:t>
            </a:r>
            <a:r>
              <a:rPr lang="ro-RO" sz="1800" dirty="0"/>
              <a:t>)</a:t>
            </a:r>
          </a:p>
        </p:txBody>
      </p:sp>
      <p:pic>
        <p:nvPicPr>
          <p:cNvPr id="7" name="Picture 6" descr="A picture containing text, clock&#10;&#10;Description automatically generated">
            <a:extLst>
              <a:ext uri="{FF2B5EF4-FFF2-40B4-BE49-F238E27FC236}">
                <a16:creationId xmlns:a16="http://schemas.microsoft.com/office/drawing/2014/main" id="{1C297FC7-CB39-4CB4-B10C-C7ABA6584EF7}"/>
              </a:ext>
            </a:extLst>
          </p:cNvPr>
          <p:cNvPicPr>
            <a:picLocks noChangeAspect="1"/>
          </p:cNvPicPr>
          <p:nvPr/>
        </p:nvPicPr>
        <p:blipFill>
          <a:blip r:embed="rId2"/>
          <a:stretch>
            <a:fillRect/>
          </a:stretch>
        </p:blipFill>
        <p:spPr>
          <a:xfrm>
            <a:off x="6265987" y="1894522"/>
            <a:ext cx="5455921" cy="3068955"/>
          </a:xfrm>
          <a:prstGeom prst="rect">
            <a:avLst/>
          </a:prstGeom>
        </p:spPr>
      </p:pic>
    </p:spTree>
    <p:extLst>
      <p:ext uri="{BB962C8B-B14F-4D97-AF65-F5344CB8AC3E}">
        <p14:creationId xmlns:p14="http://schemas.microsoft.com/office/powerpoint/2010/main" val="3277775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a:xfrm>
            <a:off x="1024128" y="585216"/>
            <a:ext cx="9643871" cy="1499616"/>
          </a:xfrm>
        </p:spPr>
        <p:txBody>
          <a:bodyPr vert="horz" lIns="91440" tIns="45720" rIns="91440" bIns="45720" rtlCol="0" anchor="ctr">
            <a:normAutofit/>
          </a:bodyPr>
          <a:lstStyle/>
          <a:p>
            <a:r>
              <a:rPr lang="en-US" sz="3500" dirty="0" err="1"/>
              <a:t>Microservicii</a:t>
            </a:r>
            <a:r>
              <a:rPr lang="en-US" sz="3500" dirty="0"/>
              <a:t>. </a:t>
            </a:r>
            <a:r>
              <a:rPr lang="en-US" sz="3500" dirty="0" err="1"/>
              <a:t>Tehnici</a:t>
            </a:r>
            <a:r>
              <a:rPr lang="en-US" sz="3500" dirty="0"/>
              <a:t> </a:t>
            </a:r>
            <a:r>
              <a:rPr lang="en-US" sz="3500" dirty="0" err="1"/>
              <a:t>avansate</a:t>
            </a:r>
            <a:r>
              <a:rPr lang="en-US" sz="3500" dirty="0"/>
              <a:t>. Domain driven design</a:t>
            </a:r>
          </a:p>
        </p:txBody>
      </p:sp>
      <p:sp>
        <p:nvSpPr>
          <p:cNvPr id="4" name="Content Placeholder 3">
            <a:extLst>
              <a:ext uri="{FF2B5EF4-FFF2-40B4-BE49-F238E27FC236}">
                <a16:creationId xmlns:a16="http://schemas.microsoft.com/office/drawing/2014/main" id="{A47A95F3-B2C8-40AC-B85D-1AC706920013}"/>
              </a:ext>
            </a:extLst>
          </p:cNvPr>
          <p:cNvSpPr>
            <a:spLocks noGrp="1"/>
          </p:cNvSpPr>
          <p:nvPr>
            <p:ph idx="1"/>
          </p:nvPr>
        </p:nvSpPr>
        <p:spPr>
          <a:xfrm>
            <a:off x="1129232" y="1949669"/>
            <a:ext cx="4424171" cy="4166553"/>
          </a:xfrm>
        </p:spPr>
        <p:txBody>
          <a:bodyPr>
            <a:normAutofit/>
          </a:bodyPr>
          <a:lstStyle/>
          <a:p>
            <a:pPr>
              <a:buFont typeface="Wingdings" panose="05000000000000000000" pitchFamily="2" charset="2"/>
              <a:buChar char="q"/>
            </a:pPr>
            <a:r>
              <a:rPr lang="ro-RO" sz="1800" dirty="0"/>
              <a:t> Decuplează evenimentele de </a:t>
            </a:r>
            <a:r>
              <a:rPr lang="ro-RO" sz="1800" b="1" dirty="0"/>
              <a:t>citire</a:t>
            </a:r>
            <a:r>
              <a:rPr lang="ro-RO" sz="1800" dirty="0"/>
              <a:t> de evenimentele de </a:t>
            </a:r>
            <a:r>
              <a:rPr lang="ro-RO" sz="1800" b="1" dirty="0"/>
              <a:t>scriere</a:t>
            </a:r>
          </a:p>
          <a:p>
            <a:pPr>
              <a:buFont typeface="Wingdings" panose="05000000000000000000" pitchFamily="2" charset="2"/>
              <a:buChar char="q"/>
            </a:pPr>
            <a:r>
              <a:rPr lang="ro-RO" sz="1800" dirty="0"/>
              <a:t> Datele de citire sunt accesibile global (</a:t>
            </a:r>
            <a:r>
              <a:rPr lang="ro-RO" sz="1800" b="1" dirty="0" err="1"/>
              <a:t>query</a:t>
            </a:r>
            <a:r>
              <a:rPr lang="ro-RO" sz="1800" dirty="0"/>
              <a:t>)</a:t>
            </a:r>
          </a:p>
          <a:p>
            <a:pPr>
              <a:buFont typeface="Wingdings" panose="05000000000000000000" pitchFamily="2" charset="2"/>
              <a:buChar char="q"/>
            </a:pPr>
            <a:r>
              <a:rPr lang="ro-RO" sz="1800" dirty="0"/>
              <a:t> Datele de scriere sunt accesibile per </a:t>
            </a:r>
            <a:r>
              <a:rPr lang="ro-RO" sz="1800" dirty="0" err="1"/>
              <a:t>microserviciu</a:t>
            </a:r>
            <a:r>
              <a:rPr lang="ro-RO" sz="1800" dirty="0"/>
              <a:t> </a:t>
            </a:r>
            <a:r>
              <a:rPr lang="ro-RO" sz="1800" b="1" dirty="0"/>
              <a:t>(</a:t>
            </a:r>
            <a:r>
              <a:rPr lang="ro-RO" sz="1800" b="1" dirty="0" err="1"/>
              <a:t>command</a:t>
            </a:r>
            <a:r>
              <a:rPr lang="ro-RO" sz="1800" dirty="0"/>
              <a:t>)</a:t>
            </a:r>
          </a:p>
          <a:p>
            <a:pPr>
              <a:buFont typeface="Wingdings" panose="05000000000000000000" pitchFamily="2" charset="2"/>
              <a:buChar char="q"/>
            </a:pPr>
            <a:r>
              <a:rPr lang="ro-RO" sz="1800" dirty="0"/>
              <a:t> Permite </a:t>
            </a:r>
            <a:r>
              <a:rPr lang="ro-RO" sz="1800" dirty="0" err="1"/>
              <a:t>microserviciilor</a:t>
            </a:r>
            <a:r>
              <a:rPr lang="ro-RO" sz="1800" dirty="0"/>
              <a:t> să se concentreze pe </a:t>
            </a:r>
            <a:r>
              <a:rPr lang="ro-RO" sz="1800" b="1" dirty="0"/>
              <a:t>datele proprietare</a:t>
            </a:r>
            <a:r>
              <a:rPr lang="ro-RO" sz="1800" dirty="0"/>
              <a:t>, fără să influențeze datele </a:t>
            </a:r>
            <a:r>
              <a:rPr lang="ro-RO" sz="1800" b="1" dirty="0"/>
              <a:t>disponibile global</a:t>
            </a:r>
            <a:endParaRPr lang="ro-RO" sz="1800" dirty="0"/>
          </a:p>
          <a:p>
            <a:pPr>
              <a:buFont typeface="Wingdings" panose="05000000000000000000" pitchFamily="2" charset="2"/>
              <a:buChar char="q"/>
            </a:pPr>
            <a:r>
              <a:rPr lang="ro-RO" sz="1800" dirty="0"/>
              <a:t> Actualizarea datelor globale se realizează prin evenimente asincrone provenite din datele scrise</a:t>
            </a:r>
          </a:p>
        </p:txBody>
      </p:sp>
      <p:pic>
        <p:nvPicPr>
          <p:cNvPr id="5" name="Picture 4" descr="Diagram&#10;&#10;Description automatically generated">
            <a:extLst>
              <a:ext uri="{FF2B5EF4-FFF2-40B4-BE49-F238E27FC236}">
                <a16:creationId xmlns:a16="http://schemas.microsoft.com/office/drawing/2014/main" id="{6016250F-4C15-4F59-9E9C-CD8F3C0D5ED3}"/>
              </a:ext>
            </a:extLst>
          </p:cNvPr>
          <p:cNvPicPr>
            <a:picLocks noChangeAspect="1"/>
          </p:cNvPicPr>
          <p:nvPr/>
        </p:nvPicPr>
        <p:blipFill>
          <a:blip r:embed="rId2"/>
          <a:stretch>
            <a:fillRect/>
          </a:stretch>
        </p:blipFill>
        <p:spPr>
          <a:xfrm>
            <a:off x="6265987" y="1618786"/>
            <a:ext cx="5727222" cy="4166553"/>
          </a:xfrm>
          <a:prstGeom prst="rect">
            <a:avLst/>
          </a:prstGeom>
        </p:spPr>
      </p:pic>
    </p:spTree>
    <p:extLst>
      <p:ext uri="{BB962C8B-B14F-4D97-AF65-F5344CB8AC3E}">
        <p14:creationId xmlns:p14="http://schemas.microsoft.com/office/powerpoint/2010/main" val="3339678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2492E-AF3E-F6A4-2541-7A35F31FCA68}"/>
              </a:ext>
            </a:extLst>
          </p:cNvPr>
          <p:cNvSpPr>
            <a:spLocks noGrp="1"/>
          </p:cNvSpPr>
          <p:nvPr>
            <p:ph type="title"/>
          </p:nvPr>
        </p:nvSpPr>
        <p:spPr/>
        <p:txBody>
          <a:bodyPr/>
          <a:lstStyle/>
          <a:p>
            <a:r>
              <a:rPr lang="en-GB" dirty="0"/>
              <a:t>Cum se </a:t>
            </a:r>
            <a:r>
              <a:rPr lang="en-GB" dirty="0" err="1"/>
              <a:t>definesc</a:t>
            </a:r>
            <a:r>
              <a:rPr lang="en-GB" dirty="0"/>
              <a:t> </a:t>
            </a:r>
            <a:r>
              <a:rPr lang="en-GB" dirty="0" err="1"/>
              <a:t>limitele</a:t>
            </a:r>
            <a:r>
              <a:rPr lang="en-GB" dirty="0"/>
              <a:t> </a:t>
            </a:r>
            <a:r>
              <a:rPr lang="en-GB" dirty="0" err="1"/>
              <a:t>fiecărui</a:t>
            </a:r>
            <a:r>
              <a:rPr lang="en-GB" dirty="0"/>
              <a:t> </a:t>
            </a:r>
            <a:r>
              <a:rPr lang="en-GB" dirty="0" err="1"/>
              <a:t>microserviciu</a:t>
            </a:r>
            <a:endParaRPr lang="en-GB" dirty="0"/>
          </a:p>
        </p:txBody>
      </p:sp>
      <p:sp>
        <p:nvSpPr>
          <p:cNvPr id="3" name="Content Placeholder 2">
            <a:extLst>
              <a:ext uri="{FF2B5EF4-FFF2-40B4-BE49-F238E27FC236}">
                <a16:creationId xmlns:a16="http://schemas.microsoft.com/office/drawing/2014/main" id="{E6815F57-8092-634D-8688-738920E8A86F}"/>
              </a:ext>
            </a:extLst>
          </p:cNvPr>
          <p:cNvSpPr>
            <a:spLocks noGrp="1"/>
          </p:cNvSpPr>
          <p:nvPr>
            <p:ph idx="1"/>
          </p:nvPr>
        </p:nvSpPr>
        <p:spPr/>
        <p:txBody>
          <a:bodyPr>
            <a:normAutofit fontScale="92500"/>
          </a:bodyPr>
          <a:lstStyle/>
          <a:p>
            <a:r>
              <a:rPr lang="ro-RO" dirty="0"/>
              <a:t>Fiecare </a:t>
            </a:r>
            <a:r>
              <a:rPr lang="ro-RO" dirty="0" err="1"/>
              <a:t>microserviciu</a:t>
            </a:r>
            <a:r>
              <a:rPr lang="ro-RO" dirty="0"/>
              <a:t> trebuie să fie autonom</a:t>
            </a:r>
          </a:p>
          <a:p>
            <a:r>
              <a:rPr lang="ro-RO" dirty="0"/>
              <a:t>În primul rând, ne concentrăm pe domeniile logice ale aplicației și pe datele aferente. </a:t>
            </a:r>
          </a:p>
          <a:p>
            <a:pPr>
              <a:buFont typeface="Arial" panose="020B0604020202020204" pitchFamily="34" charset="0"/>
              <a:buChar char="•"/>
            </a:pPr>
            <a:r>
              <a:rPr lang="ro-RO" dirty="0"/>
              <a:t> Încercăm să identificăm insule de date decuplate și contexte diferite în cadrul aceleiași aplicații</a:t>
            </a:r>
          </a:p>
          <a:p>
            <a:pPr>
              <a:buFont typeface="Arial" panose="020B0604020202020204" pitchFamily="34" charset="0"/>
              <a:buChar char="•"/>
            </a:pPr>
            <a:r>
              <a:rPr lang="ro-RO" dirty="0"/>
              <a:t> Fiecare context poate avea un limbaj de business diferit (termeni de afaceri diferiți) - contextele ar trebui definite și gestionate independent</a:t>
            </a:r>
          </a:p>
          <a:p>
            <a:pPr>
              <a:buFont typeface="Arial" panose="020B0604020202020204" pitchFamily="34" charset="0"/>
              <a:buChar char="•"/>
            </a:pPr>
            <a:r>
              <a:rPr lang="ro-RO" dirty="0"/>
              <a:t> De exemplu, un utilizator poate fi menționat ca utilizator în contextul identității, client într-un context CRM, sau cumpărător într-un context de </a:t>
            </a:r>
            <a:r>
              <a:rPr lang="ro-RO" dirty="0" err="1"/>
              <a:t>order</a:t>
            </a:r>
            <a:r>
              <a:rPr lang="ro-RO" dirty="0"/>
              <a:t> etc.</a:t>
            </a:r>
          </a:p>
          <a:p>
            <a:r>
              <a:rPr lang="ro-RO" dirty="0"/>
              <a:t>Modul în care identificăm granițele dintre mai multe contexte de aplicație cu un domeniu diferit pentru fiecare context este exact modul în care putem identifica limitele pentru fiecare </a:t>
            </a:r>
            <a:r>
              <a:rPr lang="ro-RO" dirty="0" err="1"/>
              <a:t>microserviciu</a:t>
            </a:r>
            <a:r>
              <a:rPr lang="ro-RO" dirty="0"/>
              <a:t> și modelul și datele de domeniu aferente acestuia</a:t>
            </a:r>
          </a:p>
        </p:txBody>
      </p:sp>
    </p:spTree>
    <p:extLst>
      <p:ext uri="{BB962C8B-B14F-4D97-AF65-F5344CB8AC3E}">
        <p14:creationId xmlns:p14="http://schemas.microsoft.com/office/powerpoint/2010/main" val="34101769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7FB4A-5F04-C7D6-77CE-BACD27DA240E}"/>
              </a:ext>
            </a:extLst>
          </p:cNvPr>
          <p:cNvSpPr>
            <a:spLocks noGrp="1"/>
          </p:cNvSpPr>
          <p:nvPr>
            <p:ph type="title"/>
          </p:nvPr>
        </p:nvSpPr>
        <p:spPr/>
        <p:txBody>
          <a:bodyPr/>
          <a:lstStyle/>
          <a:p>
            <a:endParaRPr lang="en-GB"/>
          </a:p>
        </p:txBody>
      </p:sp>
      <p:pic>
        <p:nvPicPr>
          <p:cNvPr id="4" name="Picture 3">
            <a:extLst>
              <a:ext uri="{FF2B5EF4-FFF2-40B4-BE49-F238E27FC236}">
                <a16:creationId xmlns:a16="http://schemas.microsoft.com/office/drawing/2014/main" id="{F3BB9E86-2C52-47AA-3F3D-EBC8BEDFB658}"/>
              </a:ext>
            </a:extLst>
          </p:cNvPr>
          <p:cNvPicPr>
            <a:picLocks noChangeAspect="1"/>
          </p:cNvPicPr>
          <p:nvPr/>
        </p:nvPicPr>
        <p:blipFill>
          <a:blip r:embed="rId2"/>
          <a:stretch>
            <a:fillRect/>
          </a:stretch>
        </p:blipFill>
        <p:spPr>
          <a:xfrm>
            <a:off x="799045" y="221672"/>
            <a:ext cx="11129719" cy="6216066"/>
          </a:xfrm>
          <a:prstGeom prst="rect">
            <a:avLst/>
          </a:prstGeom>
        </p:spPr>
      </p:pic>
    </p:spTree>
    <p:extLst>
      <p:ext uri="{BB962C8B-B14F-4D97-AF65-F5344CB8AC3E}">
        <p14:creationId xmlns:p14="http://schemas.microsoft.com/office/powerpoint/2010/main" val="35953032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FAF9B-85B7-5F94-4BF2-D0C17AE9582F}"/>
              </a:ext>
            </a:extLst>
          </p:cNvPr>
          <p:cNvSpPr>
            <a:spLocks noGrp="1"/>
          </p:cNvSpPr>
          <p:nvPr>
            <p:ph type="title"/>
          </p:nvPr>
        </p:nvSpPr>
        <p:spPr/>
        <p:txBody>
          <a:bodyPr/>
          <a:lstStyle/>
          <a:p>
            <a:endParaRPr lang="en-GB"/>
          </a:p>
        </p:txBody>
      </p:sp>
      <p:pic>
        <p:nvPicPr>
          <p:cNvPr id="4" name="Picture 3">
            <a:extLst>
              <a:ext uri="{FF2B5EF4-FFF2-40B4-BE49-F238E27FC236}">
                <a16:creationId xmlns:a16="http://schemas.microsoft.com/office/drawing/2014/main" id="{95A9FF45-939D-DE49-4B9A-8874E6A50583}"/>
              </a:ext>
            </a:extLst>
          </p:cNvPr>
          <p:cNvPicPr>
            <a:picLocks noChangeAspect="1"/>
          </p:cNvPicPr>
          <p:nvPr/>
        </p:nvPicPr>
        <p:blipFill>
          <a:blip r:embed="rId2"/>
          <a:stretch>
            <a:fillRect/>
          </a:stretch>
        </p:blipFill>
        <p:spPr>
          <a:xfrm>
            <a:off x="900545" y="585216"/>
            <a:ext cx="10832763" cy="6088244"/>
          </a:xfrm>
          <a:prstGeom prst="rect">
            <a:avLst/>
          </a:prstGeom>
        </p:spPr>
      </p:pic>
    </p:spTree>
    <p:extLst>
      <p:ext uri="{BB962C8B-B14F-4D97-AF65-F5344CB8AC3E}">
        <p14:creationId xmlns:p14="http://schemas.microsoft.com/office/powerpoint/2010/main" val="4182503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89A46-0331-0393-A968-69A69F762877}"/>
              </a:ext>
            </a:extLst>
          </p:cNvPr>
          <p:cNvSpPr>
            <a:spLocks noGrp="1"/>
          </p:cNvSpPr>
          <p:nvPr>
            <p:ph type="title"/>
          </p:nvPr>
        </p:nvSpPr>
        <p:spPr/>
        <p:txBody>
          <a:bodyPr/>
          <a:lstStyle/>
          <a:p>
            <a:endParaRPr lang="en-GB"/>
          </a:p>
        </p:txBody>
      </p:sp>
      <p:pic>
        <p:nvPicPr>
          <p:cNvPr id="4" name="Picture 3">
            <a:extLst>
              <a:ext uri="{FF2B5EF4-FFF2-40B4-BE49-F238E27FC236}">
                <a16:creationId xmlns:a16="http://schemas.microsoft.com/office/drawing/2014/main" id="{6C4D389A-CBD7-7D51-C15E-DB040BBAA4F6}"/>
              </a:ext>
            </a:extLst>
          </p:cNvPr>
          <p:cNvPicPr>
            <a:picLocks noChangeAspect="1"/>
          </p:cNvPicPr>
          <p:nvPr/>
        </p:nvPicPr>
        <p:blipFill>
          <a:blip r:embed="rId2"/>
          <a:stretch>
            <a:fillRect/>
          </a:stretch>
        </p:blipFill>
        <p:spPr>
          <a:xfrm>
            <a:off x="963706" y="585217"/>
            <a:ext cx="10204166" cy="5687567"/>
          </a:xfrm>
          <a:prstGeom prst="rect">
            <a:avLst/>
          </a:prstGeom>
        </p:spPr>
      </p:pic>
    </p:spTree>
    <p:extLst>
      <p:ext uri="{BB962C8B-B14F-4D97-AF65-F5344CB8AC3E}">
        <p14:creationId xmlns:p14="http://schemas.microsoft.com/office/powerpoint/2010/main" val="22199853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23416DF-B283-4D9F-A625-146552CA9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2" name="Oval 5">
            <a:extLst>
              <a:ext uri="{FF2B5EF4-FFF2-40B4-BE49-F238E27FC236}">
                <a16:creationId xmlns:a16="http://schemas.microsoft.com/office/drawing/2014/main" id="{73834904-4D9B-41F7-8DA6-0709FD9F7E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14" name="Straight Connector 13">
            <a:extLst>
              <a:ext uri="{FF2B5EF4-FFF2-40B4-BE49-F238E27FC236}">
                <a16:creationId xmlns:a16="http://schemas.microsoft.com/office/drawing/2014/main" id="{C00D1207-ECAF-48E9-8834-2CE4D21982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D2E3C52-528A-4049-BCAA-5460756BC0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59968"/>
            <a:ext cx="12192000" cy="2298032"/>
          </a:xfrm>
          <a:prstGeom prst="rect">
            <a:avLst/>
          </a:pr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D27ADE11-0160-98A4-AB33-46408F8B6E00}"/>
              </a:ext>
            </a:extLst>
          </p:cNvPr>
          <p:cNvSpPr>
            <a:spLocks noGrp="1"/>
          </p:cNvSpPr>
          <p:nvPr>
            <p:ph type="title"/>
          </p:nvPr>
        </p:nvSpPr>
        <p:spPr>
          <a:xfrm>
            <a:off x="457200" y="4960137"/>
            <a:ext cx="7772400" cy="1463040"/>
          </a:xfrm>
        </p:spPr>
        <p:txBody>
          <a:bodyPr vert="horz" lIns="91440" tIns="45720" rIns="91440" bIns="45720" rtlCol="0" anchor="ctr">
            <a:normAutofit/>
          </a:bodyPr>
          <a:lstStyle/>
          <a:p>
            <a:pPr algn="r"/>
            <a:r>
              <a:rPr lang="en-US" sz="3500" spc="200">
                <a:solidFill>
                  <a:srgbClr val="FFFFFF"/>
                </a:solidFill>
              </a:rPr>
              <a:t>API gateway vs. Direct client-to-microservice communication </a:t>
            </a:r>
            <a:br>
              <a:rPr lang="en-US" sz="3500" spc="200">
                <a:solidFill>
                  <a:srgbClr val="FFFFFF"/>
                </a:solidFill>
              </a:rPr>
            </a:br>
            <a:endParaRPr lang="en-US" sz="3500" spc="200">
              <a:solidFill>
                <a:srgbClr val="FFFFFF"/>
              </a:solidFill>
            </a:endParaRPr>
          </a:p>
        </p:txBody>
      </p:sp>
      <p:sp useBgFill="1">
        <p:nvSpPr>
          <p:cNvPr id="18" name="Rectangle 17">
            <a:extLst>
              <a:ext uri="{FF2B5EF4-FFF2-40B4-BE49-F238E27FC236}">
                <a16:creationId xmlns:a16="http://schemas.microsoft.com/office/drawing/2014/main" id="{CD5B542C-8183-4445-AF4D-B23AAE329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88BF284-B6A4-EC2E-370C-2EFC3B0E81AE}"/>
              </a:ext>
            </a:extLst>
          </p:cNvPr>
          <p:cNvPicPr>
            <a:picLocks noChangeAspect="1"/>
          </p:cNvPicPr>
          <p:nvPr/>
        </p:nvPicPr>
        <p:blipFill>
          <a:blip r:embed="rId2"/>
          <a:stretch>
            <a:fillRect/>
          </a:stretch>
        </p:blipFill>
        <p:spPr>
          <a:xfrm>
            <a:off x="484632" y="728697"/>
            <a:ext cx="5369052" cy="3114050"/>
          </a:xfrm>
          <a:prstGeom prst="rect">
            <a:avLst/>
          </a:prstGeom>
        </p:spPr>
      </p:pic>
      <p:cxnSp>
        <p:nvCxnSpPr>
          <p:cNvPr id="20" name="Straight Connector 19">
            <a:extLst>
              <a:ext uri="{FF2B5EF4-FFF2-40B4-BE49-F238E27FC236}">
                <a16:creationId xmlns:a16="http://schemas.microsoft.com/office/drawing/2014/main" id="{84ED9B5A-5577-4CA5-97AA-0E5E2EA975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60141" y="822682"/>
            <a:ext cx="0" cy="29260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684CDAA3-68CF-4412-7ACE-B2014E1B5885}"/>
              </a:ext>
            </a:extLst>
          </p:cNvPr>
          <p:cNvPicPr>
            <a:picLocks noChangeAspect="1"/>
          </p:cNvPicPr>
          <p:nvPr/>
        </p:nvPicPr>
        <p:blipFill>
          <a:blip r:embed="rId3"/>
          <a:stretch>
            <a:fillRect/>
          </a:stretch>
        </p:blipFill>
        <p:spPr>
          <a:xfrm>
            <a:off x="6338316" y="723440"/>
            <a:ext cx="5341140" cy="3124565"/>
          </a:xfrm>
          <a:prstGeom prst="rect">
            <a:avLst/>
          </a:prstGeom>
        </p:spPr>
      </p:pic>
      <p:cxnSp>
        <p:nvCxnSpPr>
          <p:cNvPr id="22" name="Straight Connector 21">
            <a:extLst>
              <a:ext uri="{FF2B5EF4-FFF2-40B4-BE49-F238E27FC236}">
                <a16:creationId xmlns:a16="http://schemas.microsoft.com/office/drawing/2014/main" id="{2724283B-587C-4A0E-A50E-B8914975B4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15976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9CFA1-3EC9-A65A-E788-FA61BF26CCB4}"/>
              </a:ext>
            </a:extLst>
          </p:cNvPr>
          <p:cNvSpPr>
            <a:spLocks noGrp="1"/>
          </p:cNvSpPr>
          <p:nvPr>
            <p:ph type="title"/>
          </p:nvPr>
        </p:nvSpPr>
        <p:spPr/>
        <p:txBody>
          <a:bodyPr/>
          <a:lstStyle/>
          <a:p>
            <a:endParaRPr lang="en-GB"/>
          </a:p>
        </p:txBody>
      </p:sp>
      <p:pic>
        <p:nvPicPr>
          <p:cNvPr id="4" name="Picture 3">
            <a:extLst>
              <a:ext uri="{FF2B5EF4-FFF2-40B4-BE49-F238E27FC236}">
                <a16:creationId xmlns:a16="http://schemas.microsoft.com/office/drawing/2014/main" id="{1F1E3D97-C4F6-A6D1-7F8F-7D325A852EC5}"/>
              </a:ext>
            </a:extLst>
          </p:cNvPr>
          <p:cNvPicPr>
            <a:picLocks noChangeAspect="1"/>
          </p:cNvPicPr>
          <p:nvPr/>
        </p:nvPicPr>
        <p:blipFill>
          <a:blip r:embed="rId2"/>
          <a:stretch>
            <a:fillRect/>
          </a:stretch>
        </p:blipFill>
        <p:spPr>
          <a:xfrm>
            <a:off x="1170709" y="443345"/>
            <a:ext cx="10372273" cy="5829439"/>
          </a:xfrm>
          <a:prstGeom prst="rect">
            <a:avLst/>
          </a:prstGeom>
        </p:spPr>
      </p:pic>
    </p:spTree>
    <p:extLst>
      <p:ext uri="{BB962C8B-B14F-4D97-AF65-F5344CB8AC3E}">
        <p14:creationId xmlns:p14="http://schemas.microsoft.com/office/powerpoint/2010/main" val="29000009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23416DF-B283-4D9F-A625-146552CA9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2" name="Oval 5">
            <a:extLst>
              <a:ext uri="{FF2B5EF4-FFF2-40B4-BE49-F238E27FC236}">
                <a16:creationId xmlns:a16="http://schemas.microsoft.com/office/drawing/2014/main" id="{73834904-4D9B-41F7-8DA6-0709FD9F7E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14" name="Straight Connector 13">
            <a:extLst>
              <a:ext uri="{FF2B5EF4-FFF2-40B4-BE49-F238E27FC236}">
                <a16:creationId xmlns:a16="http://schemas.microsoft.com/office/drawing/2014/main" id="{C00D1207-ECAF-48E9-8834-2CE4D21982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D2E3C52-528A-4049-BCAA-5460756BC0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59968"/>
            <a:ext cx="12192000" cy="2298032"/>
          </a:xfrm>
          <a:prstGeom prst="rect">
            <a:avLst/>
          </a:pr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A4D7A317-869C-2365-A2B3-8D6E0864F436}"/>
              </a:ext>
            </a:extLst>
          </p:cNvPr>
          <p:cNvSpPr>
            <a:spLocks noGrp="1"/>
          </p:cNvSpPr>
          <p:nvPr>
            <p:ph type="title"/>
          </p:nvPr>
        </p:nvSpPr>
        <p:spPr>
          <a:xfrm>
            <a:off x="457200" y="4960137"/>
            <a:ext cx="7772400" cy="1463040"/>
          </a:xfrm>
        </p:spPr>
        <p:txBody>
          <a:bodyPr vert="horz" lIns="91440" tIns="45720" rIns="91440" bIns="45720" rtlCol="0" anchor="ctr">
            <a:normAutofit/>
          </a:bodyPr>
          <a:lstStyle/>
          <a:p>
            <a:pPr algn="r"/>
            <a:r>
              <a:rPr lang="en-US" spc="200">
                <a:solidFill>
                  <a:srgbClr val="FFFFFF"/>
                </a:solidFill>
              </a:rPr>
              <a:t>Stiluri de comunicație</a:t>
            </a:r>
          </a:p>
        </p:txBody>
      </p:sp>
      <p:sp useBgFill="1">
        <p:nvSpPr>
          <p:cNvPr id="18" name="Rectangle 17">
            <a:extLst>
              <a:ext uri="{FF2B5EF4-FFF2-40B4-BE49-F238E27FC236}">
                <a16:creationId xmlns:a16="http://schemas.microsoft.com/office/drawing/2014/main" id="{CD5B542C-8183-4445-AF4D-B23AAE329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529C911-460E-4805-8CA8-FFFBE2398D33}"/>
              </a:ext>
            </a:extLst>
          </p:cNvPr>
          <p:cNvPicPr>
            <a:picLocks noChangeAspect="1"/>
          </p:cNvPicPr>
          <p:nvPr/>
        </p:nvPicPr>
        <p:blipFill>
          <a:blip r:embed="rId2"/>
          <a:stretch>
            <a:fillRect/>
          </a:stretch>
        </p:blipFill>
        <p:spPr>
          <a:xfrm>
            <a:off x="484632" y="1285736"/>
            <a:ext cx="5369052" cy="1999972"/>
          </a:xfrm>
          <a:prstGeom prst="rect">
            <a:avLst/>
          </a:prstGeom>
        </p:spPr>
      </p:pic>
      <p:cxnSp>
        <p:nvCxnSpPr>
          <p:cNvPr id="20" name="Straight Connector 19">
            <a:extLst>
              <a:ext uri="{FF2B5EF4-FFF2-40B4-BE49-F238E27FC236}">
                <a16:creationId xmlns:a16="http://schemas.microsoft.com/office/drawing/2014/main" id="{84ED9B5A-5577-4CA5-97AA-0E5E2EA975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60141" y="822682"/>
            <a:ext cx="0" cy="29260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8E17FC7F-2698-4126-F758-8669BB2BF553}"/>
              </a:ext>
            </a:extLst>
          </p:cNvPr>
          <p:cNvPicPr>
            <a:picLocks noChangeAspect="1"/>
          </p:cNvPicPr>
          <p:nvPr/>
        </p:nvPicPr>
        <p:blipFill>
          <a:blip r:embed="rId3"/>
          <a:stretch>
            <a:fillRect/>
          </a:stretch>
        </p:blipFill>
        <p:spPr>
          <a:xfrm>
            <a:off x="6338316" y="910379"/>
            <a:ext cx="5341140" cy="2750686"/>
          </a:xfrm>
          <a:prstGeom prst="rect">
            <a:avLst/>
          </a:prstGeom>
        </p:spPr>
      </p:pic>
      <p:cxnSp>
        <p:nvCxnSpPr>
          <p:cNvPr id="22" name="Straight Connector 21">
            <a:extLst>
              <a:ext uri="{FF2B5EF4-FFF2-40B4-BE49-F238E27FC236}">
                <a16:creationId xmlns:a16="http://schemas.microsoft.com/office/drawing/2014/main" id="{2724283B-587C-4A0E-A50E-B8914975B4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4836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23416DF-B283-4D9F-A625-146552CA9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2" name="Oval 5">
            <a:extLst>
              <a:ext uri="{FF2B5EF4-FFF2-40B4-BE49-F238E27FC236}">
                <a16:creationId xmlns:a16="http://schemas.microsoft.com/office/drawing/2014/main" id="{73834904-4D9B-41F7-8DA6-0709FD9F7E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14" name="Straight Connector 13">
            <a:extLst>
              <a:ext uri="{FF2B5EF4-FFF2-40B4-BE49-F238E27FC236}">
                <a16:creationId xmlns:a16="http://schemas.microsoft.com/office/drawing/2014/main" id="{C00D1207-ECAF-48E9-8834-2CE4D21982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D2E3C52-528A-4049-BCAA-5460756BC0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59968"/>
            <a:ext cx="12192000" cy="2298032"/>
          </a:xfrm>
          <a:prstGeom prst="rect">
            <a:avLst/>
          </a:pr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4EFEC5BC-9CAF-C9C5-5DCB-341B5C34165E}"/>
              </a:ext>
            </a:extLst>
          </p:cNvPr>
          <p:cNvSpPr>
            <a:spLocks noGrp="1"/>
          </p:cNvSpPr>
          <p:nvPr>
            <p:ph type="title"/>
          </p:nvPr>
        </p:nvSpPr>
        <p:spPr>
          <a:xfrm>
            <a:off x="457200" y="4960137"/>
            <a:ext cx="7772400" cy="1463040"/>
          </a:xfrm>
        </p:spPr>
        <p:txBody>
          <a:bodyPr vert="horz" lIns="91440" tIns="45720" rIns="91440" bIns="45720" rtlCol="0" anchor="ctr">
            <a:normAutofit/>
          </a:bodyPr>
          <a:lstStyle/>
          <a:p>
            <a:pPr algn="r"/>
            <a:r>
              <a:rPr lang="en-US" spc="200">
                <a:solidFill>
                  <a:srgbClr val="FFFFFF"/>
                </a:solidFill>
              </a:rPr>
              <a:t>Stiluri de comunicație</a:t>
            </a:r>
          </a:p>
        </p:txBody>
      </p:sp>
      <p:sp useBgFill="1">
        <p:nvSpPr>
          <p:cNvPr id="18" name="Rectangle 17">
            <a:extLst>
              <a:ext uri="{FF2B5EF4-FFF2-40B4-BE49-F238E27FC236}">
                <a16:creationId xmlns:a16="http://schemas.microsoft.com/office/drawing/2014/main" id="{CD5B542C-8183-4445-AF4D-B23AAE329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60A5DF7-8D16-B846-845F-F43E5AC49F5A}"/>
              </a:ext>
            </a:extLst>
          </p:cNvPr>
          <p:cNvPicPr>
            <a:picLocks noChangeAspect="1"/>
          </p:cNvPicPr>
          <p:nvPr/>
        </p:nvPicPr>
        <p:blipFill>
          <a:blip r:embed="rId2"/>
          <a:stretch>
            <a:fillRect/>
          </a:stretch>
        </p:blipFill>
        <p:spPr>
          <a:xfrm>
            <a:off x="484632" y="916614"/>
            <a:ext cx="5369052" cy="2738216"/>
          </a:xfrm>
          <a:prstGeom prst="rect">
            <a:avLst/>
          </a:prstGeom>
        </p:spPr>
      </p:pic>
      <p:cxnSp>
        <p:nvCxnSpPr>
          <p:cNvPr id="20" name="Straight Connector 19">
            <a:extLst>
              <a:ext uri="{FF2B5EF4-FFF2-40B4-BE49-F238E27FC236}">
                <a16:creationId xmlns:a16="http://schemas.microsoft.com/office/drawing/2014/main" id="{84ED9B5A-5577-4CA5-97AA-0E5E2EA975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60141" y="822682"/>
            <a:ext cx="0" cy="29260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57378D7-8E79-E4E3-5E77-916A791E4134}"/>
              </a:ext>
            </a:extLst>
          </p:cNvPr>
          <p:cNvPicPr>
            <a:picLocks noChangeAspect="1"/>
          </p:cNvPicPr>
          <p:nvPr/>
        </p:nvPicPr>
        <p:blipFill>
          <a:blip r:embed="rId3"/>
          <a:stretch>
            <a:fillRect/>
          </a:stretch>
        </p:blipFill>
        <p:spPr>
          <a:xfrm>
            <a:off x="6338316" y="743469"/>
            <a:ext cx="5341140" cy="3084506"/>
          </a:xfrm>
          <a:prstGeom prst="rect">
            <a:avLst/>
          </a:prstGeom>
        </p:spPr>
      </p:pic>
      <p:cxnSp>
        <p:nvCxnSpPr>
          <p:cNvPr id="22" name="Straight Connector 21">
            <a:extLst>
              <a:ext uri="{FF2B5EF4-FFF2-40B4-BE49-F238E27FC236}">
                <a16:creationId xmlns:a16="http://schemas.microsoft.com/office/drawing/2014/main" id="{2724283B-587C-4A0E-A50E-B8914975B4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03136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23416DF-B283-4D9F-A625-146552CA9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2" name="Oval 5">
            <a:extLst>
              <a:ext uri="{FF2B5EF4-FFF2-40B4-BE49-F238E27FC236}">
                <a16:creationId xmlns:a16="http://schemas.microsoft.com/office/drawing/2014/main" id="{73834904-4D9B-41F7-8DA6-0709FD9F7E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14" name="Straight Connector 13">
            <a:extLst>
              <a:ext uri="{FF2B5EF4-FFF2-40B4-BE49-F238E27FC236}">
                <a16:creationId xmlns:a16="http://schemas.microsoft.com/office/drawing/2014/main" id="{C00D1207-ECAF-48E9-8834-2CE4D21982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D2E3C52-528A-4049-BCAA-5460756BC0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59968"/>
            <a:ext cx="12192000" cy="2298032"/>
          </a:xfrm>
          <a:prstGeom prst="rect">
            <a:avLst/>
          </a:pr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BB205D8D-FB85-F45D-4D60-9FBBA0784FDF}"/>
              </a:ext>
            </a:extLst>
          </p:cNvPr>
          <p:cNvSpPr>
            <a:spLocks noGrp="1"/>
          </p:cNvSpPr>
          <p:nvPr>
            <p:ph type="title"/>
          </p:nvPr>
        </p:nvSpPr>
        <p:spPr>
          <a:xfrm>
            <a:off x="457200" y="4960137"/>
            <a:ext cx="7772400" cy="1463040"/>
          </a:xfrm>
        </p:spPr>
        <p:txBody>
          <a:bodyPr vert="horz" lIns="91440" tIns="45720" rIns="91440" bIns="45720" rtlCol="0" anchor="ctr">
            <a:normAutofit/>
          </a:bodyPr>
          <a:lstStyle/>
          <a:p>
            <a:pPr algn="r"/>
            <a:r>
              <a:rPr lang="en-US" spc="200">
                <a:solidFill>
                  <a:srgbClr val="FFFFFF"/>
                </a:solidFill>
              </a:rPr>
              <a:t>Stiluri UI</a:t>
            </a:r>
          </a:p>
        </p:txBody>
      </p:sp>
      <p:sp useBgFill="1">
        <p:nvSpPr>
          <p:cNvPr id="18" name="Rectangle 17">
            <a:extLst>
              <a:ext uri="{FF2B5EF4-FFF2-40B4-BE49-F238E27FC236}">
                <a16:creationId xmlns:a16="http://schemas.microsoft.com/office/drawing/2014/main" id="{CD5B542C-8183-4445-AF4D-B23AAE329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CBF91CB-0ADC-BB1A-F8CC-059905085BD4}"/>
              </a:ext>
            </a:extLst>
          </p:cNvPr>
          <p:cNvPicPr>
            <a:picLocks noChangeAspect="1"/>
          </p:cNvPicPr>
          <p:nvPr/>
        </p:nvPicPr>
        <p:blipFill>
          <a:blip r:embed="rId2"/>
          <a:stretch>
            <a:fillRect/>
          </a:stretch>
        </p:blipFill>
        <p:spPr>
          <a:xfrm>
            <a:off x="484632" y="936748"/>
            <a:ext cx="5369052" cy="2697948"/>
          </a:xfrm>
          <a:prstGeom prst="rect">
            <a:avLst/>
          </a:prstGeom>
        </p:spPr>
      </p:pic>
      <p:cxnSp>
        <p:nvCxnSpPr>
          <p:cNvPr id="20" name="Straight Connector 19">
            <a:extLst>
              <a:ext uri="{FF2B5EF4-FFF2-40B4-BE49-F238E27FC236}">
                <a16:creationId xmlns:a16="http://schemas.microsoft.com/office/drawing/2014/main" id="{84ED9B5A-5577-4CA5-97AA-0E5E2EA975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60141" y="822682"/>
            <a:ext cx="0" cy="29260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1F37B2F1-E401-FF72-F308-9D5E86A9510D}"/>
              </a:ext>
            </a:extLst>
          </p:cNvPr>
          <p:cNvPicPr>
            <a:picLocks noChangeAspect="1"/>
          </p:cNvPicPr>
          <p:nvPr/>
        </p:nvPicPr>
        <p:blipFill>
          <a:blip r:embed="rId3"/>
          <a:stretch>
            <a:fillRect/>
          </a:stretch>
        </p:blipFill>
        <p:spPr>
          <a:xfrm>
            <a:off x="6338316" y="850292"/>
            <a:ext cx="5341140" cy="2870861"/>
          </a:xfrm>
          <a:prstGeom prst="rect">
            <a:avLst/>
          </a:prstGeom>
        </p:spPr>
      </p:pic>
      <p:cxnSp>
        <p:nvCxnSpPr>
          <p:cNvPr id="22" name="Straight Connector 21">
            <a:extLst>
              <a:ext uri="{FF2B5EF4-FFF2-40B4-BE49-F238E27FC236}">
                <a16:creationId xmlns:a16="http://schemas.microsoft.com/office/drawing/2014/main" id="{2724283B-587C-4A0E-A50E-B8914975B4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04843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9E102-6F0D-D34E-AB88-464944858CDD}"/>
              </a:ext>
            </a:extLst>
          </p:cNvPr>
          <p:cNvSpPr>
            <a:spLocks noGrp="1"/>
          </p:cNvSpPr>
          <p:nvPr>
            <p:ph type="title"/>
          </p:nvPr>
        </p:nvSpPr>
        <p:spPr/>
        <p:txBody>
          <a:bodyPr/>
          <a:lstStyle/>
          <a:p>
            <a:pPr>
              <a:defRPr/>
            </a:pPr>
            <a:r>
              <a:rPr lang="en-US" dirty="0" err="1"/>
              <a:t>Sumar</a:t>
            </a:r>
            <a:endParaRPr lang="en-US" dirty="0"/>
          </a:p>
        </p:txBody>
      </p:sp>
      <p:sp>
        <p:nvSpPr>
          <p:cNvPr id="81922" name="Content Placeholder 2">
            <a:extLst>
              <a:ext uri="{FF2B5EF4-FFF2-40B4-BE49-F238E27FC236}">
                <a16:creationId xmlns:a16="http://schemas.microsoft.com/office/drawing/2014/main" id="{F9B11897-2BC0-3749-A6AA-4F086F689079}"/>
              </a:ext>
            </a:extLst>
          </p:cNvPr>
          <p:cNvSpPr>
            <a:spLocks noGrp="1" noChangeArrowheads="1"/>
          </p:cNvSpPr>
          <p:nvPr>
            <p:ph idx="1"/>
          </p:nvPr>
        </p:nvSpPr>
        <p:spPr/>
        <p:txBody>
          <a:bodyPr/>
          <a:lstStyle/>
          <a:p>
            <a:r>
              <a:rPr lang="en-US" altLang="en-US" dirty="0" err="1"/>
              <a:t>Evolutia</a:t>
            </a:r>
            <a:r>
              <a:rPr lang="en-US" altLang="en-US" dirty="0"/>
              <a:t> </a:t>
            </a:r>
            <a:r>
              <a:rPr lang="en-US" altLang="en-US" dirty="0" err="1"/>
              <a:t>arhitecturilor</a:t>
            </a:r>
            <a:r>
              <a:rPr lang="en-US" altLang="en-US" dirty="0"/>
              <a:t> Web</a:t>
            </a:r>
          </a:p>
          <a:p>
            <a:r>
              <a:rPr lang="en-US" altLang="en-US" dirty="0" err="1"/>
              <a:t>Paradigme</a:t>
            </a:r>
            <a:r>
              <a:rPr lang="en-US" altLang="en-US" dirty="0"/>
              <a:t> de </a:t>
            </a:r>
            <a:r>
              <a:rPr lang="en-US" altLang="en-US" dirty="0" err="1"/>
              <a:t>dezvoltare</a:t>
            </a:r>
            <a:r>
              <a:rPr lang="en-US" altLang="en-US" dirty="0"/>
              <a:t> a </a:t>
            </a:r>
            <a:r>
              <a:rPr lang="en-US" altLang="en-US" dirty="0" err="1"/>
              <a:t>arhitecturilor</a:t>
            </a:r>
            <a:r>
              <a:rPr lang="en-US" altLang="en-US" dirty="0"/>
              <a:t> Web</a:t>
            </a:r>
          </a:p>
          <a:p>
            <a:r>
              <a:rPr lang="en-US" altLang="en-US" dirty="0" err="1"/>
              <a:t>Tehnologii</a:t>
            </a:r>
            <a:r>
              <a:rPr lang="en-US" altLang="en-US" dirty="0"/>
              <a:t>...</a:t>
            </a:r>
          </a:p>
          <a:p>
            <a:endParaRPr lang="en-US" altLang="en-US" dirty="0"/>
          </a:p>
        </p:txBody>
      </p:sp>
      <p:sp>
        <p:nvSpPr>
          <p:cNvPr id="68613" name="Footer Placeholder 4">
            <a:extLst>
              <a:ext uri="{FF2B5EF4-FFF2-40B4-BE49-F238E27FC236}">
                <a16:creationId xmlns:a16="http://schemas.microsoft.com/office/drawing/2014/main" id="{B77DCE83-7D6E-9E4C-827A-2241F2888DBB}"/>
              </a:ext>
            </a:extLst>
          </p:cNvPr>
          <p:cNvSpPr>
            <a:spLocks noGrp="1"/>
          </p:cNvSpPr>
          <p:nvPr>
            <p:ph type="ftr" sz="quarter" idx="11"/>
          </p:nvPr>
        </p:nvSpPr>
        <p:spPr/>
        <p:txBody>
          <a:bodyPr/>
          <a:lstStyle/>
          <a:p>
            <a:pPr>
              <a:defRPr/>
            </a:pPr>
            <a:r>
              <a:rPr lang="en-US" dirty="0" err="1">
                <a:latin typeface="Arial" charset="0"/>
              </a:rPr>
              <a:t>Programare</a:t>
            </a:r>
            <a:r>
              <a:rPr lang="en-US" dirty="0">
                <a:latin typeface="Arial" charset="0"/>
              </a:rPr>
              <a:t> Web– Curs 3</a:t>
            </a:r>
          </a:p>
        </p:txBody>
      </p:sp>
      <p:sp>
        <p:nvSpPr>
          <p:cNvPr id="81924" name="Slide Number Placeholder 5">
            <a:extLst>
              <a:ext uri="{FF2B5EF4-FFF2-40B4-BE49-F238E27FC236}">
                <a16:creationId xmlns:a16="http://schemas.microsoft.com/office/drawing/2014/main" id="{89B5A191-BDCC-914C-9CFF-B872658BB76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162C3D0-AFB8-DA4D-8738-E9C6174CADD6}" type="slidenum">
              <a:rPr lang="en-US" altLang="en-US" sz="900">
                <a:solidFill>
                  <a:schemeClr val="bg1"/>
                </a:solidFill>
              </a:rPr>
              <a:pPr>
                <a:spcBef>
                  <a:spcPct val="0"/>
                </a:spcBef>
                <a:buFontTx/>
                <a:buNone/>
              </a:pPr>
              <a:t>41</a:t>
            </a:fld>
            <a:endParaRPr lang="en-US" altLang="en-US" sz="900">
              <a:solidFill>
                <a:schemeClr val="bg1"/>
              </a:solidFill>
            </a:endParaRPr>
          </a:p>
        </p:txBody>
      </p:sp>
    </p:spTree>
    <p:extLst>
      <p:ext uri="{BB962C8B-B14F-4D97-AF65-F5344CB8AC3E}">
        <p14:creationId xmlns:p14="http://schemas.microsoft.com/office/powerpoint/2010/main" val="17692774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88A2F88-55C5-4ED1-9541-807C65424763}">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4F44C90D-2A62-4985-9618-3460247437B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Integral</Template>
  <TotalTime>1801</TotalTime>
  <Words>2175</Words>
  <Application>Microsoft Macintosh PowerPoint</Application>
  <PresentationFormat>Widescreen</PresentationFormat>
  <Paragraphs>168</Paragraphs>
  <Slides>41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Calibri</vt:lpstr>
      <vt:lpstr>Courier New</vt:lpstr>
      <vt:lpstr>Open Sans</vt:lpstr>
      <vt:lpstr>Tw Cen MT</vt:lpstr>
      <vt:lpstr>Tw Cen MT Condensed</vt:lpstr>
      <vt:lpstr>Wingdings</vt:lpstr>
      <vt:lpstr>Wingdings 3</vt:lpstr>
      <vt:lpstr>Integral</vt:lpstr>
      <vt:lpstr>Tehnologii Web</vt:lpstr>
      <vt:lpstr>Arhitectură WEB</vt:lpstr>
      <vt:lpstr>Arhitectura “Multi tier”</vt:lpstr>
      <vt:lpstr>PowerPoint Presentation</vt:lpstr>
      <vt:lpstr>Model-View-Controller (MVC)</vt:lpstr>
      <vt:lpstr>Componente MVC</vt:lpstr>
      <vt:lpstr>Flow MVC</vt:lpstr>
      <vt:lpstr>3-tier vs mvc</vt:lpstr>
      <vt:lpstr>O arhitectură de lucru</vt:lpstr>
      <vt:lpstr>Client-side</vt:lpstr>
      <vt:lpstr>Client-side</vt:lpstr>
      <vt:lpstr>Frontendul modern</vt:lpstr>
      <vt:lpstr>Ce este MPA?</vt:lpstr>
      <vt:lpstr>Ce este spa?</vt:lpstr>
      <vt:lpstr>PowerPoint Presentation</vt:lpstr>
      <vt:lpstr>Server-Side</vt:lpstr>
      <vt:lpstr>Application Programming Interface (API)</vt:lpstr>
      <vt:lpstr>Trend-uri la nivelul Arhitecturii</vt:lpstr>
      <vt:lpstr>Trend-uri la nivelul Arhitecturii</vt:lpstr>
      <vt:lpstr>Monolit</vt:lpstr>
      <vt:lpstr>Microservicii</vt:lpstr>
      <vt:lpstr>Monolit vs Microservicii</vt:lpstr>
      <vt:lpstr>PowerPoint Presentation</vt:lpstr>
      <vt:lpstr>PowerPoint Presentation</vt:lpstr>
      <vt:lpstr>PowerPoint Presentation</vt:lpstr>
      <vt:lpstr>PowerPoint Presentation</vt:lpstr>
      <vt:lpstr>PowerPoint Presentation</vt:lpstr>
      <vt:lpstr>Serverless Computing</vt:lpstr>
      <vt:lpstr>Serverless Computing</vt:lpstr>
      <vt:lpstr>Microservicii. Tehnici avansate. Domain driven design</vt:lpstr>
      <vt:lpstr>Microservicii. Tehnici avansate. Domain driven design</vt:lpstr>
      <vt:lpstr>Cum se definesc limitele fiecărui microserviciu</vt:lpstr>
      <vt:lpstr>PowerPoint Presentation</vt:lpstr>
      <vt:lpstr>PowerPoint Presentation</vt:lpstr>
      <vt:lpstr>PowerPoint Presentation</vt:lpstr>
      <vt:lpstr>API gateway vs. Direct client-to-microservice communication  </vt:lpstr>
      <vt:lpstr>PowerPoint Presentation</vt:lpstr>
      <vt:lpstr>Stiluri de comunicație</vt:lpstr>
      <vt:lpstr>Stiluri de comunicație</vt:lpstr>
      <vt:lpstr>Stiluri UI</vt:lpstr>
      <vt:lpstr>Sumar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Cursul 2</dc:title>
  <dc:creator>Hogea Alexandru</dc:creator>
  <cp:lastModifiedBy>CIPRIAN MIHAI DOBRE (24408)</cp:lastModifiedBy>
  <cp:revision>42</cp:revision>
  <dcterms:created xsi:type="dcterms:W3CDTF">2021-03-14T17:16:17Z</dcterms:created>
  <dcterms:modified xsi:type="dcterms:W3CDTF">2025-03-01T17:15:43Z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