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66"/>
  </p:notesMasterIdLst>
  <p:sldIdLst>
    <p:sldId id="256" r:id="rId5"/>
    <p:sldId id="257" r:id="rId6"/>
    <p:sldId id="258" r:id="rId7"/>
    <p:sldId id="260" r:id="rId8"/>
    <p:sldId id="271" r:id="rId9"/>
    <p:sldId id="261" r:id="rId10"/>
    <p:sldId id="400" r:id="rId11"/>
    <p:sldId id="262" r:id="rId12"/>
    <p:sldId id="264" r:id="rId13"/>
    <p:sldId id="402" r:id="rId14"/>
    <p:sldId id="403" r:id="rId15"/>
    <p:sldId id="279" r:id="rId16"/>
    <p:sldId id="405" r:id="rId17"/>
    <p:sldId id="406" r:id="rId18"/>
    <p:sldId id="410" r:id="rId19"/>
    <p:sldId id="277" r:id="rId20"/>
    <p:sldId id="276" r:id="rId21"/>
    <p:sldId id="528" r:id="rId22"/>
    <p:sldId id="412" r:id="rId23"/>
    <p:sldId id="413" r:id="rId24"/>
    <p:sldId id="512" r:id="rId25"/>
    <p:sldId id="266" r:id="rId26"/>
    <p:sldId id="414" r:id="rId27"/>
    <p:sldId id="415" r:id="rId28"/>
    <p:sldId id="417" r:id="rId29"/>
    <p:sldId id="287" r:id="rId30"/>
    <p:sldId id="288" r:id="rId31"/>
    <p:sldId id="267" r:id="rId32"/>
    <p:sldId id="268" r:id="rId33"/>
    <p:sldId id="269" r:id="rId34"/>
    <p:sldId id="272" r:id="rId35"/>
    <p:sldId id="270" r:id="rId36"/>
    <p:sldId id="273" r:id="rId37"/>
    <p:sldId id="274" r:id="rId38"/>
    <p:sldId id="275" r:id="rId39"/>
    <p:sldId id="420" r:id="rId40"/>
    <p:sldId id="517" r:id="rId41"/>
    <p:sldId id="280" r:id="rId42"/>
    <p:sldId id="289" r:id="rId43"/>
    <p:sldId id="334" r:id="rId44"/>
    <p:sldId id="422" r:id="rId45"/>
    <p:sldId id="423" r:id="rId46"/>
    <p:sldId id="424" r:id="rId47"/>
    <p:sldId id="428" r:id="rId48"/>
    <p:sldId id="348" r:id="rId49"/>
    <p:sldId id="519" r:id="rId50"/>
    <p:sldId id="483" r:id="rId51"/>
    <p:sldId id="487" r:id="rId52"/>
    <p:sldId id="488" r:id="rId53"/>
    <p:sldId id="290" r:id="rId54"/>
    <p:sldId id="284" r:id="rId55"/>
    <p:sldId id="291" r:id="rId56"/>
    <p:sldId id="283" r:id="rId57"/>
    <p:sldId id="292" r:id="rId58"/>
    <p:sldId id="293" r:id="rId59"/>
    <p:sldId id="294" r:id="rId60"/>
    <p:sldId id="296" r:id="rId61"/>
    <p:sldId id="295" r:id="rId62"/>
    <p:sldId id="285" r:id="rId63"/>
    <p:sldId id="297" r:id="rId64"/>
    <p:sldId id="526" r:id="rId6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773" autoAdjust="0"/>
    <p:restoredTop sz="94966" autoAdjust="0"/>
  </p:normalViewPr>
  <p:slideViewPr>
    <p:cSldViewPr snapToGrid="0">
      <p:cViewPr varScale="1">
        <p:scale>
          <a:sx n="121" d="100"/>
          <a:sy n="121" d="100"/>
        </p:scale>
        <p:origin x="288" y="18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5BA6500-8A0A-4891-A16A-EAF48D6988CD}"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39E4B7E2-CF8D-4C16-A536-251D9986ACA6}">
      <dgm:prSet/>
      <dgm:spPr/>
      <dgm:t>
        <a:bodyPr/>
        <a:lstStyle/>
        <a:p>
          <a:r>
            <a:rPr lang="ro-RO" dirty="0"/>
            <a:t>Operatori aritmetici (toate numerele sunt în virgulă mobilă):</a:t>
          </a:r>
          <a:br>
            <a:rPr lang="ro-RO" dirty="0"/>
          </a:br>
          <a:r>
            <a:rPr lang="ro-RO" dirty="0"/>
            <a:t>     +     -     *     /     %     ++     --</a:t>
          </a:r>
          <a:endParaRPr lang="en-US" dirty="0"/>
        </a:p>
      </dgm:t>
    </dgm:pt>
    <dgm:pt modelId="{02463E8C-D0B3-480E-9FF4-9435736BBEE2}" type="parTrans" cxnId="{01025175-FB2A-4DCC-A2E1-4D540D82BB66}">
      <dgm:prSet/>
      <dgm:spPr/>
      <dgm:t>
        <a:bodyPr/>
        <a:lstStyle/>
        <a:p>
          <a:endParaRPr lang="en-US"/>
        </a:p>
      </dgm:t>
    </dgm:pt>
    <dgm:pt modelId="{205DA81A-4297-46B1-92C8-57DD34683D10}" type="sibTrans" cxnId="{01025175-FB2A-4DCC-A2E1-4D540D82BB66}">
      <dgm:prSet/>
      <dgm:spPr/>
      <dgm:t>
        <a:bodyPr/>
        <a:lstStyle/>
        <a:p>
          <a:endParaRPr lang="en-US"/>
        </a:p>
      </dgm:t>
    </dgm:pt>
    <dgm:pt modelId="{01529755-7F8C-486F-A671-7F701CEEAFC3}">
      <dgm:prSet/>
      <dgm:spPr/>
      <dgm:t>
        <a:bodyPr/>
        <a:lstStyle/>
        <a:p>
          <a:r>
            <a:rPr lang="ro-RO"/>
            <a:t>Operatori de comparație:</a:t>
          </a:r>
          <a:br>
            <a:rPr lang="ro-RO"/>
          </a:br>
          <a:r>
            <a:rPr lang="ro-RO"/>
            <a:t>     &lt;     &lt;=     ==     !=     &gt;=     &gt;</a:t>
          </a:r>
          <a:endParaRPr lang="en-US"/>
        </a:p>
      </dgm:t>
    </dgm:pt>
    <dgm:pt modelId="{DDD1A7C0-AF30-4332-9962-BBE788CD386B}" type="parTrans" cxnId="{3D6C5B16-C19B-410A-8CD8-4A0708993332}">
      <dgm:prSet/>
      <dgm:spPr/>
      <dgm:t>
        <a:bodyPr/>
        <a:lstStyle/>
        <a:p>
          <a:endParaRPr lang="en-US"/>
        </a:p>
      </dgm:t>
    </dgm:pt>
    <dgm:pt modelId="{9CF29335-C1FD-4552-9653-BFC06670E5A5}" type="sibTrans" cxnId="{3D6C5B16-C19B-410A-8CD8-4A0708993332}">
      <dgm:prSet/>
      <dgm:spPr/>
      <dgm:t>
        <a:bodyPr/>
        <a:lstStyle/>
        <a:p>
          <a:endParaRPr lang="en-US"/>
        </a:p>
      </dgm:t>
    </dgm:pt>
    <dgm:pt modelId="{7E13DF01-2687-401D-B741-0FE03A25DF7B}">
      <dgm:prSet/>
      <dgm:spPr/>
      <dgm:t>
        <a:bodyPr/>
        <a:lstStyle/>
        <a:p>
          <a:r>
            <a:rPr lang="ro-RO"/>
            <a:t>Operatori logici:</a:t>
          </a:r>
          <a:br>
            <a:rPr lang="ro-RO"/>
          </a:br>
          <a:r>
            <a:rPr lang="ro-RO"/>
            <a:t>     &amp;&amp;     ||     !     </a:t>
          </a:r>
          <a:endParaRPr lang="en-US"/>
        </a:p>
      </dgm:t>
    </dgm:pt>
    <dgm:pt modelId="{C2B0A571-72E9-40FA-A15F-37DA7A645393}" type="parTrans" cxnId="{3CF89E43-FC94-4361-82A9-FC1FE0FFA2A2}">
      <dgm:prSet/>
      <dgm:spPr/>
      <dgm:t>
        <a:bodyPr/>
        <a:lstStyle/>
        <a:p>
          <a:endParaRPr lang="en-US"/>
        </a:p>
      </dgm:t>
    </dgm:pt>
    <dgm:pt modelId="{DBC46A21-03DC-41B7-BDB9-C89AEC36E803}" type="sibTrans" cxnId="{3CF89E43-FC94-4361-82A9-FC1FE0FFA2A2}">
      <dgm:prSet/>
      <dgm:spPr/>
      <dgm:t>
        <a:bodyPr/>
        <a:lstStyle/>
        <a:p>
          <a:endParaRPr lang="en-US"/>
        </a:p>
      </dgm:t>
    </dgm:pt>
    <dgm:pt modelId="{5CC3AE15-2748-42FF-9263-4A5EA0C7EBC2}">
      <dgm:prSet/>
      <dgm:spPr/>
      <dgm:t>
        <a:bodyPr/>
        <a:lstStyle/>
        <a:p>
          <a:r>
            <a:rPr lang="ro-RO"/>
            <a:t>Operatori la nivel de biți:</a:t>
          </a:r>
          <a:br>
            <a:rPr lang="ro-RO"/>
          </a:br>
          <a:r>
            <a:rPr lang="ro-RO"/>
            <a:t>     &amp;     |     ^     ~     &lt;&lt;     &gt;&gt;     &gt;&gt;&gt;</a:t>
          </a:r>
          <a:endParaRPr lang="en-US"/>
        </a:p>
      </dgm:t>
    </dgm:pt>
    <dgm:pt modelId="{876EB1F6-ADFE-44CC-BCDE-2792433253FA}" type="parTrans" cxnId="{C4728642-DF7D-4491-B464-01E8709B230F}">
      <dgm:prSet/>
      <dgm:spPr/>
      <dgm:t>
        <a:bodyPr/>
        <a:lstStyle/>
        <a:p>
          <a:endParaRPr lang="en-US"/>
        </a:p>
      </dgm:t>
    </dgm:pt>
    <dgm:pt modelId="{3C3EDE2A-B983-49DD-ABDF-6062569BBF24}" type="sibTrans" cxnId="{C4728642-DF7D-4491-B464-01E8709B230F}">
      <dgm:prSet/>
      <dgm:spPr/>
      <dgm:t>
        <a:bodyPr/>
        <a:lstStyle/>
        <a:p>
          <a:endParaRPr lang="en-US"/>
        </a:p>
      </dgm:t>
    </dgm:pt>
    <dgm:pt modelId="{9B778738-C4B8-4B6E-8557-67FA091AF8DD}">
      <dgm:prSet/>
      <dgm:spPr/>
      <dgm:t>
        <a:bodyPr/>
        <a:lstStyle/>
        <a:p>
          <a:r>
            <a:rPr lang="ro-RO"/>
            <a:t>Operatori de asignare:</a:t>
          </a:r>
          <a:br>
            <a:rPr lang="ro-RO"/>
          </a:br>
          <a:r>
            <a:rPr lang="ro-RO"/>
            <a:t>     +=   -=   *=   /=   %=   &lt;&lt;=   &gt;&gt;=   &gt;&gt;&gt;=   &amp;=   ^=   |=</a:t>
          </a:r>
          <a:endParaRPr lang="en-US"/>
        </a:p>
      </dgm:t>
    </dgm:pt>
    <dgm:pt modelId="{1B339EDD-3587-4158-9372-D92BAF1E3B05}" type="parTrans" cxnId="{22B94472-1EAF-49E3-852A-77596E76DE4A}">
      <dgm:prSet/>
      <dgm:spPr/>
      <dgm:t>
        <a:bodyPr/>
        <a:lstStyle/>
        <a:p>
          <a:endParaRPr lang="en-US"/>
        </a:p>
      </dgm:t>
    </dgm:pt>
    <dgm:pt modelId="{6DE5D39D-8470-4ED8-A9FF-170BDBE5DCC9}" type="sibTrans" cxnId="{22B94472-1EAF-49E3-852A-77596E76DE4A}">
      <dgm:prSet/>
      <dgm:spPr/>
      <dgm:t>
        <a:bodyPr/>
        <a:lstStyle/>
        <a:p>
          <a:endParaRPr lang="en-US"/>
        </a:p>
      </dgm:t>
    </dgm:pt>
    <dgm:pt modelId="{E354F4B5-8991-254E-AD4C-AE37B8F2D36D}" type="pres">
      <dgm:prSet presAssocID="{C5BA6500-8A0A-4891-A16A-EAF48D6988CD}" presName="diagram" presStyleCnt="0">
        <dgm:presLayoutVars>
          <dgm:dir/>
          <dgm:resizeHandles val="exact"/>
        </dgm:presLayoutVars>
      </dgm:prSet>
      <dgm:spPr/>
    </dgm:pt>
    <dgm:pt modelId="{9818CC5C-07BB-B549-BC99-5DFC88ACB5D5}" type="pres">
      <dgm:prSet presAssocID="{39E4B7E2-CF8D-4C16-A536-251D9986ACA6}" presName="node" presStyleLbl="node1" presStyleIdx="0" presStyleCnt="5">
        <dgm:presLayoutVars>
          <dgm:bulletEnabled val="1"/>
        </dgm:presLayoutVars>
      </dgm:prSet>
      <dgm:spPr/>
    </dgm:pt>
    <dgm:pt modelId="{B2FF254D-E6D5-3447-9303-67D9CC14D87B}" type="pres">
      <dgm:prSet presAssocID="{205DA81A-4297-46B1-92C8-57DD34683D10}" presName="sibTrans" presStyleCnt="0"/>
      <dgm:spPr/>
    </dgm:pt>
    <dgm:pt modelId="{7CB6B621-711B-CB4F-A113-4413D46F7BDF}" type="pres">
      <dgm:prSet presAssocID="{01529755-7F8C-486F-A671-7F701CEEAFC3}" presName="node" presStyleLbl="node1" presStyleIdx="1" presStyleCnt="5">
        <dgm:presLayoutVars>
          <dgm:bulletEnabled val="1"/>
        </dgm:presLayoutVars>
      </dgm:prSet>
      <dgm:spPr/>
    </dgm:pt>
    <dgm:pt modelId="{C9F587E0-E52C-B447-86DB-99B4F77A8FD5}" type="pres">
      <dgm:prSet presAssocID="{9CF29335-C1FD-4552-9653-BFC06670E5A5}" presName="sibTrans" presStyleCnt="0"/>
      <dgm:spPr/>
    </dgm:pt>
    <dgm:pt modelId="{8034821A-8AF9-9F4D-94AE-623FF4CE7B75}" type="pres">
      <dgm:prSet presAssocID="{7E13DF01-2687-401D-B741-0FE03A25DF7B}" presName="node" presStyleLbl="node1" presStyleIdx="2" presStyleCnt="5">
        <dgm:presLayoutVars>
          <dgm:bulletEnabled val="1"/>
        </dgm:presLayoutVars>
      </dgm:prSet>
      <dgm:spPr/>
    </dgm:pt>
    <dgm:pt modelId="{0AE37352-A682-7240-B8B0-5E4EBDBCA5F1}" type="pres">
      <dgm:prSet presAssocID="{DBC46A21-03DC-41B7-BDB9-C89AEC36E803}" presName="sibTrans" presStyleCnt="0"/>
      <dgm:spPr/>
    </dgm:pt>
    <dgm:pt modelId="{5D038DCA-C1DB-B547-8171-71DF05757ADB}" type="pres">
      <dgm:prSet presAssocID="{5CC3AE15-2748-42FF-9263-4A5EA0C7EBC2}" presName="node" presStyleLbl="node1" presStyleIdx="3" presStyleCnt="5">
        <dgm:presLayoutVars>
          <dgm:bulletEnabled val="1"/>
        </dgm:presLayoutVars>
      </dgm:prSet>
      <dgm:spPr/>
    </dgm:pt>
    <dgm:pt modelId="{2CE16E19-D0D1-8D43-966C-6834509AD4C1}" type="pres">
      <dgm:prSet presAssocID="{3C3EDE2A-B983-49DD-ABDF-6062569BBF24}" presName="sibTrans" presStyleCnt="0"/>
      <dgm:spPr/>
    </dgm:pt>
    <dgm:pt modelId="{EE248248-3F2E-2041-9023-6A928B94DECE}" type="pres">
      <dgm:prSet presAssocID="{9B778738-C4B8-4B6E-8557-67FA091AF8DD}" presName="node" presStyleLbl="node1" presStyleIdx="4" presStyleCnt="5">
        <dgm:presLayoutVars>
          <dgm:bulletEnabled val="1"/>
        </dgm:presLayoutVars>
      </dgm:prSet>
      <dgm:spPr/>
    </dgm:pt>
  </dgm:ptLst>
  <dgm:cxnLst>
    <dgm:cxn modelId="{3D6C5B16-C19B-410A-8CD8-4A0708993332}" srcId="{C5BA6500-8A0A-4891-A16A-EAF48D6988CD}" destId="{01529755-7F8C-486F-A671-7F701CEEAFC3}" srcOrd="1" destOrd="0" parTransId="{DDD1A7C0-AF30-4332-9962-BBE788CD386B}" sibTransId="{9CF29335-C1FD-4552-9653-BFC06670E5A5}"/>
    <dgm:cxn modelId="{D8F6153A-3143-374D-821C-AB542C82D116}" type="presOf" srcId="{5CC3AE15-2748-42FF-9263-4A5EA0C7EBC2}" destId="{5D038DCA-C1DB-B547-8171-71DF05757ADB}" srcOrd="0" destOrd="0" presId="urn:microsoft.com/office/officeart/2005/8/layout/default"/>
    <dgm:cxn modelId="{43600041-888C-3F4E-A6E6-B8758EA0C7DE}" type="presOf" srcId="{01529755-7F8C-486F-A671-7F701CEEAFC3}" destId="{7CB6B621-711B-CB4F-A113-4413D46F7BDF}" srcOrd="0" destOrd="0" presId="urn:microsoft.com/office/officeart/2005/8/layout/default"/>
    <dgm:cxn modelId="{C4728642-DF7D-4491-B464-01E8709B230F}" srcId="{C5BA6500-8A0A-4891-A16A-EAF48D6988CD}" destId="{5CC3AE15-2748-42FF-9263-4A5EA0C7EBC2}" srcOrd="3" destOrd="0" parTransId="{876EB1F6-ADFE-44CC-BCDE-2792433253FA}" sibTransId="{3C3EDE2A-B983-49DD-ABDF-6062569BBF24}"/>
    <dgm:cxn modelId="{3CF89E43-FC94-4361-82A9-FC1FE0FFA2A2}" srcId="{C5BA6500-8A0A-4891-A16A-EAF48D6988CD}" destId="{7E13DF01-2687-401D-B741-0FE03A25DF7B}" srcOrd="2" destOrd="0" parTransId="{C2B0A571-72E9-40FA-A15F-37DA7A645393}" sibTransId="{DBC46A21-03DC-41B7-BDB9-C89AEC36E803}"/>
    <dgm:cxn modelId="{18690361-A6A3-2C4C-8F48-5F9BBBD433A1}" type="presOf" srcId="{C5BA6500-8A0A-4891-A16A-EAF48D6988CD}" destId="{E354F4B5-8991-254E-AD4C-AE37B8F2D36D}" srcOrd="0" destOrd="0" presId="urn:microsoft.com/office/officeart/2005/8/layout/default"/>
    <dgm:cxn modelId="{727E8F64-9BC8-6F42-8F9B-9679F4AD3763}" type="presOf" srcId="{39E4B7E2-CF8D-4C16-A536-251D9986ACA6}" destId="{9818CC5C-07BB-B549-BC99-5DFC88ACB5D5}" srcOrd="0" destOrd="0" presId="urn:microsoft.com/office/officeart/2005/8/layout/default"/>
    <dgm:cxn modelId="{FBBD3072-5D3F-9B43-9715-F53CE9D32B1C}" type="presOf" srcId="{9B778738-C4B8-4B6E-8557-67FA091AF8DD}" destId="{EE248248-3F2E-2041-9023-6A928B94DECE}" srcOrd="0" destOrd="0" presId="urn:microsoft.com/office/officeart/2005/8/layout/default"/>
    <dgm:cxn modelId="{22B94472-1EAF-49E3-852A-77596E76DE4A}" srcId="{C5BA6500-8A0A-4891-A16A-EAF48D6988CD}" destId="{9B778738-C4B8-4B6E-8557-67FA091AF8DD}" srcOrd="4" destOrd="0" parTransId="{1B339EDD-3587-4158-9372-D92BAF1E3B05}" sibTransId="{6DE5D39D-8470-4ED8-A9FF-170BDBE5DCC9}"/>
    <dgm:cxn modelId="{01025175-FB2A-4DCC-A2E1-4D540D82BB66}" srcId="{C5BA6500-8A0A-4891-A16A-EAF48D6988CD}" destId="{39E4B7E2-CF8D-4C16-A536-251D9986ACA6}" srcOrd="0" destOrd="0" parTransId="{02463E8C-D0B3-480E-9FF4-9435736BBEE2}" sibTransId="{205DA81A-4297-46B1-92C8-57DD34683D10}"/>
    <dgm:cxn modelId="{B38BDAE6-4CEC-994F-A454-3F34C8A808E1}" type="presOf" srcId="{7E13DF01-2687-401D-B741-0FE03A25DF7B}" destId="{8034821A-8AF9-9F4D-94AE-623FF4CE7B75}" srcOrd="0" destOrd="0" presId="urn:microsoft.com/office/officeart/2005/8/layout/default"/>
    <dgm:cxn modelId="{2479574F-F547-CF4F-963F-E2860639445D}" type="presParOf" srcId="{E354F4B5-8991-254E-AD4C-AE37B8F2D36D}" destId="{9818CC5C-07BB-B549-BC99-5DFC88ACB5D5}" srcOrd="0" destOrd="0" presId="urn:microsoft.com/office/officeart/2005/8/layout/default"/>
    <dgm:cxn modelId="{9B1F7D7F-01E7-3B4F-B798-20E1A7B7A951}" type="presParOf" srcId="{E354F4B5-8991-254E-AD4C-AE37B8F2D36D}" destId="{B2FF254D-E6D5-3447-9303-67D9CC14D87B}" srcOrd="1" destOrd="0" presId="urn:microsoft.com/office/officeart/2005/8/layout/default"/>
    <dgm:cxn modelId="{3B8D7E5F-BD9E-CA4B-9E70-532D6F8C4C23}" type="presParOf" srcId="{E354F4B5-8991-254E-AD4C-AE37B8F2D36D}" destId="{7CB6B621-711B-CB4F-A113-4413D46F7BDF}" srcOrd="2" destOrd="0" presId="urn:microsoft.com/office/officeart/2005/8/layout/default"/>
    <dgm:cxn modelId="{DA2A2CAC-4F7F-3740-90DA-895C5610815D}" type="presParOf" srcId="{E354F4B5-8991-254E-AD4C-AE37B8F2D36D}" destId="{C9F587E0-E52C-B447-86DB-99B4F77A8FD5}" srcOrd="3" destOrd="0" presId="urn:microsoft.com/office/officeart/2005/8/layout/default"/>
    <dgm:cxn modelId="{E314165D-B51E-4243-83EB-BD0124D0912F}" type="presParOf" srcId="{E354F4B5-8991-254E-AD4C-AE37B8F2D36D}" destId="{8034821A-8AF9-9F4D-94AE-623FF4CE7B75}" srcOrd="4" destOrd="0" presId="urn:microsoft.com/office/officeart/2005/8/layout/default"/>
    <dgm:cxn modelId="{25B73FFE-DC64-7B41-A180-47D81911ADE5}" type="presParOf" srcId="{E354F4B5-8991-254E-AD4C-AE37B8F2D36D}" destId="{0AE37352-A682-7240-B8B0-5E4EBDBCA5F1}" srcOrd="5" destOrd="0" presId="urn:microsoft.com/office/officeart/2005/8/layout/default"/>
    <dgm:cxn modelId="{A1D7C2E0-08B7-B74E-90EB-CE847711489E}" type="presParOf" srcId="{E354F4B5-8991-254E-AD4C-AE37B8F2D36D}" destId="{5D038DCA-C1DB-B547-8171-71DF05757ADB}" srcOrd="6" destOrd="0" presId="urn:microsoft.com/office/officeart/2005/8/layout/default"/>
    <dgm:cxn modelId="{2FBEE8F9-504B-F640-B858-025CB65C524A}" type="presParOf" srcId="{E354F4B5-8991-254E-AD4C-AE37B8F2D36D}" destId="{2CE16E19-D0D1-8D43-966C-6834509AD4C1}" srcOrd="7" destOrd="0" presId="urn:microsoft.com/office/officeart/2005/8/layout/default"/>
    <dgm:cxn modelId="{F8DF7C17-F9C7-7840-9580-58917E8A465A}" type="presParOf" srcId="{E354F4B5-8991-254E-AD4C-AE37B8F2D36D}" destId="{EE248248-3F2E-2041-9023-6A928B94DECE}"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18CC5C-07BB-B549-BC99-5DFC88ACB5D5}">
      <dsp:nvSpPr>
        <dsp:cNvPr id="0" name=""/>
        <dsp:cNvSpPr/>
      </dsp:nvSpPr>
      <dsp:spPr>
        <a:xfrm>
          <a:off x="0" y="36934"/>
          <a:ext cx="3037581" cy="1822549"/>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ro-RO" sz="2500" kern="1200" dirty="0"/>
            <a:t>Operatori aritmetici (toate numerele sunt în virgulă mobilă):</a:t>
          </a:r>
          <a:br>
            <a:rPr lang="ro-RO" sz="2500" kern="1200" dirty="0"/>
          </a:br>
          <a:r>
            <a:rPr lang="ro-RO" sz="2500" kern="1200" dirty="0"/>
            <a:t>     +     -     *     /     %     ++     --</a:t>
          </a:r>
          <a:endParaRPr lang="en-US" sz="2500" kern="1200" dirty="0"/>
        </a:p>
      </dsp:txBody>
      <dsp:txXfrm>
        <a:off x="0" y="36934"/>
        <a:ext cx="3037581" cy="1822549"/>
      </dsp:txXfrm>
    </dsp:sp>
    <dsp:sp modelId="{7CB6B621-711B-CB4F-A113-4413D46F7BDF}">
      <dsp:nvSpPr>
        <dsp:cNvPr id="0" name=""/>
        <dsp:cNvSpPr/>
      </dsp:nvSpPr>
      <dsp:spPr>
        <a:xfrm>
          <a:off x="3341340" y="36934"/>
          <a:ext cx="3037581" cy="1822549"/>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ro-RO" sz="2500" kern="1200"/>
            <a:t>Operatori de comparație:</a:t>
          </a:r>
          <a:br>
            <a:rPr lang="ro-RO" sz="2500" kern="1200"/>
          </a:br>
          <a:r>
            <a:rPr lang="ro-RO" sz="2500" kern="1200"/>
            <a:t>     &lt;     &lt;=     ==     !=     &gt;=     &gt;</a:t>
          </a:r>
          <a:endParaRPr lang="en-US" sz="2500" kern="1200"/>
        </a:p>
      </dsp:txBody>
      <dsp:txXfrm>
        <a:off x="3341340" y="36934"/>
        <a:ext cx="3037581" cy="1822549"/>
      </dsp:txXfrm>
    </dsp:sp>
    <dsp:sp modelId="{8034821A-8AF9-9F4D-94AE-623FF4CE7B75}">
      <dsp:nvSpPr>
        <dsp:cNvPr id="0" name=""/>
        <dsp:cNvSpPr/>
      </dsp:nvSpPr>
      <dsp:spPr>
        <a:xfrm>
          <a:off x="6682680" y="36934"/>
          <a:ext cx="3037581" cy="1822549"/>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ro-RO" sz="2500" kern="1200"/>
            <a:t>Operatori logici:</a:t>
          </a:r>
          <a:br>
            <a:rPr lang="ro-RO" sz="2500" kern="1200"/>
          </a:br>
          <a:r>
            <a:rPr lang="ro-RO" sz="2500" kern="1200"/>
            <a:t>     &amp;&amp;     ||     !     </a:t>
          </a:r>
          <a:endParaRPr lang="en-US" sz="2500" kern="1200"/>
        </a:p>
      </dsp:txBody>
      <dsp:txXfrm>
        <a:off x="6682680" y="36934"/>
        <a:ext cx="3037581" cy="1822549"/>
      </dsp:txXfrm>
    </dsp:sp>
    <dsp:sp modelId="{5D038DCA-C1DB-B547-8171-71DF05757ADB}">
      <dsp:nvSpPr>
        <dsp:cNvPr id="0" name=""/>
        <dsp:cNvSpPr/>
      </dsp:nvSpPr>
      <dsp:spPr>
        <a:xfrm>
          <a:off x="1670670" y="2163241"/>
          <a:ext cx="3037581" cy="1822549"/>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ro-RO" sz="2500" kern="1200"/>
            <a:t>Operatori la nivel de biți:</a:t>
          </a:r>
          <a:br>
            <a:rPr lang="ro-RO" sz="2500" kern="1200"/>
          </a:br>
          <a:r>
            <a:rPr lang="ro-RO" sz="2500" kern="1200"/>
            <a:t>     &amp;     |     ^     ~     &lt;&lt;     &gt;&gt;     &gt;&gt;&gt;</a:t>
          </a:r>
          <a:endParaRPr lang="en-US" sz="2500" kern="1200"/>
        </a:p>
      </dsp:txBody>
      <dsp:txXfrm>
        <a:off x="1670670" y="2163241"/>
        <a:ext cx="3037581" cy="1822549"/>
      </dsp:txXfrm>
    </dsp:sp>
    <dsp:sp modelId="{EE248248-3F2E-2041-9023-6A928B94DECE}">
      <dsp:nvSpPr>
        <dsp:cNvPr id="0" name=""/>
        <dsp:cNvSpPr/>
      </dsp:nvSpPr>
      <dsp:spPr>
        <a:xfrm>
          <a:off x="5012010" y="2163241"/>
          <a:ext cx="3037581" cy="1822549"/>
        </a:xfrm>
        <a:prstGeom prst="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ro-RO" sz="2500" kern="1200"/>
            <a:t>Operatori de asignare:</a:t>
          </a:r>
          <a:br>
            <a:rPr lang="ro-RO" sz="2500" kern="1200"/>
          </a:br>
          <a:r>
            <a:rPr lang="ro-RO" sz="2500" kern="1200"/>
            <a:t>     +=   -=   *=   /=   %=   &lt;&lt;=   &gt;&gt;=   &gt;&gt;&gt;=   &amp;=   ^=   |=</a:t>
          </a:r>
          <a:endParaRPr lang="en-US" sz="2500" kern="1200"/>
        </a:p>
      </dsp:txBody>
      <dsp:txXfrm>
        <a:off x="5012010" y="2163241"/>
        <a:ext cx="3037581" cy="1822549"/>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52ADB1-275D-430A-89EE-5C7E6CFF6FF2}" type="datetimeFigureOut">
              <a:rPr lang="en-US" smtClean="0"/>
              <a:t>3/1/25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25628-3A68-42F4-BA86-981817953149}" type="slidenum">
              <a:rPr lang="en-US" smtClean="0"/>
              <a:t>‹#›</a:t>
            </a:fld>
            <a:endParaRPr lang="en-US"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Slide Image Placeholder 1">
            <a:extLst>
              <a:ext uri="{FF2B5EF4-FFF2-40B4-BE49-F238E27FC236}">
                <a16:creationId xmlns:a16="http://schemas.microsoft.com/office/drawing/2014/main" id="{83C4CDC4-1E0A-0196-09B5-1BCA49B07F5F}"/>
              </a:ext>
            </a:extLst>
          </p:cNvPr>
          <p:cNvSpPr>
            <a:spLocks noGrp="1" noRot="1" noChangeAspect="1" noChangeArrowheads="1" noTextEdit="1"/>
          </p:cNvSpPr>
          <p:nvPr>
            <p:ph type="sldImg"/>
          </p:nvPr>
        </p:nvSpPr>
        <p:spPr>
          <a:ln/>
        </p:spPr>
      </p:sp>
      <p:sp>
        <p:nvSpPr>
          <p:cNvPr id="58370" name="Notes Placeholder 2">
            <a:extLst>
              <a:ext uri="{FF2B5EF4-FFF2-40B4-BE49-F238E27FC236}">
                <a16:creationId xmlns:a16="http://schemas.microsoft.com/office/drawing/2014/main" id="{FE440F15-7908-EC40-FF63-2617E94D46B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
        <p:nvSpPr>
          <p:cNvPr id="58371" name="Slide Number Placeholder 3">
            <a:extLst>
              <a:ext uri="{FF2B5EF4-FFF2-40B4-BE49-F238E27FC236}">
                <a16:creationId xmlns:a16="http://schemas.microsoft.com/office/drawing/2014/main" id="{25D1AF65-1C38-7DF5-5DD9-A7875F8D402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EDF058A-94BE-834B-B162-2E4D66FD6A2F}" type="slidenum">
              <a:rPr lang="en-US" altLang="en-US" sz="1300"/>
              <a:pPr>
                <a:spcBef>
                  <a:spcPct val="0"/>
                </a:spcBef>
              </a:pPr>
              <a:t>36</a:t>
            </a:fld>
            <a:endParaRPr lang="en-US" altLang="en-US" sz="13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7">
            <a:extLst>
              <a:ext uri="{FF2B5EF4-FFF2-40B4-BE49-F238E27FC236}">
                <a16:creationId xmlns:a16="http://schemas.microsoft.com/office/drawing/2014/main" id="{C5801C79-1B2B-31B7-0E38-A8A6DAAB1A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36015B8-AFD7-5340-8EF2-1829EA4C5F4A}" type="slidenum">
              <a:rPr lang="en-US" altLang="en-US" sz="1300"/>
              <a:pPr>
                <a:spcBef>
                  <a:spcPct val="0"/>
                </a:spcBef>
              </a:pPr>
              <a:t>48</a:t>
            </a:fld>
            <a:endParaRPr lang="en-US" altLang="en-US" sz="1300"/>
          </a:p>
        </p:txBody>
      </p:sp>
      <p:sp>
        <p:nvSpPr>
          <p:cNvPr id="123906" name="Rectangle 2">
            <a:extLst>
              <a:ext uri="{FF2B5EF4-FFF2-40B4-BE49-F238E27FC236}">
                <a16:creationId xmlns:a16="http://schemas.microsoft.com/office/drawing/2014/main" id="{FA802B8C-25C6-699B-0875-C56F5C901B0E}"/>
              </a:ext>
            </a:extLst>
          </p:cNvPr>
          <p:cNvSpPr>
            <a:spLocks noGrp="1" noRot="1" noChangeAspect="1" noChangeArrowheads="1" noTextEdit="1"/>
          </p:cNvSpPr>
          <p:nvPr>
            <p:ph type="sldImg"/>
          </p:nvPr>
        </p:nvSpPr>
        <p:spPr>
          <a:xfrm>
            <a:off x="990600" y="768350"/>
            <a:ext cx="5118100" cy="3838575"/>
          </a:xfrm>
          <a:ln/>
        </p:spPr>
      </p:sp>
      <p:sp>
        <p:nvSpPr>
          <p:cNvPr id="123907" name="Rectangle 3">
            <a:extLst>
              <a:ext uri="{FF2B5EF4-FFF2-40B4-BE49-F238E27FC236}">
                <a16:creationId xmlns:a16="http://schemas.microsoft.com/office/drawing/2014/main" id="{371E93B4-253E-C291-E8B8-9F8DB2B89293}"/>
              </a:ext>
            </a:extLst>
          </p:cNvPr>
          <p:cNvSpPr>
            <a:spLocks noGrp="1" noChangeArrowheads="1"/>
          </p:cNvSpPr>
          <p:nvPr>
            <p:ph type="body" idx="1"/>
          </p:nvPr>
        </p:nvSpPr>
        <p:spPr>
          <a:xfrm>
            <a:off x="709613" y="4862513"/>
            <a:ext cx="5680075" cy="46037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This diagram shows a traditional web interaction. The user makes an http request which is processed by the server and a new page is returned.  The idea is that each request returns an entire page to the browser.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7">
            <a:extLst>
              <a:ext uri="{FF2B5EF4-FFF2-40B4-BE49-F238E27FC236}">
                <a16:creationId xmlns:a16="http://schemas.microsoft.com/office/drawing/2014/main" id="{6D44DC93-9B45-B2DB-AAD6-A61DBE5656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B032857-F7CD-E045-A1AE-BF5E5103565C}" type="slidenum">
              <a:rPr lang="en-US" altLang="en-US" sz="1300"/>
              <a:pPr>
                <a:spcBef>
                  <a:spcPct val="0"/>
                </a:spcBef>
              </a:pPr>
              <a:t>49</a:t>
            </a:fld>
            <a:endParaRPr lang="en-US" altLang="en-US" sz="1300"/>
          </a:p>
        </p:txBody>
      </p:sp>
      <p:sp>
        <p:nvSpPr>
          <p:cNvPr id="125954" name="Rectangle 2">
            <a:extLst>
              <a:ext uri="{FF2B5EF4-FFF2-40B4-BE49-F238E27FC236}">
                <a16:creationId xmlns:a16="http://schemas.microsoft.com/office/drawing/2014/main" id="{B0340201-1F2F-C8AF-9E91-BEE194EC7F99}"/>
              </a:ext>
            </a:extLst>
          </p:cNvPr>
          <p:cNvSpPr>
            <a:spLocks noGrp="1" noRot="1" noChangeAspect="1" noChangeArrowheads="1" noTextEdit="1"/>
          </p:cNvSpPr>
          <p:nvPr>
            <p:ph type="sldImg"/>
          </p:nvPr>
        </p:nvSpPr>
        <p:spPr>
          <a:xfrm>
            <a:off x="990600" y="768350"/>
            <a:ext cx="5118100" cy="3838575"/>
          </a:xfrm>
          <a:ln/>
        </p:spPr>
      </p:sp>
      <p:sp>
        <p:nvSpPr>
          <p:cNvPr id="125955" name="Rectangle 3">
            <a:extLst>
              <a:ext uri="{FF2B5EF4-FFF2-40B4-BE49-F238E27FC236}">
                <a16:creationId xmlns:a16="http://schemas.microsoft.com/office/drawing/2014/main" id="{B3AA8CFD-2B14-4935-34A3-F3D85C155241}"/>
              </a:ext>
            </a:extLst>
          </p:cNvPr>
          <p:cNvSpPr>
            <a:spLocks noGrp="1" noChangeArrowheads="1"/>
          </p:cNvSpPr>
          <p:nvPr>
            <p:ph type="body" idx="1"/>
          </p:nvPr>
        </p:nvSpPr>
        <p:spPr>
          <a:xfrm>
            <a:off x="709613" y="4862513"/>
            <a:ext cx="5680075" cy="46037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This diagram illustrates AJAX style interactions.  In this case JavaScript is used to make an http request for specific information. The web server processes the request and returns the specific information. JavaScript on the page integrates that information into the current page.  The idea is that rather than an entire page being returned, a piece of information is returned and integrated into the page. This can happen many times on each page.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2"/>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2"/>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7005E26E-BCB2-4FD5-8FD5-81A5EAE94C21}" type="datetime1">
              <a:rPr lang="en-US" smtClean="0"/>
              <a:t>3/1/25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85C470-CD19-455C-B830-6D252EAD7FE5}" type="datetime1">
              <a:rPr lang="en-US" smtClean="0"/>
              <a:t>3/1/25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2"/>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2"/>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85C43C-50D9-4F49-A136-0EFF292F93ED}" type="datetime1">
              <a:rPr lang="en-US" smtClean="0"/>
              <a:t>3/1/25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53B1A3-0AEF-4064-A724-D27D660C8653}" type="datetime1">
              <a:rPr lang="en-US" smtClean="0"/>
              <a:t>3/1/25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7D5D0F2-BF66-4A24-9384-A0129B196518}" type="datetime1">
              <a:rPr lang="en-US" smtClean="0"/>
              <a:t>3/1/25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C318A6C-4F6B-48D2-BDB0-D7413B3FDB0A}" type="datetime1">
              <a:rPr lang="en-US" smtClean="0"/>
              <a:t>3/1/25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01ECED-6ECE-4989-B917-9D4D7E6D3C76}" type="datetime1">
              <a:rPr lang="en-US" smtClean="0"/>
              <a:t>3/1/25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B570E1-CB40-488E-8C6F-EF4211DFFCB0}" type="datetime1">
              <a:rPr lang="en-US" smtClean="0"/>
              <a:t>3/1/25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1CEB6AF-9F5C-43BE-879E-CB9514111250}" type="datetime1">
              <a:rPr lang="en-US" smtClean="0"/>
              <a:t>3/1/25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C2E9B8-0487-42E4-B571-744A3D775783}" type="datetime1">
              <a:rPr lang="en-US" smtClean="0"/>
              <a:t>3/1/25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2"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52E32D-1E84-43FD-8158-FFFE757EB0E8}" type="datetime1">
              <a:rPr lang="en-US" smtClean="0"/>
              <a:t>3/1/25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508000" y="457201"/>
            <a:ext cx="10972800" cy="487363"/>
          </a:xfrm>
        </p:spPr>
        <p:txBody>
          <a:bodyPr/>
          <a:lstStyle/>
          <a:p>
            <a:r>
              <a:rPr lang="en-US"/>
              <a:t>Click to edit Master title style</a:t>
            </a:r>
          </a:p>
        </p:txBody>
      </p:sp>
      <p:sp>
        <p:nvSpPr>
          <p:cNvPr id="3" name="Content Placeholder 2"/>
          <p:cNvSpPr>
            <a:spLocks noGrp="1"/>
          </p:cNvSpPr>
          <p:nvPr>
            <p:ph sz="quarter" idx="1"/>
          </p:nvPr>
        </p:nvSpPr>
        <p:spPr>
          <a:xfrm>
            <a:off x="508000" y="1219200"/>
            <a:ext cx="5486400" cy="2590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219200"/>
            <a:ext cx="5486400" cy="2590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508000" y="3962400"/>
            <a:ext cx="5486400" cy="2590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7600" y="3962400"/>
            <a:ext cx="5486400" cy="2590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5F309E1-3E0F-5E49-7971-1A0DC440B811}"/>
              </a:ext>
            </a:extLst>
          </p:cNvPr>
          <p:cNvSpPr>
            <a:spLocks noGrp="1"/>
          </p:cNvSpPr>
          <p:nvPr>
            <p:ph type="dt" sz="half" idx="10"/>
          </p:nvPr>
        </p:nvSpPr>
        <p:spPr/>
        <p:txBody>
          <a:bodyPr/>
          <a:lstStyle>
            <a:lvl1pPr>
              <a:defRPr/>
            </a:lvl1pPr>
          </a:lstStyle>
          <a:p>
            <a:pPr>
              <a:defRPr/>
            </a:pPr>
            <a:endParaRPr lang="en-US" altLang="en-US"/>
          </a:p>
          <a:p>
            <a:pPr>
              <a:defRPr/>
            </a:pPr>
            <a:r>
              <a:rPr lang="ro-RO" altLang="en-US"/>
              <a:t>0</a:t>
            </a:r>
            <a:r>
              <a:rPr lang="en-US" altLang="en-US"/>
              <a:t>9.</a:t>
            </a:r>
            <a:r>
              <a:rPr lang="ro-RO" altLang="en-US"/>
              <a:t>04</a:t>
            </a:r>
            <a:r>
              <a:rPr lang="en-US" altLang="en-US"/>
              <a:t>.2009</a:t>
            </a:r>
          </a:p>
        </p:txBody>
      </p:sp>
      <p:sp>
        <p:nvSpPr>
          <p:cNvPr id="8" name="Footer Placeholder 7">
            <a:extLst>
              <a:ext uri="{FF2B5EF4-FFF2-40B4-BE49-F238E27FC236}">
                <a16:creationId xmlns:a16="http://schemas.microsoft.com/office/drawing/2014/main" id="{A9C239DC-5584-3D4B-B3B5-799A34960CF3}"/>
              </a:ext>
            </a:extLst>
          </p:cNvPr>
          <p:cNvSpPr>
            <a:spLocks noGrp="1"/>
          </p:cNvSpPr>
          <p:nvPr>
            <p:ph type="ftr" sz="quarter" idx="11"/>
          </p:nvPr>
        </p:nvSpPr>
        <p:spPr/>
        <p:txBody>
          <a:bodyPr/>
          <a:lstStyle>
            <a:lvl1pPr>
              <a:defRPr/>
            </a:lvl1pPr>
          </a:lstStyle>
          <a:p>
            <a:pPr>
              <a:defRPr/>
            </a:pPr>
            <a:r>
              <a:rPr lang="en-US" altLang="en-US"/>
              <a:t>Curs Programare Web, anul 4 C5 – Curs </a:t>
            </a:r>
            <a:r>
              <a:rPr lang="ro-RO" altLang="en-US"/>
              <a:t>6</a:t>
            </a:r>
            <a:endParaRPr lang="en-US" altLang="en-US"/>
          </a:p>
        </p:txBody>
      </p:sp>
      <p:sp>
        <p:nvSpPr>
          <p:cNvPr id="9" name="Slide Number Placeholder 8">
            <a:extLst>
              <a:ext uri="{FF2B5EF4-FFF2-40B4-BE49-F238E27FC236}">
                <a16:creationId xmlns:a16="http://schemas.microsoft.com/office/drawing/2014/main" id="{859FC95F-8C3B-906B-8F76-B80701080DBF}"/>
              </a:ext>
            </a:extLst>
          </p:cNvPr>
          <p:cNvSpPr>
            <a:spLocks noGrp="1"/>
          </p:cNvSpPr>
          <p:nvPr>
            <p:ph type="sldNum" sz="quarter" idx="12"/>
          </p:nvPr>
        </p:nvSpPr>
        <p:spPr/>
        <p:txBody>
          <a:bodyPr/>
          <a:lstStyle>
            <a:lvl1pPr>
              <a:defRPr/>
            </a:lvl1pPr>
          </a:lstStyle>
          <a:p>
            <a:fld id="{94C92393-A471-9640-99F7-2A5B6BAE6DE1}" type="slidenum">
              <a:rPr lang="en-US" altLang="en-US"/>
              <a:pPr/>
              <a:t>‹#›</a:t>
            </a:fld>
            <a:endParaRPr lang="en-US" altLang="en-US"/>
          </a:p>
        </p:txBody>
      </p:sp>
    </p:spTree>
    <p:extLst>
      <p:ext uri="{BB962C8B-B14F-4D97-AF65-F5344CB8AC3E}">
        <p14:creationId xmlns:p14="http://schemas.microsoft.com/office/powerpoint/2010/main" val="18518163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9"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30"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7EE424C-FCA3-4EDD-B274-8E055D649B7D}" type="datetime1">
              <a:rPr lang="en-US" smtClean="0"/>
              <a:t>3/1/25</a:t>
            </a:fld>
            <a:endParaRPr lang="en-US" dirty="0"/>
          </a:p>
        </p:txBody>
      </p:sp>
      <p:sp>
        <p:nvSpPr>
          <p:cNvPr id="5" name="Footer Placeholder 4"/>
          <p:cNvSpPr>
            <a:spLocks noGrp="1"/>
          </p:cNvSpPr>
          <p:nvPr>
            <p:ph type="ftr" sz="quarter" idx="3"/>
          </p:nvPr>
        </p:nvSpPr>
        <p:spPr>
          <a:xfrm>
            <a:off x="4842933"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 id="2147483661" r:id="rId12"/>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30.jpeg"/></Relationships>
</file>

<file path=ppt/slides/_rels/slide49.xml.rels><?xml version="1.0" encoding="UTF-8" standalone="yes"?>
<Relationships xmlns="http://schemas.openxmlformats.org/package/2006/relationships"><Relationship Id="rId8" Type="http://schemas.openxmlformats.org/officeDocument/2006/relationships/image" Target="../media/image34.jpeg"/><Relationship Id="rId3" Type="http://schemas.openxmlformats.org/officeDocument/2006/relationships/notesSlide" Target="../notesSlides/notesSlide3.xml"/><Relationship Id="rId7" Type="http://schemas.openxmlformats.org/officeDocument/2006/relationships/image" Target="../media/image33.jpeg"/><Relationship Id="rId2" Type="http://schemas.openxmlformats.org/officeDocument/2006/relationships/slideLayout" Target="../slideLayouts/slideLayout4.xml"/><Relationship Id="rId1" Type="http://schemas.openxmlformats.org/officeDocument/2006/relationships/tags" Target="../tags/tag1.xml"/><Relationship Id="rId6" Type="http://schemas.openxmlformats.org/officeDocument/2006/relationships/image" Target="../media/image32.jpeg"/><Relationship Id="rId5" Type="http://schemas.openxmlformats.org/officeDocument/2006/relationships/image" Target="../media/image31.jpeg"/><Relationship Id="rId4" Type="http://schemas.openxmlformats.org/officeDocument/2006/relationships/image" Target="../media/image29.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2"/>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230BD1B1-AA22-48F1-B3ED-579CD284605D}"/>
              </a:ext>
              <a:ext uri="{C183D7F6-B498-43B3-948B-1728B52AA6E4}">
                <adec:decorative xmlns:adec="http://schemas.microsoft.com/office/drawing/2017/decorative" val="1"/>
              </a:ext>
            </a:extLst>
          </p:cNvPr>
          <p:cNvPicPr>
            <a:picLocks noChangeAspect="1"/>
          </p:cNvPicPr>
          <p:nvPr/>
        </p:nvPicPr>
        <p:blipFill rotWithShape="1">
          <a:blip r:embed="rId2"/>
          <a:srcRect r="52444" b="-1"/>
          <a:stretch/>
        </p:blipFill>
        <p:spPr>
          <a:xfrm>
            <a:off x="20" y="975"/>
            <a:ext cx="12191980" cy="6858000"/>
          </a:xfrm>
          <a:prstGeom prst="rect">
            <a:avLst/>
          </a:prstGeom>
        </p:spPr>
      </p:pic>
      <p:sp>
        <p:nvSpPr>
          <p:cNvPr id="21" name="Rectangle 20">
            <a:extLst>
              <a:ext uri="{FF2B5EF4-FFF2-40B4-BE49-F238E27FC236}">
                <a16:creationId xmlns:a16="http://schemas.microsoft.com/office/drawing/2014/main" id="{EAA48FC5-3C83-4F1B-BC33-DF0B588F8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8"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D84FB-5D02-47D2-98FD-4F01A02E2AEA}"/>
              </a:ext>
            </a:extLst>
          </p:cNvPr>
          <p:cNvSpPr>
            <a:spLocks noGrp="1"/>
          </p:cNvSpPr>
          <p:nvPr>
            <p:ph type="ctrTitle"/>
          </p:nvPr>
        </p:nvSpPr>
        <p:spPr>
          <a:xfrm>
            <a:off x="4309351" y="3429000"/>
            <a:ext cx="7501651" cy="1090938"/>
          </a:xfrm>
        </p:spPr>
        <p:txBody>
          <a:bodyPr anchor="b">
            <a:normAutofit/>
          </a:bodyPr>
          <a:lstStyle/>
          <a:p>
            <a:pPr algn="l"/>
            <a:r>
              <a:rPr lang="en-US" dirty="0" err="1">
                <a:solidFill>
                  <a:srgbClr val="FFFFFF"/>
                </a:solidFill>
              </a:rPr>
              <a:t>Tehnologii</a:t>
            </a:r>
            <a:r>
              <a:rPr lang="en-US" dirty="0">
                <a:solidFill>
                  <a:srgbClr val="FFFFFF"/>
                </a:solidFill>
              </a:rPr>
              <a:t> Web</a:t>
            </a:r>
          </a:p>
        </p:txBody>
      </p:sp>
      <p:sp>
        <p:nvSpPr>
          <p:cNvPr id="3" name="Subtitle 2">
            <a:extLst>
              <a:ext uri="{FF2B5EF4-FFF2-40B4-BE49-F238E27FC236}">
                <a16:creationId xmlns:a16="http://schemas.microsoft.com/office/drawing/2014/main" id="{E9F6641D-ADF3-40BD-9BA3-E740E77C8826}"/>
              </a:ext>
            </a:extLst>
          </p:cNvPr>
          <p:cNvSpPr>
            <a:spLocks noGrp="1"/>
          </p:cNvSpPr>
          <p:nvPr>
            <p:ph type="subTitle" idx="1"/>
          </p:nvPr>
        </p:nvSpPr>
        <p:spPr>
          <a:xfrm>
            <a:off x="4309349" y="4779313"/>
            <a:ext cx="7501650" cy="514816"/>
          </a:xfrm>
        </p:spPr>
        <p:txBody>
          <a:bodyPr anchor="t">
            <a:normAutofit fontScale="92500" lnSpcReduction="10000"/>
          </a:bodyPr>
          <a:lstStyle/>
          <a:p>
            <a:r>
              <a:rPr lang="en-US" sz="3200" dirty="0">
                <a:solidFill>
                  <a:srgbClr val="FFFFFF"/>
                </a:solidFill>
              </a:rPr>
              <a:t>JavaScript</a:t>
            </a:r>
          </a:p>
        </p:txBody>
      </p:sp>
      <p:cxnSp>
        <p:nvCxnSpPr>
          <p:cNvPr id="23" name="Straight Connector 22">
            <a:extLst>
              <a:ext uri="{FF2B5EF4-FFF2-40B4-BE49-F238E27FC236}">
                <a16:creationId xmlns:a16="http://schemas.microsoft.com/office/drawing/2014/main" id="{62F01714-1A39-4194-BD47-8A9960C59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51"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pic>
        <p:nvPicPr>
          <p:cNvPr id="6" name="Picture 5" descr="A blue and black logo&#10;&#10;AI-generated content may be incorrect.">
            <a:extLst>
              <a:ext uri="{FF2B5EF4-FFF2-40B4-BE49-F238E27FC236}">
                <a16:creationId xmlns:a16="http://schemas.microsoft.com/office/drawing/2014/main" id="{3069F26D-7D76-6BD7-3FD6-34994A46FB2C}"/>
              </a:ext>
            </a:extLst>
          </p:cNvPr>
          <p:cNvPicPr>
            <a:picLocks noChangeAspect="1"/>
          </p:cNvPicPr>
          <p:nvPr/>
        </p:nvPicPr>
        <p:blipFill>
          <a:blip r:embed="rId3"/>
          <a:stretch>
            <a:fillRect/>
          </a:stretch>
        </p:blipFill>
        <p:spPr>
          <a:xfrm>
            <a:off x="207818" y="571997"/>
            <a:ext cx="3896788" cy="1465007"/>
          </a:xfrm>
          <a:prstGeom prst="rect">
            <a:avLst/>
          </a:prstGeom>
        </p:spPr>
      </p:pic>
    </p:spTree>
    <p:extLst>
      <p:ext uri="{BB962C8B-B14F-4D97-AF65-F5344CB8AC3E}">
        <p14:creationId xmlns:p14="http://schemas.microsoft.com/office/powerpoint/2010/main" val="2806257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12A99-1230-4555-98D1-10588A4508F6}"/>
              </a:ext>
            </a:extLst>
          </p:cNvPr>
          <p:cNvSpPr>
            <a:spLocks noGrp="1"/>
          </p:cNvSpPr>
          <p:nvPr>
            <p:ph type="title"/>
          </p:nvPr>
        </p:nvSpPr>
        <p:spPr>
          <a:xfrm>
            <a:off x="1024128" y="585216"/>
            <a:ext cx="6066818" cy="1499616"/>
          </a:xfrm>
        </p:spPr>
        <p:txBody>
          <a:bodyPr>
            <a:normAutofit/>
          </a:bodyPr>
          <a:lstStyle/>
          <a:p>
            <a:r>
              <a:rPr lang="en-US" b="1"/>
              <a:t>Ce </a:t>
            </a:r>
            <a:r>
              <a:rPr lang="en-US" b="1" err="1"/>
              <a:t>este</a:t>
            </a:r>
            <a:r>
              <a:rPr lang="en-US" b="1"/>
              <a:t> </a:t>
            </a:r>
            <a:r>
              <a:rPr lang="en-US" b="1" err="1"/>
              <a:t>javascript</a:t>
            </a:r>
            <a:r>
              <a:rPr lang="en-US" b="1"/>
              <a:t>?</a:t>
            </a:r>
          </a:p>
        </p:txBody>
      </p:sp>
      <p:sp>
        <p:nvSpPr>
          <p:cNvPr id="3" name="Content Placeholder 2">
            <a:extLst>
              <a:ext uri="{FF2B5EF4-FFF2-40B4-BE49-F238E27FC236}">
                <a16:creationId xmlns:a16="http://schemas.microsoft.com/office/drawing/2014/main" id="{03BACC6A-9D5C-4302-AA04-7B37C3490FAF}"/>
              </a:ext>
            </a:extLst>
          </p:cNvPr>
          <p:cNvSpPr>
            <a:spLocks noGrp="1"/>
          </p:cNvSpPr>
          <p:nvPr>
            <p:ph idx="1"/>
          </p:nvPr>
        </p:nvSpPr>
        <p:spPr>
          <a:xfrm>
            <a:off x="1024128" y="2084832"/>
            <a:ext cx="6066818" cy="4023360"/>
          </a:xfrm>
        </p:spPr>
        <p:txBody>
          <a:bodyPr>
            <a:normAutofit/>
          </a:bodyPr>
          <a:lstStyle/>
          <a:p>
            <a:r>
              <a:rPr lang="ro-RO" b="1" dirty="0" err="1"/>
              <a:t>JavaScript</a:t>
            </a:r>
            <a:r>
              <a:rPr lang="ro-RO" dirty="0"/>
              <a:t> este un limbaj de </a:t>
            </a:r>
            <a:r>
              <a:rPr lang="ro-RO" dirty="0" err="1"/>
              <a:t>scripting</a:t>
            </a:r>
            <a:r>
              <a:rPr lang="ro-RO" dirty="0"/>
              <a:t> folosit cel mai mult în domeniul web</a:t>
            </a:r>
          </a:p>
          <a:p>
            <a:r>
              <a:rPr lang="ro-RO" dirty="0"/>
              <a:t>Se folosește atât pe </a:t>
            </a:r>
            <a:r>
              <a:rPr lang="ro-RO" dirty="0" err="1"/>
              <a:t>backend</a:t>
            </a:r>
            <a:r>
              <a:rPr lang="ro-RO" dirty="0"/>
              <a:t> (</a:t>
            </a:r>
            <a:r>
              <a:rPr lang="ro-RO" b="1" dirty="0" err="1"/>
              <a:t>NodeJS</a:t>
            </a:r>
            <a:r>
              <a:rPr lang="ro-RO" dirty="0"/>
              <a:t>), cât și pe </a:t>
            </a:r>
            <a:r>
              <a:rPr lang="ro-RO" dirty="0" err="1"/>
              <a:t>frontend</a:t>
            </a:r>
            <a:r>
              <a:rPr lang="ro-RO" dirty="0"/>
              <a:t> (</a:t>
            </a:r>
            <a:r>
              <a:rPr lang="ro-RO" b="1" dirty="0" err="1"/>
              <a:t>React</a:t>
            </a:r>
            <a:r>
              <a:rPr lang="ro-RO" b="1" dirty="0"/>
              <a:t>, Angular, </a:t>
            </a:r>
            <a:r>
              <a:rPr lang="ro-RO" b="1" dirty="0" err="1"/>
              <a:t>Vue</a:t>
            </a:r>
            <a:r>
              <a:rPr lang="ro-RO" b="1" dirty="0"/>
              <a:t>, </a:t>
            </a:r>
            <a:r>
              <a:rPr lang="ro-RO" b="1" dirty="0" err="1"/>
              <a:t>Backbone</a:t>
            </a:r>
            <a:r>
              <a:rPr lang="ro-RO" dirty="0"/>
              <a:t>, </a:t>
            </a:r>
            <a:r>
              <a:rPr lang="ro-RO" b="1" dirty="0" err="1"/>
              <a:t>jQuery</a:t>
            </a:r>
            <a:r>
              <a:rPr lang="ro-RO" b="1" dirty="0"/>
              <a:t>, </a:t>
            </a:r>
            <a:r>
              <a:rPr lang="ro-RO" b="1" dirty="0" err="1"/>
              <a:t>Vanilla</a:t>
            </a:r>
            <a:r>
              <a:rPr lang="ro-RO" dirty="0"/>
              <a:t>)</a:t>
            </a:r>
          </a:p>
          <a:p>
            <a:r>
              <a:rPr lang="ro-RO" dirty="0"/>
              <a:t>Este un limbaj</a:t>
            </a:r>
            <a:r>
              <a:rPr lang="ro-RO" b="1" dirty="0"/>
              <a:t> ușor</a:t>
            </a:r>
            <a:r>
              <a:rPr lang="ro-RO" dirty="0"/>
              <a:t> de înțeles</a:t>
            </a:r>
          </a:p>
        </p:txBody>
      </p:sp>
      <p:pic>
        <p:nvPicPr>
          <p:cNvPr id="5" name="Picture 4" descr="Desk with stethoscope and computer keyboard">
            <a:extLst>
              <a:ext uri="{FF2B5EF4-FFF2-40B4-BE49-F238E27FC236}">
                <a16:creationId xmlns:a16="http://schemas.microsoft.com/office/drawing/2014/main" id="{3C915159-7FD2-AA55-9849-3AC282D995E2}"/>
              </a:ext>
            </a:extLst>
          </p:cNvPr>
          <p:cNvPicPr>
            <a:picLocks noChangeAspect="1"/>
          </p:cNvPicPr>
          <p:nvPr/>
        </p:nvPicPr>
        <p:blipFill rotWithShape="1">
          <a:blip r:embed="rId2"/>
          <a:srcRect l="54841" r="-1" b="-1"/>
          <a:stretch/>
        </p:blipFill>
        <p:spPr>
          <a:xfrm>
            <a:off x="7552266" y="10"/>
            <a:ext cx="4639733" cy="6857990"/>
          </a:xfrm>
          <a:prstGeom prst="rect">
            <a:avLst/>
          </a:prstGeom>
        </p:spPr>
      </p:pic>
    </p:spTree>
    <p:extLst>
      <p:ext uri="{BB962C8B-B14F-4D97-AF65-F5344CB8AC3E}">
        <p14:creationId xmlns:p14="http://schemas.microsoft.com/office/powerpoint/2010/main" val="33780968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12A99-1230-4555-98D1-10588A4508F6}"/>
              </a:ext>
            </a:extLst>
          </p:cNvPr>
          <p:cNvSpPr>
            <a:spLocks noGrp="1"/>
          </p:cNvSpPr>
          <p:nvPr>
            <p:ph type="title"/>
          </p:nvPr>
        </p:nvSpPr>
        <p:spPr>
          <a:xfrm>
            <a:off x="1024128" y="585216"/>
            <a:ext cx="8018272" cy="1499616"/>
          </a:xfrm>
        </p:spPr>
        <p:txBody>
          <a:bodyPr>
            <a:normAutofit/>
          </a:bodyPr>
          <a:lstStyle/>
          <a:p>
            <a:r>
              <a:rPr lang="en-US" b="1" err="1"/>
              <a:t>Scurt</a:t>
            </a:r>
            <a:r>
              <a:rPr lang="en-US" b="1"/>
              <a:t> </a:t>
            </a:r>
            <a:r>
              <a:rPr lang="en-US" b="1" err="1"/>
              <a:t>istoric</a:t>
            </a:r>
            <a:endParaRPr lang="en-US" b="1"/>
          </a:p>
        </p:txBody>
      </p:sp>
      <p:sp>
        <p:nvSpPr>
          <p:cNvPr id="3" name="Content Placeholder 2">
            <a:extLst>
              <a:ext uri="{FF2B5EF4-FFF2-40B4-BE49-F238E27FC236}">
                <a16:creationId xmlns:a16="http://schemas.microsoft.com/office/drawing/2014/main" id="{03BACC6A-9D5C-4302-AA04-7B37C3490FAF}"/>
              </a:ext>
            </a:extLst>
          </p:cNvPr>
          <p:cNvSpPr>
            <a:spLocks noGrp="1"/>
          </p:cNvSpPr>
          <p:nvPr>
            <p:ph idx="1"/>
          </p:nvPr>
        </p:nvSpPr>
        <p:spPr>
          <a:xfrm>
            <a:off x="1024128" y="1924492"/>
            <a:ext cx="8321891" cy="4593265"/>
          </a:xfrm>
        </p:spPr>
        <p:txBody>
          <a:bodyPr>
            <a:normAutofit fontScale="92500" lnSpcReduction="10000"/>
          </a:bodyPr>
          <a:lstStyle/>
          <a:p>
            <a:r>
              <a:rPr lang="ro-RO" sz="2400" b="1" dirty="0" err="1"/>
              <a:t>JavaScript</a:t>
            </a:r>
            <a:r>
              <a:rPr lang="ro-RO" sz="2400" b="1" dirty="0"/>
              <a:t> </a:t>
            </a:r>
            <a:r>
              <a:rPr lang="ro-RO" sz="2400" dirty="0"/>
              <a:t>a fost inventat în 1995 de </a:t>
            </a:r>
            <a:r>
              <a:rPr lang="ro-RO" sz="2400" dirty="0" err="1"/>
              <a:t>Brendan</a:t>
            </a:r>
            <a:r>
              <a:rPr lang="ro-RO" sz="2400" dirty="0"/>
              <a:t> </a:t>
            </a:r>
            <a:r>
              <a:rPr lang="ro-RO" sz="2400" dirty="0" err="1"/>
              <a:t>Eich</a:t>
            </a:r>
            <a:endParaRPr lang="ro-RO" sz="2400" dirty="0"/>
          </a:p>
          <a:p>
            <a:r>
              <a:rPr lang="ro-RO" sz="2400" dirty="0"/>
              <a:t>A apărut ca o nevoie a </a:t>
            </a:r>
            <a:r>
              <a:rPr lang="ro-RO" sz="2400" dirty="0" err="1"/>
              <a:t>browserului</a:t>
            </a:r>
            <a:r>
              <a:rPr lang="ro-RO" sz="2400" dirty="0"/>
              <a:t> </a:t>
            </a:r>
            <a:r>
              <a:rPr lang="ro-RO" sz="2400" b="1" dirty="0" err="1"/>
              <a:t>Netscape</a:t>
            </a:r>
            <a:r>
              <a:rPr lang="ro-RO" sz="2400" b="1" dirty="0"/>
              <a:t> Navigator</a:t>
            </a:r>
            <a:r>
              <a:rPr lang="ro-RO" sz="2400" dirty="0"/>
              <a:t> de a avea un limbaj care să lege și să anime componentele HTML statice de atunci</a:t>
            </a:r>
          </a:p>
          <a:p>
            <a:r>
              <a:rPr lang="ro-RO" sz="2400" dirty="0"/>
              <a:t>A devenit un standard ECMA în 1997 și de atunci  versiunile de </a:t>
            </a:r>
            <a:r>
              <a:rPr lang="ro-RO" sz="2400" dirty="0" err="1"/>
              <a:t>JavaScript</a:t>
            </a:r>
            <a:r>
              <a:rPr lang="ro-RO" sz="2400" dirty="0"/>
              <a:t> standardizate poartă denumiri de </a:t>
            </a:r>
            <a:r>
              <a:rPr lang="ro-RO" sz="2400" dirty="0" err="1"/>
              <a:t>ECMAScript</a:t>
            </a:r>
            <a:r>
              <a:rPr lang="ro-RO" sz="2400" dirty="0"/>
              <a:t> (sau ES):</a:t>
            </a:r>
          </a:p>
          <a:p>
            <a:pPr lvl="2">
              <a:buFont typeface="Arial" panose="020B0604020202020204" pitchFamily="34" charset="0"/>
              <a:buChar char="•"/>
            </a:pPr>
            <a:r>
              <a:rPr lang="ro-RO" sz="2100" dirty="0"/>
              <a:t>ES5: 2009</a:t>
            </a:r>
          </a:p>
          <a:p>
            <a:pPr lvl="2">
              <a:buFont typeface="Arial" panose="020B0604020202020204" pitchFamily="34" charset="0"/>
              <a:buChar char="•"/>
            </a:pPr>
            <a:r>
              <a:rPr lang="ro-RO" sz="2100" dirty="0"/>
              <a:t>ES6: 2015 (</a:t>
            </a:r>
            <a:r>
              <a:rPr lang="ro-RO" sz="2100" dirty="0" err="1"/>
              <a:t>let</a:t>
            </a:r>
            <a:r>
              <a:rPr lang="ro-RO" sz="2100" dirty="0"/>
              <a:t> și </a:t>
            </a:r>
            <a:r>
              <a:rPr lang="ro-RO" sz="2100" dirty="0" err="1"/>
              <a:t>const.</a:t>
            </a:r>
            <a:r>
              <a:rPr lang="ro-RO" sz="2100" dirty="0"/>
              <a:t>..)</a:t>
            </a:r>
          </a:p>
          <a:p>
            <a:pPr lvl="2">
              <a:buFont typeface="Arial" panose="020B0604020202020204" pitchFamily="34" charset="0"/>
              <a:buChar char="•"/>
            </a:pPr>
            <a:r>
              <a:rPr lang="ro-RO" sz="2100" dirty="0"/>
              <a:t>Din 2016, versiunile sunt denumite după an (</a:t>
            </a:r>
            <a:r>
              <a:rPr lang="ro-RO" sz="2100" dirty="0" err="1"/>
              <a:t>ECMAScript</a:t>
            </a:r>
            <a:r>
              <a:rPr lang="ro-RO" sz="2100" dirty="0"/>
              <a:t> 2016, 2017, 2018, 2019, 2020..)</a:t>
            </a:r>
          </a:p>
          <a:p>
            <a:r>
              <a:rPr lang="ro-RO" sz="2400" dirty="0"/>
              <a:t>Nu are nicio legătură cu </a:t>
            </a:r>
            <a:r>
              <a:rPr lang="ro-RO" sz="2400" b="1" dirty="0"/>
              <a:t>Java</a:t>
            </a:r>
            <a:r>
              <a:rPr lang="ro-RO" sz="2400" dirty="0"/>
              <a:t>, însă Java era foarte popular, așa că a fost numit </a:t>
            </a:r>
            <a:r>
              <a:rPr lang="ro-RO" sz="2400" b="1" dirty="0" err="1"/>
              <a:t>JavaScript</a:t>
            </a:r>
            <a:endParaRPr lang="ro-RO" sz="2400" b="1" dirty="0"/>
          </a:p>
          <a:p>
            <a:pPr marL="128016" lvl="1" indent="0">
              <a:buNone/>
            </a:pPr>
            <a:r>
              <a:rPr lang="ro-RO" sz="2000" b="1" dirty="0"/>
              <a:t>	</a:t>
            </a:r>
          </a:p>
          <a:p>
            <a:pPr marL="128016" lvl="1" indent="0">
              <a:buNone/>
            </a:pPr>
            <a:r>
              <a:rPr lang="ro-RO" sz="2000" b="1" dirty="0"/>
              <a:t>	“</a:t>
            </a:r>
            <a:r>
              <a:rPr lang="ro-RO" sz="2000" dirty="0"/>
              <a:t>Java </a:t>
            </a:r>
            <a:r>
              <a:rPr lang="ro-RO" sz="2000" dirty="0" err="1"/>
              <a:t>is</a:t>
            </a:r>
            <a:r>
              <a:rPr lang="ro-RO" sz="2000" dirty="0"/>
              <a:t> </a:t>
            </a:r>
            <a:r>
              <a:rPr lang="ro-RO" sz="2000" dirty="0" err="1"/>
              <a:t>to</a:t>
            </a:r>
            <a:r>
              <a:rPr lang="ro-RO" sz="2000" dirty="0"/>
              <a:t> </a:t>
            </a:r>
            <a:r>
              <a:rPr lang="ro-RO" sz="2000" dirty="0" err="1"/>
              <a:t>JavaScript</a:t>
            </a:r>
            <a:r>
              <a:rPr lang="ro-RO" sz="2000" dirty="0"/>
              <a:t> as ham </a:t>
            </a:r>
            <a:r>
              <a:rPr lang="ro-RO" sz="2000" dirty="0" err="1"/>
              <a:t>is</a:t>
            </a:r>
            <a:r>
              <a:rPr lang="ro-RO" sz="2000" dirty="0"/>
              <a:t> </a:t>
            </a:r>
            <a:r>
              <a:rPr lang="ro-RO" sz="2000" dirty="0" err="1"/>
              <a:t>to</a:t>
            </a:r>
            <a:r>
              <a:rPr lang="ro-RO" sz="2000" dirty="0"/>
              <a:t> hamster”</a:t>
            </a:r>
          </a:p>
        </p:txBody>
      </p:sp>
      <p:sp>
        <p:nvSpPr>
          <p:cNvPr id="8" name="Rectangle 7">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30089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12A99-1230-4555-98D1-10588A4508F6}"/>
              </a:ext>
            </a:extLst>
          </p:cNvPr>
          <p:cNvSpPr>
            <a:spLocks noGrp="1"/>
          </p:cNvSpPr>
          <p:nvPr>
            <p:ph type="title"/>
          </p:nvPr>
        </p:nvSpPr>
        <p:spPr>
          <a:xfrm>
            <a:off x="1024128" y="585216"/>
            <a:ext cx="8018272" cy="1499616"/>
          </a:xfrm>
        </p:spPr>
        <p:txBody>
          <a:bodyPr>
            <a:normAutofit/>
          </a:bodyPr>
          <a:lstStyle/>
          <a:p>
            <a:r>
              <a:rPr lang="en-US" b="1" dirty="0" err="1"/>
              <a:t>Paradigme</a:t>
            </a:r>
            <a:endParaRPr lang="en-US" b="1" dirty="0"/>
          </a:p>
        </p:txBody>
      </p:sp>
      <p:sp>
        <p:nvSpPr>
          <p:cNvPr id="3" name="Content Placeholder 2">
            <a:extLst>
              <a:ext uri="{FF2B5EF4-FFF2-40B4-BE49-F238E27FC236}">
                <a16:creationId xmlns:a16="http://schemas.microsoft.com/office/drawing/2014/main" id="{03BACC6A-9D5C-4302-AA04-7B37C3490FAF}"/>
              </a:ext>
            </a:extLst>
          </p:cNvPr>
          <p:cNvSpPr>
            <a:spLocks noGrp="1"/>
          </p:cNvSpPr>
          <p:nvPr>
            <p:ph idx="1"/>
          </p:nvPr>
        </p:nvSpPr>
        <p:spPr>
          <a:xfrm>
            <a:off x="1024128" y="2286000"/>
            <a:ext cx="8018271" cy="4023360"/>
          </a:xfrm>
        </p:spPr>
        <p:txBody>
          <a:bodyPr>
            <a:normAutofit/>
          </a:bodyPr>
          <a:lstStyle/>
          <a:p>
            <a:pPr>
              <a:lnSpc>
                <a:spcPct val="100000"/>
              </a:lnSpc>
              <a:spcBef>
                <a:spcPts val="600"/>
              </a:spcBef>
              <a:spcAft>
                <a:spcPts val="600"/>
              </a:spcAft>
            </a:pPr>
            <a:r>
              <a:rPr lang="ro-RO" sz="2800" b="1" dirty="0" err="1"/>
              <a:t>JavaScript</a:t>
            </a:r>
            <a:r>
              <a:rPr lang="ro-RO" sz="2800" dirty="0"/>
              <a:t> este un limbaj:</a:t>
            </a:r>
          </a:p>
          <a:p>
            <a:pPr lvl="1">
              <a:lnSpc>
                <a:spcPct val="100000"/>
              </a:lnSpc>
              <a:spcBef>
                <a:spcPts val="600"/>
              </a:spcBef>
              <a:spcAft>
                <a:spcPts val="600"/>
              </a:spcAft>
            </a:pPr>
            <a:r>
              <a:rPr lang="ro-RO" sz="2400" b="1" dirty="0"/>
              <a:t>Dinamic </a:t>
            </a:r>
            <a:r>
              <a:rPr lang="ro-RO" sz="2400" dirty="0"/>
              <a:t>(comportament la </a:t>
            </a:r>
            <a:r>
              <a:rPr lang="ro-RO" sz="2400" dirty="0" err="1"/>
              <a:t>runtime</a:t>
            </a:r>
            <a:r>
              <a:rPr lang="ro-RO" sz="2400" dirty="0"/>
              <a:t>) </a:t>
            </a:r>
          </a:p>
          <a:p>
            <a:pPr lvl="1">
              <a:lnSpc>
                <a:spcPct val="100000"/>
              </a:lnSpc>
              <a:spcBef>
                <a:spcPts val="600"/>
              </a:spcBef>
              <a:spcAft>
                <a:spcPts val="600"/>
              </a:spcAft>
            </a:pPr>
            <a:r>
              <a:rPr lang="ro-RO" sz="2400" b="1" dirty="0"/>
              <a:t>Slab </a:t>
            </a:r>
            <a:r>
              <a:rPr lang="ro-RO" sz="2400" b="1" dirty="0" err="1"/>
              <a:t>tipat</a:t>
            </a:r>
            <a:r>
              <a:rPr lang="ro-RO" sz="2400" b="1" dirty="0"/>
              <a:t> </a:t>
            </a:r>
            <a:r>
              <a:rPr lang="ro-RO" sz="2400" dirty="0"/>
              <a:t>(tipurile nu contează)</a:t>
            </a:r>
          </a:p>
          <a:p>
            <a:pPr lvl="1">
              <a:lnSpc>
                <a:spcPct val="100000"/>
              </a:lnSpc>
              <a:spcBef>
                <a:spcPts val="600"/>
              </a:spcBef>
              <a:spcAft>
                <a:spcPts val="600"/>
              </a:spcAft>
            </a:pPr>
            <a:r>
              <a:rPr lang="ro-RO" sz="2400" b="1" dirty="0"/>
              <a:t>Imperativ</a:t>
            </a:r>
          </a:p>
          <a:p>
            <a:pPr lvl="1">
              <a:lnSpc>
                <a:spcPct val="100000"/>
              </a:lnSpc>
              <a:spcBef>
                <a:spcPts val="600"/>
              </a:spcBef>
              <a:spcAft>
                <a:spcPts val="600"/>
              </a:spcAft>
            </a:pPr>
            <a:r>
              <a:rPr lang="ro-RO" sz="2400" b="1" dirty="0"/>
              <a:t>Funcțional </a:t>
            </a:r>
            <a:r>
              <a:rPr lang="ro-RO" sz="2400" dirty="0"/>
              <a:t>(funcții “</a:t>
            </a:r>
            <a:r>
              <a:rPr lang="ro-RO" sz="2400" dirty="0" err="1"/>
              <a:t>high</a:t>
            </a:r>
            <a:r>
              <a:rPr lang="ro-RO" sz="2400" dirty="0"/>
              <a:t> </a:t>
            </a:r>
            <a:r>
              <a:rPr lang="ro-RO" sz="2400" dirty="0" err="1"/>
              <a:t>order</a:t>
            </a:r>
            <a:r>
              <a:rPr lang="ro-RO" sz="2400" dirty="0"/>
              <a:t>” și funcții “pure”)</a:t>
            </a:r>
          </a:p>
          <a:p>
            <a:pPr lvl="1">
              <a:lnSpc>
                <a:spcPct val="100000"/>
              </a:lnSpc>
              <a:spcBef>
                <a:spcPts val="600"/>
              </a:spcBef>
              <a:spcAft>
                <a:spcPts val="600"/>
              </a:spcAft>
            </a:pPr>
            <a:r>
              <a:rPr lang="ro-RO" sz="2400" b="1" dirty="0"/>
              <a:t>OOP </a:t>
            </a:r>
            <a:r>
              <a:rPr lang="ro-RO" sz="2400" dirty="0"/>
              <a:t>(se bazează pe prototip)</a:t>
            </a:r>
          </a:p>
          <a:p>
            <a:pPr lvl="1">
              <a:lnSpc>
                <a:spcPct val="100000"/>
              </a:lnSpc>
              <a:spcBef>
                <a:spcPts val="600"/>
              </a:spcBef>
              <a:spcAft>
                <a:spcPts val="600"/>
              </a:spcAft>
            </a:pPr>
            <a:r>
              <a:rPr lang="ro-RO" sz="2400" b="1" dirty="0"/>
              <a:t>Reactiv</a:t>
            </a:r>
            <a:r>
              <a:rPr lang="ro-RO" sz="2400" dirty="0"/>
              <a:t> (se bazează pe evenimente)</a:t>
            </a:r>
          </a:p>
          <a:p>
            <a:pPr lvl="1">
              <a:lnSpc>
                <a:spcPct val="100000"/>
              </a:lnSpc>
              <a:spcBef>
                <a:spcPts val="600"/>
              </a:spcBef>
              <a:spcAft>
                <a:spcPts val="600"/>
              </a:spcAft>
            </a:pPr>
            <a:endParaRPr lang="ro-RO" sz="2400" b="1" dirty="0"/>
          </a:p>
        </p:txBody>
      </p:sp>
      <p:sp>
        <p:nvSpPr>
          <p:cNvPr id="8" name="Rectangle 7">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25328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12A99-1230-4555-98D1-10588A4508F6}"/>
              </a:ext>
            </a:extLst>
          </p:cNvPr>
          <p:cNvSpPr>
            <a:spLocks noGrp="1"/>
          </p:cNvSpPr>
          <p:nvPr>
            <p:ph type="title"/>
          </p:nvPr>
        </p:nvSpPr>
        <p:spPr>
          <a:xfrm>
            <a:off x="1024128" y="585216"/>
            <a:ext cx="8018272" cy="1499616"/>
          </a:xfrm>
        </p:spPr>
        <p:txBody>
          <a:bodyPr>
            <a:normAutofit/>
          </a:bodyPr>
          <a:lstStyle/>
          <a:p>
            <a:r>
              <a:rPr lang="en-US" b="1" dirty="0" err="1"/>
              <a:t>Rulare</a:t>
            </a:r>
            <a:endParaRPr lang="en-US" b="1" dirty="0"/>
          </a:p>
        </p:txBody>
      </p:sp>
      <p:sp>
        <p:nvSpPr>
          <p:cNvPr id="3" name="Content Placeholder 2">
            <a:extLst>
              <a:ext uri="{FF2B5EF4-FFF2-40B4-BE49-F238E27FC236}">
                <a16:creationId xmlns:a16="http://schemas.microsoft.com/office/drawing/2014/main" id="{03BACC6A-9D5C-4302-AA04-7B37C3490FAF}"/>
              </a:ext>
            </a:extLst>
          </p:cNvPr>
          <p:cNvSpPr>
            <a:spLocks noGrp="1"/>
          </p:cNvSpPr>
          <p:nvPr>
            <p:ph idx="1"/>
          </p:nvPr>
        </p:nvSpPr>
        <p:spPr>
          <a:xfrm>
            <a:off x="1024128" y="1998920"/>
            <a:ext cx="8018271" cy="4023360"/>
          </a:xfrm>
        </p:spPr>
        <p:txBody>
          <a:bodyPr>
            <a:normAutofit/>
          </a:bodyPr>
          <a:lstStyle/>
          <a:p>
            <a:pPr>
              <a:lnSpc>
                <a:spcPct val="100000"/>
              </a:lnSpc>
              <a:spcBef>
                <a:spcPts val="600"/>
              </a:spcBef>
              <a:spcAft>
                <a:spcPts val="600"/>
              </a:spcAft>
            </a:pPr>
            <a:r>
              <a:rPr lang="ro-RO" sz="3200" b="1" dirty="0" err="1"/>
              <a:t>JavaScript</a:t>
            </a:r>
            <a:r>
              <a:rPr lang="ro-RO" sz="3200" dirty="0"/>
              <a:t> poate fi rulat:</a:t>
            </a:r>
          </a:p>
          <a:p>
            <a:pPr lvl="1">
              <a:lnSpc>
                <a:spcPct val="100000"/>
              </a:lnSpc>
              <a:spcBef>
                <a:spcPts val="600"/>
              </a:spcBef>
              <a:spcAft>
                <a:spcPts val="600"/>
              </a:spcAft>
            </a:pPr>
            <a:r>
              <a:rPr lang="ro-RO" sz="2800" dirty="0"/>
              <a:t>În </a:t>
            </a:r>
            <a:r>
              <a:rPr lang="ro-RO" sz="2800" b="1" dirty="0"/>
              <a:t>consola </a:t>
            </a:r>
            <a:r>
              <a:rPr lang="ro-RO" sz="2800" b="1" dirty="0" err="1"/>
              <a:t>browserului</a:t>
            </a:r>
            <a:r>
              <a:rPr lang="ro-RO" sz="2800" b="1" dirty="0"/>
              <a:t> </a:t>
            </a:r>
            <a:r>
              <a:rPr lang="ro-RO" sz="2800" dirty="0"/>
              <a:t>sau pe </a:t>
            </a:r>
            <a:r>
              <a:rPr lang="ro-RO" sz="2800" dirty="0" err="1"/>
              <a:t>backend</a:t>
            </a:r>
            <a:endParaRPr lang="ro-RO" sz="2800" dirty="0"/>
          </a:p>
          <a:p>
            <a:pPr lvl="1">
              <a:lnSpc>
                <a:spcPct val="100000"/>
              </a:lnSpc>
              <a:spcBef>
                <a:spcPts val="600"/>
              </a:spcBef>
              <a:spcAft>
                <a:spcPts val="600"/>
              </a:spcAft>
            </a:pPr>
            <a:r>
              <a:rPr lang="ro-RO" sz="2800" dirty="0"/>
              <a:t>Local (ex. </a:t>
            </a:r>
            <a:r>
              <a:rPr lang="ro-RO" sz="2800" b="1" dirty="0" err="1"/>
              <a:t>NodeJS</a:t>
            </a:r>
            <a:r>
              <a:rPr lang="ro-RO" sz="2800" b="1" dirty="0"/>
              <a:t>)</a:t>
            </a:r>
            <a:endParaRPr lang="ro-RO" sz="2800" dirty="0"/>
          </a:p>
          <a:p>
            <a:pPr>
              <a:lnSpc>
                <a:spcPct val="100000"/>
              </a:lnSpc>
              <a:spcBef>
                <a:spcPts val="600"/>
              </a:spcBef>
              <a:spcAft>
                <a:spcPts val="600"/>
              </a:spcAft>
            </a:pPr>
            <a:r>
              <a:rPr lang="ro-RO" sz="3200" dirty="0"/>
              <a:t>Codul </a:t>
            </a:r>
            <a:r>
              <a:rPr lang="ro-RO" sz="3200" dirty="0" err="1"/>
              <a:t>JavaScript</a:t>
            </a:r>
            <a:r>
              <a:rPr lang="ro-RO" sz="3200" dirty="0"/>
              <a:t> se scrie în fișiere </a:t>
            </a:r>
            <a:r>
              <a:rPr lang="ro-RO" sz="3200" b="1" dirty="0"/>
              <a:t>.</a:t>
            </a:r>
            <a:r>
              <a:rPr lang="ro-RO" sz="3200" b="1" dirty="0" err="1"/>
              <a:t>js</a:t>
            </a:r>
            <a:r>
              <a:rPr lang="ro-RO" sz="3200" b="1" dirty="0"/>
              <a:t> </a:t>
            </a:r>
            <a:r>
              <a:rPr lang="ro-RO" sz="3200" dirty="0"/>
              <a:t>(sau în HTML)</a:t>
            </a:r>
          </a:p>
          <a:p>
            <a:pPr>
              <a:lnSpc>
                <a:spcPct val="100000"/>
              </a:lnSpc>
              <a:spcBef>
                <a:spcPts val="600"/>
              </a:spcBef>
              <a:spcAft>
                <a:spcPts val="600"/>
              </a:spcAft>
            </a:pPr>
            <a:r>
              <a:rPr lang="ro-RO" sz="3200" dirty="0"/>
              <a:t>Nu există “puncte de intrare” (e.g.: funcții </a:t>
            </a:r>
            <a:r>
              <a:rPr lang="ro-RO" sz="3200" dirty="0" err="1"/>
              <a:t>main</a:t>
            </a:r>
            <a:r>
              <a:rPr lang="ro-RO" sz="3200" dirty="0"/>
              <a:t>)</a:t>
            </a:r>
          </a:p>
          <a:p>
            <a:pPr lvl="1">
              <a:lnSpc>
                <a:spcPct val="100000"/>
              </a:lnSpc>
              <a:spcBef>
                <a:spcPts val="600"/>
              </a:spcBef>
              <a:spcAft>
                <a:spcPts val="600"/>
              </a:spcAft>
            </a:pPr>
            <a:endParaRPr lang="ro-RO" sz="2800" b="1" dirty="0"/>
          </a:p>
        </p:txBody>
      </p:sp>
      <p:sp>
        <p:nvSpPr>
          <p:cNvPr id="8" name="Rectangle 7">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53329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12A99-1230-4555-98D1-10588A4508F6}"/>
              </a:ext>
            </a:extLst>
          </p:cNvPr>
          <p:cNvSpPr>
            <a:spLocks noGrp="1"/>
          </p:cNvSpPr>
          <p:nvPr>
            <p:ph type="title"/>
          </p:nvPr>
        </p:nvSpPr>
        <p:spPr>
          <a:xfrm>
            <a:off x="1024128" y="585216"/>
            <a:ext cx="8018272" cy="1499616"/>
          </a:xfrm>
        </p:spPr>
        <p:txBody>
          <a:bodyPr>
            <a:normAutofit/>
          </a:bodyPr>
          <a:lstStyle/>
          <a:p>
            <a:r>
              <a:rPr lang="en-US" b="1" dirty="0" err="1"/>
              <a:t>sintaxa</a:t>
            </a:r>
            <a:endParaRPr lang="en-US" b="1" dirty="0"/>
          </a:p>
        </p:txBody>
      </p:sp>
      <p:sp>
        <p:nvSpPr>
          <p:cNvPr id="3" name="Content Placeholder 2">
            <a:extLst>
              <a:ext uri="{FF2B5EF4-FFF2-40B4-BE49-F238E27FC236}">
                <a16:creationId xmlns:a16="http://schemas.microsoft.com/office/drawing/2014/main" id="{03BACC6A-9D5C-4302-AA04-7B37C3490FAF}"/>
              </a:ext>
            </a:extLst>
          </p:cNvPr>
          <p:cNvSpPr>
            <a:spLocks noGrp="1"/>
          </p:cNvSpPr>
          <p:nvPr>
            <p:ph idx="1"/>
          </p:nvPr>
        </p:nvSpPr>
        <p:spPr>
          <a:xfrm>
            <a:off x="1024128" y="2084832"/>
            <a:ext cx="8018271" cy="4023360"/>
          </a:xfrm>
        </p:spPr>
        <p:txBody>
          <a:bodyPr>
            <a:normAutofit/>
          </a:bodyPr>
          <a:lstStyle/>
          <a:p>
            <a:pPr>
              <a:lnSpc>
                <a:spcPct val="100000"/>
              </a:lnSpc>
              <a:spcBef>
                <a:spcPts val="600"/>
              </a:spcBef>
              <a:spcAft>
                <a:spcPts val="600"/>
              </a:spcAft>
            </a:pPr>
            <a:r>
              <a:rPr lang="ro-RO" sz="2800" dirty="0"/>
              <a:t>Sintaxa </a:t>
            </a:r>
            <a:r>
              <a:rPr lang="ro-RO" sz="2800" b="1" dirty="0" err="1"/>
              <a:t>JavaScript</a:t>
            </a:r>
            <a:r>
              <a:rPr lang="ro-RO" sz="2800" dirty="0"/>
              <a:t> se aseamănă cu sintaxa C</a:t>
            </a:r>
          </a:p>
          <a:p>
            <a:pPr lvl="1">
              <a:lnSpc>
                <a:spcPct val="100000"/>
              </a:lnSpc>
              <a:spcBef>
                <a:spcPts val="600"/>
              </a:spcBef>
              <a:spcAft>
                <a:spcPts val="600"/>
              </a:spcAft>
            </a:pPr>
            <a:r>
              <a:rPr lang="ro-RO" sz="2400" dirty="0"/>
              <a:t>Blocuri decizionale (</a:t>
            </a:r>
            <a:r>
              <a:rPr lang="ro-RO" sz="2400" b="1" dirty="0" err="1"/>
              <a:t>if</a:t>
            </a:r>
            <a:r>
              <a:rPr lang="ro-RO" sz="2400" dirty="0"/>
              <a:t>, </a:t>
            </a:r>
            <a:r>
              <a:rPr lang="ro-RO" sz="2400" b="1" dirty="0" err="1"/>
              <a:t>switch</a:t>
            </a:r>
            <a:r>
              <a:rPr lang="ro-RO" sz="2400" dirty="0"/>
              <a:t>)</a:t>
            </a:r>
          </a:p>
          <a:p>
            <a:pPr lvl="1">
              <a:lnSpc>
                <a:spcPct val="100000"/>
              </a:lnSpc>
              <a:spcBef>
                <a:spcPts val="600"/>
              </a:spcBef>
              <a:spcAft>
                <a:spcPts val="600"/>
              </a:spcAft>
            </a:pPr>
            <a:r>
              <a:rPr lang="ro-RO" sz="2400" dirty="0"/>
              <a:t>Buclele  (</a:t>
            </a:r>
            <a:r>
              <a:rPr lang="ro-RO" sz="2400" b="1" dirty="0"/>
              <a:t>for</a:t>
            </a:r>
            <a:r>
              <a:rPr lang="ro-RO" sz="2400" dirty="0"/>
              <a:t>, </a:t>
            </a:r>
            <a:r>
              <a:rPr lang="ro-RO" sz="2400" b="1" dirty="0" err="1"/>
              <a:t>while</a:t>
            </a:r>
            <a:r>
              <a:rPr lang="ro-RO" sz="2400" b="1" dirty="0"/>
              <a:t>, do…</a:t>
            </a:r>
            <a:r>
              <a:rPr lang="ro-RO" sz="2400" b="1" dirty="0" err="1"/>
              <a:t>while</a:t>
            </a:r>
            <a:r>
              <a:rPr lang="ro-RO" sz="2400" dirty="0"/>
              <a:t>) și </a:t>
            </a:r>
            <a:r>
              <a:rPr lang="ro-RO" sz="2400" b="1" dirty="0"/>
              <a:t>break</a:t>
            </a:r>
            <a:r>
              <a:rPr lang="ro-RO" sz="2400" dirty="0"/>
              <a:t> și </a:t>
            </a:r>
            <a:r>
              <a:rPr lang="ro-RO" sz="2400" b="1" dirty="0"/>
              <a:t>continue</a:t>
            </a:r>
            <a:endParaRPr lang="ro-RO" sz="2400" dirty="0"/>
          </a:p>
          <a:p>
            <a:pPr lvl="1">
              <a:lnSpc>
                <a:spcPct val="100000"/>
              </a:lnSpc>
              <a:spcBef>
                <a:spcPts val="600"/>
              </a:spcBef>
              <a:spcAft>
                <a:spcPts val="600"/>
              </a:spcAft>
            </a:pPr>
            <a:r>
              <a:rPr lang="ro-RO" sz="2400" dirty="0"/>
              <a:t>Corpurile funcțiilor scrise între paranteze acolade</a:t>
            </a:r>
          </a:p>
          <a:p>
            <a:pPr lvl="1">
              <a:lnSpc>
                <a:spcPct val="100000"/>
              </a:lnSpc>
              <a:spcBef>
                <a:spcPts val="600"/>
              </a:spcBef>
              <a:spcAft>
                <a:spcPts val="600"/>
              </a:spcAft>
            </a:pPr>
            <a:r>
              <a:rPr lang="ro-RO" sz="2400" dirty="0"/>
              <a:t>Comentariile (</a:t>
            </a:r>
            <a:r>
              <a:rPr lang="ro-RO" sz="2400" b="1" dirty="0"/>
              <a:t>//</a:t>
            </a:r>
            <a:r>
              <a:rPr lang="ro-RO" sz="2400" dirty="0"/>
              <a:t>, </a:t>
            </a:r>
            <a:r>
              <a:rPr lang="ro-RO" sz="2400" b="1" dirty="0"/>
              <a:t>/**/</a:t>
            </a:r>
            <a:r>
              <a:rPr lang="ro-RO" sz="2400" dirty="0"/>
              <a:t>)</a:t>
            </a:r>
          </a:p>
          <a:p>
            <a:pPr>
              <a:lnSpc>
                <a:spcPct val="100000"/>
              </a:lnSpc>
              <a:spcBef>
                <a:spcPts val="600"/>
              </a:spcBef>
              <a:spcAft>
                <a:spcPts val="600"/>
              </a:spcAft>
            </a:pPr>
            <a:r>
              <a:rPr lang="ro-RO" sz="2800" dirty="0"/>
              <a:t>Se bazează pe </a:t>
            </a:r>
            <a:r>
              <a:rPr lang="ro-RO" sz="2800" b="1" dirty="0"/>
              <a:t>variabile</a:t>
            </a:r>
            <a:r>
              <a:rPr lang="ro-RO" sz="2800" dirty="0"/>
              <a:t>, </a:t>
            </a:r>
            <a:r>
              <a:rPr lang="ro-RO" sz="2800" b="1" dirty="0"/>
              <a:t>funcții</a:t>
            </a:r>
            <a:r>
              <a:rPr lang="ro-RO" sz="2800" dirty="0"/>
              <a:t>, </a:t>
            </a:r>
            <a:r>
              <a:rPr lang="ro-RO" sz="2800" b="1" dirty="0"/>
              <a:t>vectori</a:t>
            </a:r>
            <a:r>
              <a:rPr lang="ro-RO" sz="2800" dirty="0"/>
              <a:t> și </a:t>
            </a:r>
            <a:r>
              <a:rPr lang="ro-RO" sz="2800" b="1" dirty="0"/>
              <a:t>obiecte</a:t>
            </a:r>
          </a:p>
          <a:p>
            <a:pPr>
              <a:lnSpc>
                <a:spcPct val="100000"/>
              </a:lnSpc>
              <a:spcBef>
                <a:spcPts val="600"/>
              </a:spcBef>
              <a:spcAft>
                <a:spcPts val="600"/>
              </a:spcAft>
            </a:pPr>
            <a:r>
              <a:rPr lang="ro-RO" sz="2800" dirty="0"/>
              <a:t>Afișarea pe ecran se realizează folosind </a:t>
            </a:r>
            <a:r>
              <a:rPr lang="ro-RO" sz="2800" b="1" dirty="0" err="1"/>
              <a:t>console.log</a:t>
            </a:r>
            <a:r>
              <a:rPr lang="ro-RO" sz="2800" b="1" dirty="0"/>
              <a:t>()</a:t>
            </a:r>
            <a:endParaRPr lang="ro-RO" sz="2800" dirty="0"/>
          </a:p>
        </p:txBody>
      </p:sp>
      <p:sp>
        <p:nvSpPr>
          <p:cNvPr id="8" name="Rectangle 7">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37971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Number Placeholder 5">
            <a:extLst>
              <a:ext uri="{FF2B5EF4-FFF2-40B4-BE49-F238E27FC236}">
                <a16:creationId xmlns:a16="http://schemas.microsoft.com/office/drawing/2014/main" id="{8DEB3843-6FA8-964C-D37B-F984C8D405A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4FB71A03-61EE-A041-84E7-9D66F06EE8B3}" type="slidenum">
              <a:rPr lang="en-US" altLang="en-US" sz="900" smtClean="0">
                <a:solidFill>
                  <a:schemeClr val="bg1"/>
                </a:solidFill>
              </a:rPr>
              <a:pPr>
                <a:spcBef>
                  <a:spcPct val="0"/>
                </a:spcBef>
                <a:buFontTx/>
                <a:buNone/>
              </a:pPr>
              <a:t>7</a:t>
            </a:fld>
            <a:endParaRPr lang="en-US" altLang="en-US" sz="900">
              <a:solidFill>
                <a:schemeClr val="bg1"/>
              </a:solidFill>
            </a:endParaRPr>
          </a:p>
        </p:txBody>
      </p:sp>
      <p:sp>
        <p:nvSpPr>
          <p:cNvPr id="642050" name="Rectangle 2">
            <a:extLst>
              <a:ext uri="{FF2B5EF4-FFF2-40B4-BE49-F238E27FC236}">
                <a16:creationId xmlns:a16="http://schemas.microsoft.com/office/drawing/2014/main" id="{37B9A3E2-FB88-3449-B31D-C765D6CB4407}"/>
              </a:ext>
            </a:extLst>
          </p:cNvPr>
          <p:cNvSpPr>
            <a:spLocks noGrp="1" noChangeArrowheads="1"/>
          </p:cNvSpPr>
          <p:nvPr>
            <p:ph type="title"/>
          </p:nvPr>
        </p:nvSpPr>
        <p:spPr>
          <a:xfrm>
            <a:off x="1024320" y="360715"/>
            <a:ext cx="9720072" cy="1499616"/>
          </a:xfrm>
        </p:spPr>
        <p:txBody>
          <a:bodyPr vert="horz" lIns="91440" tIns="45720" rIns="91440" bIns="45720" rtlCol="0" anchor="ctr">
            <a:normAutofit/>
          </a:bodyPr>
          <a:lstStyle/>
          <a:p>
            <a:r>
              <a:rPr lang="en-US" b="1" dirty="0" err="1"/>
              <a:t>Tipuri</a:t>
            </a:r>
            <a:r>
              <a:rPr lang="en-US" b="1" dirty="0"/>
              <a:t> de date primitive</a:t>
            </a:r>
          </a:p>
        </p:txBody>
      </p:sp>
      <p:sp>
        <p:nvSpPr>
          <p:cNvPr id="30723" name="Rectangle 3">
            <a:extLst>
              <a:ext uri="{FF2B5EF4-FFF2-40B4-BE49-F238E27FC236}">
                <a16:creationId xmlns:a16="http://schemas.microsoft.com/office/drawing/2014/main" id="{4AB2FE75-3600-2915-9558-B7070B85E3C0}"/>
              </a:ext>
            </a:extLst>
          </p:cNvPr>
          <p:cNvSpPr>
            <a:spLocks noGrp="1" noChangeArrowheads="1"/>
          </p:cNvSpPr>
          <p:nvPr>
            <p:ph type="body" idx="1"/>
          </p:nvPr>
        </p:nvSpPr>
        <p:spPr>
          <a:xfrm>
            <a:off x="889145" y="1544898"/>
            <a:ext cx="10640703" cy="5334000"/>
          </a:xfrm>
        </p:spPr>
        <p:txBody>
          <a:bodyPr/>
          <a:lstStyle/>
          <a:p>
            <a:pPr eaLnBrk="1" hangingPunct="1">
              <a:lnSpc>
                <a:spcPct val="100000"/>
              </a:lnSpc>
              <a:spcBef>
                <a:spcPts val="600"/>
              </a:spcBef>
              <a:spcAft>
                <a:spcPts val="600"/>
              </a:spcAft>
            </a:pPr>
            <a:r>
              <a:rPr lang="ro-RO" altLang="en-US" sz="2400" dirty="0" err="1"/>
              <a:t>JavaScript</a:t>
            </a:r>
            <a:r>
              <a:rPr lang="ro-RO" altLang="en-US" sz="2400" dirty="0"/>
              <a:t> are trei tipuri “primitive”: </a:t>
            </a:r>
            <a:r>
              <a:rPr lang="ro-RO" altLang="en-US" sz="2400" dirty="0" err="1">
                <a:solidFill>
                  <a:srgbClr val="FF0000"/>
                </a:solidFill>
                <a:latin typeface="Trebuchet MS" panose="020B0703020202090204" pitchFamily="34" charset="0"/>
              </a:rPr>
              <a:t>number</a:t>
            </a:r>
            <a:r>
              <a:rPr lang="ro-RO" altLang="en-US" sz="2400" dirty="0"/>
              <a:t>, </a:t>
            </a:r>
            <a:r>
              <a:rPr lang="ro-RO" altLang="en-US" sz="2400" dirty="0" err="1">
                <a:solidFill>
                  <a:srgbClr val="FF0000"/>
                </a:solidFill>
                <a:latin typeface="Trebuchet MS" panose="020B0703020202090204" pitchFamily="34" charset="0"/>
              </a:rPr>
              <a:t>string</a:t>
            </a:r>
            <a:r>
              <a:rPr lang="ro-RO" altLang="en-US" sz="2400" dirty="0"/>
              <a:t> și  </a:t>
            </a:r>
            <a:r>
              <a:rPr lang="ro-RO" altLang="en-US" sz="2400" dirty="0">
                <a:solidFill>
                  <a:srgbClr val="FF0000"/>
                </a:solidFill>
                <a:latin typeface="Trebuchet MS" panose="020B0703020202090204" pitchFamily="34" charset="0"/>
              </a:rPr>
              <a:t>boolean</a:t>
            </a:r>
            <a:r>
              <a:rPr lang="ro-RO" altLang="en-US" sz="2400" dirty="0"/>
              <a:t> și două valori speciale,</a:t>
            </a:r>
            <a:r>
              <a:rPr lang="ro-RO" altLang="en-US" sz="2400" dirty="0">
                <a:solidFill>
                  <a:schemeClr val="accent2"/>
                </a:solidFill>
                <a:latin typeface="Trebuchet MS" panose="020B0703020202090204" pitchFamily="34" charset="0"/>
              </a:rPr>
              <a:t> </a:t>
            </a:r>
            <a:r>
              <a:rPr lang="ro-RO" altLang="en-US" sz="2400" dirty="0" err="1">
                <a:solidFill>
                  <a:srgbClr val="FF0000"/>
                </a:solidFill>
                <a:latin typeface="Trebuchet MS" panose="020B0703020202090204" pitchFamily="34" charset="0"/>
              </a:rPr>
              <a:t>null</a:t>
            </a:r>
            <a:r>
              <a:rPr lang="ro-RO" altLang="en-US" sz="2400" dirty="0">
                <a:latin typeface="Trebuchet MS" panose="020B0703020202090204" pitchFamily="34" charset="0"/>
              </a:rPr>
              <a:t> și </a:t>
            </a:r>
            <a:r>
              <a:rPr lang="ro-RO" altLang="en-US" sz="2400" dirty="0" err="1">
                <a:solidFill>
                  <a:srgbClr val="FF0000"/>
                </a:solidFill>
                <a:latin typeface="Trebuchet MS" panose="020B0703020202090204" pitchFamily="34" charset="0"/>
              </a:rPr>
              <a:t>undefined</a:t>
            </a:r>
            <a:endParaRPr lang="ro-RO" altLang="en-US" sz="2400" dirty="0">
              <a:solidFill>
                <a:srgbClr val="FF0000"/>
              </a:solidFill>
              <a:latin typeface="Trebuchet MS" panose="020B0703020202090204" pitchFamily="34" charset="0"/>
            </a:endParaRPr>
          </a:p>
          <a:p>
            <a:pPr marL="128016" lvl="1" indent="0" eaLnBrk="1" hangingPunct="1">
              <a:lnSpc>
                <a:spcPct val="100000"/>
              </a:lnSpc>
              <a:spcBef>
                <a:spcPts val="600"/>
              </a:spcBef>
              <a:spcAft>
                <a:spcPts val="600"/>
              </a:spcAft>
              <a:buNone/>
            </a:pPr>
            <a:r>
              <a:rPr lang="ro-RO" altLang="en-US" sz="2000" dirty="0"/>
              <a:t>	Orice altceva este un </a:t>
            </a:r>
            <a:r>
              <a:rPr lang="ro-RO" altLang="en-US" sz="2000" dirty="0">
                <a:solidFill>
                  <a:srgbClr val="FF0000"/>
                </a:solidFill>
              </a:rPr>
              <a:t>obiect</a:t>
            </a:r>
          </a:p>
          <a:p>
            <a:pPr eaLnBrk="1" hangingPunct="1">
              <a:lnSpc>
                <a:spcPct val="100000"/>
              </a:lnSpc>
              <a:spcBef>
                <a:spcPts val="600"/>
              </a:spcBef>
              <a:spcAft>
                <a:spcPts val="600"/>
              </a:spcAft>
            </a:pPr>
            <a:r>
              <a:rPr lang="ro-RO" altLang="en-US" sz="2400" dirty="0"/>
              <a:t>Numerele sunt întotdeauna stocate ca valori de tip </a:t>
            </a:r>
            <a:r>
              <a:rPr lang="ro-RO" altLang="en-US" sz="2400" i="1" dirty="0" err="1"/>
              <a:t>float</a:t>
            </a:r>
            <a:endParaRPr lang="ro-RO" altLang="en-US" sz="2400" i="1" dirty="0"/>
          </a:p>
          <a:p>
            <a:pPr lvl="1" eaLnBrk="1" hangingPunct="1">
              <a:lnSpc>
                <a:spcPct val="100000"/>
              </a:lnSpc>
              <a:spcBef>
                <a:spcPts val="600"/>
              </a:spcBef>
              <a:spcAft>
                <a:spcPts val="600"/>
              </a:spcAft>
            </a:pPr>
            <a:r>
              <a:rPr lang="ro-RO" altLang="en-US" sz="2000" dirty="0"/>
              <a:t>Numerele hexazecimale încep cu </a:t>
            </a:r>
            <a:r>
              <a:rPr lang="ro-RO" altLang="en-US" sz="2000" dirty="0">
                <a:solidFill>
                  <a:schemeClr val="accent2"/>
                </a:solidFill>
                <a:latin typeface="Trebuchet MS" panose="020B0703020202090204" pitchFamily="34" charset="0"/>
              </a:rPr>
              <a:t>0x</a:t>
            </a:r>
          </a:p>
          <a:p>
            <a:pPr lvl="1" eaLnBrk="1" hangingPunct="1">
              <a:lnSpc>
                <a:spcPct val="100000"/>
              </a:lnSpc>
              <a:spcBef>
                <a:spcPts val="600"/>
              </a:spcBef>
              <a:spcAft>
                <a:spcPts val="600"/>
              </a:spcAft>
            </a:pPr>
            <a:r>
              <a:rPr lang="ro-RO" altLang="en-US" sz="2000" dirty="0"/>
              <a:t>Unele platforme tratează </a:t>
            </a:r>
            <a:r>
              <a:rPr lang="ro-RO" altLang="en-US" sz="2000" dirty="0">
                <a:solidFill>
                  <a:schemeClr val="accent2"/>
                </a:solidFill>
                <a:latin typeface="Trebuchet MS" panose="020B0703020202090204" pitchFamily="34" charset="0"/>
              </a:rPr>
              <a:t>0123</a:t>
            </a:r>
            <a:r>
              <a:rPr lang="ro-RO" altLang="en-US" sz="2000" dirty="0"/>
              <a:t> ca octal, altele îl tratează ca zecimal</a:t>
            </a:r>
          </a:p>
          <a:p>
            <a:pPr lvl="2" eaLnBrk="1" hangingPunct="1">
              <a:lnSpc>
                <a:spcPct val="100000"/>
              </a:lnSpc>
              <a:spcBef>
                <a:spcPts val="600"/>
              </a:spcBef>
              <a:spcAft>
                <a:spcPts val="600"/>
              </a:spcAft>
            </a:pPr>
            <a:r>
              <a:rPr lang="ro-RO" altLang="en-US" sz="1800" dirty="0"/>
              <a:t>Pentru că nu puteți fi siguri, e mai indicat </a:t>
            </a:r>
            <a:r>
              <a:rPr lang="ro-RO" altLang="en-US" sz="1800" i="1" dirty="0"/>
              <a:t>să evitați </a:t>
            </a:r>
            <a:r>
              <a:rPr lang="ro-RO" altLang="en-US" sz="1800" dirty="0"/>
              <a:t>cu totul folosirea valorilor in octal!</a:t>
            </a:r>
          </a:p>
          <a:p>
            <a:pPr eaLnBrk="1" hangingPunct="1">
              <a:lnSpc>
                <a:spcPct val="100000"/>
              </a:lnSpc>
              <a:spcBef>
                <a:spcPts val="600"/>
              </a:spcBef>
              <a:spcAft>
                <a:spcPts val="600"/>
              </a:spcAft>
            </a:pPr>
            <a:r>
              <a:rPr lang="ro-RO" altLang="en-US" sz="2400" dirty="0"/>
              <a:t>Valorile </a:t>
            </a:r>
            <a:r>
              <a:rPr lang="ro-RO" altLang="en-US" sz="2400" dirty="0" err="1"/>
              <a:t>String</a:t>
            </a:r>
            <a:r>
              <a:rPr lang="ro-RO" altLang="en-US" sz="2400" dirty="0"/>
              <a:t> pot fi delimitate prin caractere apostrof sau ghilimele</a:t>
            </a:r>
          </a:p>
          <a:p>
            <a:pPr lvl="1" eaLnBrk="1" hangingPunct="1">
              <a:lnSpc>
                <a:spcPct val="100000"/>
              </a:lnSpc>
              <a:spcBef>
                <a:spcPts val="600"/>
              </a:spcBef>
              <a:spcAft>
                <a:spcPts val="600"/>
              </a:spcAft>
            </a:pPr>
            <a:r>
              <a:rPr lang="ro-RO" altLang="en-US" sz="2000" dirty="0" err="1"/>
              <a:t>String</a:t>
            </a:r>
            <a:r>
              <a:rPr lang="ro-RO" altLang="en-US" sz="2000" dirty="0"/>
              <a:t>-urile pot conține </a:t>
            </a:r>
            <a:r>
              <a:rPr lang="ro-RO" altLang="en-US" sz="2000" dirty="0">
                <a:solidFill>
                  <a:schemeClr val="accent2"/>
                </a:solidFill>
                <a:latin typeface="Trebuchet MS" panose="020B0703020202090204" pitchFamily="34" charset="0"/>
              </a:rPr>
              <a:t>\n</a:t>
            </a:r>
            <a:r>
              <a:rPr lang="ro-RO" altLang="en-US" sz="2000" dirty="0"/>
              <a:t> (</a:t>
            </a:r>
            <a:r>
              <a:rPr lang="ro-RO" altLang="en-US" sz="2000" dirty="0" err="1"/>
              <a:t>newline</a:t>
            </a:r>
            <a:r>
              <a:rPr lang="ro-RO" altLang="en-US" sz="2000" dirty="0"/>
              <a:t>), </a:t>
            </a:r>
            <a:r>
              <a:rPr lang="ro-RO" altLang="en-US" sz="2000" dirty="0">
                <a:solidFill>
                  <a:schemeClr val="accent2"/>
                </a:solidFill>
                <a:latin typeface="Trebuchet MS" panose="020B0703020202090204" pitchFamily="34" charset="0"/>
              </a:rPr>
              <a:t>\"</a:t>
            </a:r>
            <a:r>
              <a:rPr lang="ro-RO" altLang="en-US" sz="2000" dirty="0"/>
              <a:t> (</a:t>
            </a:r>
            <a:r>
              <a:rPr lang="ro-RO" altLang="en-US" sz="2000" dirty="0" err="1"/>
              <a:t>double</a:t>
            </a:r>
            <a:r>
              <a:rPr lang="ro-RO" altLang="en-US" sz="2000" dirty="0"/>
              <a:t> </a:t>
            </a:r>
            <a:r>
              <a:rPr lang="ro-RO" altLang="en-US" sz="2000" dirty="0" err="1"/>
              <a:t>quote</a:t>
            </a:r>
            <a:r>
              <a:rPr lang="ro-RO" altLang="en-US" sz="2000" dirty="0"/>
              <a:t>), etc.</a:t>
            </a:r>
          </a:p>
          <a:p>
            <a:pPr eaLnBrk="1" hangingPunct="1">
              <a:lnSpc>
                <a:spcPct val="100000"/>
              </a:lnSpc>
              <a:spcBef>
                <a:spcPts val="600"/>
              </a:spcBef>
              <a:spcAft>
                <a:spcPts val="600"/>
              </a:spcAft>
            </a:pPr>
            <a:r>
              <a:rPr lang="ro-RO" altLang="en-US" sz="2400" dirty="0"/>
              <a:t>Valorile boolean sunt fie </a:t>
            </a:r>
            <a:r>
              <a:rPr lang="ro-RO" altLang="en-US" sz="2400" dirty="0" err="1">
                <a:solidFill>
                  <a:schemeClr val="accent2"/>
                </a:solidFill>
                <a:latin typeface="Trebuchet MS" panose="020B0703020202090204" pitchFamily="34" charset="0"/>
              </a:rPr>
              <a:t>true</a:t>
            </a:r>
            <a:r>
              <a:rPr lang="ro-RO" altLang="en-US" sz="2400" dirty="0">
                <a:solidFill>
                  <a:schemeClr val="accent2"/>
                </a:solidFill>
                <a:latin typeface="Trebuchet MS" panose="020B0703020202090204" pitchFamily="34" charset="0"/>
              </a:rPr>
              <a:t>,</a:t>
            </a:r>
            <a:r>
              <a:rPr lang="ro-RO" altLang="en-US" sz="2400" dirty="0"/>
              <a:t> fie </a:t>
            </a:r>
            <a:r>
              <a:rPr lang="ro-RO" altLang="en-US" sz="2400" dirty="0">
                <a:solidFill>
                  <a:schemeClr val="accent2"/>
                </a:solidFill>
                <a:latin typeface="Trebuchet MS" panose="020B0703020202090204" pitchFamily="34" charset="0"/>
              </a:rPr>
              <a:t>false</a:t>
            </a:r>
          </a:p>
          <a:p>
            <a:pPr lvl="1" eaLnBrk="1" hangingPunct="1">
              <a:lnSpc>
                <a:spcPct val="100000"/>
              </a:lnSpc>
              <a:spcBef>
                <a:spcPts val="600"/>
              </a:spcBef>
              <a:spcAft>
                <a:spcPts val="600"/>
              </a:spcAft>
            </a:pPr>
            <a:r>
              <a:rPr lang="ro-RO" altLang="en-US" sz="2000" dirty="0">
                <a:solidFill>
                  <a:schemeClr val="accent2"/>
                </a:solidFill>
                <a:latin typeface="Trebuchet MS" panose="020B0703020202090204" pitchFamily="34" charset="0"/>
              </a:rPr>
              <a:t>0</a:t>
            </a:r>
            <a:r>
              <a:rPr lang="ro-RO" altLang="en-US" sz="2400" dirty="0"/>
              <a:t>,</a:t>
            </a:r>
            <a:r>
              <a:rPr lang="ro-RO" altLang="en-US" sz="2000" dirty="0">
                <a:solidFill>
                  <a:srgbClr val="FFFF7F"/>
                </a:solidFill>
                <a:latin typeface="Trebuchet MS" panose="020B0703020202090204" pitchFamily="34" charset="0"/>
              </a:rPr>
              <a:t> </a:t>
            </a:r>
            <a:r>
              <a:rPr lang="ro-RO" altLang="en-US" sz="2000" dirty="0">
                <a:solidFill>
                  <a:schemeClr val="accent2"/>
                </a:solidFill>
                <a:latin typeface="Trebuchet MS" panose="020B0703020202090204" pitchFamily="34" charset="0"/>
              </a:rPr>
              <a:t>"0"</a:t>
            </a:r>
            <a:r>
              <a:rPr lang="ro-RO" altLang="en-US" sz="2400" dirty="0"/>
              <a:t>, </a:t>
            </a:r>
            <a:r>
              <a:rPr lang="ro-RO" altLang="en-US" sz="2400" dirty="0" err="1"/>
              <a:t>stringul</a:t>
            </a:r>
            <a:r>
              <a:rPr lang="ro-RO" altLang="en-US" sz="2400" dirty="0"/>
              <a:t> gol,</a:t>
            </a:r>
            <a:r>
              <a:rPr lang="ro-RO" altLang="en-US" sz="2000" dirty="0">
                <a:solidFill>
                  <a:srgbClr val="FFFF7F"/>
                </a:solidFill>
                <a:latin typeface="Trebuchet MS" panose="020B0703020202090204" pitchFamily="34" charset="0"/>
              </a:rPr>
              <a:t> </a:t>
            </a:r>
            <a:r>
              <a:rPr lang="ro-RO" altLang="en-US" sz="2000" dirty="0" err="1">
                <a:solidFill>
                  <a:schemeClr val="accent2"/>
                </a:solidFill>
                <a:latin typeface="Trebuchet MS" panose="020B0703020202090204" pitchFamily="34" charset="0"/>
              </a:rPr>
              <a:t>undefined</a:t>
            </a:r>
            <a:r>
              <a:rPr lang="ro-RO" altLang="en-US" sz="2400" dirty="0"/>
              <a:t>,</a:t>
            </a:r>
            <a:r>
              <a:rPr lang="ro-RO" altLang="en-US" sz="2000" dirty="0">
                <a:solidFill>
                  <a:srgbClr val="FFFF7F"/>
                </a:solidFill>
                <a:latin typeface="Trebuchet MS" panose="020B0703020202090204" pitchFamily="34" charset="0"/>
              </a:rPr>
              <a:t> </a:t>
            </a:r>
            <a:r>
              <a:rPr lang="ro-RO" altLang="en-US" sz="2000" dirty="0" err="1">
                <a:solidFill>
                  <a:schemeClr val="accent2"/>
                </a:solidFill>
                <a:latin typeface="Trebuchet MS" panose="020B0703020202090204" pitchFamily="34" charset="0"/>
              </a:rPr>
              <a:t>null</a:t>
            </a:r>
            <a:r>
              <a:rPr lang="ro-RO" altLang="en-US" sz="2400" dirty="0"/>
              <a:t> și</a:t>
            </a:r>
            <a:r>
              <a:rPr lang="ro-RO" altLang="en-US" sz="2000" dirty="0">
                <a:solidFill>
                  <a:srgbClr val="FFFF7F"/>
                </a:solidFill>
                <a:latin typeface="Trebuchet MS" panose="020B0703020202090204" pitchFamily="34" charset="0"/>
              </a:rPr>
              <a:t> </a:t>
            </a:r>
            <a:r>
              <a:rPr lang="ro-RO" altLang="en-US" sz="2000" dirty="0" err="1">
                <a:solidFill>
                  <a:schemeClr val="accent2"/>
                </a:solidFill>
                <a:latin typeface="Trebuchet MS" panose="020B0703020202090204" pitchFamily="34" charset="0"/>
              </a:rPr>
              <a:t>NaN</a:t>
            </a:r>
            <a:r>
              <a:rPr lang="ro-RO" altLang="en-US" sz="2000" dirty="0">
                <a:solidFill>
                  <a:srgbClr val="FFFF7F"/>
                </a:solidFill>
                <a:latin typeface="Trebuchet MS" panose="020B0703020202090204" pitchFamily="34" charset="0"/>
              </a:rPr>
              <a:t> </a:t>
            </a:r>
            <a:r>
              <a:rPr lang="ro-RO" altLang="en-US" sz="2400" dirty="0"/>
              <a:t>sunt</a:t>
            </a:r>
            <a:r>
              <a:rPr lang="ro-RO" altLang="en-US" sz="2000" dirty="0">
                <a:solidFill>
                  <a:srgbClr val="FFFF7F"/>
                </a:solidFill>
                <a:latin typeface="Trebuchet MS" panose="020B0703020202090204" pitchFamily="34" charset="0"/>
              </a:rPr>
              <a:t> </a:t>
            </a:r>
            <a:r>
              <a:rPr lang="ro-RO" altLang="en-US" sz="2000" dirty="0">
                <a:solidFill>
                  <a:schemeClr val="accent2"/>
                </a:solidFill>
                <a:latin typeface="Trebuchet MS" panose="020B0703020202090204" pitchFamily="34" charset="0"/>
              </a:rPr>
              <a:t>false,</a:t>
            </a:r>
            <a:r>
              <a:rPr lang="ro-RO" altLang="en-US" sz="2000" dirty="0">
                <a:solidFill>
                  <a:srgbClr val="FFFF7F"/>
                </a:solidFill>
                <a:latin typeface="Trebuchet MS" panose="020B0703020202090204" pitchFamily="34" charset="0"/>
              </a:rPr>
              <a:t> </a:t>
            </a:r>
            <a:r>
              <a:rPr lang="ro-RO" altLang="en-US" sz="2400" dirty="0"/>
              <a:t>restul valorilor sunt </a:t>
            </a:r>
            <a:r>
              <a:rPr lang="ro-RO" altLang="en-US" sz="2000" dirty="0" err="1">
                <a:solidFill>
                  <a:schemeClr val="accent2"/>
                </a:solidFill>
                <a:latin typeface="Trebuchet MS" panose="020B0703020202090204" pitchFamily="34" charset="0"/>
              </a:rPr>
              <a:t>true</a:t>
            </a:r>
            <a:endParaRPr lang="ro-RO" altLang="en-US" sz="2000" dirty="0">
              <a:solidFill>
                <a:schemeClr val="accent2"/>
              </a:solidFill>
              <a:latin typeface="Trebuchet MS" panose="020B0703020202090204" pitchFamily="34" charset="0"/>
            </a:endParaRPr>
          </a:p>
          <a:p>
            <a:pPr eaLnBrk="1" hangingPunct="1">
              <a:lnSpc>
                <a:spcPct val="100000"/>
              </a:lnSpc>
              <a:spcBef>
                <a:spcPts val="600"/>
              </a:spcBef>
              <a:spcAft>
                <a:spcPts val="600"/>
              </a:spcAft>
            </a:pPr>
            <a:endParaRPr lang="ro-RO" altLang="en-US" sz="2400" dirty="0"/>
          </a:p>
        </p:txBody>
      </p:sp>
      <p:sp>
        <p:nvSpPr>
          <p:cNvPr id="30724" name="Footer Placeholder 4">
            <a:extLst>
              <a:ext uri="{FF2B5EF4-FFF2-40B4-BE49-F238E27FC236}">
                <a16:creationId xmlns:a16="http://schemas.microsoft.com/office/drawing/2014/main" id="{1C5DE4C7-C72F-060C-D215-AEA6F8EA792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900">
                <a:solidFill>
                  <a:schemeClr val="bg1"/>
                </a:solidFill>
              </a:rPr>
              <a:t>Curs Programare Web, anul 4 C5 – Curs 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12A99-1230-4555-98D1-10588A4508F6}"/>
              </a:ext>
            </a:extLst>
          </p:cNvPr>
          <p:cNvSpPr>
            <a:spLocks noGrp="1"/>
          </p:cNvSpPr>
          <p:nvPr>
            <p:ph type="title"/>
          </p:nvPr>
        </p:nvSpPr>
        <p:spPr>
          <a:xfrm>
            <a:off x="1024128" y="585216"/>
            <a:ext cx="8018272" cy="1499616"/>
          </a:xfrm>
        </p:spPr>
        <p:txBody>
          <a:bodyPr>
            <a:normAutofit/>
          </a:bodyPr>
          <a:lstStyle/>
          <a:p>
            <a:r>
              <a:rPr lang="en-US" b="1" dirty="0" err="1"/>
              <a:t>Variabile</a:t>
            </a:r>
            <a:endParaRPr lang="en-US" b="1" dirty="0"/>
          </a:p>
        </p:txBody>
      </p:sp>
      <p:sp>
        <p:nvSpPr>
          <p:cNvPr id="3" name="Content Placeholder 2">
            <a:extLst>
              <a:ext uri="{FF2B5EF4-FFF2-40B4-BE49-F238E27FC236}">
                <a16:creationId xmlns:a16="http://schemas.microsoft.com/office/drawing/2014/main" id="{03BACC6A-9D5C-4302-AA04-7B37C3490FAF}"/>
              </a:ext>
            </a:extLst>
          </p:cNvPr>
          <p:cNvSpPr>
            <a:spLocks noGrp="1"/>
          </p:cNvSpPr>
          <p:nvPr>
            <p:ph idx="1"/>
          </p:nvPr>
        </p:nvSpPr>
        <p:spPr>
          <a:xfrm>
            <a:off x="1024129" y="1998921"/>
            <a:ext cx="8018271" cy="4023360"/>
          </a:xfrm>
        </p:spPr>
        <p:txBody>
          <a:bodyPr>
            <a:normAutofit/>
          </a:bodyPr>
          <a:lstStyle/>
          <a:p>
            <a:pPr>
              <a:lnSpc>
                <a:spcPct val="100000"/>
              </a:lnSpc>
              <a:spcBef>
                <a:spcPts val="600"/>
              </a:spcBef>
              <a:spcAft>
                <a:spcPts val="600"/>
              </a:spcAft>
            </a:pPr>
            <a:r>
              <a:rPr lang="ro-RO" sz="2400" dirty="0"/>
              <a:t>Variabilele în </a:t>
            </a:r>
            <a:r>
              <a:rPr lang="ro-RO" sz="2400" b="1" dirty="0" err="1"/>
              <a:t>JavaScript</a:t>
            </a:r>
            <a:r>
              <a:rPr lang="ro-RO" sz="2400" b="1" dirty="0"/>
              <a:t> </a:t>
            </a:r>
            <a:r>
              <a:rPr lang="ro-RO" sz="2400" dirty="0"/>
              <a:t>se declară cu </a:t>
            </a:r>
            <a:r>
              <a:rPr lang="ro-RO" sz="2400" b="1" dirty="0" err="1"/>
              <a:t>let</a:t>
            </a:r>
            <a:r>
              <a:rPr lang="ro-RO" sz="2400" dirty="0"/>
              <a:t> sau </a:t>
            </a:r>
            <a:r>
              <a:rPr lang="ro-RO" sz="2400" b="1" dirty="0" err="1"/>
              <a:t>const</a:t>
            </a:r>
            <a:endParaRPr lang="ro-RO" sz="2400" dirty="0"/>
          </a:p>
          <a:p>
            <a:pPr>
              <a:lnSpc>
                <a:spcPct val="100000"/>
              </a:lnSpc>
              <a:spcBef>
                <a:spcPts val="600"/>
              </a:spcBef>
              <a:spcAft>
                <a:spcPts val="600"/>
              </a:spcAft>
            </a:pPr>
            <a:r>
              <a:rPr lang="ro-RO" sz="2400" dirty="0"/>
              <a:t>Există două categorii de date:</a:t>
            </a:r>
          </a:p>
          <a:p>
            <a:pPr lvl="1">
              <a:lnSpc>
                <a:spcPct val="100000"/>
              </a:lnSpc>
              <a:spcBef>
                <a:spcPts val="600"/>
              </a:spcBef>
              <a:spcAft>
                <a:spcPts val="600"/>
              </a:spcAft>
            </a:pPr>
            <a:r>
              <a:rPr lang="ro-RO" sz="2000" b="1" dirty="0"/>
              <a:t>Primitive</a:t>
            </a:r>
            <a:r>
              <a:rPr lang="ro-RO" sz="2000" dirty="0"/>
              <a:t> (</a:t>
            </a:r>
            <a:r>
              <a:rPr lang="ro-RO" sz="2000" dirty="0" err="1"/>
              <a:t>string</a:t>
            </a:r>
            <a:r>
              <a:rPr lang="ro-RO" sz="2000" dirty="0"/>
              <a:t>, </a:t>
            </a:r>
            <a:r>
              <a:rPr lang="ro-RO" sz="2000" dirty="0" err="1"/>
              <a:t>number</a:t>
            </a:r>
            <a:r>
              <a:rPr lang="ro-RO" sz="2000" dirty="0"/>
              <a:t>, boolean, </a:t>
            </a:r>
            <a:r>
              <a:rPr lang="ro-RO" sz="2000" dirty="0" err="1"/>
              <a:t>undefined</a:t>
            </a:r>
            <a:r>
              <a:rPr lang="ro-RO" sz="2000" dirty="0"/>
              <a:t>, </a:t>
            </a:r>
            <a:r>
              <a:rPr lang="ro-RO" sz="2000" dirty="0" err="1"/>
              <a:t>symbol</a:t>
            </a:r>
            <a:r>
              <a:rPr lang="ro-RO" sz="2000" dirty="0"/>
              <a:t>)</a:t>
            </a:r>
          </a:p>
          <a:p>
            <a:pPr lvl="1">
              <a:lnSpc>
                <a:spcPct val="100000"/>
              </a:lnSpc>
              <a:spcBef>
                <a:spcPts val="600"/>
              </a:spcBef>
              <a:spcAft>
                <a:spcPts val="600"/>
              </a:spcAft>
            </a:pPr>
            <a:r>
              <a:rPr lang="ro-RO" sz="2000" b="1" dirty="0"/>
              <a:t>Complexe </a:t>
            </a:r>
            <a:r>
              <a:rPr lang="ro-RO" sz="2000" dirty="0"/>
              <a:t>(</a:t>
            </a:r>
            <a:r>
              <a:rPr lang="ro-RO" sz="2000" dirty="0" err="1"/>
              <a:t>object</a:t>
            </a:r>
            <a:r>
              <a:rPr lang="ro-RO" sz="2000" dirty="0"/>
              <a:t>, </a:t>
            </a:r>
            <a:r>
              <a:rPr lang="ro-RO" sz="2000" dirty="0" err="1"/>
              <a:t>function</a:t>
            </a:r>
            <a:r>
              <a:rPr lang="ro-RO" sz="2000" dirty="0"/>
              <a:t>)</a:t>
            </a:r>
          </a:p>
          <a:p>
            <a:pPr>
              <a:lnSpc>
                <a:spcPct val="100000"/>
              </a:lnSpc>
              <a:spcBef>
                <a:spcPts val="600"/>
              </a:spcBef>
              <a:spcAft>
                <a:spcPts val="600"/>
              </a:spcAft>
            </a:pPr>
            <a:r>
              <a:rPr lang="ro-RO" sz="2400" dirty="0"/>
              <a:t>Deoarece </a:t>
            </a:r>
            <a:r>
              <a:rPr lang="ro-RO" sz="2400" b="1" dirty="0"/>
              <a:t>JS</a:t>
            </a:r>
            <a:r>
              <a:rPr lang="ro-RO" sz="2400" dirty="0"/>
              <a:t> este dinamic și slab-</a:t>
            </a:r>
            <a:r>
              <a:rPr lang="ro-RO" sz="2400" dirty="0" err="1"/>
              <a:t>tipat</a:t>
            </a:r>
            <a:r>
              <a:rPr lang="ro-RO" sz="2400" dirty="0"/>
              <a:t>, tipurile de date nu se pun explicit</a:t>
            </a:r>
          </a:p>
          <a:p>
            <a:pPr>
              <a:lnSpc>
                <a:spcPct val="100000"/>
              </a:lnSpc>
              <a:spcBef>
                <a:spcPts val="600"/>
              </a:spcBef>
              <a:spcAft>
                <a:spcPts val="600"/>
              </a:spcAft>
            </a:pPr>
            <a:r>
              <a:rPr lang="ro-RO" sz="2400" b="1" dirty="0"/>
              <a:t>Șirurile de caractere</a:t>
            </a:r>
            <a:r>
              <a:rPr lang="ro-RO" sz="2400" dirty="0"/>
              <a:t> se pot defini utilizând “ sau ‘. </a:t>
            </a:r>
            <a:endParaRPr lang="ro-RO" sz="2400" b="1" dirty="0"/>
          </a:p>
        </p:txBody>
      </p:sp>
      <p:sp>
        <p:nvSpPr>
          <p:cNvPr id="8" name="Rectangle 7">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9183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9" name="Picture 138">
            <a:extLst>
              <a:ext uri="{FF2B5EF4-FFF2-40B4-BE49-F238E27FC236}">
                <a16:creationId xmlns:a16="http://schemas.microsoft.com/office/drawing/2014/main" id="{D4C07065-7E73-4E8D-8056-9D74FB424E40}"/>
              </a:ext>
            </a:extLst>
          </p:cNvPr>
          <p:cNvPicPr>
            <a:picLocks noChangeAspect="1"/>
          </p:cNvPicPr>
          <p:nvPr/>
        </p:nvPicPr>
        <p:blipFill>
          <a:blip r:embed="rId2"/>
          <a:stretch>
            <a:fillRect/>
          </a:stretch>
        </p:blipFill>
        <p:spPr>
          <a:xfrm>
            <a:off x="7802006" y="1004825"/>
            <a:ext cx="2464881" cy="5035778"/>
          </a:xfrm>
          <a:prstGeom prst="rect">
            <a:avLst/>
          </a:prstGeom>
        </p:spPr>
      </p:pic>
      <p:pic>
        <p:nvPicPr>
          <p:cNvPr id="138" name="Picture 137">
            <a:extLst>
              <a:ext uri="{FF2B5EF4-FFF2-40B4-BE49-F238E27FC236}">
                <a16:creationId xmlns:a16="http://schemas.microsoft.com/office/drawing/2014/main" id="{141CA653-1949-4DD3-A5E5-A03FE80BB42F}"/>
              </a:ext>
            </a:extLst>
          </p:cNvPr>
          <p:cNvPicPr>
            <a:picLocks noChangeAspect="1"/>
          </p:cNvPicPr>
          <p:nvPr/>
        </p:nvPicPr>
        <p:blipFill>
          <a:blip r:embed="rId3"/>
          <a:stretch>
            <a:fillRect/>
          </a:stretch>
        </p:blipFill>
        <p:spPr>
          <a:xfrm>
            <a:off x="482281" y="509488"/>
            <a:ext cx="3907715" cy="5868452"/>
          </a:xfrm>
          <a:prstGeom prst="rect">
            <a:avLst/>
          </a:prstGeom>
        </p:spPr>
      </p:pic>
      <p:cxnSp>
        <p:nvCxnSpPr>
          <p:cNvPr id="121" name="Straight Arrow Connector 120">
            <a:extLst>
              <a:ext uri="{FF2B5EF4-FFF2-40B4-BE49-F238E27FC236}">
                <a16:creationId xmlns:a16="http://schemas.microsoft.com/office/drawing/2014/main" id="{AB21EC4D-E713-4B7B-8E39-242E33695316}"/>
              </a:ext>
            </a:extLst>
          </p:cNvPr>
          <p:cNvCxnSpPr>
            <a:cxnSpLocks/>
          </p:cNvCxnSpPr>
          <p:nvPr/>
        </p:nvCxnSpPr>
        <p:spPr>
          <a:xfrm>
            <a:off x="3075839" y="818793"/>
            <a:ext cx="4600665" cy="48863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2" name="Straight Arrow Connector 121">
            <a:extLst>
              <a:ext uri="{FF2B5EF4-FFF2-40B4-BE49-F238E27FC236}">
                <a16:creationId xmlns:a16="http://schemas.microsoft.com/office/drawing/2014/main" id="{AFDA15E3-6502-4CDE-BCA2-7EB0A871347D}"/>
              </a:ext>
            </a:extLst>
          </p:cNvPr>
          <p:cNvCxnSpPr>
            <a:cxnSpLocks/>
          </p:cNvCxnSpPr>
          <p:nvPr/>
        </p:nvCxnSpPr>
        <p:spPr>
          <a:xfrm>
            <a:off x="3075839" y="1509110"/>
            <a:ext cx="4597490" cy="40448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4" name="Straight Arrow Connector 123">
            <a:extLst>
              <a:ext uri="{FF2B5EF4-FFF2-40B4-BE49-F238E27FC236}">
                <a16:creationId xmlns:a16="http://schemas.microsoft.com/office/drawing/2014/main" id="{B7CBF8D7-94EE-43F7-BCFD-D3606C4321DC}"/>
              </a:ext>
            </a:extLst>
          </p:cNvPr>
          <p:cNvCxnSpPr>
            <a:cxnSpLocks/>
          </p:cNvCxnSpPr>
          <p:nvPr/>
        </p:nvCxnSpPr>
        <p:spPr>
          <a:xfrm>
            <a:off x="3216442" y="2252830"/>
            <a:ext cx="4456887" cy="20963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6" name="Straight Arrow Connector 125">
            <a:extLst>
              <a:ext uri="{FF2B5EF4-FFF2-40B4-BE49-F238E27FC236}">
                <a16:creationId xmlns:a16="http://schemas.microsoft.com/office/drawing/2014/main" id="{55FEBE68-2C60-485C-9CE1-BA5A7521F010}"/>
              </a:ext>
            </a:extLst>
          </p:cNvPr>
          <p:cNvCxnSpPr>
            <a:cxnSpLocks/>
          </p:cNvCxnSpPr>
          <p:nvPr/>
        </p:nvCxnSpPr>
        <p:spPr>
          <a:xfrm>
            <a:off x="3442348" y="2877696"/>
            <a:ext cx="4230981" cy="6482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8" name="Straight Arrow Connector 127">
            <a:extLst>
              <a:ext uri="{FF2B5EF4-FFF2-40B4-BE49-F238E27FC236}">
                <a16:creationId xmlns:a16="http://schemas.microsoft.com/office/drawing/2014/main" id="{15B713EF-197A-4210-9502-5F292DBE4C53}"/>
              </a:ext>
            </a:extLst>
          </p:cNvPr>
          <p:cNvCxnSpPr>
            <a:cxnSpLocks/>
          </p:cNvCxnSpPr>
          <p:nvPr/>
        </p:nvCxnSpPr>
        <p:spPr>
          <a:xfrm flipV="1">
            <a:off x="3075839" y="3530440"/>
            <a:ext cx="4597490" cy="3904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0" name="Straight Arrow Connector 129">
            <a:extLst>
              <a:ext uri="{FF2B5EF4-FFF2-40B4-BE49-F238E27FC236}">
                <a16:creationId xmlns:a16="http://schemas.microsoft.com/office/drawing/2014/main" id="{2094324E-794D-4D49-A545-D5829B09E8E6}"/>
              </a:ext>
            </a:extLst>
          </p:cNvPr>
          <p:cNvCxnSpPr>
            <a:cxnSpLocks/>
          </p:cNvCxnSpPr>
          <p:nvPr/>
        </p:nvCxnSpPr>
        <p:spPr>
          <a:xfrm>
            <a:off x="4515498" y="4046027"/>
            <a:ext cx="315783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2" name="Straight Arrow Connector 131">
            <a:extLst>
              <a:ext uri="{FF2B5EF4-FFF2-40B4-BE49-F238E27FC236}">
                <a16:creationId xmlns:a16="http://schemas.microsoft.com/office/drawing/2014/main" id="{87A86DAE-8B11-4BF8-9BE9-90B76845B5F6}"/>
              </a:ext>
            </a:extLst>
          </p:cNvPr>
          <p:cNvCxnSpPr>
            <a:cxnSpLocks/>
          </p:cNvCxnSpPr>
          <p:nvPr/>
        </p:nvCxnSpPr>
        <p:spPr>
          <a:xfrm flipV="1">
            <a:off x="2815302" y="4659703"/>
            <a:ext cx="4858027" cy="25071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4" name="Straight Arrow Connector 133">
            <a:extLst>
              <a:ext uri="{FF2B5EF4-FFF2-40B4-BE49-F238E27FC236}">
                <a16:creationId xmlns:a16="http://schemas.microsoft.com/office/drawing/2014/main" id="{321F5256-48AA-4E27-9C91-6513827BBA16}"/>
              </a:ext>
            </a:extLst>
          </p:cNvPr>
          <p:cNvCxnSpPr>
            <a:cxnSpLocks/>
          </p:cNvCxnSpPr>
          <p:nvPr/>
        </p:nvCxnSpPr>
        <p:spPr>
          <a:xfrm flipV="1">
            <a:off x="2815302" y="5186335"/>
            <a:ext cx="4858027" cy="42038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3" name="Straight Arrow Connector 152">
            <a:extLst>
              <a:ext uri="{FF2B5EF4-FFF2-40B4-BE49-F238E27FC236}">
                <a16:creationId xmlns:a16="http://schemas.microsoft.com/office/drawing/2014/main" id="{99634329-315E-43E3-9D96-3E8C8A33475A}"/>
              </a:ext>
            </a:extLst>
          </p:cNvPr>
          <p:cNvCxnSpPr>
            <a:cxnSpLocks/>
          </p:cNvCxnSpPr>
          <p:nvPr/>
        </p:nvCxnSpPr>
        <p:spPr>
          <a:xfrm flipV="1">
            <a:off x="2879640" y="5814734"/>
            <a:ext cx="4858027" cy="42038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555893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4098" name="Rectangle 2">
            <a:extLst>
              <a:ext uri="{FF2B5EF4-FFF2-40B4-BE49-F238E27FC236}">
                <a16:creationId xmlns:a16="http://schemas.microsoft.com/office/drawing/2014/main" id="{E7724B42-5ACD-8245-8FF0-09E65A6AFB92}"/>
              </a:ext>
            </a:extLst>
          </p:cNvPr>
          <p:cNvSpPr>
            <a:spLocks noGrp="1" noChangeArrowheads="1"/>
          </p:cNvSpPr>
          <p:nvPr>
            <p:ph type="title"/>
          </p:nvPr>
        </p:nvSpPr>
        <p:spPr>
          <a:xfrm>
            <a:off x="1024128" y="585216"/>
            <a:ext cx="9720072" cy="1499616"/>
          </a:xfrm>
        </p:spPr>
        <p:txBody>
          <a:bodyPr vert="horz" lIns="91440" tIns="45720" rIns="91440" bIns="45720" rtlCol="0" anchor="ctr">
            <a:normAutofit/>
          </a:bodyPr>
          <a:lstStyle/>
          <a:p>
            <a:r>
              <a:rPr lang="en-US" b="1" dirty="0" err="1"/>
              <a:t>Operatori</a:t>
            </a:r>
            <a:r>
              <a:rPr lang="en-US" b="1" dirty="0"/>
              <a:t> (1)</a:t>
            </a:r>
          </a:p>
        </p:txBody>
      </p:sp>
      <p:sp>
        <p:nvSpPr>
          <p:cNvPr id="32769" name="Slide Number Placeholder 5">
            <a:extLst>
              <a:ext uri="{FF2B5EF4-FFF2-40B4-BE49-F238E27FC236}">
                <a16:creationId xmlns:a16="http://schemas.microsoft.com/office/drawing/2014/main" id="{FBB8812A-26CC-504D-A196-55BDDB881DC5}"/>
              </a:ext>
            </a:extLst>
          </p:cNvPr>
          <p:cNvSpPr>
            <a:spLocks noGrp="1"/>
          </p:cNvSpPr>
          <p:nvPr>
            <p:ph type="sldNum" sz="quarter" idx="12"/>
          </p:nvPr>
        </p:nvSpPr>
        <p:spPr>
          <a:xfrm>
            <a:off x="10837333" y="6470704"/>
            <a:ext cx="973667" cy="27432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90000"/>
              </a:lnSpc>
              <a:spcBef>
                <a:spcPct val="0"/>
              </a:spcBef>
              <a:spcAft>
                <a:spcPts val="600"/>
              </a:spcAft>
              <a:buFontTx/>
              <a:buNone/>
            </a:pPr>
            <a:fld id="{9E13D49B-CC5B-5E45-8971-24A2B57E4A23}" type="slidenum">
              <a:rPr lang="en-US" altLang="en-US" sz="1300"/>
              <a:pPr>
                <a:lnSpc>
                  <a:spcPct val="90000"/>
                </a:lnSpc>
                <a:spcBef>
                  <a:spcPct val="0"/>
                </a:spcBef>
                <a:spcAft>
                  <a:spcPts val="600"/>
                </a:spcAft>
                <a:buFontTx/>
                <a:buNone/>
              </a:pPr>
              <a:t>10</a:t>
            </a:fld>
            <a:endParaRPr lang="en-US" altLang="en-US" sz="1300"/>
          </a:p>
        </p:txBody>
      </p:sp>
      <p:graphicFrame>
        <p:nvGraphicFramePr>
          <p:cNvPr id="644100" name="Rectangle 3">
            <a:extLst>
              <a:ext uri="{FF2B5EF4-FFF2-40B4-BE49-F238E27FC236}">
                <a16:creationId xmlns:a16="http://schemas.microsoft.com/office/drawing/2014/main" id="{7CF74954-3289-581D-F0BB-DD37074C6E5D}"/>
              </a:ext>
            </a:extLst>
          </p:cNvPr>
          <p:cNvGraphicFramePr/>
          <p:nvPr>
            <p:extLst>
              <p:ext uri="{D42A27DB-BD31-4B8C-83A1-F6EECF244321}">
                <p14:modId xmlns:p14="http://schemas.microsoft.com/office/powerpoint/2010/main" val="2646624219"/>
              </p:ext>
            </p:extLst>
          </p:nvPr>
        </p:nvGraphicFramePr>
        <p:xfrm>
          <a:off x="1023938" y="2286000"/>
          <a:ext cx="9720262"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Number Placeholder 5">
            <a:extLst>
              <a:ext uri="{FF2B5EF4-FFF2-40B4-BE49-F238E27FC236}">
                <a16:creationId xmlns:a16="http://schemas.microsoft.com/office/drawing/2014/main" id="{FA983AF3-8D62-358A-4782-91D3FF6819A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92036AC6-7559-FE42-8E31-343C28644122}" type="slidenum">
              <a:rPr lang="en-US" altLang="en-US" sz="900" smtClean="0">
                <a:solidFill>
                  <a:schemeClr val="bg1"/>
                </a:solidFill>
              </a:rPr>
              <a:pPr>
                <a:spcBef>
                  <a:spcPct val="0"/>
                </a:spcBef>
                <a:buFontTx/>
                <a:buNone/>
              </a:pPr>
              <a:t>11</a:t>
            </a:fld>
            <a:endParaRPr lang="en-US" altLang="en-US" sz="900">
              <a:solidFill>
                <a:schemeClr val="bg1"/>
              </a:solidFill>
            </a:endParaRPr>
          </a:p>
        </p:txBody>
      </p:sp>
      <p:sp>
        <p:nvSpPr>
          <p:cNvPr id="645122" name="Rectangle 2">
            <a:extLst>
              <a:ext uri="{FF2B5EF4-FFF2-40B4-BE49-F238E27FC236}">
                <a16:creationId xmlns:a16="http://schemas.microsoft.com/office/drawing/2014/main" id="{F1EA5324-8C01-0942-BD48-D401C1A2B2C2}"/>
              </a:ext>
            </a:extLst>
          </p:cNvPr>
          <p:cNvSpPr>
            <a:spLocks noGrp="1" noChangeArrowheads="1"/>
          </p:cNvSpPr>
          <p:nvPr>
            <p:ph type="title"/>
          </p:nvPr>
        </p:nvSpPr>
        <p:spPr/>
        <p:txBody>
          <a:bodyPr vert="horz" lIns="91440" tIns="45720" rIns="91440" bIns="45720" rtlCol="0" anchor="ctr">
            <a:normAutofit/>
          </a:bodyPr>
          <a:lstStyle/>
          <a:p>
            <a:r>
              <a:rPr lang="en-US" b="1" dirty="0" err="1"/>
              <a:t>Operatori</a:t>
            </a:r>
            <a:r>
              <a:rPr lang="en-US" b="1" dirty="0"/>
              <a:t> (2)</a:t>
            </a:r>
          </a:p>
        </p:txBody>
      </p:sp>
      <p:sp>
        <p:nvSpPr>
          <p:cNvPr id="33795" name="Rectangle 3">
            <a:extLst>
              <a:ext uri="{FF2B5EF4-FFF2-40B4-BE49-F238E27FC236}">
                <a16:creationId xmlns:a16="http://schemas.microsoft.com/office/drawing/2014/main" id="{A41DD9FC-2E38-3B75-F037-28E9BBDAB0A1}"/>
              </a:ext>
            </a:extLst>
          </p:cNvPr>
          <p:cNvSpPr>
            <a:spLocks noGrp="1" noChangeArrowheads="1"/>
          </p:cNvSpPr>
          <p:nvPr>
            <p:ph type="body" idx="1"/>
          </p:nvPr>
        </p:nvSpPr>
        <p:spPr>
          <a:xfrm>
            <a:off x="1024128" y="1822803"/>
            <a:ext cx="9262872" cy="5334000"/>
          </a:xfrm>
        </p:spPr>
        <p:txBody>
          <a:bodyPr>
            <a:normAutofit/>
          </a:bodyPr>
          <a:lstStyle/>
          <a:p>
            <a:pPr eaLnBrk="1" hangingPunct="1">
              <a:lnSpc>
                <a:spcPct val="100000"/>
              </a:lnSpc>
              <a:spcBef>
                <a:spcPts val="600"/>
              </a:spcBef>
              <a:spcAft>
                <a:spcPts val="600"/>
              </a:spcAft>
            </a:pPr>
            <a:r>
              <a:rPr lang="ro-RO" altLang="en-US" sz="2800" dirty="0"/>
              <a:t>Concatenare de </a:t>
            </a:r>
            <a:r>
              <a:rPr lang="ro-RO" altLang="en-US" sz="2800" dirty="0" err="1"/>
              <a:t>string</a:t>
            </a:r>
            <a:r>
              <a:rPr lang="ro-RO" altLang="en-US" sz="2800" dirty="0"/>
              <a:t>-uri: </a:t>
            </a:r>
            <a:r>
              <a:rPr lang="ro-RO" altLang="en-US" sz="2800" dirty="0">
                <a:solidFill>
                  <a:schemeClr val="accent2"/>
                </a:solidFill>
                <a:latin typeface="Trebuchet MS" panose="020B0703020202090204" pitchFamily="34" charset="0"/>
              </a:rPr>
              <a:t>+</a:t>
            </a:r>
          </a:p>
          <a:p>
            <a:pPr eaLnBrk="1" hangingPunct="1">
              <a:lnSpc>
                <a:spcPct val="100000"/>
              </a:lnSpc>
              <a:spcBef>
                <a:spcPts val="600"/>
              </a:spcBef>
              <a:spcAft>
                <a:spcPts val="600"/>
              </a:spcAft>
            </a:pPr>
            <a:r>
              <a:rPr lang="ro-RO" altLang="en-US" sz="2800" dirty="0"/>
              <a:t>Operatorul </a:t>
            </a:r>
            <a:r>
              <a:rPr lang="ro-RO" altLang="en-US" sz="2800" dirty="0" err="1"/>
              <a:t>condițiomal</a:t>
            </a:r>
            <a:r>
              <a:rPr lang="ro-RO" altLang="en-US" sz="2800" dirty="0"/>
              <a:t>:</a:t>
            </a:r>
            <a:br>
              <a:rPr lang="ro-RO" altLang="en-US" sz="2800" dirty="0"/>
            </a:br>
            <a:r>
              <a:rPr lang="ro-RO" altLang="en-US" sz="2800" dirty="0"/>
              <a:t>   </a:t>
            </a:r>
            <a:r>
              <a:rPr lang="ro-RO" altLang="en-US" sz="2800" dirty="0">
                <a:solidFill>
                  <a:schemeClr val="accent2"/>
                </a:solidFill>
              </a:rPr>
              <a:t>  </a:t>
            </a:r>
            <a:r>
              <a:rPr lang="ro-RO" altLang="en-US" sz="2800" dirty="0" err="1">
                <a:solidFill>
                  <a:schemeClr val="accent2"/>
                </a:solidFill>
                <a:latin typeface="Trebuchet MS" panose="020B0703020202090204" pitchFamily="34" charset="0"/>
              </a:rPr>
              <a:t>condition</a:t>
            </a:r>
            <a:r>
              <a:rPr lang="ro-RO" altLang="en-US" sz="2800" dirty="0">
                <a:solidFill>
                  <a:schemeClr val="accent2"/>
                </a:solidFill>
                <a:latin typeface="Trebuchet MS" panose="020B0703020202090204" pitchFamily="34" charset="0"/>
              </a:rPr>
              <a:t> </a:t>
            </a:r>
            <a:r>
              <a:rPr lang="ro-RO" altLang="en-US" sz="2800" dirty="0">
                <a:solidFill>
                  <a:srgbClr val="FF0000"/>
                </a:solidFill>
                <a:latin typeface="Trebuchet MS" panose="020B0703020202090204" pitchFamily="34" charset="0"/>
              </a:rPr>
              <a:t>?</a:t>
            </a:r>
            <a:r>
              <a:rPr lang="ro-RO" altLang="en-US" sz="2800" dirty="0">
                <a:solidFill>
                  <a:schemeClr val="accent2"/>
                </a:solidFill>
                <a:latin typeface="Trebuchet MS" panose="020B0703020202090204" pitchFamily="34" charset="0"/>
              </a:rPr>
              <a:t> </a:t>
            </a:r>
            <a:r>
              <a:rPr lang="ro-RO" altLang="en-US" sz="2800" dirty="0" err="1">
                <a:solidFill>
                  <a:schemeClr val="accent2"/>
                </a:solidFill>
                <a:latin typeface="Trebuchet MS" panose="020B0703020202090204" pitchFamily="34" charset="0"/>
              </a:rPr>
              <a:t>value_if_true</a:t>
            </a:r>
            <a:r>
              <a:rPr lang="ro-RO" altLang="en-US" sz="2800" dirty="0">
                <a:solidFill>
                  <a:schemeClr val="accent2"/>
                </a:solidFill>
                <a:latin typeface="Trebuchet MS" panose="020B0703020202090204" pitchFamily="34" charset="0"/>
              </a:rPr>
              <a:t> </a:t>
            </a:r>
            <a:r>
              <a:rPr lang="ro-RO" altLang="en-US" sz="2800" dirty="0">
                <a:solidFill>
                  <a:srgbClr val="FF0000"/>
                </a:solidFill>
                <a:latin typeface="Trebuchet MS" panose="020B0703020202090204" pitchFamily="34" charset="0"/>
              </a:rPr>
              <a:t>:</a:t>
            </a:r>
            <a:r>
              <a:rPr lang="ro-RO" altLang="en-US" sz="2800" dirty="0">
                <a:solidFill>
                  <a:schemeClr val="accent2"/>
                </a:solidFill>
                <a:latin typeface="Trebuchet MS" panose="020B0703020202090204" pitchFamily="34" charset="0"/>
              </a:rPr>
              <a:t> </a:t>
            </a:r>
            <a:r>
              <a:rPr lang="ro-RO" altLang="en-US" sz="2800" dirty="0" err="1">
                <a:solidFill>
                  <a:schemeClr val="accent2"/>
                </a:solidFill>
                <a:latin typeface="Trebuchet MS" panose="020B0703020202090204" pitchFamily="34" charset="0"/>
              </a:rPr>
              <a:t>value_if_false</a:t>
            </a:r>
            <a:endParaRPr lang="ro-RO" altLang="en-US" sz="2800" dirty="0">
              <a:solidFill>
                <a:schemeClr val="accent2"/>
              </a:solidFill>
              <a:latin typeface="Trebuchet MS" panose="020B0703020202090204" pitchFamily="34" charset="0"/>
            </a:endParaRPr>
          </a:p>
          <a:p>
            <a:pPr eaLnBrk="1" hangingPunct="1">
              <a:lnSpc>
                <a:spcPct val="100000"/>
              </a:lnSpc>
              <a:spcBef>
                <a:spcPts val="600"/>
              </a:spcBef>
              <a:spcAft>
                <a:spcPts val="600"/>
              </a:spcAft>
            </a:pPr>
            <a:r>
              <a:rPr lang="ro-RO" altLang="en-US" sz="2800" dirty="0"/>
              <a:t>Teste de egalitate:</a:t>
            </a:r>
          </a:p>
          <a:p>
            <a:pPr marL="310896" lvl="2" indent="0">
              <a:lnSpc>
                <a:spcPct val="100000"/>
              </a:lnSpc>
              <a:spcBef>
                <a:spcPts val="600"/>
              </a:spcBef>
              <a:spcAft>
                <a:spcPts val="600"/>
              </a:spcAft>
              <a:buNone/>
            </a:pPr>
            <a:r>
              <a:rPr lang="ro-RO" altLang="en-US" sz="2000" dirty="0">
                <a:solidFill>
                  <a:schemeClr val="accent2"/>
                </a:solidFill>
                <a:latin typeface="Trebuchet MS" panose="020B0703020202090204" pitchFamily="34" charset="0"/>
              </a:rPr>
              <a:t>==</a:t>
            </a:r>
            <a:r>
              <a:rPr lang="ro-RO" altLang="en-US" sz="2000" dirty="0">
                <a:solidFill>
                  <a:srgbClr val="FFFF7F"/>
                </a:solidFill>
                <a:latin typeface="Trebuchet MS" panose="020B0703020202090204" pitchFamily="34" charset="0"/>
              </a:rPr>
              <a:t> </a:t>
            </a:r>
            <a:r>
              <a:rPr lang="ro-RO" altLang="en-US" sz="2000" dirty="0">
                <a:latin typeface="Trebuchet MS" panose="020B0703020202090204" pitchFamily="34" charset="0"/>
              </a:rPr>
              <a:t>și </a:t>
            </a:r>
            <a:r>
              <a:rPr lang="ro-RO" altLang="en-US" sz="2000" dirty="0">
                <a:solidFill>
                  <a:schemeClr val="accent2"/>
                </a:solidFill>
                <a:latin typeface="Trebuchet MS" panose="020B0703020202090204" pitchFamily="34" charset="0"/>
              </a:rPr>
              <a:t>!=</a:t>
            </a:r>
            <a:r>
              <a:rPr lang="ro-RO" altLang="en-US" sz="2000" dirty="0">
                <a:solidFill>
                  <a:srgbClr val="FFFF7F"/>
                </a:solidFill>
                <a:latin typeface="Trebuchet MS" panose="020B0703020202090204" pitchFamily="34" charset="0"/>
              </a:rPr>
              <a:t> </a:t>
            </a:r>
            <a:r>
              <a:rPr lang="ro-RO" altLang="en-US" sz="2000" dirty="0">
                <a:latin typeface="Trebuchet MS" panose="020B0703020202090204" pitchFamily="34" charset="0"/>
              </a:rPr>
              <a:t>încearcă convertirea operatorilor la același tip înaintea efectuării testului</a:t>
            </a:r>
            <a:endParaRPr lang="ro-RO" altLang="en-US" sz="2000" dirty="0"/>
          </a:p>
          <a:p>
            <a:pPr marL="128016" lvl="1" indent="0" eaLnBrk="1" hangingPunct="1">
              <a:lnSpc>
                <a:spcPct val="100000"/>
              </a:lnSpc>
              <a:spcBef>
                <a:spcPts val="600"/>
              </a:spcBef>
              <a:spcAft>
                <a:spcPts val="600"/>
              </a:spcAft>
              <a:buNone/>
            </a:pPr>
            <a:r>
              <a:rPr lang="ro-RO" altLang="en-US" sz="2400" b="1" dirty="0"/>
              <a:t>Nu ca în C sau Java:</a:t>
            </a:r>
            <a:r>
              <a:rPr lang="ro-RO" altLang="en-US" sz="2400" dirty="0">
                <a:solidFill>
                  <a:schemeClr val="accent2"/>
                </a:solidFill>
                <a:latin typeface="Trebuchet MS" panose="020B0703020202090204" pitchFamily="34" charset="0"/>
              </a:rPr>
              <a:t> ===</a:t>
            </a:r>
            <a:r>
              <a:rPr lang="ro-RO" altLang="en-US" sz="2400" dirty="0">
                <a:solidFill>
                  <a:srgbClr val="FFFF7F"/>
                </a:solidFill>
                <a:latin typeface="Trebuchet MS" panose="020B0703020202090204" pitchFamily="34" charset="0"/>
              </a:rPr>
              <a:t> </a:t>
            </a:r>
            <a:r>
              <a:rPr lang="ro-RO" altLang="en-US" sz="2400" dirty="0"/>
              <a:t>și</a:t>
            </a:r>
            <a:r>
              <a:rPr lang="ro-RO" altLang="en-US" sz="2400" dirty="0">
                <a:solidFill>
                  <a:srgbClr val="FFFF7F"/>
                </a:solidFill>
                <a:latin typeface="Trebuchet MS" panose="020B0703020202090204" pitchFamily="34" charset="0"/>
              </a:rPr>
              <a:t> </a:t>
            </a:r>
            <a:r>
              <a:rPr lang="ro-RO" altLang="en-US" sz="2400" dirty="0">
                <a:solidFill>
                  <a:schemeClr val="accent2"/>
                </a:solidFill>
                <a:latin typeface="Trebuchet MS" panose="020B0703020202090204" pitchFamily="34" charset="0"/>
              </a:rPr>
              <a:t>!==</a:t>
            </a:r>
            <a:r>
              <a:rPr lang="ro-RO" altLang="en-US" sz="2400" dirty="0">
                <a:solidFill>
                  <a:srgbClr val="FFFF7F"/>
                </a:solidFill>
                <a:latin typeface="Trebuchet MS" panose="020B0703020202090204" pitchFamily="34" charset="0"/>
              </a:rPr>
              <a:t> </a:t>
            </a:r>
            <a:r>
              <a:rPr lang="ro-RO" altLang="en-US" sz="2400" dirty="0">
                <a:latin typeface="Trebuchet MS" panose="020B0703020202090204" pitchFamily="34" charset="0"/>
              </a:rPr>
              <a:t>consideră operanzii </a:t>
            </a:r>
            <a:r>
              <a:rPr lang="ro-RO" altLang="en-US" sz="2400" i="1" dirty="0">
                <a:latin typeface="Trebuchet MS" panose="020B0703020202090204" pitchFamily="34" charset="0"/>
              </a:rPr>
              <a:t>inegali </a:t>
            </a:r>
            <a:r>
              <a:rPr lang="ro-RO" altLang="en-US" sz="2400" dirty="0">
                <a:latin typeface="Trebuchet MS" panose="020B0703020202090204" pitchFamily="34" charset="0"/>
              </a:rPr>
              <a:t>dacă aceștia sunt de tipuri diferite</a:t>
            </a:r>
            <a:endParaRPr lang="ro-RO" altLang="en-US" sz="2400" dirty="0"/>
          </a:p>
          <a:p>
            <a:pPr eaLnBrk="1" hangingPunct="1">
              <a:lnSpc>
                <a:spcPct val="100000"/>
              </a:lnSpc>
              <a:spcBef>
                <a:spcPts val="600"/>
              </a:spcBef>
              <a:spcAft>
                <a:spcPts val="600"/>
              </a:spcAft>
            </a:pPr>
            <a:r>
              <a:rPr lang="ro-RO" altLang="en-US" sz="2800" dirty="0"/>
              <a:t>Operatori suplimentari:</a:t>
            </a:r>
            <a:br>
              <a:rPr lang="ro-RO" altLang="en-US" sz="2800" dirty="0"/>
            </a:br>
            <a:r>
              <a:rPr lang="ro-RO" altLang="en-US" sz="2800" dirty="0"/>
              <a:t>	</a:t>
            </a:r>
            <a:r>
              <a:rPr lang="ro-RO" altLang="en-US" sz="2800" dirty="0" err="1">
                <a:solidFill>
                  <a:schemeClr val="accent2"/>
                </a:solidFill>
                <a:latin typeface="Trebuchet MS" panose="020B0703020202090204" pitchFamily="34" charset="0"/>
              </a:rPr>
              <a:t>new</a:t>
            </a:r>
            <a:r>
              <a:rPr lang="ro-RO" altLang="en-US" sz="2800" dirty="0">
                <a:solidFill>
                  <a:schemeClr val="accent2"/>
                </a:solidFill>
                <a:latin typeface="Trebuchet MS" panose="020B0703020202090204" pitchFamily="34" charset="0"/>
              </a:rPr>
              <a:t>     </a:t>
            </a:r>
            <a:r>
              <a:rPr lang="ro-RO" altLang="en-US" sz="2800" dirty="0" err="1">
                <a:solidFill>
                  <a:schemeClr val="accent2"/>
                </a:solidFill>
                <a:latin typeface="Trebuchet MS" panose="020B0703020202090204" pitchFamily="34" charset="0"/>
              </a:rPr>
              <a:t>typeof</a:t>
            </a:r>
            <a:r>
              <a:rPr lang="ro-RO" altLang="en-US" sz="2800" dirty="0">
                <a:solidFill>
                  <a:schemeClr val="accent2"/>
                </a:solidFill>
                <a:latin typeface="Trebuchet MS" panose="020B0703020202090204" pitchFamily="34" charset="0"/>
              </a:rPr>
              <a:t>     </a:t>
            </a:r>
            <a:r>
              <a:rPr lang="ro-RO" altLang="en-US" sz="2800" dirty="0" err="1">
                <a:solidFill>
                  <a:schemeClr val="accent2"/>
                </a:solidFill>
                <a:latin typeface="Trebuchet MS" panose="020B0703020202090204" pitchFamily="34" charset="0"/>
              </a:rPr>
              <a:t>void</a:t>
            </a:r>
            <a:r>
              <a:rPr lang="ro-RO" altLang="en-US" sz="2800" dirty="0">
                <a:solidFill>
                  <a:schemeClr val="accent2"/>
                </a:solidFill>
                <a:latin typeface="Trebuchet MS" panose="020B0703020202090204" pitchFamily="34" charset="0"/>
              </a:rPr>
              <a:t>     </a:t>
            </a:r>
            <a:r>
              <a:rPr lang="ro-RO" altLang="en-US" sz="2800" dirty="0" err="1">
                <a:solidFill>
                  <a:schemeClr val="accent2"/>
                </a:solidFill>
                <a:latin typeface="Trebuchet MS" panose="020B0703020202090204" pitchFamily="34" charset="0"/>
              </a:rPr>
              <a:t>delete</a:t>
            </a:r>
            <a:endParaRPr lang="ro-RO" altLang="en-US" sz="2800" dirty="0">
              <a:solidFill>
                <a:schemeClr val="accent2"/>
              </a:solidFill>
            </a:endParaRPr>
          </a:p>
          <a:p>
            <a:pPr eaLnBrk="1" hangingPunct="1">
              <a:lnSpc>
                <a:spcPct val="100000"/>
              </a:lnSpc>
              <a:spcBef>
                <a:spcPts val="600"/>
              </a:spcBef>
              <a:spcAft>
                <a:spcPts val="600"/>
              </a:spcAft>
            </a:pPr>
            <a:endParaRPr lang="ro-RO" altLang="en-US" sz="2800" dirty="0"/>
          </a:p>
        </p:txBody>
      </p:sp>
      <p:sp>
        <p:nvSpPr>
          <p:cNvPr id="33796" name="Footer Placeholder 4">
            <a:extLst>
              <a:ext uri="{FF2B5EF4-FFF2-40B4-BE49-F238E27FC236}">
                <a16:creationId xmlns:a16="http://schemas.microsoft.com/office/drawing/2014/main" id="{8AEB3778-FF7D-90C4-0C20-0984A35F5A3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900">
                <a:solidFill>
                  <a:schemeClr val="bg1"/>
                </a:solidFill>
              </a:rPr>
              <a:t>Curs Programare Web, anul 4 C5 – Curs 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45EF7C7-5117-4987-975D-B2CFE8FDCB56}"/>
              </a:ext>
            </a:extLst>
          </p:cNvPr>
          <p:cNvPicPr>
            <a:picLocks noChangeAspect="1"/>
          </p:cNvPicPr>
          <p:nvPr/>
        </p:nvPicPr>
        <p:blipFill>
          <a:blip r:embed="rId2"/>
          <a:stretch>
            <a:fillRect/>
          </a:stretch>
        </p:blipFill>
        <p:spPr>
          <a:xfrm>
            <a:off x="671956" y="350168"/>
            <a:ext cx="4597876" cy="6157663"/>
          </a:xfrm>
          <a:prstGeom prst="rect">
            <a:avLst/>
          </a:prstGeom>
        </p:spPr>
      </p:pic>
      <p:pic>
        <p:nvPicPr>
          <p:cNvPr id="5" name="Content Placeholder 4" descr="A picture containing toy, different, young, sitting&#10;&#10;Description automatically generated">
            <a:extLst>
              <a:ext uri="{FF2B5EF4-FFF2-40B4-BE49-F238E27FC236}">
                <a16:creationId xmlns:a16="http://schemas.microsoft.com/office/drawing/2014/main" id="{4D4BEFAF-B100-4187-B2C4-DA907ABCF703}"/>
              </a:ext>
            </a:extLst>
          </p:cNvPr>
          <p:cNvPicPr>
            <a:picLocks noChangeAspect="1"/>
          </p:cNvPicPr>
          <p:nvPr/>
        </p:nvPicPr>
        <p:blipFill rotWithShape="1">
          <a:blip r:embed="rId3"/>
          <a:srcRect r="-2" b="2734"/>
          <a:stretch/>
        </p:blipFill>
        <p:spPr>
          <a:xfrm>
            <a:off x="7408507" y="80932"/>
            <a:ext cx="4525346" cy="6694349"/>
          </a:xfrm>
          <a:prstGeom prst="rect">
            <a:avLst/>
          </a:prstGeom>
        </p:spPr>
      </p:pic>
    </p:spTree>
    <p:extLst>
      <p:ext uri="{BB962C8B-B14F-4D97-AF65-F5344CB8AC3E}">
        <p14:creationId xmlns:p14="http://schemas.microsoft.com/office/powerpoint/2010/main" val="1428640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3">
            <a:extLst>
              <a:ext uri="{FF2B5EF4-FFF2-40B4-BE49-F238E27FC236}">
                <a16:creationId xmlns:a16="http://schemas.microsoft.com/office/drawing/2014/main" id="{98FE9BC4-F224-B398-94D6-31BBC5A88256}"/>
              </a:ext>
            </a:extLst>
          </p:cNvPr>
          <p:cNvSpPr>
            <a:spLocks noGrp="1" noChangeArrowheads="1"/>
          </p:cNvSpPr>
          <p:nvPr>
            <p:ph type="body" idx="1"/>
          </p:nvPr>
        </p:nvSpPr>
        <p:spPr>
          <a:xfrm>
            <a:off x="1024128" y="1610768"/>
            <a:ext cx="10670628" cy="5334000"/>
          </a:xfrm>
        </p:spPr>
        <p:txBody>
          <a:bodyPr/>
          <a:lstStyle/>
          <a:p>
            <a:pPr>
              <a:lnSpc>
                <a:spcPct val="100000"/>
              </a:lnSpc>
              <a:spcBef>
                <a:spcPts val="600"/>
              </a:spcBef>
              <a:spcAft>
                <a:spcPts val="600"/>
              </a:spcAft>
            </a:pPr>
            <a:r>
              <a:rPr lang="ro-RO" altLang="en-US" sz="2800" dirty="0"/>
              <a:t>Majoritatea sintaxelor de instrucțiuni </a:t>
            </a:r>
            <a:r>
              <a:rPr lang="ro-RO" altLang="en-US" sz="2800" dirty="0" err="1"/>
              <a:t>JavaScript</a:t>
            </a:r>
            <a:r>
              <a:rPr lang="ro-RO" altLang="en-US" sz="2800" dirty="0"/>
              <a:t> sunt împrumutate din C</a:t>
            </a:r>
          </a:p>
          <a:p>
            <a:pPr lvl="1">
              <a:lnSpc>
                <a:spcPct val="100000"/>
              </a:lnSpc>
              <a:spcBef>
                <a:spcPts val="600"/>
              </a:spcBef>
              <a:spcAft>
                <a:spcPts val="600"/>
              </a:spcAft>
            </a:pPr>
            <a:r>
              <a:rPr lang="ro-RO" altLang="en-US" sz="2400" dirty="0"/>
              <a:t>Atribuirea: </a:t>
            </a:r>
            <a:r>
              <a:rPr lang="ro-RO" altLang="en-US" sz="2400" dirty="0" err="1">
                <a:solidFill>
                  <a:schemeClr val="accent2"/>
                </a:solidFill>
                <a:latin typeface="Trebuchet MS" panose="020B0703020202090204" pitchFamily="34" charset="0"/>
              </a:rPr>
              <a:t>greeting</a:t>
            </a:r>
            <a:r>
              <a:rPr lang="ro-RO" altLang="en-US" sz="2400" dirty="0">
                <a:solidFill>
                  <a:schemeClr val="accent2"/>
                </a:solidFill>
                <a:latin typeface="Trebuchet MS" panose="020B0703020202090204" pitchFamily="34" charset="0"/>
              </a:rPr>
              <a:t> = "</a:t>
            </a:r>
            <a:r>
              <a:rPr lang="ro-RO" altLang="en-US" sz="2400" dirty="0" err="1">
                <a:solidFill>
                  <a:schemeClr val="accent2"/>
                </a:solidFill>
                <a:latin typeface="Trebuchet MS" panose="020B0703020202090204" pitchFamily="34" charset="0"/>
              </a:rPr>
              <a:t>Hello</a:t>
            </a:r>
            <a:r>
              <a:rPr lang="ro-RO" altLang="en-US" sz="2400" dirty="0">
                <a:solidFill>
                  <a:schemeClr val="accent2"/>
                </a:solidFill>
                <a:latin typeface="Trebuchet MS" panose="020B0703020202090204" pitchFamily="34" charset="0"/>
              </a:rPr>
              <a:t>, " + </a:t>
            </a:r>
            <a:r>
              <a:rPr lang="ro-RO" altLang="en-US" sz="2400" dirty="0" err="1">
                <a:solidFill>
                  <a:schemeClr val="accent2"/>
                </a:solidFill>
                <a:latin typeface="Trebuchet MS" panose="020B0703020202090204" pitchFamily="34" charset="0"/>
              </a:rPr>
              <a:t>name</a:t>
            </a:r>
            <a:r>
              <a:rPr lang="ro-RO" altLang="en-US" sz="2400" dirty="0">
                <a:solidFill>
                  <a:schemeClr val="accent2"/>
                </a:solidFill>
                <a:latin typeface="Trebuchet MS" panose="020B0703020202090204" pitchFamily="34" charset="0"/>
              </a:rPr>
              <a:t>;</a:t>
            </a:r>
            <a:endParaRPr lang="ro-RO" altLang="en-US" sz="2400" dirty="0">
              <a:solidFill>
                <a:schemeClr val="accent2"/>
              </a:solidFill>
            </a:endParaRPr>
          </a:p>
          <a:p>
            <a:pPr lvl="1">
              <a:lnSpc>
                <a:spcPct val="100000"/>
              </a:lnSpc>
              <a:spcBef>
                <a:spcPts val="600"/>
              </a:spcBef>
              <a:spcAft>
                <a:spcPts val="600"/>
              </a:spcAft>
            </a:pPr>
            <a:r>
              <a:rPr lang="ro-RO" altLang="en-US" sz="2400" dirty="0"/>
              <a:t>Instrucțiunea compusă:</a:t>
            </a:r>
          </a:p>
          <a:p>
            <a:pPr lvl="1">
              <a:lnSpc>
                <a:spcPct val="100000"/>
              </a:lnSpc>
              <a:spcBef>
                <a:spcPts val="600"/>
              </a:spcBef>
              <a:spcAft>
                <a:spcPts val="600"/>
              </a:spcAft>
              <a:buNone/>
            </a:pPr>
            <a:r>
              <a:rPr lang="ro-RO" altLang="en-US" sz="2400" dirty="0">
                <a:solidFill>
                  <a:srgbClr val="FF0000"/>
                </a:solidFill>
                <a:latin typeface="Trebuchet MS" panose="020B0703020202090204" pitchFamily="34" charset="0"/>
              </a:rPr>
              <a:t>		{</a:t>
            </a:r>
            <a:r>
              <a:rPr lang="ro-RO" altLang="en-US" sz="2400" dirty="0">
                <a:solidFill>
                  <a:schemeClr val="accent2"/>
                </a:solidFill>
                <a:latin typeface="Trebuchet MS" panose="020B0703020202090204" pitchFamily="34" charset="0"/>
              </a:rPr>
              <a:t> </a:t>
            </a:r>
            <a:r>
              <a:rPr lang="ro-RO" altLang="en-US" sz="2400" b="1" i="1" dirty="0" err="1">
                <a:solidFill>
                  <a:schemeClr val="hlink"/>
                </a:solidFill>
              </a:rPr>
              <a:t>statement</a:t>
            </a:r>
            <a:r>
              <a:rPr lang="ro-RO" altLang="en-US" sz="2400" dirty="0">
                <a:solidFill>
                  <a:schemeClr val="accent2"/>
                </a:solidFill>
                <a:latin typeface="Trebuchet MS" panose="020B0703020202090204" pitchFamily="34" charset="0"/>
              </a:rPr>
              <a:t>; </a:t>
            </a:r>
            <a:r>
              <a:rPr lang="ro-RO" altLang="en-US" sz="2400" b="1" i="1" dirty="0">
                <a:solidFill>
                  <a:schemeClr val="hlink"/>
                </a:solidFill>
              </a:rPr>
              <a:t>...</a:t>
            </a:r>
            <a:r>
              <a:rPr lang="ro-RO" altLang="en-US" sz="2400" dirty="0">
                <a:solidFill>
                  <a:schemeClr val="accent2"/>
                </a:solidFill>
                <a:latin typeface="Trebuchet MS" panose="020B0703020202090204" pitchFamily="34" charset="0"/>
              </a:rPr>
              <a:t>; </a:t>
            </a:r>
            <a:r>
              <a:rPr lang="ro-RO" altLang="en-US" sz="2400" b="1" i="1" dirty="0" err="1">
                <a:solidFill>
                  <a:schemeClr val="hlink"/>
                </a:solidFill>
              </a:rPr>
              <a:t>statement</a:t>
            </a:r>
            <a:r>
              <a:rPr lang="ro-RO" altLang="en-US" sz="2400" b="1" i="1" dirty="0">
                <a:solidFill>
                  <a:schemeClr val="hlink"/>
                </a:solidFill>
              </a:rPr>
              <a:t> </a:t>
            </a:r>
            <a:r>
              <a:rPr lang="ro-RO" altLang="en-US" sz="2400" dirty="0">
                <a:solidFill>
                  <a:srgbClr val="FF0000"/>
                </a:solidFill>
                <a:latin typeface="Trebuchet MS" panose="020B0703020202090204" pitchFamily="34" charset="0"/>
              </a:rPr>
              <a:t>}</a:t>
            </a:r>
            <a:endParaRPr lang="ro-RO" altLang="en-US" sz="2400" dirty="0">
              <a:solidFill>
                <a:srgbClr val="FF0000"/>
              </a:solidFill>
            </a:endParaRPr>
          </a:p>
          <a:p>
            <a:pPr lvl="1">
              <a:lnSpc>
                <a:spcPct val="100000"/>
              </a:lnSpc>
              <a:spcBef>
                <a:spcPts val="600"/>
              </a:spcBef>
              <a:spcAft>
                <a:spcPts val="600"/>
              </a:spcAft>
            </a:pPr>
            <a:r>
              <a:rPr lang="ro-RO" altLang="en-US" sz="2400" dirty="0"/>
              <a:t>Instrucțiunea </a:t>
            </a:r>
            <a:r>
              <a:rPr lang="ro-RO" altLang="en-US" sz="2400" dirty="0" err="1"/>
              <a:t>If</a:t>
            </a:r>
            <a:r>
              <a:rPr lang="ro-RO" altLang="en-US" sz="2400" dirty="0"/>
              <a:t>:</a:t>
            </a:r>
            <a:br>
              <a:rPr lang="ro-RO" altLang="en-US" sz="2400" dirty="0"/>
            </a:br>
            <a:r>
              <a:rPr lang="ro-RO" altLang="en-US" sz="2400" dirty="0"/>
              <a:t>	</a:t>
            </a:r>
            <a:r>
              <a:rPr lang="ro-RO" altLang="en-US" sz="2400" dirty="0" err="1">
                <a:solidFill>
                  <a:srgbClr val="FF0000"/>
                </a:solidFill>
                <a:latin typeface="Trebuchet MS" panose="020B0703020202090204" pitchFamily="34" charset="0"/>
              </a:rPr>
              <a:t>if</a:t>
            </a:r>
            <a:r>
              <a:rPr lang="ro-RO" altLang="en-US" sz="2400" dirty="0">
                <a:solidFill>
                  <a:schemeClr val="accent2"/>
                </a:solidFill>
                <a:latin typeface="Trebuchet MS" panose="020B0703020202090204" pitchFamily="34" charset="0"/>
              </a:rPr>
              <a:t> (</a:t>
            </a:r>
            <a:r>
              <a:rPr lang="ro-RO" altLang="en-US" sz="2400" b="1" i="1" dirty="0" err="1">
                <a:solidFill>
                  <a:schemeClr val="hlink"/>
                </a:solidFill>
              </a:rPr>
              <a:t>condition</a:t>
            </a:r>
            <a:r>
              <a:rPr lang="ro-RO" altLang="en-US" sz="2400" dirty="0">
                <a:solidFill>
                  <a:schemeClr val="accent2"/>
                </a:solidFill>
                <a:latin typeface="Trebuchet MS" panose="020B0703020202090204" pitchFamily="34" charset="0"/>
              </a:rPr>
              <a:t>) </a:t>
            </a:r>
            <a:r>
              <a:rPr lang="ro-RO" altLang="en-US" sz="2400" b="1" i="1" dirty="0" err="1">
                <a:solidFill>
                  <a:schemeClr val="hlink"/>
                </a:solidFill>
              </a:rPr>
              <a:t>statement</a:t>
            </a:r>
            <a:r>
              <a:rPr lang="ro-RO" altLang="en-US" sz="2400" dirty="0">
                <a:solidFill>
                  <a:schemeClr val="accent2"/>
                </a:solidFill>
                <a:latin typeface="Trebuchet MS" panose="020B0703020202090204" pitchFamily="34" charset="0"/>
              </a:rPr>
              <a:t>;</a:t>
            </a:r>
            <a:br>
              <a:rPr lang="ro-RO" altLang="en-US" sz="2400" dirty="0">
                <a:solidFill>
                  <a:schemeClr val="accent2"/>
                </a:solidFill>
                <a:latin typeface="Trebuchet MS" panose="020B0703020202090204" pitchFamily="34" charset="0"/>
              </a:rPr>
            </a:br>
            <a:r>
              <a:rPr lang="ro-RO" altLang="en-US" sz="2400" dirty="0">
                <a:solidFill>
                  <a:schemeClr val="accent2"/>
                </a:solidFill>
                <a:latin typeface="Trebuchet MS" panose="020B0703020202090204" pitchFamily="34" charset="0"/>
              </a:rPr>
              <a:t>	</a:t>
            </a:r>
            <a:r>
              <a:rPr lang="ro-RO" altLang="en-US" sz="2400" dirty="0" err="1">
                <a:solidFill>
                  <a:srgbClr val="FF0000"/>
                </a:solidFill>
                <a:latin typeface="Trebuchet MS" panose="020B0703020202090204" pitchFamily="34" charset="0"/>
              </a:rPr>
              <a:t>if</a:t>
            </a:r>
            <a:r>
              <a:rPr lang="ro-RO" altLang="en-US" sz="2400" dirty="0">
                <a:solidFill>
                  <a:schemeClr val="accent2"/>
                </a:solidFill>
                <a:latin typeface="Trebuchet MS" panose="020B0703020202090204" pitchFamily="34" charset="0"/>
              </a:rPr>
              <a:t> (</a:t>
            </a:r>
            <a:r>
              <a:rPr lang="ro-RO" altLang="en-US" sz="2400" b="1" i="1" dirty="0" err="1">
                <a:solidFill>
                  <a:schemeClr val="hlink"/>
                </a:solidFill>
              </a:rPr>
              <a:t>condition</a:t>
            </a:r>
            <a:r>
              <a:rPr lang="ro-RO" altLang="en-US" sz="2400" dirty="0">
                <a:solidFill>
                  <a:schemeClr val="accent2"/>
                </a:solidFill>
              </a:rPr>
              <a:t>) </a:t>
            </a:r>
            <a:r>
              <a:rPr lang="ro-RO" altLang="en-US" sz="2400" b="1" i="1" dirty="0" err="1">
                <a:solidFill>
                  <a:schemeClr val="hlink"/>
                </a:solidFill>
              </a:rPr>
              <a:t>statement</a:t>
            </a:r>
            <a:r>
              <a:rPr lang="ro-RO" altLang="en-US" sz="2400" dirty="0">
                <a:solidFill>
                  <a:schemeClr val="accent2"/>
                </a:solidFill>
                <a:latin typeface="Trebuchet MS" panose="020B0703020202090204" pitchFamily="34" charset="0"/>
              </a:rPr>
              <a:t>; </a:t>
            </a:r>
            <a:r>
              <a:rPr lang="ro-RO" altLang="en-US" sz="2400" dirty="0" err="1">
                <a:solidFill>
                  <a:srgbClr val="FF0000"/>
                </a:solidFill>
                <a:latin typeface="Trebuchet MS" panose="020B0703020202090204" pitchFamily="34" charset="0"/>
              </a:rPr>
              <a:t>else</a:t>
            </a:r>
            <a:r>
              <a:rPr lang="ro-RO" altLang="en-US" sz="2400" dirty="0">
                <a:solidFill>
                  <a:schemeClr val="accent2"/>
                </a:solidFill>
                <a:latin typeface="Trebuchet MS" panose="020B0703020202090204" pitchFamily="34" charset="0"/>
              </a:rPr>
              <a:t> </a:t>
            </a:r>
            <a:r>
              <a:rPr lang="ro-RO" altLang="en-US" sz="2400" b="1" i="1" dirty="0" err="1">
                <a:solidFill>
                  <a:schemeClr val="hlink"/>
                </a:solidFill>
              </a:rPr>
              <a:t>statement</a:t>
            </a:r>
            <a:r>
              <a:rPr lang="ro-RO" altLang="en-US" sz="2400" dirty="0">
                <a:solidFill>
                  <a:schemeClr val="accent2"/>
                </a:solidFill>
                <a:latin typeface="Trebuchet MS" panose="020B0703020202090204" pitchFamily="34" charset="0"/>
              </a:rPr>
              <a:t>;</a:t>
            </a:r>
            <a:endParaRPr lang="ro-RO" altLang="en-US" sz="2400" dirty="0">
              <a:solidFill>
                <a:schemeClr val="accent2"/>
              </a:solidFill>
            </a:endParaRPr>
          </a:p>
          <a:p>
            <a:pPr lvl="1">
              <a:lnSpc>
                <a:spcPct val="100000"/>
              </a:lnSpc>
              <a:spcBef>
                <a:spcPts val="600"/>
              </a:spcBef>
              <a:spcAft>
                <a:spcPts val="600"/>
              </a:spcAft>
            </a:pPr>
            <a:r>
              <a:rPr lang="ro-RO" altLang="en-US" sz="2400" dirty="0"/>
              <a:t>Instrucțiuni de iterare:</a:t>
            </a:r>
            <a:br>
              <a:rPr lang="ro-RO" altLang="en-US" sz="2400" dirty="0"/>
            </a:br>
            <a:r>
              <a:rPr lang="ro-RO" altLang="en-US" sz="2400" dirty="0"/>
              <a:t>	</a:t>
            </a:r>
            <a:r>
              <a:rPr lang="ro-RO" altLang="en-US" sz="2400" dirty="0" err="1">
                <a:solidFill>
                  <a:srgbClr val="FF0000"/>
                </a:solidFill>
                <a:latin typeface="Trebuchet MS" panose="020B0703020202090204" pitchFamily="34" charset="0"/>
              </a:rPr>
              <a:t>while</a:t>
            </a:r>
            <a:r>
              <a:rPr lang="ro-RO" altLang="en-US" sz="2400" dirty="0">
                <a:solidFill>
                  <a:schemeClr val="accent2"/>
                </a:solidFill>
                <a:latin typeface="Trebuchet MS" panose="020B0703020202090204" pitchFamily="34" charset="0"/>
              </a:rPr>
              <a:t> (</a:t>
            </a:r>
            <a:r>
              <a:rPr lang="ro-RO" altLang="en-US" sz="2400" b="1" i="1" dirty="0" err="1">
                <a:solidFill>
                  <a:schemeClr val="hlink"/>
                </a:solidFill>
              </a:rPr>
              <a:t>condition</a:t>
            </a:r>
            <a:r>
              <a:rPr lang="ro-RO" altLang="en-US" sz="2400" dirty="0">
                <a:solidFill>
                  <a:schemeClr val="accent2"/>
                </a:solidFill>
                <a:latin typeface="Trebuchet MS" panose="020B0703020202090204" pitchFamily="34" charset="0"/>
              </a:rPr>
              <a:t>) </a:t>
            </a:r>
            <a:r>
              <a:rPr lang="ro-RO" altLang="en-US" sz="2400" b="1" i="1" dirty="0" err="1">
                <a:solidFill>
                  <a:schemeClr val="hlink"/>
                </a:solidFill>
              </a:rPr>
              <a:t>statement</a:t>
            </a:r>
            <a:r>
              <a:rPr lang="ro-RO" altLang="en-US" sz="2400" dirty="0">
                <a:solidFill>
                  <a:schemeClr val="accent2"/>
                </a:solidFill>
                <a:latin typeface="Trebuchet MS" panose="020B0703020202090204" pitchFamily="34" charset="0"/>
              </a:rPr>
              <a:t>;</a:t>
            </a:r>
            <a:br>
              <a:rPr lang="ro-RO" altLang="en-US" sz="2400" dirty="0">
                <a:solidFill>
                  <a:schemeClr val="accent2"/>
                </a:solidFill>
                <a:latin typeface="Trebuchet MS" panose="020B0703020202090204" pitchFamily="34" charset="0"/>
              </a:rPr>
            </a:br>
            <a:r>
              <a:rPr lang="ro-RO" altLang="en-US" sz="2400" dirty="0">
                <a:solidFill>
                  <a:schemeClr val="accent2"/>
                </a:solidFill>
                <a:latin typeface="Trebuchet MS" panose="020B0703020202090204" pitchFamily="34" charset="0"/>
              </a:rPr>
              <a:t>  	</a:t>
            </a:r>
            <a:r>
              <a:rPr lang="ro-RO" altLang="en-US" sz="2400" dirty="0">
                <a:solidFill>
                  <a:srgbClr val="FF0000"/>
                </a:solidFill>
                <a:latin typeface="Trebuchet MS" panose="020B0703020202090204" pitchFamily="34" charset="0"/>
              </a:rPr>
              <a:t>do</a:t>
            </a:r>
            <a:r>
              <a:rPr lang="ro-RO" altLang="en-US" sz="2400" dirty="0">
                <a:solidFill>
                  <a:schemeClr val="accent2"/>
                </a:solidFill>
                <a:latin typeface="Trebuchet MS" panose="020B0703020202090204" pitchFamily="34" charset="0"/>
              </a:rPr>
              <a:t> </a:t>
            </a:r>
            <a:r>
              <a:rPr lang="ro-RO" altLang="en-US" sz="2400" b="1" i="1" dirty="0" err="1">
                <a:solidFill>
                  <a:schemeClr val="hlink"/>
                </a:solidFill>
              </a:rPr>
              <a:t>statement</a:t>
            </a:r>
            <a:r>
              <a:rPr lang="ro-RO" altLang="en-US" sz="2400" i="1" dirty="0">
                <a:solidFill>
                  <a:schemeClr val="accent2"/>
                </a:solidFill>
              </a:rPr>
              <a:t>  </a:t>
            </a:r>
            <a:r>
              <a:rPr lang="ro-RO" altLang="en-US" sz="2400" dirty="0" err="1">
                <a:solidFill>
                  <a:srgbClr val="FF0000"/>
                </a:solidFill>
                <a:latin typeface="Trebuchet MS" panose="020B0703020202090204" pitchFamily="34" charset="0"/>
              </a:rPr>
              <a:t>while</a:t>
            </a:r>
            <a:r>
              <a:rPr lang="ro-RO" altLang="en-US" sz="2400" dirty="0">
                <a:solidFill>
                  <a:schemeClr val="accent2"/>
                </a:solidFill>
                <a:latin typeface="Trebuchet MS" panose="020B0703020202090204" pitchFamily="34" charset="0"/>
              </a:rPr>
              <a:t> (</a:t>
            </a:r>
            <a:r>
              <a:rPr lang="ro-RO" altLang="en-US" sz="2400" b="1" i="1" dirty="0" err="1">
                <a:solidFill>
                  <a:schemeClr val="hlink"/>
                </a:solidFill>
              </a:rPr>
              <a:t>condition</a:t>
            </a:r>
            <a:r>
              <a:rPr lang="ro-RO" altLang="en-US" sz="2400" dirty="0">
                <a:solidFill>
                  <a:schemeClr val="accent2"/>
                </a:solidFill>
                <a:latin typeface="Trebuchet MS" panose="020B0703020202090204" pitchFamily="34" charset="0"/>
              </a:rPr>
              <a:t>);</a:t>
            </a:r>
            <a:br>
              <a:rPr lang="ro-RO" altLang="en-US" sz="2400" dirty="0">
                <a:solidFill>
                  <a:schemeClr val="accent2"/>
                </a:solidFill>
                <a:latin typeface="Trebuchet MS" panose="020B0703020202090204" pitchFamily="34" charset="0"/>
              </a:rPr>
            </a:br>
            <a:r>
              <a:rPr lang="ro-RO" altLang="en-US" sz="2400" dirty="0">
                <a:solidFill>
                  <a:schemeClr val="accent2"/>
                </a:solidFill>
                <a:latin typeface="Trebuchet MS" panose="020B0703020202090204" pitchFamily="34" charset="0"/>
              </a:rPr>
              <a:t>  	</a:t>
            </a:r>
            <a:r>
              <a:rPr lang="ro-RO" altLang="en-US" sz="2400" dirty="0">
                <a:solidFill>
                  <a:srgbClr val="FF0000"/>
                </a:solidFill>
                <a:latin typeface="Trebuchet MS" panose="020B0703020202090204" pitchFamily="34" charset="0"/>
              </a:rPr>
              <a:t>for</a:t>
            </a:r>
            <a:r>
              <a:rPr lang="ro-RO" altLang="en-US" sz="2400" dirty="0">
                <a:solidFill>
                  <a:schemeClr val="accent2"/>
                </a:solidFill>
                <a:latin typeface="Trebuchet MS" panose="020B0703020202090204" pitchFamily="34" charset="0"/>
              </a:rPr>
              <a:t> (</a:t>
            </a:r>
            <a:r>
              <a:rPr lang="ro-RO" altLang="en-US" sz="2400" b="1" i="1" dirty="0" err="1">
                <a:solidFill>
                  <a:schemeClr val="hlink"/>
                </a:solidFill>
              </a:rPr>
              <a:t>initialization</a:t>
            </a:r>
            <a:r>
              <a:rPr lang="ro-RO" altLang="en-US" sz="2400" dirty="0">
                <a:solidFill>
                  <a:schemeClr val="accent2"/>
                </a:solidFill>
                <a:latin typeface="Trebuchet MS" panose="020B0703020202090204" pitchFamily="34" charset="0"/>
              </a:rPr>
              <a:t>; </a:t>
            </a:r>
            <a:r>
              <a:rPr lang="ro-RO" altLang="en-US" sz="2400" b="1" i="1" dirty="0" err="1">
                <a:solidFill>
                  <a:schemeClr val="hlink"/>
                </a:solidFill>
              </a:rPr>
              <a:t>condition</a:t>
            </a:r>
            <a:r>
              <a:rPr lang="ro-RO" altLang="en-US" sz="2400" i="1" dirty="0">
                <a:solidFill>
                  <a:schemeClr val="accent2"/>
                </a:solidFill>
                <a:latin typeface="Trebuchet MS" panose="020B0703020202090204" pitchFamily="34" charset="0"/>
              </a:rPr>
              <a:t>;</a:t>
            </a:r>
            <a:r>
              <a:rPr lang="ro-RO" altLang="en-US" sz="2400" i="1" dirty="0">
                <a:solidFill>
                  <a:schemeClr val="accent2"/>
                </a:solidFill>
              </a:rPr>
              <a:t> </a:t>
            </a:r>
            <a:r>
              <a:rPr lang="ro-RO" altLang="en-US" sz="2400" b="1" i="1" dirty="0">
                <a:solidFill>
                  <a:schemeClr val="hlink"/>
                </a:solidFill>
              </a:rPr>
              <a:t>increment</a:t>
            </a:r>
            <a:r>
              <a:rPr lang="ro-RO" altLang="en-US" sz="2400" dirty="0">
                <a:solidFill>
                  <a:schemeClr val="accent2"/>
                </a:solidFill>
                <a:latin typeface="Trebuchet MS" panose="020B0703020202090204" pitchFamily="34" charset="0"/>
              </a:rPr>
              <a:t>) </a:t>
            </a:r>
            <a:r>
              <a:rPr lang="ro-RO" altLang="en-US" sz="2400" b="1" i="1" dirty="0" err="1">
                <a:solidFill>
                  <a:schemeClr val="hlink"/>
                </a:solidFill>
              </a:rPr>
              <a:t>statement</a:t>
            </a:r>
            <a:r>
              <a:rPr lang="ro-RO" altLang="en-US" sz="2400" dirty="0">
                <a:solidFill>
                  <a:schemeClr val="accent2"/>
                </a:solidFill>
                <a:latin typeface="Trebuchet MS" panose="020B0703020202090204" pitchFamily="34" charset="0"/>
              </a:rPr>
              <a:t>;</a:t>
            </a:r>
          </a:p>
          <a:p>
            <a:pPr>
              <a:lnSpc>
                <a:spcPct val="100000"/>
              </a:lnSpc>
              <a:spcBef>
                <a:spcPts val="600"/>
              </a:spcBef>
              <a:spcAft>
                <a:spcPts val="600"/>
              </a:spcAft>
            </a:pPr>
            <a:endParaRPr lang="ro-RO" altLang="en-US" sz="2800" dirty="0"/>
          </a:p>
        </p:txBody>
      </p:sp>
      <p:sp>
        <p:nvSpPr>
          <p:cNvPr id="35842" name="Slide Number Placeholder 5">
            <a:extLst>
              <a:ext uri="{FF2B5EF4-FFF2-40B4-BE49-F238E27FC236}">
                <a16:creationId xmlns:a16="http://schemas.microsoft.com/office/drawing/2014/main" id="{B7849E7F-DE9C-74E0-7C9C-3B03AFE6414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FBD144C0-5013-CE4A-816F-33FCB21F1234}" type="slidenum">
              <a:rPr lang="en-US" altLang="en-US" sz="900">
                <a:solidFill>
                  <a:schemeClr val="bg1"/>
                </a:solidFill>
              </a:rPr>
              <a:pPr>
                <a:spcBef>
                  <a:spcPct val="0"/>
                </a:spcBef>
                <a:buFontTx/>
                <a:buNone/>
              </a:pPr>
              <a:t>13</a:t>
            </a:fld>
            <a:endParaRPr lang="en-US" altLang="en-US" sz="900">
              <a:solidFill>
                <a:schemeClr val="bg1"/>
              </a:solidFill>
            </a:endParaRPr>
          </a:p>
        </p:txBody>
      </p:sp>
      <p:sp>
        <p:nvSpPr>
          <p:cNvPr id="647170" name="Rectangle 2">
            <a:extLst>
              <a:ext uri="{FF2B5EF4-FFF2-40B4-BE49-F238E27FC236}">
                <a16:creationId xmlns:a16="http://schemas.microsoft.com/office/drawing/2014/main" id="{FDF67799-389A-7447-B066-B05B2D79018A}"/>
              </a:ext>
            </a:extLst>
          </p:cNvPr>
          <p:cNvSpPr>
            <a:spLocks noGrp="1" noChangeArrowheads="1"/>
          </p:cNvSpPr>
          <p:nvPr>
            <p:ph type="title"/>
          </p:nvPr>
        </p:nvSpPr>
        <p:spPr/>
        <p:txBody>
          <a:bodyPr vert="horz" lIns="91440" tIns="45720" rIns="91440" bIns="45720" rtlCol="0" anchor="ctr">
            <a:normAutofit/>
          </a:bodyPr>
          <a:lstStyle/>
          <a:p>
            <a:r>
              <a:rPr lang="en-US" b="1" dirty="0" err="1"/>
              <a:t>Instruc</a:t>
            </a:r>
            <a:r>
              <a:rPr lang="ro-RO" b="1" dirty="0"/>
              <a:t>ț</a:t>
            </a:r>
            <a:r>
              <a:rPr lang="en-US" b="1" dirty="0" err="1"/>
              <a:t>iuni</a:t>
            </a:r>
            <a:r>
              <a:rPr lang="en-US" b="1" dirty="0"/>
              <a:t> (1)</a:t>
            </a:r>
          </a:p>
        </p:txBody>
      </p:sp>
      <p:sp>
        <p:nvSpPr>
          <p:cNvPr id="35844" name="Footer Placeholder 4">
            <a:extLst>
              <a:ext uri="{FF2B5EF4-FFF2-40B4-BE49-F238E27FC236}">
                <a16:creationId xmlns:a16="http://schemas.microsoft.com/office/drawing/2014/main" id="{366F8510-8538-2439-62E3-CFF22D9E8CC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900">
                <a:solidFill>
                  <a:schemeClr val="bg1"/>
                </a:solidFill>
              </a:rPr>
              <a:t>Curs Programare Web, anul 4 C5 – Curs 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Number Placeholder 5">
            <a:extLst>
              <a:ext uri="{FF2B5EF4-FFF2-40B4-BE49-F238E27FC236}">
                <a16:creationId xmlns:a16="http://schemas.microsoft.com/office/drawing/2014/main" id="{BA922B37-00FE-75D3-3392-781EC90304A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DC2B3392-2BCC-ED4F-98FD-9EB724F26346}" type="slidenum">
              <a:rPr lang="en-US" altLang="en-US" sz="900">
                <a:solidFill>
                  <a:schemeClr val="bg1"/>
                </a:solidFill>
              </a:rPr>
              <a:pPr>
                <a:spcBef>
                  <a:spcPct val="0"/>
                </a:spcBef>
                <a:buFontTx/>
                <a:buNone/>
              </a:pPr>
              <a:t>14</a:t>
            </a:fld>
            <a:endParaRPr lang="en-US" altLang="en-US" sz="900">
              <a:solidFill>
                <a:schemeClr val="bg1"/>
              </a:solidFill>
            </a:endParaRPr>
          </a:p>
        </p:txBody>
      </p:sp>
      <p:sp>
        <p:nvSpPr>
          <p:cNvPr id="648194" name="Rectangle 2">
            <a:extLst>
              <a:ext uri="{FF2B5EF4-FFF2-40B4-BE49-F238E27FC236}">
                <a16:creationId xmlns:a16="http://schemas.microsoft.com/office/drawing/2014/main" id="{396C72EF-7110-CE47-94AC-ADEAF697659C}"/>
              </a:ext>
            </a:extLst>
          </p:cNvPr>
          <p:cNvSpPr>
            <a:spLocks noGrp="1" noChangeArrowheads="1"/>
          </p:cNvSpPr>
          <p:nvPr>
            <p:ph type="title"/>
          </p:nvPr>
        </p:nvSpPr>
        <p:spPr/>
        <p:txBody>
          <a:bodyPr vert="horz" lIns="91440" tIns="45720" rIns="91440" bIns="45720" rtlCol="0" anchor="ctr">
            <a:normAutofit/>
          </a:bodyPr>
          <a:lstStyle/>
          <a:p>
            <a:r>
              <a:rPr lang="en-US" b="1" dirty="0" err="1"/>
              <a:t>Instruc</a:t>
            </a:r>
            <a:r>
              <a:rPr lang="ro-RO" b="1" dirty="0"/>
              <a:t>ț</a:t>
            </a:r>
            <a:r>
              <a:rPr lang="en-US" b="1" dirty="0" err="1"/>
              <a:t>iuni</a:t>
            </a:r>
            <a:r>
              <a:rPr lang="en-US" b="1" dirty="0"/>
              <a:t> (2)</a:t>
            </a:r>
          </a:p>
        </p:txBody>
      </p:sp>
      <p:sp>
        <p:nvSpPr>
          <p:cNvPr id="36867" name="Rectangle 3">
            <a:extLst>
              <a:ext uri="{FF2B5EF4-FFF2-40B4-BE49-F238E27FC236}">
                <a16:creationId xmlns:a16="http://schemas.microsoft.com/office/drawing/2014/main" id="{7659C257-5E73-1B65-EB19-3D1F5A3A59CC}"/>
              </a:ext>
            </a:extLst>
          </p:cNvPr>
          <p:cNvSpPr>
            <a:spLocks noGrp="1" noChangeArrowheads="1"/>
          </p:cNvSpPr>
          <p:nvPr>
            <p:ph type="body" idx="1"/>
          </p:nvPr>
        </p:nvSpPr>
        <p:spPr>
          <a:xfrm>
            <a:off x="5602923" y="723834"/>
            <a:ext cx="6367103" cy="5746870"/>
          </a:xfrm>
        </p:spPr>
        <p:txBody>
          <a:bodyPr>
            <a:normAutofit lnSpcReduction="10000"/>
          </a:bodyPr>
          <a:lstStyle/>
          <a:p>
            <a:pPr>
              <a:lnSpc>
                <a:spcPct val="110000"/>
              </a:lnSpc>
              <a:spcBef>
                <a:spcPts val="600"/>
              </a:spcBef>
              <a:spcAft>
                <a:spcPts val="600"/>
              </a:spcAft>
            </a:pPr>
            <a:r>
              <a:rPr lang="ro-RO" altLang="en-US" sz="2400" dirty="0"/>
              <a:t>Instrucțiunea </a:t>
            </a:r>
            <a:r>
              <a:rPr lang="ro-RO" altLang="en-US" sz="2400" dirty="0" err="1"/>
              <a:t>switch</a:t>
            </a:r>
            <a:r>
              <a:rPr lang="ro-RO" altLang="en-US" sz="2400" dirty="0"/>
              <a:t>:</a:t>
            </a:r>
            <a:br>
              <a:rPr lang="ro-RO" altLang="en-US" sz="2400" dirty="0"/>
            </a:br>
            <a:r>
              <a:rPr lang="ro-RO" altLang="en-US" sz="2000" dirty="0">
                <a:solidFill>
                  <a:schemeClr val="accent2"/>
                </a:solidFill>
                <a:latin typeface="Trebuchet MS" panose="020B0703020202090204" pitchFamily="34" charset="0"/>
              </a:rPr>
              <a:t>    </a:t>
            </a:r>
            <a:r>
              <a:rPr lang="ro-RO" altLang="en-US" sz="2000" dirty="0" err="1">
                <a:solidFill>
                  <a:srgbClr val="FF0000"/>
                </a:solidFill>
                <a:latin typeface="Trebuchet MS" panose="020B0703020202090204" pitchFamily="34" charset="0"/>
              </a:rPr>
              <a:t>switch</a:t>
            </a:r>
            <a:r>
              <a:rPr lang="ro-RO" altLang="en-US" sz="2000" dirty="0">
                <a:solidFill>
                  <a:schemeClr val="accent2"/>
                </a:solidFill>
                <a:latin typeface="Trebuchet MS" panose="020B0703020202090204" pitchFamily="34" charset="0"/>
              </a:rPr>
              <a:t> (</a:t>
            </a:r>
            <a:r>
              <a:rPr lang="ro-RO" altLang="en-US" sz="2000" b="1" i="1" dirty="0" err="1">
                <a:solidFill>
                  <a:schemeClr val="hlink"/>
                </a:solidFill>
              </a:rPr>
              <a:t>expression</a:t>
            </a:r>
            <a:r>
              <a:rPr lang="ro-RO" altLang="en-US" sz="2000" dirty="0">
                <a:solidFill>
                  <a:schemeClr val="accent2"/>
                </a:solidFill>
              </a:rPr>
              <a:t>) </a:t>
            </a:r>
            <a:r>
              <a:rPr lang="ro-RO" altLang="en-US" sz="2000" dirty="0">
                <a:solidFill>
                  <a:schemeClr val="accent2"/>
                </a:solidFill>
                <a:latin typeface="Trebuchet MS" panose="020B0703020202090204" pitchFamily="34" charset="0"/>
              </a:rPr>
              <a:t>{</a:t>
            </a:r>
            <a:br>
              <a:rPr lang="ro-RO" altLang="en-US" sz="2000" dirty="0">
                <a:solidFill>
                  <a:schemeClr val="accent2"/>
                </a:solidFill>
                <a:latin typeface="Trebuchet MS" panose="020B0703020202090204" pitchFamily="34" charset="0"/>
              </a:rPr>
            </a:br>
            <a:r>
              <a:rPr lang="ro-RO" altLang="en-US" sz="2000" dirty="0">
                <a:solidFill>
                  <a:schemeClr val="accent2"/>
                </a:solidFill>
                <a:latin typeface="Trebuchet MS" panose="020B0703020202090204" pitchFamily="34" charset="0"/>
              </a:rPr>
              <a:t>       </a:t>
            </a:r>
            <a:r>
              <a:rPr lang="ro-RO" altLang="en-US" sz="2000" dirty="0">
                <a:solidFill>
                  <a:srgbClr val="FF0000"/>
                </a:solidFill>
                <a:latin typeface="Trebuchet MS" panose="020B0703020202090204" pitchFamily="34" charset="0"/>
              </a:rPr>
              <a:t>case</a:t>
            </a:r>
            <a:r>
              <a:rPr lang="ro-RO" altLang="en-US" sz="2000" dirty="0">
                <a:solidFill>
                  <a:schemeClr val="accent2"/>
                </a:solidFill>
                <a:latin typeface="Trebuchet MS" panose="020B0703020202090204" pitchFamily="34" charset="0"/>
              </a:rPr>
              <a:t> </a:t>
            </a:r>
            <a:r>
              <a:rPr lang="ro-RO" altLang="en-US" sz="2000" b="1" i="1" dirty="0" err="1">
                <a:solidFill>
                  <a:schemeClr val="hlink"/>
                </a:solidFill>
              </a:rPr>
              <a:t>label</a:t>
            </a:r>
            <a:r>
              <a:rPr lang="ro-RO" altLang="en-US" sz="2000" dirty="0">
                <a:solidFill>
                  <a:schemeClr val="accent2"/>
                </a:solidFill>
                <a:latin typeface="Trebuchet MS" panose="020B0703020202090204" pitchFamily="34" charset="0"/>
              </a:rPr>
              <a:t> :</a:t>
            </a:r>
            <a:br>
              <a:rPr lang="ro-RO" altLang="en-US" sz="2000" dirty="0">
                <a:solidFill>
                  <a:schemeClr val="accent2"/>
                </a:solidFill>
                <a:latin typeface="Trebuchet MS" panose="020B0703020202090204" pitchFamily="34" charset="0"/>
              </a:rPr>
            </a:br>
            <a:r>
              <a:rPr lang="ro-RO" altLang="en-US" sz="2000" dirty="0">
                <a:solidFill>
                  <a:schemeClr val="accent2"/>
                </a:solidFill>
                <a:latin typeface="Trebuchet MS" panose="020B0703020202090204" pitchFamily="34" charset="0"/>
              </a:rPr>
              <a:t>          </a:t>
            </a:r>
            <a:r>
              <a:rPr lang="ro-RO" altLang="en-US" sz="2000" b="1" i="1" dirty="0" err="1">
                <a:solidFill>
                  <a:schemeClr val="hlink"/>
                </a:solidFill>
              </a:rPr>
              <a:t>statement</a:t>
            </a:r>
            <a:r>
              <a:rPr lang="ro-RO" altLang="en-US" sz="2000" dirty="0">
                <a:solidFill>
                  <a:schemeClr val="accent2"/>
                </a:solidFill>
                <a:latin typeface="Trebuchet MS" panose="020B0703020202090204" pitchFamily="34" charset="0"/>
              </a:rPr>
              <a:t>;</a:t>
            </a:r>
            <a:br>
              <a:rPr lang="ro-RO" altLang="en-US" sz="2000" dirty="0">
                <a:solidFill>
                  <a:schemeClr val="accent2"/>
                </a:solidFill>
                <a:latin typeface="Trebuchet MS" panose="020B0703020202090204" pitchFamily="34" charset="0"/>
              </a:rPr>
            </a:br>
            <a:r>
              <a:rPr lang="ro-RO" altLang="en-US" sz="2000" dirty="0">
                <a:solidFill>
                  <a:schemeClr val="accent2"/>
                </a:solidFill>
                <a:latin typeface="Trebuchet MS" panose="020B0703020202090204" pitchFamily="34" charset="0"/>
              </a:rPr>
              <a:t>          </a:t>
            </a:r>
            <a:r>
              <a:rPr lang="ro-RO" altLang="en-US" sz="2000" dirty="0">
                <a:solidFill>
                  <a:srgbClr val="FF0000"/>
                </a:solidFill>
                <a:latin typeface="Trebuchet MS" panose="020B0703020202090204" pitchFamily="34" charset="0"/>
              </a:rPr>
              <a:t>break</a:t>
            </a:r>
            <a:r>
              <a:rPr lang="ro-RO" altLang="en-US" sz="2000" dirty="0">
                <a:solidFill>
                  <a:schemeClr val="accent2"/>
                </a:solidFill>
                <a:latin typeface="Trebuchet MS" panose="020B0703020202090204" pitchFamily="34" charset="0"/>
              </a:rPr>
              <a:t>;</a:t>
            </a:r>
            <a:br>
              <a:rPr lang="ro-RO" altLang="en-US" sz="2000" dirty="0">
                <a:solidFill>
                  <a:schemeClr val="accent2"/>
                </a:solidFill>
                <a:latin typeface="Trebuchet MS" panose="020B0703020202090204" pitchFamily="34" charset="0"/>
              </a:rPr>
            </a:br>
            <a:r>
              <a:rPr lang="ro-RO" altLang="en-US" sz="2000" dirty="0">
                <a:solidFill>
                  <a:schemeClr val="accent2"/>
                </a:solidFill>
                <a:latin typeface="Trebuchet MS" panose="020B0703020202090204" pitchFamily="34" charset="0"/>
              </a:rPr>
              <a:t>       </a:t>
            </a:r>
            <a:r>
              <a:rPr lang="ro-RO" altLang="en-US" sz="2000" dirty="0">
                <a:solidFill>
                  <a:srgbClr val="FF0000"/>
                </a:solidFill>
                <a:latin typeface="Trebuchet MS" panose="020B0703020202090204" pitchFamily="34" charset="0"/>
              </a:rPr>
              <a:t>case</a:t>
            </a:r>
            <a:r>
              <a:rPr lang="ro-RO" altLang="en-US" sz="2000" dirty="0">
                <a:solidFill>
                  <a:schemeClr val="accent2"/>
                </a:solidFill>
                <a:latin typeface="Trebuchet MS" panose="020B0703020202090204" pitchFamily="34" charset="0"/>
              </a:rPr>
              <a:t> </a:t>
            </a:r>
            <a:r>
              <a:rPr lang="ro-RO" altLang="en-US" sz="2000" b="1" i="1" dirty="0" err="1">
                <a:solidFill>
                  <a:schemeClr val="hlink"/>
                </a:solidFill>
              </a:rPr>
              <a:t>label</a:t>
            </a:r>
            <a:r>
              <a:rPr lang="ro-RO" altLang="en-US" sz="2000" dirty="0">
                <a:solidFill>
                  <a:schemeClr val="accent2"/>
                </a:solidFill>
                <a:latin typeface="Trebuchet MS" panose="020B0703020202090204" pitchFamily="34" charset="0"/>
              </a:rPr>
              <a:t> :</a:t>
            </a:r>
            <a:br>
              <a:rPr lang="ro-RO" altLang="en-US" sz="2000" dirty="0">
                <a:solidFill>
                  <a:schemeClr val="accent2"/>
                </a:solidFill>
                <a:latin typeface="Trebuchet MS" panose="020B0703020202090204" pitchFamily="34" charset="0"/>
              </a:rPr>
            </a:br>
            <a:r>
              <a:rPr lang="ro-RO" altLang="en-US" sz="2000" dirty="0">
                <a:solidFill>
                  <a:schemeClr val="accent2"/>
                </a:solidFill>
                <a:latin typeface="Trebuchet MS" panose="020B0703020202090204" pitchFamily="34" charset="0"/>
              </a:rPr>
              <a:t>          </a:t>
            </a:r>
            <a:r>
              <a:rPr lang="ro-RO" altLang="en-US" sz="2000" b="1" i="1" dirty="0" err="1">
                <a:solidFill>
                  <a:schemeClr val="hlink"/>
                </a:solidFill>
              </a:rPr>
              <a:t>statement</a:t>
            </a:r>
            <a:r>
              <a:rPr lang="ro-RO" altLang="en-US" sz="2000" dirty="0">
                <a:solidFill>
                  <a:schemeClr val="accent2"/>
                </a:solidFill>
                <a:latin typeface="Trebuchet MS" panose="020B0703020202090204" pitchFamily="34" charset="0"/>
              </a:rPr>
              <a:t>;</a:t>
            </a:r>
            <a:br>
              <a:rPr lang="ro-RO" altLang="en-US" sz="2000" dirty="0">
                <a:solidFill>
                  <a:schemeClr val="accent2"/>
                </a:solidFill>
                <a:latin typeface="Trebuchet MS" panose="020B0703020202090204" pitchFamily="34" charset="0"/>
              </a:rPr>
            </a:br>
            <a:r>
              <a:rPr lang="ro-RO" altLang="en-US" sz="2000" dirty="0">
                <a:solidFill>
                  <a:schemeClr val="accent2"/>
                </a:solidFill>
                <a:latin typeface="Trebuchet MS" panose="020B0703020202090204" pitchFamily="34" charset="0"/>
              </a:rPr>
              <a:t>          </a:t>
            </a:r>
            <a:r>
              <a:rPr lang="ro-RO" altLang="en-US" sz="2000" dirty="0">
                <a:solidFill>
                  <a:srgbClr val="FF0000"/>
                </a:solidFill>
                <a:latin typeface="Trebuchet MS" panose="020B0703020202090204" pitchFamily="34" charset="0"/>
              </a:rPr>
              <a:t>break</a:t>
            </a:r>
            <a:r>
              <a:rPr lang="ro-RO" altLang="en-US" sz="2000" dirty="0">
                <a:solidFill>
                  <a:schemeClr val="accent2"/>
                </a:solidFill>
                <a:latin typeface="Trebuchet MS" panose="020B0703020202090204" pitchFamily="34" charset="0"/>
              </a:rPr>
              <a:t>;</a:t>
            </a:r>
            <a:br>
              <a:rPr lang="ro-RO" altLang="en-US" sz="2000" dirty="0">
                <a:solidFill>
                  <a:schemeClr val="accent2"/>
                </a:solidFill>
                <a:latin typeface="Trebuchet MS" panose="020B0703020202090204" pitchFamily="34" charset="0"/>
              </a:rPr>
            </a:br>
            <a:r>
              <a:rPr lang="ro-RO" altLang="en-US" sz="2000" dirty="0">
                <a:solidFill>
                  <a:schemeClr val="accent2"/>
                </a:solidFill>
                <a:latin typeface="Trebuchet MS" panose="020B0703020202090204" pitchFamily="34" charset="0"/>
              </a:rPr>
              <a:t>       ...</a:t>
            </a:r>
            <a:br>
              <a:rPr lang="ro-RO" altLang="en-US" sz="2000" dirty="0">
                <a:solidFill>
                  <a:schemeClr val="accent2"/>
                </a:solidFill>
                <a:latin typeface="Trebuchet MS" panose="020B0703020202090204" pitchFamily="34" charset="0"/>
              </a:rPr>
            </a:br>
            <a:r>
              <a:rPr lang="ro-RO" altLang="en-US" sz="2000" dirty="0">
                <a:solidFill>
                  <a:schemeClr val="accent2"/>
                </a:solidFill>
                <a:latin typeface="Trebuchet MS" panose="020B0703020202090204" pitchFamily="34" charset="0"/>
              </a:rPr>
              <a:t>       </a:t>
            </a:r>
            <a:r>
              <a:rPr lang="ro-RO" altLang="en-US" sz="2000" dirty="0" err="1">
                <a:solidFill>
                  <a:srgbClr val="FF0000"/>
                </a:solidFill>
                <a:latin typeface="Trebuchet MS" panose="020B0703020202090204" pitchFamily="34" charset="0"/>
              </a:rPr>
              <a:t>default</a:t>
            </a:r>
            <a:r>
              <a:rPr lang="ro-RO" altLang="en-US" sz="2000" dirty="0">
                <a:solidFill>
                  <a:schemeClr val="accent2"/>
                </a:solidFill>
                <a:latin typeface="Trebuchet MS" panose="020B0703020202090204" pitchFamily="34" charset="0"/>
              </a:rPr>
              <a:t> : </a:t>
            </a:r>
            <a:r>
              <a:rPr lang="ro-RO" altLang="en-US" sz="2000" b="1" i="1" dirty="0" err="1">
                <a:solidFill>
                  <a:schemeClr val="hlink"/>
                </a:solidFill>
              </a:rPr>
              <a:t>statement</a:t>
            </a:r>
            <a:r>
              <a:rPr lang="ro-RO" altLang="en-US" sz="2000" dirty="0">
                <a:solidFill>
                  <a:schemeClr val="accent2"/>
                </a:solidFill>
                <a:latin typeface="Trebuchet MS" panose="020B0703020202090204" pitchFamily="34" charset="0"/>
              </a:rPr>
              <a:t>;</a:t>
            </a:r>
            <a:br>
              <a:rPr lang="ro-RO" altLang="en-US" sz="2000" dirty="0">
                <a:solidFill>
                  <a:schemeClr val="accent2"/>
                </a:solidFill>
                <a:latin typeface="Trebuchet MS" panose="020B0703020202090204" pitchFamily="34" charset="0"/>
              </a:rPr>
            </a:br>
            <a:r>
              <a:rPr lang="ro-RO" altLang="en-US" sz="2000" dirty="0">
                <a:solidFill>
                  <a:schemeClr val="accent2"/>
                </a:solidFill>
                <a:latin typeface="Trebuchet MS" panose="020B0703020202090204" pitchFamily="34" charset="0"/>
              </a:rPr>
              <a:t>    }</a:t>
            </a:r>
            <a:endParaRPr lang="ro-RO" altLang="en-US" sz="1800" dirty="0">
              <a:solidFill>
                <a:schemeClr val="accent2"/>
              </a:solidFill>
              <a:latin typeface="Trebuchet MS" panose="020B0703020202090204" pitchFamily="34" charset="0"/>
            </a:endParaRPr>
          </a:p>
          <a:p>
            <a:pPr>
              <a:lnSpc>
                <a:spcPct val="110000"/>
              </a:lnSpc>
              <a:spcBef>
                <a:spcPts val="600"/>
              </a:spcBef>
              <a:spcAft>
                <a:spcPts val="600"/>
              </a:spcAft>
            </a:pPr>
            <a:r>
              <a:rPr lang="ro-RO" altLang="en-US" sz="2000" dirty="0"/>
              <a:t>Alte instrucțiuni familiare:</a:t>
            </a:r>
            <a:endParaRPr lang="ro-RO" altLang="en-US" sz="1800" dirty="0">
              <a:solidFill>
                <a:srgbClr val="FFFF7F"/>
              </a:solidFill>
              <a:latin typeface="Trebuchet MS" panose="020B0703020202090204" pitchFamily="34" charset="0"/>
            </a:endParaRPr>
          </a:p>
          <a:p>
            <a:pPr lvl="1">
              <a:lnSpc>
                <a:spcPct val="110000"/>
              </a:lnSpc>
              <a:spcBef>
                <a:spcPts val="600"/>
              </a:spcBef>
              <a:spcAft>
                <a:spcPts val="600"/>
              </a:spcAft>
            </a:pPr>
            <a:r>
              <a:rPr lang="ro-RO" altLang="en-US" sz="2000" dirty="0">
                <a:solidFill>
                  <a:schemeClr val="accent2"/>
                </a:solidFill>
                <a:latin typeface="Trebuchet MS" panose="020B0703020202090204" pitchFamily="34" charset="0"/>
              </a:rPr>
              <a:t>break;</a:t>
            </a:r>
          </a:p>
          <a:p>
            <a:pPr lvl="1">
              <a:lnSpc>
                <a:spcPct val="110000"/>
              </a:lnSpc>
              <a:spcBef>
                <a:spcPts val="600"/>
              </a:spcBef>
              <a:spcAft>
                <a:spcPts val="600"/>
              </a:spcAft>
            </a:pPr>
            <a:r>
              <a:rPr lang="ro-RO" altLang="en-US" sz="2000" dirty="0">
                <a:solidFill>
                  <a:schemeClr val="accent2"/>
                </a:solidFill>
                <a:latin typeface="Trebuchet MS" panose="020B0703020202090204" pitchFamily="34" charset="0"/>
              </a:rPr>
              <a:t>continue;</a:t>
            </a:r>
          </a:p>
          <a:p>
            <a:pPr lvl="1">
              <a:lnSpc>
                <a:spcPct val="110000"/>
              </a:lnSpc>
              <a:spcBef>
                <a:spcPts val="600"/>
              </a:spcBef>
              <a:spcAft>
                <a:spcPts val="600"/>
              </a:spcAft>
            </a:pPr>
            <a:r>
              <a:rPr lang="ro-RO" altLang="en-US" sz="2000" dirty="0"/>
              <a:t>Instrucțiunea vidă, precum</a:t>
            </a:r>
            <a:r>
              <a:rPr lang="ro-RO" altLang="en-US" sz="2000" dirty="0">
                <a:solidFill>
                  <a:schemeClr val="accent2"/>
                </a:solidFill>
                <a:latin typeface="Trebuchet MS" panose="020B0703020202090204" pitchFamily="34" charset="0"/>
              </a:rPr>
              <a:t>;;</a:t>
            </a:r>
            <a:r>
              <a:rPr lang="ro-RO" altLang="en-US" sz="2000" dirty="0">
                <a:solidFill>
                  <a:srgbClr val="FFFF7F"/>
                </a:solidFill>
                <a:latin typeface="Trebuchet MS" panose="020B0703020202090204" pitchFamily="34" charset="0"/>
              </a:rPr>
              <a:t> </a:t>
            </a:r>
            <a:r>
              <a:rPr lang="ro-RO" altLang="en-US" sz="2000" dirty="0"/>
              <a:t>sau</a:t>
            </a:r>
            <a:r>
              <a:rPr lang="ro-RO" altLang="en-US" sz="2000" dirty="0">
                <a:solidFill>
                  <a:srgbClr val="FFFF7F"/>
                </a:solidFill>
                <a:latin typeface="Trebuchet MS" panose="020B0703020202090204" pitchFamily="34" charset="0"/>
              </a:rPr>
              <a:t> </a:t>
            </a:r>
            <a:r>
              <a:rPr lang="ro-RO" altLang="en-US" sz="2000" dirty="0">
                <a:solidFill>
                  <a:schemeClr val="accent2"/>
                </a:solidFill>
                <a:latin typeface="Trebuchet MS" panose="020B0703020202090204" pitchFamily="34" charset="0"/>
              </a:rPr>
              <a:t>{ } </a:t>
            </a:r>
          </a:p>
          <a:p>
            <a:pPr>
              <a:lnSpc>
                <a:spcPct val="110000"/>
              </a:lnSpc>
              <a:spcBef>
                <a:spcPts val="600"/>
              </a:spcBef>
              <a:spcAft>
                <a:spcPts val="600"/>
              </a:spcAft>
            </a:pPr>
            <a:endParaRPr lang="ro-RO" altLang="en-US" sz="2000" dirty="0"/>
          </a:p>
        </p:txBody>
      </p:sp>
      <p:sp>
        <p:nvSpPr>
          <p:cNvPr id="36868" name="Footer Placeholder 4">
            <a:extLst>
              <a:ext uri="{FF2B5EF4-FFF2-40B4-BE49-F238E27FC236}">
                <a16:creationId xmlns:a16="http://schemas.microsoft.com/office/drawing/2014/main" id="{F60EE6AE-1AE8-D9C5-6201-17C056FBA52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900">
                <a:solidFill>
                  <a:schemeClr val="bg1"/>
                </a:solidFill>
              </a:rPr>
              <a:t>Curs Programare Web, anul 4 C5 – Curs 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Number Placeholder 5">
            <a:extLst>
              <a:ext uri="{FF2B5EF4-FFF2-40B4-BE49-F238E27FC236}">
                <a16:creationId xmlns:a16="http://schemas.microsoft.com/office/drawing/2014/main" id="{68A94EE9-9890-C376-5E20-F8A94F1839D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EBC9B14F-B052-B94B-8454-EE3B1F3FA7C0}" type="slidenum">
              <a:rPr lang="en-US" altLang="en-US" sz="900">
                <a:solidFill>
                  <a:schemeClr val="bg1"/>
                </a:solidFill>
              </a:rPr>
              <a:pPr>
                <a:spcBef>
                  <a:spcPct val="0"/>
                </a:spcBef>
                <a:buFontTx/>
                <a:buNone/>
              </a:pPr>
              <a:t>15</a:t>
            </a:fld>
            <a:endParaRPr lang="en-US" altLang="en-US" sz="900">
              <a:solidFill>
                <a:schemeClr val="bg1"/>
              </a:solidFill>
            </a:endParaRPr>
          </a:p>
        </p:txBody>
      </p:sp>
      <p:sp>
        <p:nvSpPr>
          <p:cNvPr id="652290" name="Rectangle 2">
            <a:extLst>
              <a:ext uri="{FF2B5EF4-FFF2-40B4-BE49-F238E27FC236}">
                <a16:creationId xmlns:a16="http://schemas.microsoft.com/office/drawing/2014/main" id="{A00686F2-866E-DF4D-B590-F5A6CEA83721}"/>
              </a:ext>
            </a:extLst>
          </p:cNvPr>
          <p:cNvSpPr>
            <a:spLocks noGrp="1" noChangeArrowheads="1"/>
          </p:cNvSpPr>
          <p:nvPr>
            <p:ph type="title"/>
          </p:nvPr>
        </p:nvSpPr>
        <p:spPr>
          <a:xfrm>
            <a:off x="1011620" y="1014931"/>
            <a:ext cx="8229600" cy="487363"/>
          </a:xfrm>
        </p:spPr>
        <p:txBody>
          <a:bodyPr vert="horz" lIns="91440" tIns="45720" rIns="91440" bIns="45720" rtlCol="0" anchor="ctr">
            <a:normAutofit fontScale="90000"/>
          </a:bodyPr>
          <a:lstStyle/>
          <a:p>
            <a:r>
              <a:rPr lang="en-US" b="1" dirty="0" err="1"/>
              <a:t>Obiecte</a:t>
            </a:r>
            <a:endParaRPr lang="en-US" b="1" dirty="0"/>
          </a:p>
        </p:txBody>
      </p:sp>
      <p:sp>
        <p:nvSpPr>
          <p:cNvPr id="41987" name="Rectangle 3">
            <a:extLst>
              <a:ext uri="{FF2B5EF4-FFF2-40B4-BE49-F238E27FC236}">
                <a16:creationId xmlns:a16="http://schemas.microsoft.com/office/drawing/2014/main" id="{B1C6734D-AF5B-1603-5DE4-4D139645365D}"/>
              </a:ext>
            </a:extLst>
          </p:cNvPr>
          <p:cNvSpPr>
            <a:spLocks noGrp="1" noChangeArrowheads="1"/>
          </p:cNvSpPr>
          <p:nvPr>
            <p:ph type="body" idx="1"/>
          </p:nvPr>
        </p:nvSpPr>
        <p:spPr>
          <a:xfrm>
            <a:off x="1011620" y="1786416"/>
            <a:ext cx="9192554" cy="4684288"/>
          </a:xfrm>
        </p:spPr>
        <p:txBody>
          <a:bodyPr>
            <a:normAutofit/>
          </a:bodyPr>
          <a:lstStyle/>
          <a:p>
            <a:pPr>
              <a:lnSpc>
                <a:spcPct val="100000"/>
              </a:lnSpc>
              <a:spcBef>
                <a:spcPts val="600"/>
              </a:spcBef>
              <a:spcAft>
                <a:spcPts val="600"/>
              </a:spcAft>
            </a:pPr>
            <a:r>
              <a:rPr lang="ro-RO" altLang="en-US" sz="2400" dirty="0" err="1"/>
              <a:t>JavaScript</a:t>
            </a:r>
            <a:r>
              <a:rPr lang="ro-RO" altLang="en-US" sz="2400" dirty="0"/>
              <a:t> lucrează cu “</a:t>
            </a:r>
            <a:r>
              <a:rPr lang="ro-RO" altLang="en-US" sz="2400" dirty="0" err="1"/>
              <a:t>object</a:t>
            </a:r>
            <a:r>
              <a:rPr lang="ro-RO" altLang="en-US" sz="2400" dirty="0"/>
              <a:t> </a:t>
            </a:r>
            <a:r>
              <a:rPr lang="ro-RO" altLang="en-US" sz="2400" i="1" dirty="0" err="1"/>
              <a:t>literals</a:t>
            </a:r>
            <a:r>
              <a:rPr lang="ro-RO" altLang="en-US" sz="2400" i="1" dirty="0"/>
              <a:t>”,</a:t>
            </a:r>
            <a:r>
              <a:rPr lang="ro-RO" altLang="en-US" sz="2400" dirty="0"/>
              <a:t> scriși conform următoarei sintaxe:</a:t>
            </a:r>
          </a:p>
          <a:p>
            <a:pPr marL="128016" lvl="1" indent="0">
              <a:lnSpc>
                <a:spcPct val="100000"/>
              </a:lnSpc>
              <a:spcBef>
                <a:spcPts val="600"/>
              </a:spcBef>
              <a:spcAft>
                <a:spcPts val="600"/>
              </a:spcAft>
              <a:buNone/>
            </a:pPr>
            <a:r>
              <a:rPr lang="ro-RO" altLang="en-US" sz="2400" dirty="0">
                <a:solidFill>
                  <a:schemeClr val="accent2"/>
                </a:solidFill>
                <a:latin typeface="Trebuchet MS" panose="020B0703020202090204" pitchFamily="34" charset="0"/>
              </a:rPr>
              <a:t>	{ </a:t>
            </a:r>
            <a:r>
              <a:rPr lang="ro-RO" altLang="en-US" sz="2400" b="1" i="1" dirty="0">
                <a:solidFill>
                  <a:schemeClr val="hlink"/>
                </a:solidFill>
              </a:rPr>
              <a:t>name1</a:t>
            </a:r>
            <a:r>
              <a:rPr lang="ro-RO" altLang="en-US" sz="2400" dirty="0">
                <a:solidFill>
                  <a:schemeClr val="accent2"/>
                </a:solidFill>
                <a:latin typeface="Trebuchet MS" panose="020B0703020202090204" pitchFamily="34" charset="0"/>
              </a:rPr>
              <a:t> : </a:t>
            </a:r>
            <a:r>
              <a:rPr lang="ro-RO" altLang="en-US" sz="2400" b="1" i="1" dirty="0">
                <a:solidFill>
                  <a:schemeClr val="hlink"/>
                </a:solidFill>
              </a:rPr>
              <a:t>value1</a:t>
            </a:r>
            <a:r>
              <a:rPr lang="ro-RO" altLang="en-US" sz="2400" dirty="0">
                <a:solidFill>
                  <a:schemeClr val="accent2"/>
                </a:solidFill>
                <a:latin typeface="Trebuchet MS" panose="020B0703020202090204" pitchFamily="34" charset="0"/>
              </a:rPr>
              <a:t> , ... , </a:t>
            </a:r>
            <a:r>
              <a:rPr lang="ro-RO" altLang="en-US" sz="2400" b="1" i="1" dirty="0" err="1">
                <a:solidFill>
                  <a:schemeClr val="hlink"/>
                </a:solidFill>
              </a:rPr>
              <a:t>nameN</a:t>
            </a:r>
            <a:r>
              <a:rPr lang="ro-RO" altLang="en-US" sz="2400" dirty="0">
                <a:solidFill>
                  <a:schemeClr val="accent2"/>
                </a:solidFill>
                <a:latin typeface="Trebuchet MS" panose="020B0703020202090204" pitchFamily="34" charset="0"/>
              </a:rPr>
              <a:t> : </a:t>
            </a:r>
            <a:r>
              <a:rPr lang="ro-RO" altLang="en-US" sz="2400" b="1" i="1" dirty="0" err="1">
                <a:solidFill>
                  <a:schemeClr val="hlink"/>
                </a:solidFill>
              </a:rPr>
              <a:t>valueN</a:t>
            </a:r>
            <a:r>
              <a:rPr lang="ro-RO" altLang="en-US" sz="2400" dirty="0">
                <a:solidFill>
                  <a:schemeClr val="accent2"/>
                </a:solidFill>
                <a:latin typeface="Trebuchet MS" panose="020B0703020202090204" pitchFamily="34" charset="0"/>
              </a:rPr>
              <a:t> }</a:t>
            </a:r>
          </a:p>
          <a:p>
            <a:pPr>
              <a:lnSpc>
                <a:spcPct val="100000"/>
              </a:lnSpc>
              <a:spcBef>
                <a:spcPts val="600"/>
              </a:spcBef>
              <a:spcAft>
                <a:spcPts val="600"/>
              </a:spcAft>
            </a:pPr>
            <a:r>
              <a:rPr lang="ro-RO" altLang="en-US" sz="2400" dirty="0"/>
              <a:t>Exemplu:</a:t>
            </a:r>
          </a:p>
          <a:p>
            <a:pPr marL="128016" lvl="1" indent="0">
              <a:lnSpc>
                <a:spcPct val="100000"/>
              </a:lnSpc>
              <a:spcBef>
                <a:spcPts val="600"/>
              </a:spcBef>
              <a:spcAft>
                <a:spcPts val="600"/>
              </a:spcAft>
              <a:buNone/>
            </a:pPr>
            <a:r>
              <a:rPr lang="ro-RO" altLang="en-US" sz="2000" dirty="0">
                <a:solidFill>
                  <a:schemeClr val="accent2"/>
                </a:solidFill>
                <a:latin typeface="Trebuchet MS" panose="020B0703020202090204" pitchFamily="34" charset="0"/>
              </a:rPr>
              <a:t>car = {</a:t>
            </a:r>
            <a:r>
              <a:rPr lang="ro-RO" altLang="en-US" sz="2000" dirty="0" err="1">
                <a:solidFill>
                  <a:schemeClr val="accent2"/>
                </a:solidFill>
                <a:latin typeface="Trebuchet MS" panose="020B0703020202090204" pitchFamily="34" charset="0"/>
              </a:rPr>
              <a:t>myCar</a:t>
            </a:r>
            <a:r>
              <a:rPr lang="ro-RO" altLang="en-US" sz="2000" dirty="0">
                <a:solidFill>
                  <a:schemeClr val="accent2"/>
                </a:solidFill>
                <a:latin typeface="Trebuchet MS" panose="020B0703020202090204" pitchFamily="34" charset="0"/>
              </a:rPr>
              <a:t>: "Saturn",  7: "Mazda",</a:t>
            </a:r>
            <a:br>
              <a:rPr lang="ro-RO" altLang="en-US" sz="2000" dirty="0">
                <a:solidFill>
                  <a:schemeClr val="accent2"/>
                </a:solidFill>
                <a:latin typeface="Trebuchet MS" panose="020B0703020202090204" pitchFamily="34" charset="0"/>
              </a:rPr>
            </a:br>
            <a:r>
              <a:rPr lang="ro-RO" altLang="en-US" sz="2000" dirty="0">
                <a:solidFill>
                  <a:schemeClr val="accent2"/>
                </a:solidFill>
                <a:latin typeface="Trebuchet MS" panose="020B0703020202090204" pitchFamily="34" charset="0"/>
              </a:rPr>
              <a:t>          </a:t>
            </a:r>
            <a:r>
              <a:rPr lang="ro-RO" altLang="en-US" sz="2000" dirty="0" err="1">
                <a:solidFill>
                  <a:schemeClr val="accent2"/>
                </a:solidFill>
                <a:latin typeface="Trebuchet MS" panose="020B0703020202090204" pitchFamily="34" charset="0"/>
              </a:rPr>
              <a:t>getCar</a:t>
            </a:r>
            <a:r>
              <a:rPr lang="ro-RO" altLang="en-US" sz="2000" dirty="0">
                <a:solidFill>
                  <a:schemeClr val="accent2"/>
                </a:solidFill>
                <a:latin typeface="Trebuchet MS" panose="020B0703020202090204" pitchFamily="34" charset="0"/>
              </a:rPr>
              <a:t>: </a:t>
            </a:r>
            <a:r>
              <a:rPr lang="ro-RO" altLang="en-US" sz="2000" dirty="0" err="1">
                <a:solidFill>
                  <a:schemeClr val="accent2"/>
                </a:solidFill>
                <a:latin typeface="Trebuchet MS" panose="020B0703020202090204" pitchFamily="34" charset="0"/>
              </a:rPr>
              <a:t>CarTypes</a:t>
            </a:r>
            <a:r>
              <a:rPr lang="ro-RO" altLang="en-US" sz="2000" dirty="0">
                <a:solidFill>
                  <a:schemeClr val="accent2"/>
                </a:solidFill>
                <a:latin typeface="Trebuchet MS" panose="020B0703020202090204" pitchFamily="34" charset="0"/>
              </a:rPr>
              <a:t>("Honda"), special: </a:t>
            </a:r>
            <a:r>
              <a:rPr lang="ro-RO" altLang="en-US" sz="2000" dirty="0" err="1">
                <a:solidFill>
                  <a:schemeClr val="accent2"/>
                </a:solidFill>
                <a:latin typeface="Trebuchet MS" panose="020B0703020202090204" pitchFamily="34" charset="0"/>
              </a:rPr>
              <a:t>Sales</a:t>
            </a:r>
            <a:r>
              <a:rPr lang="ro-RO" altLang="en-US" sz="2000" dirty="0">
                <a:solidFill>
                  <a:schemeClr val="accent2"/>
                </a:solidFill>
                <a:latin typeface="Trebuchet MS" panose="020B0703020202090204" pitchFamily="34" charset="0"/>
              </a:rPr>
              <a:t>}</a:t>
            </a:r>
            <a:r>
              <a:rPr lang="ro-RO" altLang="en-US" sz="2000" dirty="0">
                <a:solidFill>
                  <a:schemeClr val="accent2"/>
                </a:solidFill>
              </a:rPr>
              <a:t> </a:t>
            </a:r>
          </a:p>
          <a:p>
            <a:pPr lvl="2">
              <a:lnSpc>
                <a:spcPct val="100000"/>
              </a:lnSpc>
              <a:spcBef>
                <a:spcPts val="600"/>
              </a:spcBef>
              <a:spcAft>
                <a:spcPts val="600"/>
              </a:spcAft>
            </a:pPr>
            <a:r>
              <a:rPr lang="ro-RO" altLang="en-US" sz="2000" dirty="0"/>
              <a:t>Câmpurile sunt </a:t>
            </a:r>
            <a:r>
              <a:rPr lang="ro-RO" altLang="en-US" sz="2000" dirty="0" err="1">
                <a:solidFill>
                  <a:schemeClr val="accent2"/>
                </a:solidFill>
                <a:latin typeface="Trebuchet MS" panose="020B0703020202090204" pitchFamily="34" charset="0"/>
              </a:rPr>
              <a:t>myCar</a:t>
            </a:r>
            <a:r>
              <a:rPr lang="ro-RO" altLang="en-US" sz="2000" dirty="0"/>
              <a:t>, </a:t>
            </a:r>
            <a:r>
              <a:rPr lang="ro-RO" altLang="en-US" sz="2000" dirty="0" err="1">
                <a:solidFill>
                  <a:schemeClr val="accent2"/>
                </a:solidFill>
                <a:latin typeface="Trebuchet MS" panose="020B0703020202090204" pitchFamily="34" charset="0"/>
              </a:rPr>
              <a:t>getCar</a:t>
            </a:r>
            <a:r>
              <a:rPr lang="ro-RO" altLang="en-US" sz="2000" dirty="0"/>
              <a:t>, </a:t>
            </a:r>
            <a:r>
              <a:rPr lang="ro-RO" altLang="en-US" sz="2000" dirty="0">
                <a:solidFill>
                  <a:schemeClr val="accent2"/>
                </a:solidFill>
                <a:latin typeface="Trebuchet MS" panose="020B0703020202090204" pitchFamily="34" charset="0"/>
              </a:rPr>
              <a:t>7</a:t>
            </a:r>
            <a:r>
              <a:rPr lang="ro-RO" altLang="en-US" sz="2000" dirty="0">
                <a:solidFill>
                  <a:srgbClr val="FFFF7F"/>
                </a:solidFill>
                <a:latin typeface="Trebuchet MS" panose="020B0703020202090204" pitchFamily="34" charset="0"/>
              </a:rPr>
              <a:t> </a:t>
            </a:r>
            <a:r>
              <a:rPr lang="ro-RO" altLang="en-US" sz="2000" dirty="0"/>
              <a:t>(este chiar un nume legal de câmp) și </a:t>
            </a:r>
            <a:r>
              <a:rPr lang="ro-RO" altLang="en-US" sz="2000" dirty="0">
                <a:solidFill>
                  <a:schemeClr val="accent2"/>
                </a:solidFill>
                <a:latin typeface="Trebuchet MS" panose="020B0703020202090204" pitchFamily="34" charset="0"/>
              </a:rPr>
              <a:t>special</a:t>
            </a:r>
          </a:p>
          <a:p>
            <a:pPr lvl="2">
              <a:lnSpc>
                <a:spcPct val="100000"/>
              </a:lnSpc>
              <a:spcBef>
                <a:spcPts val="600"/>
              </a:spcBef>
              <a:spcAft>
                <a:spcPts val="600"/>
              </a:spcAft>
            </a:pPr>
            <a:r>
              <a:rPr lang="ro-RO" altLang="en-US" sz="2000" dirty="0">
                <a:solidFill>
                  <a:schemeClr val="accent2"/>
                </a:solidFill>
                <a:latin typeface="Trebuchet MS" panose="020B0703020202090204" pitchFamily="34" charset="0"/>
              </a:rPr>
              <a:t>"Saturn"</a:t>
            </a:r>
            <a:r>
              <a:rPr lang="ro-RO" altLang="en-US" sz="2000" dirty="0"/>
              <a:t> și </a:t>
            </a:r>
            <a:r>
              <a:rPr lang="ro-RO" altLang="en-US" sz="2000" dirty="0">
                <a:solidFill>
                  <a:schemeClr val="accent2"/>
                </a:solidFill>
                <a:latin typeface="Trebuchet MS" panose="020B0703020202090204" pitchFamily="34" charset="0"/>
              </a:rPr>
              <a:t>"Mazda"</a:t>
            </a:r>
            <a:r>
              <a:rPr lang="ro-RO" altLang="en-US" sz="2000" dirty="0"/>
              <a:t> sunt câmpuri de tip </a:t>
            </a:r>
            <a:r>
              <a:rPr lang="ro-RO" altLang="en-US" sz="2000" dirty="0" err="1"/>
              <a:t>String</a:t>
            </a:r>
            <a:endParaRPr lang="ro-RO" altLang="en-US" sz="2000" dirty="0"/>
          </a:p>
          <a:p>
            <a:pPr lvl="2">
              <a:lnSpc>
                <a:spcPct val="100000"/>
              </a:lnSpc>
              <a:spcBef>
                <a:spcPts val="600"/>
              </a:spcBef>
              <a:spcAft>
                <a:spcPts val="600"/>
              </a:spcAft>
            </a:pPr>
            <a:r>
              <a:rPr lang="ro-RO" altLang="en-US" sz="2000" dirty="0" err="1">
                <a:solidFill>
                  <a:schemeClr val="accent2"/>
                </a:solidFill>
                <a:latin typeface="Trebuchet MS" panose="020B0703020202090204" pitchFamily="34" charset="0"/>
              </a:rPr>
              <a:t>CarTypes</a:t>
            </a:r>
            <a:r>
              <a:rPr lang="ro-RO" altLang="en-US" sz="2000" dirty="0">
                <a:solidFill>
                  <a:srgbClr val="FFFF7F"/>
                </a:solidFill>
                <a:latin typeface="Trebuchet MS" panose="020B0703020202090204" pitchFamily="34" charset="0"/>
              </a:rPr>
              <a:t> </a:t>
            </a:r>
            <a:r>
              <a:rPr lang="ro-RO" altLang="en-US" sz="2000" dirty="0">
                <a:latin typeface="Trebuchet MS" panose="020B0703020202090204" pitchFamily="34" charset="0"/>
              </a:rPr>
              <a:t>este un apel de funcție</a:t>
            </a:r>
            <a:endParaRPr lang="ro-RO" altLang="en-US" sz="2000" dirty="0"/>
          </a:p>
          <a:p>
            <a:pPr lvl="2">
              <a:lnSpc>
                <a:spcPct val="100000"/>
              </a:lnSpc>
              <a:spcBef>
                <a:spcPts val="600"/>
              </a:spcBef>
              <a:spcAft>
                <a:spcPts val="600"/>
              </a:spcAft>
            </a:pPr>
            <a:r>
              <a:rPr lang="ro-RO" altLang="en-US" sz="2000" dirty="0" err="1">
                <a:solidFill>
                  <a:schemeClr val="accent2"/>
                </a:solidFill>
                <a:latin typeface="Trebuchet MS" panose="020B0703020202090204" pitchFamily="34" charset="0"/>
              </a:rPr>
              <a:t>Sales</a:t>
            </a:r>
            <a:r>
              <a:rPr lang="ro-RO" altLang="en-US" sz="2000" dirty="0"/>
              <a:t> este o variabilă ce a fost definită anterior</a:t>
            </a:r>
          </a:p>
          <a:p>
            <a:pPr marL="128016" lvl="1" indent="0">
              <a:lnSpc>
                <a:spcPct val="100000"/>
              </a:lnSpc>
              <a:spcBef>
                <a:spcPts val="600"/>
              </a:spcBef>
              <a:spcAft>
                <a:spcPts val="600"/>
              </a:spcAft>
              <a:buNone/>
            </a:pPr>
            <a:r>
              <a:rPr lang="ro-RO" altLang="en-US" sz="2400" dirty="0"/>
              <a:t>Exemplu de folosire: </a:t>
            </a:r>
            <a:r>
              <a:rPr lang="ro-RO" altLang="en-US" sz="2000" dirty="0" err="1">
                <a:solidFill>
                  <a:schemeClr val="accent2"/>
                </a:solidFill>
                <a:latin typeface="Trebuchet MS" panose="020B0703020202090204" pitchFamily="34" charset="0"/>
              </a:rPr>
              <a:t>document.write</a:t>
            </a:r>
            <a:r>
              <a:rPr lang="ro-RO" altLang="en-US" sz="2000" dirty="0">
                <a:solidFill>
                  <a:schemeClr val="accent2"/>
                </a:solidFill>
                <a:latin typeface="Trebuchet MS" panose="020B0703020202090204" pitchFamily="34" charset="0"/>
              </a:rPr>
              <a:t>("I </a:t>
            </a:r>
            <a:r>
              <a:rPr lang="ro-RO" altLang="en-US" sz="2000" dirty="0" err="1">
                <a:solidFill>
                  <a:schemeClr val="accent2"/>
                </a:solidFill>
                <a:latin typeface="Trebuchet MS" panose="020B0703020202090204" pitchFamily="34" charset="0"/>
              </a:rPr>
              <a:t>own</a:t>
            </a:r>
            <a:r>
              <a:rPr lang="ro-RO" altLang="en-US" sz="2000" dirty="0">
                <a:solidFill>
                  <a:schemeClr val="accent2"/>
                </a:solidFill>
                <a:latin typeface="Trebuchet MS" panose="020B0703020202090204" pitchFamily="34" charset="0"/>
              </a:rPr>
              <a:t> a " + </a:t>
            </a:r>
            <a:r>
              <a:rPr lang="ro-RO" altLang="en-US" sz="2000" dirty="0" err="1">
                <a:solidFill>
                  <a:schemeClr val="accent2"/>
                </a:solidFill>
                <a:latin typeface="Trebuchet MS" panose="020B0703020202090204" pitchFamily="34" charset="0"/>
              </a:rPr>
              <a:t>car.myCar</a:t>
            </a:r>
            <a:r>
              <a:rPr lang="ro-RO" altLang="en-US" sz="2000" dirty="0">
                <a:solidFill>
                  <a:schemeClr val="accent2"/>
                </a:solidFill>
                <a:latin typeface="Trebuchet MS" panose="020B0703020202090204" pitchFamily="34" charset="0"/>
              </a:rPr>
              <a:t>);</a:t>
            </a:r>
            <a:endParaRPr lang="ro-RO" altLang="en-US" sz="2400" dirty="0">
              <a:solidFill>
                <a:schemeClr val="accent2"/>
              </a:solidFill>
            </a:endParaRPr>
          </a:p>
          <a:p>
            <a:pPr eaLnBrk="1" hangingPunct="1">
              <a:lnSpc>
                <a:spcPct val="100000"/>
              </a:lnSpc>
              <a:spcBef>
                <a:spcPts val="600"/>
              </a:spcBef>
            </a:pPr>
            <a:endParaRPr lang="ro-RO" altLang="en-US" sz="2400" dirty="0"/>
          </a:p>
        </p:txBody>
      </p:sp>
      <p:sp>
        <p:nvSpPr>
          <p:cNvPr id="41988" name="Footer Placeholder 4">
            <a:extLst>
              <a:ext uri="{FF2B5EF4-FFF2-40B4-BE49-F238E27FC236}">
                <a16:creationId xmlns:a16="http://schemas.microsoft.com/office/drawing/2014/main" id="{F3832279-8079-639E-CA05-F718AD3F468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900">
                <a:solidFill>
                  <a:schemeClr val="bg1"/>
                </a:solidFill>
              </a:rPr>
              <a:t>Curs Programare Web, anul 4 C5 – Curs 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12A99-1230-4555-98D1-10588A4508F6}"/>
              </a:ext>
            </a:extLst>
          </p:cNvPr>
          <p:cNvSpPr>
            <a:spLocks noGrp="1"/>
          </p:cNvSpPr>
          <p:nvPr>
            <p:ph type="title"/>
          </p:nvPr>
        </p:nvSpPr>
        <p:spPr>
          <a:xfrm>
            <a:off x="1024128" y="368557"/>
            <a:ext cx="8018272" cy="1499616"/>
          </a:xfrm>
        </p:spPr>
        <p:txBody>
          <a:bodyPr>
            <a:normAutofit/>
          </a:bodyPr>
          <a:lstStyle/>
          <a:p>
            <a:r>
              <a:rPr lang="en-US" b="1" dirty="0" err="1"/>
              <a:t>Obiecte</a:t>
            </a:r>
            <a:endParaRPr lang="en-US" b="1" dirty="0"/>
          </a:p>
        </p:txBody>
      </p:sp>
      <p:sp>
        <p:nvSpPr>
          <p:cNvPr id="3" name="Content Placeholder 2">
            <a:extLst>
              <a:ext uri="{FF2B5EF4-FFF2-40B4-BE49-F238E27FC236}">
                <a16:creationId xmlns:a16="http://schemas.microsoft.com/office/drawing/2014/main" id="{03BACC6A-9D5C-4302-AA04-7B37C3490FAF}"/>
              </a:ext>
            </a:extLst>
          </p:cNvPr>
          <p:cNvSpPr>
            <a:spLocks noGrp="1"/>
          </p:cNvSpPr>
          <p:nvPr>
            <p:ph idx="1"/>
          </p:nvPr>
        </p:nvSpPr>
        <p:spPr>
          <a:xfrm>
            <a:off x="1024128" y="1556360"/>
            <a:ext cx="9927407" cy="4450610"/>
          </a:xfrm>
        </p:spPr>
        <p:txBody>
          <a:bodyPr>
            <a:normAutofit/>
          </a:bodyPr>
          <a:lstStyle/>
          <a:p>
            <a:r>
              <a:rPr lang="ro-RO" sz="2400" b="1" dirty="0"/>
              <a:t>Obiectele</a:t>
            </a:r>
            <a:r>
              <a:rPr lang="ro-RO" sz="2400" dirty="0"/>
              <a:t> sunt elemente de tipul </a:t>
            </a:r>
            <a:r>
              <a:rPr lang="ro-RO" sz="2400" dirty="0" err="1"/>
              <a:t>cheie:valoare</a:t>
            </a:r>
            <a:endParaRPr lang="ro-RO" sz="2400" dirty="0"/>
          </a:p>
          <a:p>
            <a:pPr lvl="1"/>
            <a:r>
              <a:rPr lang="ro-RO" sz="2000" b="1" dirty="0"/>
              <a:t>Cheia</a:t>
            </a:r>
            <a:r>
              <a:rPr lang="ro-RO" sz="2000" dirty="0"/>
              <a:t> este un șir de caractere</a:t>
            </a:r>
          </a:p>
          <a:p>
            <a:pPr lvl="1"/>
            <a:r>
              <a:rPr lang="ro-RO" sz="2000" b="1" dirty="0"/>
              <a:t>Valoarea</a:t>
            </a:r>
            <a:r>
              <a:rPr lang="ro-RO" sz="2000" dirty="0"/>
              <a:t> este orice, inclusiv un alt obiect</a:t>
            </a:r>
            <a:endParaRPr lang="ro-RO" sz="2000" b="1" dirty="0"/>
          </a:p>
          <a:p>
            <a:r>
              <a:rPr lang="ro-RO" sz="2400" dirty="0"/>
              <a:t>Obiectele pot fi declarate pe loc, folosindu-se paranteze acolade sau pot fi instanțiale, utilizându-se </a:t>
            </a:r>
            <a:r>
              <a:rPr lang="ro-RO" sz="2400" b="1" dirty="0" err="1"/>
              <a:t>new</a:t>
            </a:r>
            <a:endParaRPr lang="ro-RO" sz="2400" b="1" dirty="0"/>
          </a:p>
          <a:p>
            <a:r>
              <a:rPr lang="ro-RO" sz="2400" b="1" dirty="0"/>
              <a:t>Cheile </a:t>
            </a:r>
            <a:r>
              <a:rPr lang="ro-RO" sz="2400" dirty="0"/>
              <a:t>obiectelor pot fi scrise in 3 moduri:</a:t>
            </a:r>
          </a:p>
          <a:p>
            <a:pPr lvl="1"/>
            <a:r>
              <a:rPr lang="ro-RO" sz="2000" b="1" dirty="0"/>
              <a:t>Șir de caractere </a:t>
            </a:r>
          </a:p>
          <a:p>
            <a:pPr lvl="1"/>
            <a:r>
              <a:rPr lang="ro-RO" sz="2000" b="1" dirty="0"/>
              <a:t>Sub formă de variabilă evaluată </a:t>
            </a:r>
          </a:p>
          <a:p>
            <a:pPr lvl="1"/>
            <a:r>
              <a:rPr lang="ro-RO" sz="2000" b="1" dirty="0"/>
              <a:t>Ca simbol</a:t>
            </a:r>
          </a:p>
          <a:p>
            <a:r>
              <a:rPr lang="ro-RO" sz="2400" dirty="0"/>
              <a:t>Atunci când o cheie este definită drept </a:t>
            </a:r>
            <a:r>
              <a:rPr lang="ro-RO" sz="2400" b="1" dirty="0"/>
              <a:t>simbol</a:t>
            </a:r>
            <a:r>
              <a:rPr lang="ro-RO" sz="2400" dirty="0"/>
              <a:t>, numele ei este ascuns</a:t>
            </a:r>
          </a:p>
          <a:p>
            <a:endParaRPr lang="ro-RO" sz="2400" b="1" dirty="0"/>
          </a:p>
        </p:txBody>
      </p:sp>
    </p:spTree>
    <p:extLst>
      <p:ext uri="{BB962C8B-B14F-4D97-AF65-F5344CB8AC3E}">
        <p14:creationId xmlns:p14="http://schemas.microsoft.com/office/powerpoint/2010/main" val="26379654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12A99-1230-4555-98D1-10588A4508F6}"/>
              </a:ext>
            </a:extLst>
          </p:cNvPr>
          <p:cNvSpPr>
            <a:spLocks noGrp="1"/>
          </p:cNvSpPr>
          <p:nvPr>
            <p:ph type="title"/>
          </p:nvPr>
        </p:nvSpPr>
        <p:spPr>
          <a:xfrm>
            <a:off x="902114" y="296721"/>
            <a:ext cx="10131425" cy="1130969"/>
          </a:xfrm>
        </p:spPr>
        <p:txBody>
          <a:bodyPr>
            <a:normAutofit/>
          </a:bodyPr>
          <a:lstStyle/>
          <a:p>
            <a:r>
              <a:rPr lang="en-US" sz="6000" b="1" dirty="0" err="1"/>
              <a:t>Obiecte</a:t>
            </a:r>
            <a:endParaRPr lang="en-US" sz="6000" b="1" dirty="0"/>
          </a:p>
        </p:txBody>
      </p:sp>
      <p:pic>
        <p:nvPicPr>
          <p:cNvPr id="6" name="Picture 5">
            <a:extLst>
              <a:ext uri="{FF2B5EF4-FFF2-40B4-BE49-F238E27FC236}">
                <a16:creationId xmlns:a16="http://schemas.microsoft.com/office/drawing/2014/main" id="{D08A00AF-159F-46DD-A633-1CE602241FF3}"/>
              </a:ext>
            </a:extLst>
          </p:cNvPr>
          <p:cNvPicPr>
            <a:picLocks noChangeAspect="1"/>
          </p:cNvPicPr>
          <p:nvPr/>
        </p:nvPicPr>
        <p:blipFill>
          <a:blip r:embed="rId2"/>
          <a:stretch>
            <a:fillRect/>
          </a:stretch>
        </p:blipFill>
        <p:spPr>
          <a:xfrm>
            <a:off x="860652" y="1453632"/>
            <a:ext cx="4401814" cy="4542162"/>
          </a:xfrm>
          <a:prstGeom prst="rect">
            <a:avLst/>
          </a:prstGeom>
        </p:spPr>
      </p:pic>
      <p:pic>
        <p:nvPicPr>
          <p:cNvPr id="19" name="Picture 18">
            <a:extLst>
              <a:ext uri="{FF2B5EF4-FFF2-40B4-BE49-F238E27FC236}">
                <a16:creationId xmlns:a16="http://schemas.microsoft.com/office/drawing/2014/main" id="{0ACADE85-3371-4929-B146-584F2B421DCE}"/>
              </a:ext>
            </a:extLst>
          </p:cNvPr>
          <p:cNvPicPr>
            <a:picLocks noChangeAspect="1"/>
          </p:cNvPicPr>
          <p:nvPr/>
        </p:nvPicPr>
        <p:blipFill>
          <a:blip r:embed="rId3"/>
          <a:stretch>
            <a:fillRect/>
          </a:stretch>
        </p:blipFill>
        <p:spPr>
          <a:xfrm>
            <a:off x="7245705" y="1882032"/>
            <a:ext cx="4286250" cy="2495550"/>
          </a:xfrm>
          <a:prstGeom prst="rect">
            <a:avLst/>
          </a:prstGeom>
        </p:spPr>
      </p:pic>
      <p:cxnSp>
        <p:nvCxnSpPr>
          <p:cNvPr id="9" name="Straight Arrow Connector 8">
            <a:extLst>
              <a:ext uri="{FF2B5EF4-FFF2-40B4-BE49-F238E27FC236}">
                <a16:creationId xmlns:a16="http://schemas.microsoft.com/office/drawing/2014/main" id="{5459FB94-8C1C-4506-A617-42A4707B04CB}"/>
              </a:ext>
            </a:extLst>
          </p:cNvPr>
          <p:cNvCxnSpPr>
            <a:cxnSpLocks/>
          </p:cNvCxnSpPr>
          <p:nvPr/>
        </p:nvCxnSpPr>
        <p:spPr>
          <a:xfrm flipV="1">
            <a:off x="3424989" y="2677666"/>
            <a:ext cx="4195011" cy="238361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1" name="Straight Arrow Connector 10">
            <a:extLst>
              <a:ext uri="{FF2B5EF4-FFF2-40B4-BE49-F238E27FC236}">
                <a16:creationId xmlns:a16="http://schemas.microsoft.com/office/drawing/2014/main" id="{21900345-6078-4502-93FD-5309A50C5EA9}"/>
              </a:ext>
            </a:extLst>
          </p:cNvPr>
          <p:cNvCxnSpPr>
            <a:cxnSpLocks/>
          </p:cNvCxnSpPr>
          <p:nvPr/>
        </p:nvCxnSpPr>
        <p:spPr>
          <a:xfrm flipV="1">
            <a:off x="4419928" y="3869475"/>
            <a:ext cx="3095798" cy="153489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3" name="Straight Arrow Connector 12">
            <a:extLst>
              <a:ext uri="{FF2B5EF4-FFF2-40B4-BE49-F238E27FC236}">
                <a16:creationId xmlns:a16="http://schemas.microsoft.com/office/drawing/2014/main" id="{745D8EDE-6BB0-4BF3-9A36-BAEA2DE6BE78}"/>
              </a:ext>
            </a:extLst>
          </p:cNvPr>
          <p:cNvCxnSpPr>
            <a:cxnSpLocks/>
          </p:cNvCxnSpPr>
          <p:nvPr/>
        </p:nvCxnSpPr>
        <p:spPr>
          <a:xfrm flipV="1">
            <a:off x="5262466" y="4203032"/>
            <a:ext cx="2253260" cy="161223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5523056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Number Placeholder 5">
            <a:extLst>
              <a:ext uri="{FF2B5EF4-FFF2-40B4-BE49-F238E27FC236}">
                <a16:creationId xmlns:a16="http://schemas.microsoft.com/office/drawing/2014/main" id="{B67ADEA8-CD2F-1D64-1A3E-42EAA18A8CC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139A02D1-510E-4546-9304-962DF4828996}" type="slidenum">
              <a:rPr lang="en-US" altLang="en-US" sz="900">
                <a:solidFill>
                  <a:schemeClr val="bg1"/>
                </a:solidFill>
              </a:rPr>
              <a:pPr>
                <a:spcBef>
                  <a:spcPct val="0"/>
                </a:spcBef>
                <a:buFontTx/>
                <a:buNone/>
              </a:pPr>
              <a:t>18</a:t>
            </a:fld>
            <a:endParaRPr lang="en-US" altLang="en-US" sz="900">
              <a:solidFill>
                <a:schemeClr val="bg1"/>
              </a:solidFill>
            </a:endParaRPr>
          </a:p>
        </p:txBody>
      </p:sp>
      <p:sp>
        <p:nvSpPr>
          <p:cNvPr id="653314" name="Rectangle 2">
            <a:extLst>
              <a:ext uri="{FF2B5EF4-FFF2-40B4-BE49-F238E27FC236}">
                <a16:creationId xmlns:a16="http://schemas.microsoft.com/office/drawing/2014/main" id="{41E0A90E-C3FF-8443-BE4D-7907625454BE}"/>
              </a:ext>
            </a:extLst>
          </p:cNvPr>
          <p:cNvSpPr>
            <a:spLocks noGrp="1" noChangeArrowheads="1"/>
          </p:cNvSpPr>
          <p:nvPr>
            <p:ph type="title"/>
          </p:nvPr>
        </p:nvSpPr>
        <p:spPr>
          <a:xfrm>
            <a:off x="986259" y="653865"/>
            <a:ext cx="8229600" cy="487363"/>
          </a:xfrm>
        </p:spPr>
        <p:txBody>
          <a:bodyPr vert="horz" lIns="91440" tIns="45720" rIns="91440" bIns="45720" rtlCol="0" anchor="ctr">
            <a:normAutofit fontScale="90000"/>
          </a:bodyPr>
          <a:lstStyle/>
          <a:p>
            <a:r>
              <a:rPr lang="en-US" b="1" dirty="0" err="1"/>
              <a:t>Trei</a:t>
            </a:r>
            <a:r>
              <a:rPr lang="en-US" b="1" dirty="0"/>
              <a:t> </a:t>
            </a:r>
            <a:r>
              <a:rPr lang="en-US" b="1" dirty="0" err="1"/>
              <a:t>moduri</a:t>
            </a:r>
            <a:r>
              <a:rPr lang="en-US" b="1" dirty="0"/>
              <a:t> de a </a:t>
            </a:r>
            <a:r>
              <a:rPr lang="en-US" b="1" dirty="0" err="1"/>
              <a:t>crea</a:t>
            </a:r>
            <a:r>
              <a:rPr lang="en-US" b="1" dirty="0"/>
              <a:t> un </a:t>
            </a:r>
            <a:r>
              <a:rPr lang="en-US" b="1" dirty="0" err="1"/>
              <a:t>obiect</a:t>
            </a:r>
            <a:endParaRPr lang="en-US" b="1" dirty="0"/>
          </a:p>
        </p:txBody>
      </p:sp>
      <p:sp>
        <p:nvSpPr>
          <p:cNvPr id="43011" name="Rectangle 3">
            <a:extLst>
              <a:ext uri="{FF2B5EF4-FFF2-40B4-BE49-F238E27FC236}">
                <a16:creationId xmlns:a16="http://schemas.microsoft.com/office/drawing/2014/main" id="{B681253F-387E-C2A2-0ED0-7C2CA2BC960B}"/>
              </a:ext>
            </a:extLst>
          </p:cNvPr>
          <p:cNvSpPr>
            <a:spLocks noGrp="1" noChangeArrowheads="1"/>
          </p:cNvSpPr>
          <p:nvPr>
            <p:ph type="body" idx="1"/>
          </p:nvPr>
        </p:nvSpPr>
        <p:spPr>
          <a:xfrm>
            <a:off x="986259" y="1411024"/>
            <a:ext cx="10917682" cy="5334000"/>
          </a:xfrm>
        </p:spPr>
        <p:txBody>
          <a:bodyPr>
            <a:normAutofit fontScale="92500" lnSpcReduction="10000"/>
          </a:bodyPr>
          <a:lstStyle/>
          <a:p>
            <a:pPr marL="514350" indent="-514350">
              <a:lnSpc>
                <a:spcPct val="100000"/>
              </a:lnSpc>
              <a:spcBef>
                <a:spcPts val="600"/>
              </a:spcBef>
              <a:spcAft>
                <a:spcPts val="600"/>
              </a:spcAft>
              <a:buFontTx/>
              <a:buAutoNum type="arabicPeriod"/>
            </a:pPr>
            <a:r>
              <a:rPr lang="ro-RO" altLang="en-US" sz="2800" dirty="0"/>
              <a:t>Puteți folosi un </a:t>
            </a:r>
            <a:r>
              <a:rPr lang="ro-RO" altLang="en-US" sz="2800" i="1" dirty="0" err="1"/>
              <a:t>object</a:t>
            </a:r>
            <a:r>
              <a:rPr lang="ro-RO" altLang="en-US" sz="2800" i="1" dirty="0"/>
              <a:t> literal</a:t>
            </a:r>
            <a:r>
              <a:rPr lang="ro-RO" altLang="en-US" sz="2800" dirty="0"/>
              <a:t>:</a:t>
            </a:r>
          </a:p>
          <a:p>
            <a:pPr lvl="1">
              <a:lnSpc>
                <a:spcPct val="100000"/>
              </a:lnSpc>
              <a:spcBef>
                <a:spcPts val="600"/>
              </a:spcBef>
              <a:spcAft>
                <a:spcPts val="600"/>
              </a:spcAft>
              <a:buNone/>
            </a:pPr>
            <a:r>
              <a:rPr lang="ro-RO" altLang="en-US" sz="2000" dirty="0">
                <a:solidFill>
                  <a:schemeClr val="accent2"/>
                </a:solidFill>
                <a:latin typeface="Trebuchet MS" panose="020B0703020202090204" pitchFamily="34" charset="0"/>
              </a:rPr>
              <a:t>		var </a:t>
            </a:r>
            <a:r>
              <a:rPr lang="ro-RO" altLang="en-US" sz="2000" dirty="0" err="1">
                <a:solidFill>
                  <a:schemeClr val="accent2"/>
                </a:solidFill>
                <a:latin typeface="Trebuchet MS" panose="020B0703020202090204" pitchFamily="34" charset="0"/>
              </a:rPr>
              <a:t>course</a:t>
            </a:r>
            <a:r>
              <a:rPr lang="ro-RO" altLang="en-US" sz="2000" dirty="0">
                <a:solidFill>
                  <a:schemeClr val="accent2"/>
                </a:solidFill>
                <a:latin typeface="Trebuchet MS" panose="020B0703020202090204" pitchFamily="34" charset="0"/>
              </a:rPr>
              <a:t> = { </a:t>
            </a:r>
            <a:r>
              <a:rPr lang="ro-RO" altLang="en-US" sz="2000" dirty="0" err="1">
                <a:solidFill>
                  <a:schemeClr val="accent2"/>
                </a:solidFill>
                <a:latin typeface="Trebuchet MS" panose="020B0703020202090204" pitchFamily="34" charset="0"/>
              </a:rPr>
              <a:t>name</a:t>
            </a:r>
            <a:r>
              <a:rPr lang="ro-RO" altLang="en-US" sz="2000" dirty="0">
                <a:solidFill>
                  <a:schemeClr val="accent2"/>
                </a:solidFill>
                <a:latin typeface="Trebuchet MS" panose="020B0703020202090204" pitchFamily="34" charset="0"/>
              </a:rPr>
              <a:t>: “</a:t>
            </a:r>
            <a:r>
              <a:rPr lang="ro-RO" altLang="en-US" sz="2000" dirty="0" err="1">
                <a:solidFill>
                  <a:schemeClr val="accent2"/>
                </a:solidFill>
                <a:latin typeface="Trebuchet MS" panose="020B0703020202090204" pitchFamily="34" charset="0"/>
              </a:rPr>
              <a:t>PWeb</a:t>
            </a:r>
            <a:r>
              <a:rPr lang="ro-RO" altLang="en-US" sz="2000" dirty="0">
                <a:solidFill>
                  <a:schemeClr val="accent2"/>
                </a:solidFill>
                <a:latin typeface="Trebuchet MS" panose="020B0703020202090204" pitchFamily="34" charset="0"/>
              </a:rPr>
              <a:t>", </a:t>
            </a:r>
            <a:r>
              <a:rPr lang="ro-RO" altLang="en-US" sz="2000" dirty="0" err="1">
                <a:solidFill>
                  <a:schemeClr val="accent2"/>
                </a:solidFill>
                <a:latin typeface="Trebuchet MS" panose="020B0703020202090204" pitchFamily="34" charset="0"/>
              </a:rPr>
              <a:t>teacher</a:t>
            </a:r>
            <a:r>
              <a:rPr lang="ro-RO" altLang="en-US" sz="2000" dirty="0">
                <a:solidFill>
                  <a:schemeClr val="accent2"/>
                </a:solidFill>
                <a:latin typeface="Trebuchet MS" panose="020B0703020202090204" pitchFamily="34" charset="0"/>
              </a:rPr>
              <a:t>: “Ciprian Dobre" }</a:t>
            </a:r>
            <a:endParaRPr lang="ro-RO" altLang="en-US" sz="2000" dirty="0">
              <a:solidFill>
                <a:schemeClr val="accent2"/>
              </a:solidFill>
            </a:endParaRPr>
          </a:p>
          <a:p>
            <a:pPr marL="514350" indent="-514350">
              <a:lnSpc>
                <a:spcPct val="100000"/>
              </a:lnSpc>
              <a:spcBef>
                <a:spcPts val="600"/>
              </a:spcBef>
              <a:spcAft>
                <a:spcPts val="600"/>
              </a:spcAft>
              <a:buFontTx/>
              <a:buAutoNum type="arabicPeriod"/>
            </a:pPr>
            <a:r>
              <a:rPr lang="ro-RO" altLang="en-US" sz="2800" dirty="0"/>
              <a:t>Puteți folosi </a:t>
            </a:r>
            <a:r>
              <a:rPr lang="ro-RO" altLang="en-US" sz="2800" dirty="0" err="1">
                <a:solidFill>
                  <a:schemeClr val="accent2"/>
                </a:solidFill>
                <a:latin typeface="Trebuchet MS" panose="020B0703020202090204" pitchFamily="34" charset="0"/>
              </a:rPr>
              <a:t>new</a:t>
            </a:r>
            <a:r>
              <a:rPr lang="ro-RO" altLang="en-US" sz="2800" dirty="0"/>
              <a:t> pentru a crea un obiect “</a:t>
            </a:r>
            <a:r>
              <a:rPr lang="ro-RO" altLang="en-US" sz="2800" i="1" dirty="0" err="1"/>
              <a:t>blank</a:t>
            </a:r>
            <a:r>
              <a:rPr lang="ro-RO" altLang="en-US" sz="2800" dirty="0"/>
              <a:t>” căruia să îi adăugați câmpuri ulterior:</a:t>
            </a:r>
          </a:p>
          <a:p>
            <a:pPr lvl="1">
              <a:lnSpc>
                <a:spcPct val="100000"/>
              </a:lnSpc>
              <a:spcBef>
                <a:spcPts val="600"/>
              </a:spcBef>
              <a:spcAft>
                <a:spcPts val="600"/>
              </a:spcAft>
              <a:buNone/>
            </a:pPr>
            <a:r>
              <a:rPr lang="ro-RO" altLang="en-US" sz="2000" dirty="0">
                <a:solidFill>
                  <a:schemeClr val="accent2"/>
                </a:solidFill>
                <a:latin typeface="Trebuchet MS" panose="020B0703020202090204" pitchFamily="34" charset="0"/>
              </a:rPr>
              <a:t>		var </a:t>
            </a:r>
            <a:r>
              <a:rPr lang="ro-RO" altLang="en-US" sz="2000" dirty="0" err="1">
                <a:solidFill>
                  <a:schemeClr val="accent2"/>
                </a:solidFill>
                <a:latin typeface="Trebuchet MS" panose="020B0703020202090204" pitchFamily="34" charset="0"/>
              </a:rPr>
              <a:t>course</a:t>
            </a:r>
            <a:r>
              <a:rPr lang="ro-RO" altLang="en-US" sz="2000" dirty="0">
                <a:solidFill>
                  <a:schemeClr val="accent2"/>
                </a:solidFill>
                <a:latin typeface="Trebuchet MS" panose="020B0703020202090204" pitchFamily="34" charset="0"/>
              </a:rPr>
              <a:t> = </a:t>
            </a:r>
            <a:r>
              <a:rPr lang="ro-RO" altLang="en-US" sz="2000" dirty="0" err="1">
                <a:solidFill>
                  <a:schemeClr val="accent2"/>
                </a:solidFill>
                <a:latin typeface="Trebuchet MS" panose="020B0703020202090204" pitchFamily="34" charset="0"/>
              </a:rPr>
              <a:t>new</a:t>
            </a:r>
            <a:r>
              <a:rPr lang="ro-RO" altLang="en-US" sz="2000" dirty="0">
                <a:solidFill>
                  <a:schemeClr val="accent2"/>
                </a:solidFill>
                <a:latin typeface="Trebuchet MS" panose="020B0703020202090204" pitchFamily="34" charset="0"/>
              </a:rPr>
              <a:t> </a:t>
            </a:r>
            <a:r>
              <a:rPr lang="ro-RO" altLang="en-US" sz="2000" dirty="0" err="1">
                <a:solidFill>
                  <a:schemeClr val="accent2"/>
                </a:solidFill>
                <a:latin typeface="Trebuchet MS" panose="020B0703020202090204" pitchFamily="34" charset="0"/>
              </a:rPr>
              <a:t>Object</a:t>
            </a:r>
            <a:r>
              <a:rPr lang="ro-RO" altLang="en-US" sz="2000" dirty="0">
                <a:solidFill>
                  <a:schemeClr val="accent2"/>
                </a:solidFill>
                <a:latin typeface="Trebuchet MS" panose="020B0703020202090204" pitchFamily="34" charset="0"/>
              </a:rPr>
              <a:t>();</a:t>
            </a:r>
            <a:br>
              <a:rPr lang="ro-RO" altLang="en-US" sz="2000" dirty="0">
                <a:solidFill>
                  <a:schemeClr val="accent2"/>
                </a:solidFill>
                <a:latin typeface="Trebuchet MS" panose="020B0703020202090204" pitchFamily="34" charset="0"/>
              </a:rPr>
            </a:br>
            <a:r>
              <a:rPr lang="ro-RO" altLang="en-US" sz="2000" dirty="0">
                <a:solidFill>
                  <a:schemeClr val="accent2"/>
                </a:solidFill>
                <a:latin typeface="Trebuchet MS" panose="020B0703020202090204" pitchFamily="34" charset="0"/>
              </a:rPr>
              <a:t>	</a:t>
            </a:r>
            <a:r>
              <a:rPr lang="ro-RO" altLang="en-US" sz="2000" dirty="0" err="1">
                <a:solidFill>
                  <a:schemeClr val="accent2"/>
                </a:solidFill>
                <a:latin typeface="Trebuchet MS" panose="020B0703020202090204" pitchFamily="34" charset="0"/>
              </a:rPr>
              <a:t>course.name</a:t>
            </a:r>
            <a:r>
              <a:rPr lang="ro-RO" altLang="en-US" sz="2000" dirty="0">
                <a:solidFill>
                  <a:schemeClr val="accent2"/>
                </a:solidFill>
                <a:latin typeface="Trebuchet MS" panose="020B0703020202090204" pitchFamily="34" charset="0"/>
              </a:rPr>
              <a:t> = “</a:t>
            </a:r>
            <a:r>
              <a:rPr lang="ro-RO" altLang="en-US" sz="2000" dirty="0" err="1">
                <a:solidFill>
                  <a:schemeClr val="accent2"/>
                </a:solidFill>
                <a:latin typeface="Trebuchet MS" panose="020B0703020202090204" pitchFamily="34" charset="0"/>
              </a:rPr>
              <a:t>PWeb</a:t>
            </a:r>
            <a:r>
              <a:rPr lang="ro-RO" altLang="en-US" sz="2000" dirty="0">
                <a:solidFill>
                  <a:schemeClr val="accent2"/>
                </a:solidFill>
                <a:latin typeface="Trebuchet MS" panose="020B0703020202090204" pitchFamily="34" charset="0"/>
              </a:rPr>
              <a:t>";</a:t>
            </a:r>
            <a:br>
              <a:rPr lang="ro-RO" altLang="en-US" sz="2000" dirty="0">
                <a:solidFill>
                  <a:schemeClr val="accent2"/>
                </a:solidFill>
                <a:latin typeface="Trebuchet MS" panose="020B0703020202090204" pitchFamily="34" charset="0"/>
              </a:rPr>
            </a:br>
            <a:r>
              <a:rPr lang="ro-RO" altLang="en-US" sz="2000" dirty="0">
                <a:solidFill>
                  <a:schemeClr val="accent2"/>
                </a:solidFill>
                <a:latin typeface="Trebuchet MS" panose="020B0703020202090204" pitchFamily="34" charset="0"/>
              </a:rPr>
              <a:t>	</a:t>
            </a:r>
            <a:r>
              <a:rPr lang="ro-RO" altLang="en-US" sz="2000" dirty="0" err="1">
                <a:solidFill>
                  <a:schemeClr val="accent2"/>
                </a:solidFill>
                <a:latin typeface="Trebuchet MS" panose="020B0703020202090204" pitchFamily="34" charset="0"/>
              </a:rPr>
              <a:t>course.teacher</a:t>
            </a:r>
            <a:r>
              <a:rPr lang="ro-RO" altLang="en-US" sz="2000" dirty="0">
                <a:solidFill>
                  <a:schemeClr val="accent2"/>
                </a:solidFill>
                <a:latin typeface="Trebuchet MS" panose="020B0703020202090204" pitchFamily="34" charset="0"/>
              </a:rPr>
              <a:t> = “Ciprian Dobre";</a:t>
            </a:r>
          </a:p>
          <a:p>
            <a:pPr marL="514350" indent="-514350">
              <a:lnSpc>
                <a:spcPct val="100000"/>
              </a:lnSpc>
              <a:spcBef>
                <a:spcPts val="600"/>
              </a:spcBef>
              <a:spcAft>
                <a:spcPts val="600"/>
              </a:spcAft>
              <a:buFontTx/>
              <a:buAutoNum type="arabicPeriod"/>
            </a:pPr>
            <a:r>
              <a:rPr lang="ro-RO" altLang="en-US" sz="2800" dirty="0"/>
              <a:t>Puteți scrie și folosi un constructor:</a:t>
            </a:r>
          </a:p>
          <a:p>
            <a:pPr lvl="1">
              <a:lnSpc>
                <a:spcPct val="100000"/>
              </a:lnSpc>
              <a:spcBef>
                <a:spcPts val="600"/>
              </a:spcBef>
              <a:spcAft>
                <a:spcPts val="600"/>
              </a:spcAft>
              <a:buNone/>
            </a:pPr>
            <a:r>
              <a:rPr lang="ro-RO" altLang="en-US" sz="2400" dirty="0">
                <a:solidFill>
                  <a:schemeClr val="accent2"/>
                </a:solidFill>
                <a:latin typeface="Trebuchet MS" panose="020B0703020202090204" pitchFamily="34" charset="0"/>
              </a:rPr>
              <a:t>		</a:t>
            </a:r>
            <a:r>
              <a:rPr lang="ro-RO" altLang="en-US" sz="2400" dirty="0" err="1">
                <a:solidFill>
                  <a:schemeClr val="accent2"/>
                </a:solidFill>
                <a:latin typeface="Trebuchet MS" panose="020B0703020202090204" pitchFamily="34" charset="0"/>
              </a:rPr>
              <a:t>function</a:t>
            </a:r>
            <a:r>
              <a:rPr lang="ro-RO" altLang="en-US" sz="2400" dirty="0">
                <a:solidFill>
                  <a:schemeClr val="accent2"/>
                </a:solidFill>
                <a:latin typeface="Trebuchet MS" panose="020B0703020202090204" pitchFamily="34" charset="0"/>
              </a:rPr>
              <a:t> </a:t>
            </a:r>
            <a:r>
              <a:rPr lang="ro-RO" altLang="en-US" sz="2400" dirty="0" err="1">
                <a:solidFill>
                  <a:schemeClr val="accent2"/>
                </a:solidFill>
                <a:latin typeface="Trebuchet MS" panose="020B0703020202090204" pitchFamily="34" charset="0"/>
              </a:rPr>
              <a:t>Course</a:t>
            </a:r>
            <a:r>
              <a:rPr lang="ro-RO" altLang="en-US" sz="2400" dirty="0">
                <a:solidFill>
                  <a:schemeClr val="accent2"/>
                </a:solidFill>
                <a:latin typeface="Trebuchet MS" panose="020B0703020202090204" pitchFamily="34" charset="0"/>
              </a:rPr>
              <a:t>(n, t) { </a:t>
            </a:r>
            <a:r>
              <a:rPr lang="ro-RO" altLang="en-US" sz="1600" dirty="0">
                <a:latin typeface="Trebuchet MS" panose="020B0703020202090204" pitchFamily="34" charset="0"/>
              </a:rPr>
              <a:t>// </a:t>
            </a:r>
            <a:r>
              <a:rPr lang="ro-RO" altLang="en-US" sz="1600" dirty="0" err="1">
                <a:latin typeface="Trebuchet MS" panose="020B0703020202090204" pitchFamily="34" charset="0"/>
              </a:rPr>
              <a:t>functia</a:t>
            </a:r>
            <a:r>
              <a:rPr lang="ro-RO" altLang="en-US" sz="1600" dirty="0">
                <a:latin typeface="Trebuchet MS" panose="020B0703020202090204" pitchFamily="34" charset="0"/>
              </a:rPr>
              <a:t> ar trebui definita in </a:t>
            </a:r>
            <a:r>
              <a:rPr lang="ro-RO" altLang="en-US" sz="1600" dirty="0" err="1">
                <a:latin typeface="Trebuchet MS" panose="020B0703020202090204" pitchFamily="34" charset="0"/>
              </a:rPr>
              <a:t>sectiunea</a:t>
            </a:r>
            <a:r>
              <a:rPr lang="ro-RO" altLang="en-US" sz="1600" dirty="0">
                <a:latin typeface="Trebuchet MS" panose="020B0703020202090204" pitchFamily="34" charset="0"/>
              </a:rPr>
              <a:t> &lt;</a:t>
            </a:r>
            <a:r>
              <a:rPr lang="ro-RO" altLang="en-US" sz="1600" dirty="0" err="1">
                <a:latin typeface="Trebuchet MS" panose="020B0703020202090204" pitchFamily="34" charset="0"/>
              </a:rPr>
              <a:t>head</a:t>
            </a:r>
            <a:r>
              <a:rPr lang="ro-RO" altLang="en-US" sz="1600" dirty="0">
                <a:latin typeface="Trebuchet MS" panose="020B0703020202090204" pitchFamily="34" charset="0"/>
              </a:rPr>
              <a:t>&gt;</a:t>
            </a:r>
            <a:r>
              <a:rPr lang="ro-RO" altLang="en-US" sz="2400" dirty="0">
                <a:latin typeface="Trebuchet MS" panose="020B0703020202090204" pitchFamily="34" charset="0"/>
              </a:rPr>
              <a:t> </a:t>
            </a:r>
            <a:br>
              <a:rPr lang="ro-RO" altLang="en-US" sz="2400" dirty="0">
                <a:solidFill>
                  <a:srgbClr val="FF0000"/>
                </a:solidFill>
                <a:latin typeface="Trebuchet MS" panose="020B0703020202090204" pitchFamily="34" charset="0"/>
              </a:rPr>
            </a:br>
            <a:r>
              <a:rPr lang="ro-RO" altLang="en-US" sz="2400" dirty="0">
                <a:solidFill>
                  <a:schemeClr val="accent2"/>
                </a:solidFill>
                <a:latin typeface="Trebuchet MS" panose="020B0703020202090204" pitchFamily="34" charset="0"/>
              </a:rPr>
              <a:t>    		</a:t>
            </a:r>
            <a:r>
              <a:rPr lang="ro-RO" altLang="en-US" sz="2400" dirty="0" err="1">
                <a:solidFill>
                  <a:schemeClr val="accent2"/>
                </a:solidFill>
                <a:latin typeface="Trebuchet MS" panose="020B0703020202090204" pitchFamily="34" charset="0"/>
              </a:rPr>
              <a:t>this.name</a:t>
            </a:r>
            <a:r>
              <a:rPr lang="ro-RO" altLang="en-US" sz="2400" dirty="0">
                <a:solidFill>
                  <a:schemeClr val="accent2"/>
                </a:solidFill>
                <a:latin typeface="Trebuchet MS" panose="020B0703020202090204" pitchFamily="34" charset="0"/>
              </a:rPr>
              <a:t> = n;  </a:t>
            </a:r>
            <a:r>
              <a:rPr lang="ro-RO" altLang="en-US" sz="1600" dirty="0">
                <a:latin typeface="Trebuchet MS" panose="020B0703020202090204" pitchFamily="34" charset="0"/>
              </a:rPr>
              <a:t>// </a:t>
            </a:r>
            <a:r>
              <a:rPr lang="ro-RO" altLang="en-US" sz="1600" dirty="0" err="1">
                <a:latin typeface="Trebuchet MS" panose="020B0703020202090204" pitchFamily="34" charset="0"/>
              </a:rPr>
              <a:t>cuvantul</a:t>
            </a:r>
            <a:r>
              <a:rPr lang="ro-RO" altLang="en-US" sz="1600" dirty="0">
                <a:latin typeface="Trebuchet MS" panose="020B0703020202090204" pitchFamily="34" charset="0"/>
              </a:rPr>
              <a:t> cheie "</a:t>
            </a:r>
            <a:r>
              <a:rPr lang="ro-RO" altLang="en-US" sz="1600" dirty="0" err="1">
                <a:latin typeface="Trebuchet MS" panose="020B0703020202090204" pitchFamily="34" charset="0"/>
              </a:rPr>
              <a:t>this</a:t>
            </a:r>
            <a:r>
              <a:rPr lang="ro-RO" altLang="en-US" sz="1600" dirty="0">
                <a:latin typeface="Trebuchet MS" panose="020B0703020202090204" pitchFamily="34" charset="0"/>
              </a:rPr>
              <a:t>" este necesar, nu </a:t>
            </a:r>
            <a:r>
              <a:rPr lang="ro-RO" altLang="en-US" sz="1600" dirty="0" err="1">
                <a:latin typeface="Trebuchet MS" panose="020B0703020202090204" pitchFamily="34" charset="0"/>
              </a:rPr>
              <a:t>optional</a:t>
            </a:r>
            <a:br>
              <a:rPr lang="ro-RO" altLang="en-US" sz="2400" dirty="0">
                <a:solidFill>
                  <a:srgbClr val="FF0000"/>
                </a:solidFill>
                <a:latin typeface="Trebuchet MS" panose="020B0703020202090204" pitchFamily="34" charset="0"/>
              </a:rPr>
            </a:br>
            <a:r>
              <a:rPr lang="ro-RO" altLang="en-US" sz="2400" dirty="0">
                <a:solidFill>
                  <a:schemeClr val="accent2"/>
                </a:solidFill>
                <a:latin typeface="Trebuchet MS" panose="020B0703020202090204" pitchFamily="34" charset="0"/>
              </a:rPr>
              <a:t>     		</a:t>
            </a:r>
            <a:r>
              <a:rPr lang="ro-RO" altLang="en-US" sz="2400" dirty="0" err="1">
                <a:solidFill>
                  <a:schemeClr val="accent2"/>
                </a:solidFill>
                <a:latin typeface="Trebuchet MS" panose="020B0703020202090204" pitchFamily="34" charset="0"/>
              </a:rPr>
              <a:t>this.teacher</a:t>
            </a:r>
            <a:r>
              <a:rPr lang="ro-RO" altLang="en-US" sz="2400" dirty="0">
                <a:solidFill>
                  <a:schemeClr val="accent2"/>
                </a:solidFill>
                <a:latin typeface="Trebuchet MS" panose="020B0703020202090204" pitchFamily="34" charset="0"/>
              </a:rPr>
              <a:t> = t;</a:t>
            </a:r>
            <a:br>
              <a:rPr lang="ro-RO" altLang="en-US" sz="2400" dirty="0">
                <a:solidFill>
                  <a:schemeClr val="accent2"/>
                </a:solidFill>
                <a:latin typeface="Trebuchet MS" panose="020B0703020202090204" pitchFamily="34" charset="0"/>
              </a:rPr>
            </a:br>
            <a:r>
              <a:rPr lang="ro-RO" altLang="en-US" sz="2400" dirty="0">
                <a:solidFill>
                  <a:schemeClr val="accent2"/>
                </a:solidFill>
                <a:latin typeface="Trebuchet MS" panose="020B0703020202090204" pitchFamily="34" charset="0"/>
              </a:rPr>
              <a:t>	}</a:t>
            </a:r>
          </a:p>
          <a:p>
            <a:pPr lvl="1">
              <a:lnSpc>
                <a:spcPct val="100000"/>
              </a:lnSpc>
              <a:spcBef>
                <a:spcPts val="600"/>
              </a:spcBef>
              <a:spcAft>
                <a:spcPts val="600"/>
              </a:spcAft>
              <a:buNone/>
            </a:pPr>
            <a:r>
              <a:rPr lang="ro-RO" altLang="en-US" sz="2400" dirty="0">
                <a:solidFill>
                  <a:schemeClr val="accent2"/>
                </a:solidFill>
                <a:latin typeface="Trebuchet MS" panose="020B0703020202090204" pitchFamily="34" charset="0"/>
              </a:rPr>
              <a:t>		var </a:t>
            </a:r>
            <a:r>
              <a:rPr lang="ro-RO" altLang="en-US" sz="2400" dirty="0" err="1">
                <a:solidFill>
                  <a:schemeClr val="accent2"/>
                </a:solidFill>
                <a:latin typeface="Trebuchet MS" panose="020B0703020202090204" pitchFamily="34" charset="0"/>
              </a:rPr>
              <a:t>course</a:t>
            </a:r>
            <a:r>
              <a:rPr lang="ro-RO" altLang="en-US" sz="2400" dirty="0">
                <a:solidFill>
                  <a:schemeClr val="accent2"/>
                </a:solidFill>
                <a:latin typeface="Trebuchet MS" panose="020B0703020202090204" pitchFamily="34" charset="0"/>
              </a:rPr>
              <a:t> = </a:t>
            </a:r>
            <a:r>
              <a:rPr lang="ro-RO" altLang="en-US" sz="2400" dirty="0" err="1">
                <a:solidFill>
                  <a:schemeClr val="accent2"/>
                </a:solidFill>
                <a:latin typeface="Trebuchet MS" panose="020B0703020202090204" pitchFamily="34" charset="0"/>
              </a:rPr>
              <a:t>new</a:t>
            </a:r>
            <a:r>
              <a:rPr lang="ro-RO" altLang="en-US" sz="2400" dirty="0">
                <a:solidFill>
                  <a:schemeClr val="accent2"/>
                </a:solidFill>
                <a:latin typeface="Trebuchet MS" panose="020B0703020202090204" pitchFamily="34" charset="0"/>
              </a:rPr>
              <a:t> </a:t>
            </a:r>
            <a:r>
              <a:rPr lang="ro-RO" altLang="en-US" sz="2400" dirty="0" err="1">
                <a:solidFill>
                  <a:schemeClr val="accent2"/>
                </a:solidFill>
                <a:latin typeface="Trebuchet MS" panose="020B0703020202090204" pitchFamily="34" charset="0"/>
              </a:rPr>
              <a:t>Course</a:t>
            </a:r>
            <a:r>
              <a:rPr lang="ro-RO" altLang="en-US" sz="2400" dirty="0">
                <a:solidFill>
                  <a:schemeClr val="accent2"/>
                </a:solidFill>
                <a:latin typeface="Trebuchet MS" panose="020B0703020202090204" pitchFamily="34" charset="0"/>
              </a:rPr>
              <a:t>(“</a:t>
            </a:r>
            <a:r>
              <a:rPr lang="ro-RO" altLang="en-US" sz="2400" dirty="0" err="1">
                <a:solidFill>
                  <a:schemeClr val="accent2"/>
                </a:solidFill>
                <a:latin typeface="Trebuchet MS" panose="020B0703020202090204" pitchFamily="34" charset="0"/>
              </a:rPr>
              <a:t>PWeb</a:t>
            </a:r>
            <a:r>
              <a:rPr lang="ro-RO" altLang="en-US" sz="2400" dirty="0">
                <a:solidFill>
                  <a:schemeClr val="accent2"/>
                </a:solidFill>
                <a:latin typeface="Trebuchet MS" panose="020B0703020202090204" pitchFamily="34" charset="0"/>
              </a:rPr>
              <a:t>", “Ciprian Dobre");</a:t>
            </a:r>
          </a:p>
          <a:p>
            <a:pPr marL="514350" indent="-514350">
              <a:lnSpc>
                <a:spcPct val="100000"/>
              </a:lnSpc>
              <a:spcBef>
                <a:spcPts val="600"/>
              </a:spcBef>
              <a:spcAft>
                <a:spcPts val="600"/>
              </a:spcAft>
            </a:pPr>
            <a:endParaRPr lang="ro-RO" altLang="en-US" sz="2800" dirty="0"/>
          </a:p>
        </p:txBody>
      </p:sp>
      <p:sp>
        <p:nvSpPr>
          <p:cNvPr id="43012" name="Footer Placeholder 4">
            <a:extLst>
              <a:ext uri="{FF2B5EF4-FFF2-40B4-BE49-F238E27FC236}">
                <a16:creationId xmlns:a16="http://schemas.microsoft.com/office/drawing/2014/main" id="{8C02B008-BB6A-AB00-55F7-8758F195B92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900">
                <a:solidFill>
                  <a:schemeClr val="bg1"/>
                </a:solidFill>
              </a:rPr>
              <a:t>Curs Programare Web, anul 4 C5 – Curs 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Slide Number Placeholder 5">
            <a:extLst>
              <a:ext uri="{FF2B5EF4-FFF2-40B4-BE49-F238E27FC236}">
                <a16:creationId xmlns:a16="http://schemas.microsoft.com/office/drawing/2014/main" id="{4E640747-9C4D-F296-A2DC-EC865676C81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E206936A-C615-F24C-BC57-4042CF30BCC5}" type="slidenum">
              <a:rPr lang="en-US" altLang="en-US" sz="900">
                <a:solidFill>
                  <a:schemeClr val="bg1"/>
                </a:solidFill>
              </a:rPr>
              <a:pPr>
                <a:spcBef>
                  <a:spcPct val="0"/>
                </a:spcBef>
                <a:buFontTx/>
                <a:buNone/>
              </a:pPr>
              <a:t>19</a:t>
            </a:fld>
            <a:endParaRPr lang="en-US" altLang="en-US" sz="900">
              <a:solidFill>
                <a:schemeClr val="bg1"/>
              </a:solidFill>
            </a:endParaRPr>
          </a:p>
        </p:txBody>
      </p:sp>
      <p:sp>
        <p:nvSpPr>
          <p:cNvPr id="654338" name="Rectangle 2">
            <a:extLst>
              <a:ext uri="{FF2B5EF4-FFF2-40B4-BE49-F238E27FC236}">
                <a16:creationId xmlns:a16="http://schemas.microsoft.com/office/drawing/2014/main" id="{5275EE65-7960-1342-B6DC-CF22A7CCA4D4}"/>
              </a:ext>
            </a:extLst>
          </p:cNvPr>
          <p:cNvSpPr>
            <a:spLocks noGrp="1" noChangeArrowheads="1"/>
          </p:cNvSpPr>
          <p:nvPr>
            <p:ph type="title"/>
          </p:nvPr>
        </p:nvSpPr>
        <p:spPr>
          <a:xfrm>
            <a:off x="1024320" y="267950"/>
            <a:ext cx="9720072" cy="1499616"/>
          </a:xfrm>
        </p:spPr>
        <p:txBody>
          <a:bodyPr vert="horz" lIns="91440" tIns="45720" rIns="91440" bIns="45720" rtlCol="0" anchor="ctr">
            <a:normAutofit/>
          </a:bodyPr>
          <a:lstStyle/>
          <a:p>
            <a:r>
              <a:rPr lang="ro-RO" altLang="en-US" b="1" dirty="0" err="1"/>
              <a:t>Array</a:t>
            </a:r>
            <a:endParaRPr lang="en-US" altLang="en-US" b="1" dirty="0"/>
          </a:p>
        </p:txBody>
      </p:sp>
      <p:sp>
        <p:nvSpPr>
          <p:cNvPr id="44035" name="Rectangle 3">
            <a:extLst>
              <a:ext uri="{FF2B5EF4-FFF2-40B4-BE49-F238E27FC236}">
                <a16:creationId xmlns:a16="http://schemas.microsoft.com/office/drawing/2014/main" id="{A8DEFEF6-634F-35A0-DD91-BE5897431EB6}"/>
              </a:ext>
            </a:extLst>
          </p:cNvPr>
          <p:cNvSpPr>
            <a:spLocks noGrp="1" noChangeArrowheads="1"/>
          </p:cNvSpPr>
          <p:nvPr>
            <p:ph type="body" idx="1"/>
          </p:nvPr>
        </p:nvSpPr>
        <p:spPr>
          <a:xfrm>
            <a:off x="1024320" y="1411024"/>
            <a:ext cx="10704222" cy="5334000"/>
          </a:xfrm>
        </p:spPr>
        <p:txBody>
          <a:bodyPr>
            <a:normAutofit lnSpcReduction="10000"/>
          </a:bodyPr>
          <a:lstStyle/>
          <a:p>
            <a:pPr eaLnBrk="1" hangingPunct="1">
              <a:lnSpc>
                <a:spcPct val="100000"/>
              </a:lnSpc>
              <a:spcBef>
                <a:spcPts val="600"/>
              </a:spcBef>
              <a:spcAft>
                <a:spcPts val="600"/>
              </a:spcAft>
            </a:pPr>
            <a:r>
              <a:rPr lang="ro-RO" altLang="en-US" sz="2800" dirty="0" err="1"/>
              <a:t>JavaScript</a:t>
            </a:r>
            <a:r>
              <a:rPr lang="ro-RO" altLang="en-US" sz="2800" dirty="0"/>
              <a:t> permite definirea de tablouri, declarate folosind paranteze drepte și virgule</a:t>
            </a:r>
          </a:p>
          <a:p>
            <a:pPr marL="128016" lvl="1" indent="0" eaLnBrk="1" hangingPunct="1">
              <a:lnSpc>
                <a:spcPct val="100000"/>
              </a:lnSpc>
              <a:spcBef>
                <a:spcPts val="600"/>
              </a:spcBef>
              <a:spcAft>
                <a:spcPts val="600"/>
              </a:spcAft>
              <a:buNone/>
            </a:pPr>
            <a:r>
              <a:rPr lang="ro-RO" altLang="en-US" sz="2400" dirty="0"/>
              <a:t>	Exemplu: </a:t>
            </a:r>
            <a:r>
              <a:rPr lang="ro-RO" altLang="en-US" sz="2400" dirty="0">
                <a:solidFill>
                  <a:schemeClr val="accent2"/>
                </a:solidFill>
              </a:rPr>
              <a:t>color = ["</a:t>
            </a:r>
            <a:r>
              <a:rPr lang="ro-RO" altLang="en-US" sz="2400" dirty="0" err="1">
                <a:solidFill>
                  <a:schemeClr val="accent2"/>
                </a:solidFill>
              </a:rPr>
              <a:t>red</a:t>
            </a:r>
            <a:r>
              <a:rPr lang="ro-RO" altLang="en-US" sz="2400" dirty="0">
                <a:solidFill>
                  <a:schemeClr val="accent2"/>
                </a:solidFill>
              </a:rPr>
              <a:t>", "</a:t>
            </a:r>
            <a:r>
              <a:rPr lang="ro-RO" altLang="en-US" sz="2400" dirty="0" err="1">
                <a:solidFill>
                  <a:schemeClr val="accent2"/>
                </a:solidFill>
              </a:rPr>
              <a:t>yellow</a:t>
            </a:r>
            <a:r>
              <a:rPr lang="ro-RO" altLang="en-US" sz="2400" dirty="0">
                <a:solidFill>
                  <a:schemeClr val="accent2"/>
                </a:solidFill>
              </a:rPr>
              <a:t>", "</a:t>
            </a:r>
            <a:r>
              <a:rPr lang="ro-RO" altLang="en-US" sz="2400" dirty="0" err="1">
                <a:solidFill>
                  <a:schemeClr val="accent2"/>
                </a:solidFill>
              </a:rPr>
              <a:t>green</a:t>
            </a:r>
            <a:r>
              <a:rPr lang="ro-RO" altLang="en-US" sz="2400" dirty="0">
                <a:solidFill>
                  <a:schemeClr val="accent2"/>
                </a:solidFill>
              </a:rPr>
              <a:t>", "</a:t>
            </a:r>
            <a:r>
              <a:rPr lang="ro-RO" altLang="en-US" sz="2400" dirty="0" err="1">
                <a:solidFill>
                  <a:schemeClr val="accent2"/>
                </a:solidFill>
              </a:rPr>
              <a:t>blue</a:t>
            </a:r>
            <a:r>
              <a:rPr lang="ro-RO" altLang="en-US" sz="2400" dirty="0">
                <a:solidFill>
                  <a:schemeClr val="accent2"/>
                </a:solidFill>
              </a:rPr>
              <a:t>"];</a:t>
            </a:r>
          </a:p>
          <a:p>
            <a:pPr marL="128016" lvl="1" indent="0" eaLnBrk="1" hangingPunct="1">
              <a:lnSpc>
                <a:spcPct val="100000"/>
              </a:lnSpc>
              <a:spcBef>
                <a:spcPts val="600"/>
              </a:spcBef>
              <a:spcAft>
                <a:spcPts val="600"/>
              </a:spcAft>
              <a:buNone/>
            </a:pPr>
            <a:r>
              <a:rPr lang="ro-RO" altLang="en-US" sz="2400" dirty="0"/>
              <a:t>Variabilele tablou sunt inițializate începând de la poziția 0  </a:t>
            </a:r>
            <a:r>
              <a:rPr lang="ro-RO" altLang="en-US" sz="2400" dirty="0">
                <a:sym typeface="Wingdings" pitchFamily="2" charset="2"/>
              </a:rPr>
              <a:t> </a:t>
            </a:r>
            <a:r>
              <a:rPr lang="ro-RO" altLang="en-US" sz="2400" dirty="0"/>
              <a:t> </a:t>
            </a:r>
            <a:r>
              <a:rPr lang="ro-RO" altLang="en-US" sz="2400" dirty="0">
                <a:solidFill>
                  <a:schemeClr val="accent2"/>
                </a:solidFill>
              </a:rPr>
              <a:t>color[0]</a:t>
            </a:r>
            <a:r>
              <a:rPr lang="ro-RO" altLang="en-US" sz="2400" dirty="0">
                <a:solidFill>
                  <a:srgbClr val="FFFF7F"/>
                </a:solidFill>
              </a:rPr>
              <a:t> </a:t>
            </a:r>
            <a:r>
              <a:rPr lang="ro-RO" altLang="en-US" sz="2400" dirty="0"/>
              <a:t>are valoarea </a:t>
            </a:r>
            <a:r>
              <a:rPr lang="ro-RO" altLang="en-US" sz="2400" dirty="0">
                <a:solidFill>
                  <a:schemeClr val="accent2"/>
                </a:solidFill>
              </a:rPr>
              <a:t>"</a:t>
            </a:r>
            <a:r>
              <a:rPr lang="ro-RO" altLang="en-US" sz="2400" dirty="0" err="1">
                <a:solidFill>
                  <a:schemeClr val="accent2"/>
                </a:solidFill>
              </a:rPr>
              <a:t>red</a:t>
            </a:r>
            <a:r>
              <a:rPr lang="ro-RO" altLang="en-US" sz="2400" dirty="0">
                <a:solidFill>
                  <a:schemeClr val="accent2"/>
                </a:solidFill>
              </a:rPr>
              <a:t>"</a:t>
            </a:r>
          </a:p>
          <a:p>
            <a:pPr eaLnBrk="1" hangingPunct="1">
              <a:lnSpc>
                <a:spcPct val="100000"/>
              </a:lnSpc>
              <a:spcBef>
                <a:spcPts val="600"/>
              </a:spcBef>
              <a:spcAft>
                <a:spcPts val="600"/>
              </a:spcAft>
            </a:pPr>
            <a:r>
              <a:rPr lang="ro-RO" altLang="en-US" sz="2800" dirty="0"/>
              <a:t>Dacă folosim două virgule succesive, variabila tablou va avea un element “</a:t>
            </a:r>
            <a:r>
              <a:rPr lang="ro-RO" altLang="en-US" sz="2800" i="1" dirty="0" err="1"/>
              <a:t>empty</a:t>
            </a:r>
            <a:r>
              <a:rPr lang="ro-RO" altLang="en-US" sz="2800" dirty="0"/>
              <a:t>” în respectiva poziție</a:t>
            </a:r>
          </a:p>
          <a:p>
            <a:pPr marL="128016" lvl="1" indent="0" eaLnBrk="1" hangingPunct="1">
              <a:lnSpc>
                <a:spcPct val="100000"/>
              </a:lnSpc>
              <a:spcBef>
                <a:spcPts val="600"/>
              </a:spcBef>
              <a:spcAft>
                <a:spcPts val="600"/>
              </a:spcAft>
              <a:buNone/>
            </a:pPr>
            <a:r>
              <a:rPr lang="ro-RO" altLang="en-US" sz="2400" dirty="0"/>
              <a:t>Exemplu:</a:t>
            </a:r>
            <a:r>
              <a:rPr lang="ro-RO" altLang="en-US" sz="2400" dirty="0">
                <a:solidFill>
                  <a:schemeClr val="accent2"/>
                </a:solidFill>
              </a:rPr>
              <a:t> color = ["</a:t>
            </a:r>
            <a:r>
              <a:rPr lang="ro-RO" altLang="en-US" sz="2400" dirty="0" err="1">
                <a:solidFill>
                  <a:schemeClr val="accent2"/>
                </a:solidFill>
              </a:rPr>
              <a:t>red</a:t>
            </a:r>
            <a:r>
              <a:rPr lang="ro-RO" altLang="en-US" sz="2400" dirty="0">
                <a:solidFill>
                  <a:schemeClr val="accent2"/>
                </a:solidFill>
              </a:rPr>
              <a:t>", , , "</a:t>
            </a:r>
            <a:r>
              <a:rPr lang="ro-RO" altLang="en-US" sz="2400" dirty="0" err="1">
                <a:solidFill>
                  <a:schemeClr val="accent2"/>
                </a:solidFill>
              </a:rPr>
              <a:t>green</a:t>
            </a:r>
            <a:r>
              <a:rPr lang="ro-RO" altLang="en-US" sz="2400" dirty="0">
                <a:solidFill>
                  <a:schemeClr val="accent2"/>
                </a:solidFill>
              </a:rPr>
              <a:t>", "</a:t>
            </a:r>
            <a:r>
              <a:rPr lang="ro-RO" altLang="en-US" sz="2400" dirty="0" err="1">
                <a:solidFill>
                  <a:schemeClr val="accent2"/>
                </a:solidFill>
              </a:rPr>
              <a:t>blue</a:t>
            </a:r>
            <a:r>
              <a:rPr lang="ro-RO" altLang="en-US" sz="2400" dirty="0">
                <a:solidFill>
                  <a:schemeClr val="accent2"/>
                </a:solidFill>
              </a:rPr>
              <a:t>"];</a:t>
            </a:r>
          </a:p>
          <a:p>
            <a:pPr lvl="2" eaLnBrk="1" hangingPunct="1">
              <a:lnSpc>
                <a:spcPct val="100000"/>
              </a:lnSpc>
              <a:spcBef>
                <a:spcPts val="600"/>
              </a:spcBef>
              <a:spcAft>
                <a:spcPts val="600"/>
              </a:spcAft>
            </a:pPr>
            <a:r>
              <a:rPr lang="ro-RO" altLang="en-US" sz="2000" dirty="0">
                <a:solidFill>
                  <a:schemeClr val="accent2"/>
                </a:solidFill>
              </a:rPr>
              <a:t>color</a:t>
            </a:r>
            <a:r>
              <a:rPr lang="ro-RO" altLang="en-US" sz="2000" dirty="0">
                <a:solidFill>
                  <a:srgbClr val="FFFF7F"/>
                </a:solidFill>
              </a:rPr>
              <a:t> </a:t>
            </a:r>
            <a:r>
              <a:rPr lang="ro-RO" altLang="en-US" sz="2000" dirty="0"/>
              <a:t>are 5 elemente</a:t>
            </a:r>
          </a:p>
          <a:p>
            <a:pPr marL="128016" lvl="1" indent="0" eaLnBrk="1" hangingPunct="1">
              <a:lnSpc>
                <a:spcPct val="100000"/>
              </a:lnSpc>
              <a:spcBef>
                <a:spcPts val="600"/>
              </a:spcBef>
              <a:spcAft>
                <a:spcPts val="600"/>
              </a:spcAft>
              <a:buNone/>
            </a:pPr>
            <a:r>
              <a:rPr lang="ro-RO" altLang="en-US" sz="2400" dirty="0"/>
              <a:t>Totuși, o virgulă la final este ignorată</a:t>
            </a:r>
          </a:p>
          <a:p>
            <a:pPr lvl="2" eaLnBrk="1" hangingPunct="1">
              <a:lnSpc>
                <a:spcPct val="100000"/>
              </a:lnSpc>
              <a:spcBef>
                <a:spcPts val="600"/>
              </a:spcBef>
              <a:spcAft>
                <a:spcPts val="600"/>
              </a:spcAft>
            </a:pPr>
            <a:r>
              <a:rPr lang="ro-RO" altLang="en-US" sz="2000" dirty="0"/>
              <a:t>Exemplu: </a:t>
            </a:r>
            <a:r>
              <a:rPr lang="ro-RO" altLang="en-US" sz="2000" dirty="0">
                <a:solidFill>
                  <a:schemeClr val="accent2"/>
                </a:solidFill>
              </a:rPr>
              <a:t>color = ["</a:t>
            </a:r>
            <a:r>
              <a:rPr lang="ro-RO" altLang="en-US" sz="2000" dirty="0" err="1">
                <a:solidFill>
                  <a:schemeClr val="accent2"/>
                </a:solidFill>
              </a:rPr>
              <a:t>red</a:t>
            </a:r>
            <a:r>
              <a:rPr lang="ro-RO" altLang="en-US" sz="2000" dirty="0">
                <a:solidFill>
                  <a:schemeClr val="accent2"/>
                </a:solidFill>
              </a:rPr>
              <a:t>", , , "</a:t>
            </a:r>
            <a:r>
              <a:rPr lang="ro-RO" altLang="en-US" sz="2000" dirty="0" err="1">
                <a:solidFill>
                  <a:schemeClr val="accent2"/>
                </a:solidFill>
              </a:rPr>
              <a:t>green</a:t>
            </a:r>
            <a:r>
              <a:rPr lang="ro-RO" altLang="en-US" sz="2000" dirty="0">
                <a:solidFill>
                  <a:schemeClr val="accent2"/>
                </a:solidFill>
              </a:rPr>
              <a:t>", "</a:t>
            </a:r>
            <a:r>
              <a:rPr lang="ro-RO" altLang="en-US" sz="2000" dirty="0" err="1">
                <a:solidFill>
                  <a:schemeClr val="accent2"/>
                </a:solidFill>
              </a:rPr>
              <a:t>blue</a:t>
            </a:r>
            <a:r>
              <a:rPr lang="ro-RO" altLang="en-US" sz="2000" dirty="0">
                <a:solidFill>
                  <a:schemeClr val="accent2"/>
                </a:solidFill>
              </a:rPr>
              <a:t>”,];</a:t>
            </a:r>
            <a:r>
              <a:rPr lang="ro-RO" altLang="en-US" sz="2000" dirty="0"/>
              <a:t> are tot 5 elemente</a:t>
            </a:r>
          </a:p>
          <a:p>
            <a:pPr eaLnBrk="1" hangingPunct="1">
              <a:lnSpc>
                <a:spcPct val="100000"/>
              </a:lnSpc>
              <a:spcBef>
                <a:spcPts val="600"/>
              </a:spcBef>
              <a:spcAft>
                <a:spcPts val="600"/>
              </a:spcAft>
            </a:pPr>
            <a:endParaRPr lang="ro-RO" altLang="en-US" sz="2800" dirty="0"/>
          </a:p>
        </p:txBody>
      </p:sp>
      <p:sp>
        <p:nvSpPr>
          <p:cNvPr id="44036" name="Footer Placeholder 4">
            <a:extLst>
              <a:ext uri="{FF2B5EF4-FFF2-40B4-BE49-F238E27FC236}">
                <a16:creationId xmlns:a16="http://schemas.microsoft.com/office/drawing/2014/main" id="{EF705DB6-4F2F-658C-4ADD-2147DC5222A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900">
                <a:solidFill>
                  <a:schemeClr val="bg1"/>
                </a:solidFill>
              </a:rPr>
              <a:t>Curs Programare Web, anul 4 C5 – Curs 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Number Placeholder 5">
            <a:extLst>
              <a:ext uri="{FF2B5EF4-FFF2-40B4-BE49-F238E27FC236}">
                <a16:creationId xmlns:a16="http://schemas.microsoft.com/office/drawing/2014/main" id="{81A89183-15D3-0DE6-8E1C-61EAF3902FF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6255B4D0-266E-DD4D-904B-E3F035B0F622}" type="slidenum">
              <a:rPr lang="en-US" altLang="en-US" sz="900">
                <a:solidFill>
                  <a:schemeClr val="bg1"/>
                </a:solidFill>
              </a:rPr>
              <a:pPr>
                <a:spcBef>
                  <a:spcPct val="0"/>
                </a:spcBef>
                <a:buFontTx/>
                <a:buNone/>
              </a:pPr>
              <a:t>20</a:t>
            </a:fld>
            <a:endParaRPr lang="en-US" altLang="en-US" sz="900">
              <a:solidFill>
                <a:schemeClr val="bg1"/>
              </a:solidFill>
            </a:endParaRPr>
          </a:p>
        </p:txBody>
      </p:sp>
      <p:sp>
        <p:nvSpPr>
          <p:cNvPr id="655362" name="Rectangle 2">
            <a:extLst>
              <a:ext uri="{FF2B5EF4-FFF2-40B4-BE49-F238E27FC236}">
                <a16:creationId xmlns:a16="http://schemas.microsoft.com/office/drawing/2014/main" id="{6705B954-5736-254F-AADF-FD9C5AA7A020}"/>
              </a:ext>
            </a:extLst>
          </p:cNvPr>
          <p:cNvSpPr>
            <a:spLocks noGrp="1" noChangeArrowheads="1"/>
          </p:cNvSpPr>
          <p:nvPr>
            <p:ph type="title"/>
          </p:nvPr>
        </p:nvSpPr>
        <p:spPr>
          <a:xfrm>
            <a:off x="1024320" y="356847"/>
            <a:ext cx="9720072" cy="1499616"/>
          </a:xfrm>
        </p:spPr>
        <p:txBody>
          <a:bodyPr vert="horz" lIns="91440" tIns="45720" rIns="91440" bIns="45720" rtlCol="0" anchor="ctr">
            <a:normAutofit/>
          </a:bodyPr>
          <a:lstStyle/>
          <a:p>
            <a:r>
              <a:rPr lang="en-US" b="1" dirty="0" err="1"/>
              <a:t>Patru</a:t>
            </a:r>
            <a:r>
              <a:rPr lang="en-US" b="1" dirty="0"/>
              <a:t> </a:t>
            </a:r>
            <a:r>
              <a:rPr lang="en-US" b="1" dirty="0" err="1"/>
              <a:t>moduri</a:t>
            </a:r>
            <a:r>
              <a:rPr lang="en-US" b="1" dirty="0"/>
              <a:t> de a </a:t>
            </a:r>
            <a:r>
              <a:rPr lang="en-US" b="1" dirty="0" err="1"/>
              <a:t>crea</a:t>
            </a:r>
            <a:r>
              <a:rPr lang="en-US" b="1" dirty="0"/>
              <a:t> un array</a:t>
            </a:r>
          </a:p>
        </p:txBody>
      </p:sp>
      <p:sp>
        <p:nvSpPr>
          <p:cNvPr id="45059" name="Rectangle 3">
            <a:extLst>
              <a:ext uri="{FF2B5EF4-FFF2-40B4-BE49-F238E27FC236}">
                <a16:creationId xmlns:a16="http://schemas.microsoft.com/office/drawing/2014/main" id="{7BA0F96C-BAC8-3588-0C77-7D43AB96C989}"/>
              </a:ext>
            </a:extLst>
          </p:cNvPr>
          <p:cNvSpPr>
            <a:spLocks noGrp="1" noChangeArrowheads="1"/>
          </p:cNvSpPr>
          <p:nvPr>
            <p:ph type="body" idx="1"/>
          </p:nvPr>
        </p:nvSpPr>
        <p:spPr>
          <a:xfrm>
            <a:off x="1024320" y="1496584"/>
            <a:ext cx="11088535" cy="5334000"/>
          </a:xfrm>
        </p:spPr>
        <p:txBody>
          <a:bodyPr/>
          <a:lstStyle/>
          <a:p>
            <a:pPr marL="457200" indent="-457200">
              <a:lnSpc>
                <a:spcPct val="100000"/>
              </a:lnSpc>
              <a:spcBef>
                <a:spcPts val="600"/>
              </a:spcBef>
              <a:spcAft>
                <a:spcPts val="600"/>
              </a:spcAft>
              <a:buFontTx/>
              <a:buAutoNum type="arabicPeriod"/>
            </a:pPr>
            <a:r>
              <a:rPr lang="ro-RO" altLang="en-US" sz="2400" dirty="0"/>
              <a:t>Puteți folosi un </a:t>
            </a:r>
            <a:r>
              <a:rPr lang="ro-RO" altLang="en-US" sz="2400" i="1" dirty="0" err="1"/>
              <a:t>array</a:t>
            </a:r>
            <a:r>
              <a:rPr lang="ro-RO" altLang="en-US" sz="2400" i="1" dirty="0"/>
              <a:t> literal</a:t>
            </a:r>
            <a:r>
              <a:rPr lang="ro-RO" altLang="en-US" sz="2400" dirty="0"/>
              <a:t>:</a:t>
            </a:r>
            <a:br>
              <a:rPr lang="ro-RO" altLang="en-US" sz="2000" dirty="0"/>
            </a:br>
            <a:r>
              <a:rPr lang="ro-RO" altLang="en-US" sz="2000" dirty="0"/>
              <a:t>  </a:t>
            </a:r>
            <a:r>
              <a:rPr lang="ro-RO" altLang="en-US" sz="2000" dirty="0">
                <a:solidFill>
                  <a:schemeClr val="accent2"/>
                </a:solidFill>
              </a:rPr>
              <a:t>   	var </a:t>
            </a:r>
            <a:r>
              <a:rPr lang="ro-RO" altLang="en-US" sz="2000" dirty="0" err="1">
                <a:solidFill>
                  <a:schemeClr val="accent2"/>
                </a:solidFill>
              </a:rPr>
              <a:t>colors</a:t>
            </a:r>
            <a:r>
              <a:rPr lang="ro-RO" altLang="en-US" sz="2000" dirty="0">
                <a:solidFill>
                  <a:schemeClr val="accent2"/>
                </a:solidFill>
              </a:rPr>
              <a:t> = ["</a:t>
            </a:r>
            <a:r>
              <a:rPr lang="ro-RO" altLang="en-US" sz="2000" dirty="0" err="1">
                <a:solidFill>
                  <a:schemeClr val="accent2"/>
                </a:solidFill>
              </a:rPr>
              <a:t>red</a:t>
            </a:r>
            <a:r>
              <a:rPr lang="ro-RO" altLang="en-US" sz="2000" dirty="0">
                <a:solidFill>
                  <a:schemeClr val="accent2"/>
                </a:solidFill>
              </a:rPr>
              <a:t>", "</a:t>
            </a:r>
            <a:r>
              <a:rPr lang="ro-RO" altLang="en-US" sz="2000" dirty="0" err="1">
                <a:solidFill>
                  <a:schemeClr val="accent2"/>
                </a:solidFill>
              </a:rPr>
              <a:t>green</a:t>
            </a:r>
            <a:r>
              <a:rPr lang="ro-RO" altLang="en-US" sz="2000" dirty="0">
                <a:solidFill>
                  <a:schemeClr val="accent2"/>
                </a:solidFill>
              </a:rPr>
              <a:t>", "</a:t>
            </a:r>
            <a:r>
              <a:rPr lang="ro-RO" altLang="en-US" sz="2000" dirty="0" err="1">
                <a:solidFill>
                  <a:schemeClr val="accent2"/>
                </a:solidFill>
              </a:rPr>
              <a:t>blue</a:t>
            </a:r>
            <a:r>
              <a:rPr lang="ro-RO" altLang="en-US" sz="2000" dirty="0">
                <a:solidFill>
                  <a:schemeClr val="accent2"/>
                </a:solidFill>
              </a:rPr>
              <a:t>"];</a:t>
            </a:r>
            <a:endParaRPr lang="ro-RO" altLang="en-US" sz="1800" dirty="0">
              <a:solidFill>
                <a:schemeClr val="accent2"/>
              </a:solidFill>
            </a:endParaRPr>
          </a:p>
          <a:p>
            <a:pPr marL="457200" indent="-457200">
              <a:lnSpc>
                <a:spcPct val="100000"/>
              </a:lnSpc>
              <a:spcBef>
                <a:spcPts val="600"/>
              </a:spcBef>
              <a:spcAft>
                <a:spcPts val="600"/>
              </a:spcAft>
              <a:buFontTx/>
              <a:buAutoNum type="arabicPeriod"/>
            </a:pPr>
            <a:r>
              <a:rPr lang="ro-RO" altLang="en-US" sz="2400" dirty="0"/>
              <a:t>Puteți folosi </a:t>
            </a:r>
            <a:r>
              <a:rPr lang="ro-RO" altLang="en-US" sz="2400" dirty="0" err="1">
                <a:solidFill>
                  <a:schemeClr val="accent2"/>
                </a:solidFill>
              </a:rPr>
              <a:t>new</a:t>
            </a:r>
            <a:r>
              <a:rPr lang="ro-RO" altLang="en-US" sz="2400" dirty="0">
                <a:solidFill>
                  <a:schemeClr val="accent2"/>
                </a:solidFill>
              </a:rPr>
              <a:t> </a:t>
            </a:r>
            <a:r>
              <a:rPr lang="ro-RO" altLang="en-US" sz="2400" dirty="0" err="1">
                <a:solidFill>
                  <a:schemeClr val="accent2"/>
                </a:solidFill>
              </a:rPr>
              <a:t>Array</a:t>
            </a:r>
            <a:r>
              <a:rPr lang="ro-RO" altLang="en-US" sz="2400" dirty="0">
                <a:solidFill>
                  <a:schemeClr val="accent2"/>
                </a:solidFill>
              </a:rPr>
              <a:t>()</a:t>
            </a:r>
            <a:r>
              <a:rPr lang="ro-RO" altLang="en-US" sz="2400" dirty="0">
                <a:solidFill>
                  <a:srgbClr val="FFFF7F"/>
                </a:solidFill>
              </a:rPr>
              <a:t> </a:t>
            </a:r>
            <a:r>
              <a:rPr lang="ro-RO" altLang="en-US" sz="2400" dirty="0"/>
              <a:t>pentru a crea un tablou gol:</a:t>
            </a:r>
          </a:p>
          <a:p>
            <a:pPr lvl="1">
              <a:lnSpc>
                <a:spcPct val="100000"/>
              </a:lnSpc>
              <a:spcBef>
                <a:spcPts val="600"/>
              </a:spcBef>
              <a:spcAft>
                <a:spcPts val="600"/>
              </a:spcAft>
              <a:buNone/>
            </a:pPr>
            <a:r>
              <a:rPr lang="ro-RO" altLang="en-US" sz="2000" dirty="0">
                <a:solidFill>
                  <a:schemeClr val="accent2"/>
                </a:solidFill>
              </a:rPr>
              <a:t>		var </a:t>
            </a:r>
            <a:r>
              <a:rPr lang="ro-RO" altLang="en-US" sz="2000" dirty="0" err="1">
                <a:solidFill>
                  <a:schemeClr val="accent2"/>
                </a:solidFill>
              </a:rPr>
              <a:t>colors</a:t>
            </a:r>
            <a:r>
              <a:rPr lang="ro-RO" altLang="en-US" sz="2000" dirty="0">
                <a:solidFill>
                  <a:schemeClr val="accent2"/>
                </a:solidFill>
              </a:rPr>
              <a:t> = </a:t>
            </a:r>
            <a:r>
              <a:rPr lang="ro-RO" altLang="en-US" sz="2000" dirty="0" err="1">
                <a:solidFill>
                  <a:schemeClr val="accent2"/>
                </a:solidFill>
              </a:rPr>
              <a:t>new</a:t>
            </a:r>
            <a:r>
              <a:rPr lang="ro-RO" altLang="en-US" sz="2000" dirty="0">
                <a:solidFill>
                  <a:schemeClr val="accent2"/>
                </a:solidFill>
              </a:rPr>
              <a:t> </a:t>
            </a:r>
            <a:r>
              <a:rPr lang="ro-RO" altLang="en-US" sz="2000" dirty="0" err="1">
                <a:solidFill>
                  <a:schemeClr val="accent2"/>
                </a:solidFill>
              </a:rPr>
              <a:t>Array</a:t>
            </a:r>
            <a:r>
              <a:rPr lang="ro-RO" altLang="en-US" sz="2000" dirty="0">
                <a:solidFill>
                  <a:schemeClr val="accent2"/>
                </a:solidFill>
              </a:rPr>
              <a:t>();</a:t>
            </a:r>
          </a:p>
          <a:p>
            <a:pPr marL="128016" lvl="1" indent="0">
              <a:lnSpc>
                <a:spcPct val="100000"/>
              </a:lnSpc>
              <a:spcBef>
                <a:spcPts val="600"/>
              </a:spcBef>
              <a:spcAft>
                <a:spcPts val="600"/>
              </a:spcAft>
              <a:buNone/>
            </a:pPr>
            <a:r>
              <a:rPr lang="ro-RO" altLang="en-US" sz="2000" dirty="0"/>
              <a:t>Puteți adăuga elemente ulterior în acel tablou:</a:t>
            </a:r>
            <a:br>
              <a:rPr lang="ro-RO" altLang="en-US" sz="2000" dirty="0"/>
            </a:br>
            <a:r>
              <a:rPr lang="ro-RO" altLang="en-US" sz="2000" dirty="0"/>
              <a:t>	</a:t>
            </a:r>
            <a:r>
              <a:rPr lang="ro-RO" altLang="en-US" sz="2000" dirty="0" err="1">
                <a:solidFill>
                  <a:schemeClr val="accent2"/>
                </a:solidFill>
              </a:rPr>
              <a:t>colors</a:t>
            </a:r>
            <a:r>
              <a:rPr lang="ro-RO" altLang="en-US" sz="2000" dirty="0">
                <a:solidFill>
                  <a:schemeClr val="accent2"/>
                </a:solidFill>
              </a:rPr>
              <a:t>[0] = "</a:t>
            </a:r>
            <a:r>
              <a:rPr lang="ro-RO" altLang="en-US" sz="2000" dirty="0" err="1">
                <a:solidFill>
                  <a:schemeClr val="accent2"/>
                </a:solidFill>
              </a:rPr>
              <a:t>red</a:t>
            </a:r>
            <a:r>
              <a:rPr lang="ro-RO" altLang="en-US" sz="2000" dirty="0">
                <a:solidFill>
                  <a:schemeClr val="accent2"/>
                </a:solidFill>
              </a:rPr>
              <a:t>"; </a:t>
            </a:r>
            <a:r>
              <a:rPr lang="ro-RO" altLang="en-US" sz="2000" dirty="0" err="1">
                <a:solidFill>
                  <a:schemeClr val="accent2"/>
                </a:solidFill>
              </a:rPr>
              <a:t>colors</a:t>
            </a:r>
            <a:r>
              <a:rPr lang="ro-RO" altLang="en-US" sz="2000" dirty="0">
                <a:solidFill>
                  <a:schemeClr val="accent2"/>
                </a:solidFill>
              </a:rPr>
              <a:t>[2] = "</a:t>
            </a:r>
            <a:r>
              <a:rPr lang="ro-RO" altLang="en-US" sz="2000" dirty="0" err="1">
                <a:solidFill>
                  <a:schemeClr val="accent2"/>
                </a:solidFill>
              </a:rPr>
              <a:t>blue</a:t>
            </a:r>
            <a:r>
              <a:rPr lang="ro-RO" altLang="en-US" sz="2000" dirty="0">
                <a:solidFill>
                  <a:schemeClr val="accent2"/>
                </a:solidFill>
              </a:rPr>
              <a:t>"; </a:t>
            </a:r>
            <a:r>
              <a:rPr lang="ro-RO" altLang="en-US" sz="2000" dirty="0" err="1">
                <a:solidFill>
                  <a:schemeClr val="accent2"/>
                </a:solidFill>
              </a:rPr>
              <a:t>colors</a:t>
            </a:r>
            <a:r>
              <a:rPr lang="ro-RO" altLang="en-US" sz="2000" dirty="0">
                <a:solidFill>
                  <a:schemeClr val="accent2"/>
                </a:solidFill>
              </a:rPr>
              <a:t>[1]="</a:t>
            </a:r>
            <a:r>
              <a:rPr lang="ro-RO" altLang="en-US" sz="2000" dirty="0" err="1">
                <a:solidFill>
                  <a:schemeClr val="accent2"/>
                </a:solidFill>
              </a:rPr>
              <a:t>green</a:t>
            </a:r>
            <a:r>
              <a:rPr lang="ro-RO" altLang="en-US" sz="2000" dirty="0">
                <a:solidFill>
                  <a:schemeClr val="accent2"/>
                </a:solidFill>
              </a:rPr>
              <a:t>";</a:t>
            </a:r>
          </a:p>
          <a:p>
            <a:pPr marL="457200" indent="-457200">
              <a:lnSpc>
                <a:spcPct val="100000"/>
              </a:lnSpc>
              <a:spcBef>
                <a:spcPts val="600"/>
              </a:spcBef>
              <a:spcAft>
                <a:spcPts val="600"/>
              </a:spcAft>
              <a:buFontTx/>
              <a:buAutoNum type="arabicPeriod"/>
            </a:pPr>
            <a:r>
              <a:rPr lang="ro-RO" altLang="en-US" sz="2400" dirty="0"/>
              <a:t>Puteți folosi </a:t>
            </a:r>
            <a:r>
              <a:rPr lang="ro-RO" altLang="en-US" sz="2400" dirty="0" err="1">
                <a:solidFill>
                  <a:schemeClr val="accent2"/>
                </a:solidFill>
              </a:rPr>
              <a:t>new</a:t>
            </a:r>
            <a:r>
              <a:rPr lang="ro-RO" altLang="en-US" sz="2400" dirty="0">
                <a:solidFill>
                  <a:schemeClr val="accent2"/>
                </a:solidFill>
              </a:rPr>
              <a:t> </a:t>
            </a:r>
            <a:r>
              <a:rPr lang="ro-RO" altLang="en-US" sz="2400" dirty="0" err="1">
                <a:solidFill>
                  <a:schemeClr val="accent2"/>
                </a:solidFill>
              </a:rPr>
              <a:t>Array</a:t>
            </a:r>
            <a:r>
              <a:rPr lang="ro-RO" altLang="en-US" sz="2400" dirty="0">
                <a:solidFill>
                  <a:schemeClr val="accent2"/>
                </a:solidFill>
              </a:rPr>
              <a:t>(</a:t>
            </a:r>
            <a:r>
              <a:rPr lang="ro-RO" altLang="en-US" sz="2400" b="1" i="1" dirty="0">
                <a:solidFill>
                  <a:schemeClr val="accent2"/>
                </a:solidFill>
              </a:rPr>
              <a:t>n</a:t>
            </a:r>
            <a:r>
              <a:rPr lang="ro-RO" altLang="en-US" sz="2400" dirty="0">
                <a:solidFill>
                  <a:schemeClr val="accent2"/>
                </a:solidFill>
              </a:rPr>
              <a:t>)</a:t>
            </a:r>
            <a:r>
              <a:rPr lang="ro-RO" altLang="en-US" sz="2400" dirty="0">
                <a:solidFill>
                  <a:srgbClr val="FFFF7F"/>
                </a:solidFill>
              </a:rPr>
              <a:t> </a:t>
            </a:r>
            <a:r>
              <a:rPr lang="ro-RO" altLang="en-US" sz="2400" dirty="0"/>
              <a:t>cu un singur argument numeric pentru a crea un tablou având respectiva dimensiune</a:t>
            </a:r>
          </a:p>
          <a:p>
            <a:pPr lvl="1">
              <a:lnSpc>
                <a:spcPct val="100000"/>
              </a:lnSpc>
              <a:spcBef>
                <a:spcPts val="600"/>
              </a:spcBef>
              <a:spcAft>
                <a:spcPts val="600"/>
              </a:spcAft>
              <a:buNone/>
            </a:pPr>
            <a:r>
              <a:rPr lang="ro-RO" altLang="en-US" sz="2000" dirty="0">
                <a:solidFill>
                  <a:schemeClr val="accent2"/>
                </a:solidFill>
              </a:rPr>
              <a:t>		var </a:t>
            </a:r>
            <a:r>
              <a:rPr lang="ro-RO" altLang="en-US" sz="2000" dirty="0" err="1">
                <a:solidFill>
                  <a:schemeClr val="accent2"/>
                </a:solidFill>
              </a:rPr>
              <a:t>colors</a:t>
            </a:r>
            <a:r>
              <a:rPr lang="ro-RO" altLang="en-US" sz="2000" dirty="0">
                <a:solidFill>
                  <a:schemeClr val="accent2"/>
                </a:solidFill>
              </a:rPr>
              <a:t> = </a:t>
            </a:r>
            <a:r>
              <a:rPr lang="ro-RO" altLang="en-US" sz="2000" dirty="0" err="1">
                <a:solidFill>
                  <a:schemeClr val="accent2"/>
                </a:solidFill>
              </a:rPr>
              <a:t>new</a:t>
            </a:r>
            <a:r>
              <a:rPr lang="ro-RO" altLang="en-US" sz="2000" dirty="0">
                <a:solidFill>
                  <a:schemeClr val="accent2"/>
                </a:solidFill>
              </a:rPr>
              <a:t> </a:t>
            </a:r>
            <a:r>
              <a:rPr lang="ro-RO" altLang="en-US" sz="2000" dirty="0" err="1">
                <a:solidFill>
                  <a:schemeClr val="accent2"/>
                </a:solidFill>
              </a:rPr>
              <a:t>Array</a:t>
            </a:r>
            <a:r>
              <a:rPr lang="ro-RO" altLang="en-US" sz="2000" dirty="0">
                <a:solidFill>
                  <a:schemeClr val="accent2"/>
                </a:solidFill>
              </a:rPr>
              <a:t>(3);</a:t>
            </a:r>
          </a:p>
          <a:p>
            <a:pPr marL="457200" indent="-457200">
              <a:lnSpc>
                <a:spcPct val="100000"/>
              </a:lnSpc>
              <a:spcBef>
                <a:spcPts val="600"/>
              </a:spcBef>
              <a:spcAft>
                <a:spcPts val="600"/>
              </a:spcAft>
              <a:buFontTx/>
              <a:buAutoNum type="arabicPeriod"/>
            </a:pPr>
            <a:r>
              <a:rPr lang="ro-RO" altLang="en-US" sz="2400" dirty="0"/>
              <a:t>Puteți folosi </a:t>
            </a:r>
            <a:r>
              <a:rPr lang="ro-RO" altLang="en-US" sz="2400" dirty="0" err="1">
                <a:solidFill>
                  <a:schemeClr val="accent2"/>
                </a:solidFill>
              </a:rPr>
              <a:t>new</a:t>
            </a:r>
            <a:r>
              <a:rPr lang="ro-RO" altLang="en-US" sz="2400" dirty="0">
                <a:solidFill>
                  <a:schemeClr val="accent2"/>
                </a:solidFill>
              </a:rPr>
              <a:t> </a:t>
            </a:r>
            <a:r>
              <a:rPr lang="ro-RO" altLang="en-US" sz="2400" dirty="0" err="1">
                <a:solidFill>
                  <a:schemeClr val="accent2"/>
                </a:solidFill>
              </a:rPr>
              <a:t>Array</a:t>
            </a:r>
            <a:r>
              <a:rPr lang="ro-RO" altLang="en-US" sz="2400" dirty="0">
                <a:solidFill>
                  <a:schemeClr val="accent2"/>
                </a:solidFill>
              </a:rPr>
              <a:t>(…)</a:t>
            </a:r>
            <a:r>
              <a:rPr lang="ro-RO" altLang="en-US" sz="2400" dirty="0">
                <a:solidFill>
                  <a:srgbClr val="FFFF7F"/>
                </a:solidFill>
              </a:rPr>
              <a:t> </a:t>
            </a:r>
            <a:r>
              <a:rPr lang="ro-RO" altLang="en-US" sz="2400" dirty="0"/>
              <a:t>cu </a:t>
            </a:r>
            <a:r>
              <a:rPr lang="ro-RO" altLang="en-US" sz="2400" i="1" dirty="0"/>
              <a:t>două sau mai multe </a:t>
            </a:r>
            <a:r>
              <a:rPr lang="ro-RO" altLang="en-US" sz="2400" dirty="0"/>
              <a:t>argumente pentru a crea un tablou conținând respectivele valori:</a:t>
            </a:r>
          </a:p>
          <a:p>
            <a:pPr lvl="1">
              <a:lnSpc>
                <a:spcPct val="100000"/>
              </a:lnSpc>
              <a:spcBef>
                <a:spcPts val="600"/>
              </a:spcBef>
              <a:spcAft>
                <a:spcPts val="600"/>
              </a:spcAft>
              <a:buNone/>
            </a:pPr>
            <a:r>
              <a:rPr lang="ro-RO" altLang="en-US" sz="2000" dirty="0">
                <a:solidFill>
                  <a:schemeClr val="accent2"/>
                </a:solidFill>
              </a:rPr>
              <a:t>		var </a:t>
            </a:r>
            <a:r>
              <a:rPr lang="ro-RO" altLang="en-US" sz="2000" dirty="0" err="1">
                <a:solidFill>
                  <a:schemeClr val="accent2"/>
                </a:solidFill>
              </a:rPr>
              <a:t>colors</a:t>
            </a:r>
            <a:r>
              <a:rPr lang="ro-RO" altLang="en-US" sz="2000" dirty="0">
                <a:solidFill>
                  <a:schemeClr val="accent2"/>
                </a:solidFill>
              </a:rPr>
              <a:t> = </a:t>
            </a:r>
            <a:r>
              <a:rPr lang="ro-RO" altLang="en-US" sz="2000" dirty="0" err="1">
                <a:solidFill>
                  <a:schemeClr val="accent2"/>
                </a:solidFill>
              </a:rPr>
              <a:t>new</a:t>
            </a:r>
            <a:r>
              <a:rPr lang="ro-RO" altLang="en-US" sz="2000" dirty="0">
                <a:solidFill>
                  <a:schemeClr val="accent2"/>
                </a:solidFill>
              </a:rPr>
              <a:t> </a:t>
            </a:r>
            <a:r>
              <a:rPr lang="ro-RO" altLang="en-US" sz="2000" dirty="0" err="1">
                <a:solidFill>
                  <a:schemeClr val="accent2"/>
                </a:solidFill>
              </a:rPr>
              <a:t>Array</a:t>
            </a:r>
            <a:r>
              <a:rPr lang="ro-RO" altLang="en-US" sz="2000" dirty="0">
                <a:solidFill>
                  <a:schemeClr val="accent2"/>
                </a:solidFill>
              </a:rPr>
              <a:t>("</a:t>
            </a:r>
            <a:r>
              <a:rPr lang="ro-RO" altLang="en-US" sz="2000" dirty="0" err="1">
                <a:solidFill>
                  <a:schemeClr val="accent2"/>
                </a:solidFill>
              </a:rPr>
              <a:t>red</a:t>
            </a:r>
            <a:r>
              <a:rPr lang="ro-RO" altLang="en-US" sz="2000" dirty="0">
                <a:solidFill>
                  <a:schemeClr val="accent2"/>
                </a:solidFill>
              </a:rPr>
              <a:t>","</a:t>
            </a:r>
            <a:r>
              <a:rPr lang="ro-RO" altLang="en-US" sz="2000" dirty="0" err="1">
                <a:solidFill>
                  <a:schemeClr val="accent2"/>
                </a:solidFill>
              </a:rPr>
              <a:t>green</a:t>
            </a:r>
            <a:r>
              <a:rPr lang="ro-RO" altLang="en-US" sz="2000" dirty="0">
                <a:solidFill>
                  <a:schemeClr val="accent2"/>
                </a:solidFill>
              </a:rPr>
              <a:t>", "</a:t>
            </a:r>
            <a:r>
              <a:rPr lang="ro-RO" altLang="en-US" sz="2000" dirty="0" err="1">
                <a:solidFill>
                  <a:schemeClr val="accent2"/>
                </a:solidFill>
              </a:rPr>
              <a:t>blue</a:t>
            </a:r>
            <a:r>
              <a:rPr lang="ro-RO" altLang="en-US" sz="2000" dirty="0">
                <a:solidFill>
                  <a:schemeClr val="accent2"/>
                </a:solidFill>
              </a:rPr>
              <a:t>");</a:t>
            </a:r>
          </a:p>
          <a:p>
            <a:pPr marL="457200" indent="-457200">
              <a:lnSpc>
                <a:spcPct val="100000"/>
              </a:lnSpc>
              <a:spcBef>
                <a:spcPts val="600"/>
              </a:spcBef>
              <a:spcAft>
                <a:spcPts val="600"/>
              </a:spcAft>
            </a:pPr>
            <a:endParaRPr lang="ro-RO" altLang="en-US" sz="2400" dirty="0"/>
          </a:p>
        </p:txBody>
      </p:sp>
      <p:sp>
        <p:nvSpPr>
          <p:cNvPr id="45060" name="Footer Placeholder 4">
            <a:extLst>
              <a:ext uri="{FF2B5EF4-FFF2-40B4-BE49-F238E27FC236}">
                <a16:creationId xmlns:a16="http://schemas.microsoft.com/office/drawing/2014/main" id="{4906E474-6225-2FA8-F058-A491DD59133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900" dirty="0">
                <a:solidFill>
                  <a:schemeClr val="bg1"/>
                </a:solidFill>
              </a:rPr>
              <a:t>Curs </a:t>
            </a:r>
            <a:r>
              <a:rPr lang="en-US" altLang="en-US" sz="900" dirty="0" err="1">
                <a:solidFill>
                  <a:schemeClr val="bg1"/>
                </a:solidFill>
              </a:rPr>
              <a:t>Programare</a:t>
            </a:r>
            <a:r>
              <a:rPr lang="en-US" altLang="en-US" sz="900" dirty="0">
                <a:solidFill>
                  <a:schemeClr val="bg1"/>
                </a:solidFill>
              </a:rPr>
              <a:t> Web, </a:t>
            </a:r>
            <a:r>
              <a:rPr lang="en-US" altLang="en-US" sz="900" dirty="0" err="1">
                <a:solidFill>
                  <a:schemeClr val="bg1"/>
                </a:solidFill>
              </a:rPr>
              <a:t>anul</a:t>
            </a:r>
            <a:r>
              <a:rPr lang="en-US" altLang="en-US" sz="900" dirty="0">
                <a:solidFill>
                  <a:schemeClr val="bg1"/>
                </a:solidFill>
              </a:rPr>
              <a:t> 4 C5 – Curs 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1FDAE-6D6E-7F4D-B130-F6BF39DD56D2}"/>
              </a:ext>
            </a:extLst>
          </p:cNvPr>
          <p:cNvSpPr>
            <a:spLocks noGrp="1"/>
          </p:cNvSpPr>
          <p:nvPr>
            <p:ph type="title"/>
          </p:nvPr>
        </p:nvSpPr>
        <p:spPr/>
        <p:txBody>
          <a:bodyPr vert="horz" lIns="91440" tIns="45720" rIns="91440" bIns="45720" rtlCol="0" anchor="ctr">
            <a:normAutofit/>
          </a:bodyPr>
          <a:lstStyle/>
          <a:p>
            <a:r>
              <a:rPr lang="ro-RO" altLang="en-US" b="1" dirty="0"/>
              <a:t>Inițializare</a:t>
            </a:r>
            <a:endParaRPr lang="en-US" altLang="en-US" b="1" dirty="0"/>
          </a:p>
        </p:txBody>
      </p:sp>
      <p:sp>
        <p:nvSpPr>
          <p:cNvPr id="46082" name="Content Placeholder 2">
            <a:extLst>
              <a:ext uri="{FF2B5EF4-FFF2-40B4-BE49-F238E27FC236}">
                <a16:creationId xmlns:a16="http://schemas.microsoft.com/office/drawing/2014/main" id="{A4C766E1-7135-705A-88BC-9D13C2193E09}"/>
              </a:ext>
            </a:extLst>
          </p:cNvPr>
          <p:cNvSpPr>
            <a:spLocks noGrp="1" noChangeArrowheads="1"/>
          </p:cNvSpPr>
          <p:nvPr>
            <p:ph idx="1"/>
          </p:nvPr>
        </p:nvSpPr>
        <p:spPr>
          <a:xfrm>
            <a:off x="1024127" y="1888435"/>
            <a:ext cx="9720073" cy="4023360"/>
          </a:xfrm>
        </p:spPr>
        <p:txBody>
          <a:bodyPr>
            <a:normAutofit/>
          </a:bodyPr>
          <a:lstStyle/>
          <a:p>
            <a:pPr eaLnBrk="1" hangingPunct="1"/>
            <a:r>
              <a:rPr lang="ro-RO" altLang="en-US" sz="2800" dirty="0"/>
              <a:t>Crearea unui tablou dimensionat deja pentru 10 elemente:</a:t>
            </a:r>
          </a:p>
          <a:p>
            <a:pPr eaLnBrk="1" hangingPunct="1">
              <a:buFontTx/>
              <a:buNone/>
            </a:pPr>
            <a:r>
              <a:rPr lang="ro-RO" altLang="en-US" sz="2800" dirty="0"/>
              <a:t>		</a:t>
            </a:r>
            <a:r>
              <a:rPr lang="en-US" altLang="en-US" sz="2800" dirty="0">
                <a:solidFill>
                  <a:srgbClr val="FF0000"/>
                </a:solidFill>
              </a:rPr>
              <a:t>var </a:t>
            </a:r>
            <a:r>
              <a:rPr lang="en-US" altLang="en-US" sz="2800" dirty="0" err="1">
                <a:solidFill>
                  <a:srgbClr val="FF0000"/>
                </a:solidFill>
              </a:rPr>
              <a:t>badArray</a:t>
            </a:r>
            <a:r>
              <a:rPr lang="en-US" altLang="en-US" sz="2800" dirty="0">
                <a:solidFill>
                  <a:srgbClr val="FF0000"/>
                </a:solidFill>
              </a:rPr>
              <a:t> = new Array(10); </a:t>
            </a:r>
            <a:endParaRPr lang="ro-RO" altLang="en-US" sz="2800" dirty="0">
              <a:solidFill>
                <a:srgbClr val="FF0000"/>
              </a:solidFill>
            </a:endParaRPr>
          </a:p>
          <a:p>
            <a:pPr eaLnBrk="1" hangingPunct="1"/>
            <a:endParaRPr lang="ro-RO" altLang="en-US" sz="2800" dirty="0"/>
          </a:p>
          <a:p>
            <a:pPr eaLnBrk="1" hangingPunct="1">
              <a:buFontTx/>
              <a:buNone/>
            </a:pPr>
            <a:r>
              <a:rPr lang="ro-RO" altLang="en-US" sz="2800" dirty="0"/>
              <a:t>	vs.</a:t>
            </a:r>
          </a:p>
          <a:p>
            <a:pPr eaLnBrk="1" hangingPunct="1"/>
            <a:endParaRPr lang="ro-RO" altLang="en-US" sz="2800" dirty="0"/>
          </a:p>
          <a:p>
            <a:pPr eaLnBrk="1" hangingPunct="1"/>
            <a:r>
              <a:rPr lang="ro-RO" altLang="en-US" sz="2800" dirty="0"/>
              <a:t>Crearea unui tablou având un singur element, cu valoarea 10:</a:t>
            </a:r>
          </a:p>
          <a:p>
            <a:pPr eaLnBrk="1" hangingPunct="1">
              <a:buFontTx/>
              <a:buNone/>
            </a:pPr>
            <a:r>
              <a:rPr lang="ro-RO" altLang="en-US" sz="2800" dirty="0"/>
              <a:t>		</a:t>
            </a:r>
            <a:r>
              <a:rPr lang="en-US" altLang="en-US" sz="2800" dirty="0">
                <a:solidFill>
                  <a:srgbClr val="FF0000"/>
                </a:solidFill>
              </a:rPr>
              <a:t>var </a:t>
            </a:r>
            <a:r>
              <a:rPr lang="en-US" altLang="en-US" sz="2800" dirty="0" err="1">
                <a:solidFill>
                  <a:srgbClr val="FF0000"/>
                </a:solidFill>
              </a:rPr>
              <a:t>goodArray</a:t>
            </a:r>
            <a:r>
              <a:rPr lang="en-US" altLang="en-US" sz="2800" dirty="0">
                <a:solidFill>
                  <a:srgbClr val="FF0000"/>
                </a:solidFill>
              </a:rPr>
              <a:t>= [10]; </a:t>
            </a:r>
          </a:p>
        </p:txBody>
      </p:sp>
      <p:sp>
        <p:nvSpPr>
          <p:cNvPr id="46083" name="Footer Placeholder 4">
            <a:extLst>
              <a:ext uri="{FF2B5EF4-FFF2-40B4-BE49-F238E27FC236}">
                <a16:creationId xmlns:a16="http://schemas.microsoft.com/office/drawing/2014/main" id="{44F28E00-A7C9-964A-7895-5599015D3C3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900">
                <a:solidFill>
                  <a:schemeClr val="bg1"/>
                </a:solidFill>
              </a:rPr>
              <a:t>Curs Programare Web, anul 4 C5 – Curs 5</a:t>
            </a:r>
          </a:p>
        </p:txBody>
      </p:sp>
      <p:sp>
        <p:nvSpPr>
          <p:cNvPr id="46084" name="Slide Number Placeholder 5">
            <a:extLst>
              <a:ext uri="{FF2B5EF4-FFF2-40B4-BE49-F238E27FC236}">
                <a16:creationId xmlns:a16="http://schemas.microsoft.com/office/drawing/2014/main" id="{D2296667-34AF-C86E-F5BB-9793C04EE4B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89B7738-81A7-3E43-8655-BA25F1F61B41}" type="slidenum">
              <a:rPr lang="en-US" altLang="en-US" sz="900">
                <a:solidFill>
                  <a:schemeClr val="bg1"/>
                </a:solidFill>
              </a:rPr>
              <a:pPr>
                <a:spcBef>
                  <a:spcPct val="0"/>
                </a:spcBef>
                <a:buFontTx/>
                <a:buNone/>
              </a:pPr>
              <a:t>21</a:t>
            </a:fld>
            <a:endParaRPr lang="en-US" altLang="en-US" sz="900">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12A99-1230-4555-98D1-10588A4508F6}"/>
              </a:ext>
            </a:extLst>
          </p:cNvPr>
          <p:cNvSpPr>
            <a:spLocks noGrp="1"/>
          </p:cNvSpPr>
          <p:nvPr>
            <p:ph type="title"/>
          </p:nvPr>
        </p:nvSpPr>
        <p:spPr>
          <a:xfrm>
            <a:off x="858079" y="703591"/>
            <a:ext cx="10131425" cy="1283369"/>
          </a:xfrm>
        </p:spPr>
        <p:txBody>
          <a:bodyPr>
            <a:normAutofit/>
          </a:bodyPr>
          <a:lstStyle/>
          <a:p>
            <a:r>
              <a:rPr lang="en-US" sz="6000" b="1" dirty="0" err="1"/>
              <a:t>Variabile</a:t>
            </a:r>
            <a:endParaRPr lang="en-US" sz="6000" b="1" dirty="0"/>
          </a:p>
        </p:txBody>
      </p:sp>
      <p:pic>
        <p:nvPicPr>
          <p:cNvPr id="6" name="Picture 5">
            <a:extLst>
              <a:ext uri="{FF2B5EF4-FFF2-40B4-BE49-F238E27FC236}">
                <a16:creationId xmlns:a16="http://schemas.microsoft.com/office/drawing/2014/main" id="{BEC5C593-BF64-4274-ABB1-E2F1355E0798}"/>
              </a:ext>
            </a:extLst>
          </p:cNvPr>
          <p:cNvPicPr>
            <a:picLocks noChangeAspect="1"/>
          </p:cNvPicPr>
          <p:nvPr/>
        </p:nvPicPr>
        <p:blipFill>
          <a:blip r:embed="rId2"/>
          <a:stretch>
            <a:fillRect/>
          </a:stretch>
        </p:blipFill>
        <p:spPr>
          <a:xfrm>
            <a:off x="1121361" y="2072931"/>
            <a:ext cx="6802854" cy="473242"/>
          </a:xfrm>
          <a:prstGeom prst="rect">
            <a:avLst/>
          </a:prstGeom>
        </p:spPr>
      </p:pic>
      <p:pic>
        <p:nvPicPr>
          <p:cNvPr id="7" name="Picture 6">
            <a:extLst>
              <a:ext uri="{FF2B5EF4-FFF2-40B4-BE49-F238E27FC236}">
                <a16:creationId xmlns:a16="http://schemas.microsoft.com/office/drawing/2014/main" id="{695BAC29-B9BC-402F-88DD-A06543EEE369}"/>
              </a:ext>
            </a:extLst>
          </p:cNvPr>
          <p:cNvPicPr>
            <a:picLocks noChangeAspect="1"/>
          </p:cNvPicPr>
          <p:nvPr/>
        </p:nvPicPr>
        <p:blipFill>
          <a:blip r:embed="rId3"/>
          <a:stretch>
            <a:fillRect/>
          </a:stretch>
        </p:blipFill>
        <p:spPr>
          <a:xfrm>
            <a:off x="2909301" y="3961742"/>
            <a:ext cx="2457450" cy="2181225"/>
          </a:xfrm>
          <a:prstGeom prst="rect">
            <a:avLst/>
          </a:prstGeom>
        </p:spPr>
      </p:pic>
      <p:sp>
        <p:nvSpPr>
          <p:cNvPr id="8" name="Rectangle 7">
            <a:extLst>
              <a:ext uri="{FF2B5EF4-FFF2-40B4-BE49-F238E27FC236}">
                <a16:creationId xmlns:a16="http://schemas.microsoft.com/office/drawing/2014/main" id="{A493365E-0F31-421D-B850-7B020B9E59F7}"/>
              </a:ext>
            </a:extLst>
          </p:cNvPr>
          <p:cNvSpPr/>
          <p:nvPr/>
        </p:nvSpPr>
        <p:spPr>
          <a:xfrm>
            <a:off x="2524539" y="2961570"/>
            <a:ext cx="3612464" cy="646331"/>
          </a:xfrm>
          <a:prstGeom prst="rect">
            <a:avLst/>
          </a:prstGeom>
        </p:spPr>
        <p:txBody>
          <a:bodyPr wrap="none">
            <a:spAutoFit/>
          </a:bodyPr>
          <a:lstStyle/>
          <a:p>
            <a:r>
              <a:rPr lang="en-US" sz="3600" b="1" dirty="0" err="1"/>
              <a:t>este</a:t>
            </a:r>
            <a:r>
              <a:rPr lang="en-US" sz="3600" b="1" dirty="0"/>
              <a:t> </a:t>
            </a:r>
            <a:r>
              <a:rPr lang="en-US" sz="3600" b="1" dirty="0" err="1"/>
              <a:t>echivalent</a:t>
            </a:r>
            <a:r>
              <a:rPr lang="en-US" sz="3600" b="1" dirty="0"/>
              <a:t> cu</a:t>
            </a:r>
          </a:p>
        </p:txBody>
      </p:sp>
    </p:spTree>
    <p:extLst>
      <p:ext uri="{BB962C8B-B14F-4D97-AF65-F5344CB8AC3E}">
        <p14:creationId xmlns:p14="http://schemas.microsoft.com/office/powerpoint/2010/main" val="36758166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Number Placeholder 5">
            <a:extLst>
              <a:ext uri="{FF2B5EF4-FFF2-40B4-BE49-F238E27FC236}">
                <a16:creationId xmlns:a16="http://schemas.microsoft.com/office/drawing/2014/main" id="{AF2F54C9-3C3A-7E62-30A0-ACF1F362E8F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D77BDAFE-25F8-9341-9617-170D12FD9C38}" type="slidenum">
              <a:rPr lang="en-US" altLang="en-US" sz="900">
                <a:solidFill>
                  <a:schemeClr val="bg1"/>
                </a:solidFill>
              </a:rPr>
              <a:pPr>
                <a:spcBef>
                  <a:spcPct val="0"/>
                </a:spcBef>
                <a:buFontTx/>
                <a:buNone/>
              </a:pPr>
              <a:t>23</a:t>
            </a:fld>
            <a:endParaRPr lang="en-US" altLang="en-US" sz="900">
              <a:solidFill>
                <a:schemeClr val="bg1"/>
              </a:solidFill>
            </a:endParaRPr>
          </a:p>
        </p:txBody>
      </p:sp>
      <p:sp>
        <p:nvSpPr>
          <p:cNvPr id="656386" name="Rectangle 2">
            <a:extLst>
              <a:ext uri="{FF2B5EF4-FFF2-40B4-BE49-F238E27FC236}">
                <a16:creationId xmlns:a16="http://schemas.microsoft.com/office/drawing/2014/main" id="{F791041D-1946-744E-BFA0-B12F8DC51065}"/>
              </a:ext>
            </a:extLst>
          </p:cNvPr>
          <p:cNvSpPr>
            <a:spLocks noGrp="1" noChangeArrowheads="1"/>
          </p:cNvSpPr>
          <p:nvPr>
            <p:ph type="title"/>
          </p:nvPr>
        </p:nvSpPr>
        <p:spPr>
          <a:xfrm>
            <a:off x="949892" y="310896"/>
            <a:ext cx="9720072" cy="1499616"/>
          </a:xfrm>
        </p:spPr>
        <p:txBody>
          <a:bodyPr vert="horz" lIns="91440" tIns="45720" rIns="91440" bIns="45720" rtlCol="0" anchor="ctr">
            <a:normAutofit/>
          </a:bodyPr>
          <a:lstStyle/>
          <a:p>
            <a:r>
              <a:rPr lang="en-US" altLang="en-US" sz="6000" b="1" dirty="0" err="1"/>
              <a:t>Lungimea</a:t>
            </a:r>
            <a:r>
              <a:rPr lang="en-US" altLang="en-US" sz="6000" b="1" dirty="0"/>
              <a:t> </a:t>
            </a:r>
            <a:r>
              <a:rPr lang="en-US" altLang="en-US" sz="6000" b="1" dirty="0" err="1"/>
              <a:t>unui</a:t>
            </a:r>
            <a:r>
              <a:rPr lang="en-US" altLang="en-US" sz="6000" b="1" dirty="0"/>
              <a:t> </a:t>
            </a:r>
            <a:r>
              <a:rPr lang="ro-RO" altLang="en-US" sz="6000" b="1" dirty="0"/>
              <a:t>tablou</a:t>
            </a:r>
            <a:endParaRPr lang="en-US" altLang="en-US" sz="6000" b="1" dirty="0"/>
          </a:p>
        </p:txBody>
      </p:sp>
      <p:sp>
        <p:nvSpPr>
          <p:cNvPr id="49155" name="Rectangle 3">
            <a:extLst>
              <a:ext uri="{FF2B5EF4-FFF2-40B4-BE49-F238E27FC236}">
                <a16:creationId xmlns:a16="http://schemas.microsoft.com/office/drawing/2014/main" id="{E4445A53-22C6-61AD-5A52-8BC0B3FD21C9}"/>
              </a:ext>
            </a:extLst>
          </p:cNvPr>
          <p:cNvSpPr>
            <a:spLocks noGrp="1" noChangeArrowheads="1"/>
          </p:cNvSpPr>
          <p:nvPr>
            <p:ph type="body" idx="1"/>
          </p:nvPr>
        </p:nvSpPr>
        <p:spPr>
          <a:xfrm>
            <a:off x="949892" y="1640391"/>
            <a:ext cx="10786873" cy="4660192"/>
          </a:xfrm>
        </p:spPr>
        <p:txBody>
          <a:bodyPr>
            <a:normAutofit fontScale="92500"/>
          </a:bodyPr>
          <a:lstStyle/>
          <a:p>
            <a:pPr eaLnBrk="1" hangingPunct="1">
              <a:lnSpc>
                <a:spcPct val="110000"/>
              </a:lnSpc>
              <a:spcBef>
                <a:spcPts val="600"/>
              </a:spcBef>
              <a:spcAft>
                <a:spcPts val="600"/>
              </a:spcAft>
            </a:pPr>
            <a:r>
              <a:rPr lang="ro-RO" altLang="en-US" sz="2400" dirty="0"/>
              <a:t>Dacă </a:t>
            </a:r>
            <a:r>
              <a:rPr lang="ro-RO" altLang="en-US" sz="2400" dirty="0" err="1">
                <a:solidFill>
                  <a:schemeClr val="accent2"/>
                </a:solidFill>
                <a:latin typeface="Trebuchet MS" panose="020B0703020202090204" pitchFamily="34" charset="0"/>
              </a:rPr>
              <a:t>myArray</a:t>
            </a:r>
            <a:r>
              <a:rPr lang="ro-RO" altLang="en-US" sz="2400" dirty="0"/>
              <a:t> este un tablou, lungimea acestuia este obținute folosind </a:t>
            </a:r>
            <a:r>
              <a:rPr lang="ro-RO" altLang="en-US" sz="2400" dirty="0" err="1">
                <a:solidFill>
                  <a:schemeClr val="accent2"/>
                </a:solidFill>
                <a:latin typeface="Trebuchet MS" panose="020B0703020202090204" pitchFamily="34" charset="0"/>
              </a:rPr>
              <a:t>myArray.length</a:t>
            </a:r>
            <a:endParaRPr lang="ro-RO" altLang="en-US" sz="2400" dirty="0">
              <a:solidFill>
                <a:schemeClr val="accent2"/>
              </a:solidFill>
              <a:latin typeface="Trebuchet MS" panose="020B0703020202090204" pitchFamily="34" charset="0"/>
            </a:endParaRPr>
          </a:p>
          <a:p>
            <a:pPr eaLnBrk="1" hangingPunct="1">
              <a:lnSpc>
                <a:spcPct val="110000"/>
              </a:lnSpc>
              <a:spcBef>
                <a:spcPts val="600"/>
              </a:spcBef>
              <a:spcAft>
                <a:spcPts val="600"/>
              </a:spcAft>
            </a:pPr>
            <a:r>
              <a:rPr lang="ro-RO" altLang="en-US" sz="2400" dirty="0"/>
              <a:t>Dimensiunea unui tablou poate fi modificată prin adăugarea de elemente peste lungimea curentă a acestuia</a:t>
            </a:r>
          </a:p>
          <a:p>
            <a:pPr lvl="1" eaLnBrk="1" hangingPunct="1">
              <a:lnSpc>
                <a:spcPct val="110000"/>
              </a:lnSpc>
              <a:spcBef>
                <a:spcPts val="600"/>
              </a:spcBef>
              <a:spcAft>
                <a:spcPts val="600"/>
              </a:spcAft>
            </a:pPr>
            <a:r>
              <a:rPr lang="ro-RO" altLang="en-US" sz="2200" dirty="0"/>
              <a:t>Exemplu:</a:t>
            </a:r>
            <a:r>
              <a:rPr lang="ro-RO" altLang="en-US" sz="2200" dirty="0">
                <a:solidFill>
                  <a:schemeClr val="accent2"/>
                </a:solidFill>
              </a:rPr>
              <a:t> </a:t>
            </a:r>
            <a:r>
              <a:rPr lang="ro-RO" altLang="en-US" sz="2200" dirty="0">
                <a:solidFill>
                  <a:schemeClr val="accent2"/>
                </a:solidFill>
                <a:latin typeface="Trebuchet MS" panose="020B0703020202090204" pitchFamily="34" charset="0"/>
              </a:rPr>
              <a:t>var </a:t>
            </a:r>
            <a:r>
              <a:rPr lang="ro-RO" altLang="en-US" sz="2200" dirty="0" err="1">
                <a:solidFill>
                  <a:schemeClr val="accent2"/>
                </a:solidFill>
                <a:latin typeface="Trebuchet MS" panose="020B0703020202090204" pitchFamily="34" charset="0"/>
              </a:rPr>
              <a:t>myArray</a:t>
            </a:r>
            <a:r>
              <a:rPr lang="ro-RO" altLang="en-US" sz="2200" dirty="0">
                <a:solidFill>
                  <a:schemeClr val="accent2"/>
                </a:solidFill>
                <a:latin typeface="Trebuchet MS" panose="020B0703020202090204" pitchFamily="34" charset="0"/>
              </a:rPr>
              <a:t> = </a:t>
            </a:r>
            <a:r>
              <a:rPr lang="ro-RO" altLang="en-US" sz="2200" dirty="0" err="1">
                <a:solidFill>
                  <a:schemeClr val="accent2"/>
                </a:solidFill>
                <a:latin typeface="Trebuchet MS" panose="020B0703020202090204" pitchFamily="34" charset="0"/>
              </a:rPr>
              <a:t>new</a:t>
            </a:r>
            <a:r>
              <a:rPr lang="ro-RO" altLang="en-US" sz="2200" dirty="0">
                <a:solidFill>
                  <a:schemeClr val="accent2"/>
                </a:solidFill>
                <a:latin typeface="Trebuchet MS" panose="020B0703020202090204" pitchFamily="34" charset="0"/>
              </a:rPr>
              <a:t> </a:t>
            </a:r>
            <a:r>
              <a:rPr lang="ro-RO" altLang="en-US" sz="2200" dirty="0" err="1">
                <a:solidFill>
                  <a:schemeClr val="accent2"/>
                </a:solidFill>
                <a:latin typeface="Trebuchet MS" panose="020B0703020202090204" pitchFamily="34" charset="0"/>
              </a:rPr>
              <a:t>Array</a:t>
            </a:r>
            <a:r>
              <a:rPr lang="ro-RO" altLang="en-US" sz="2200" dirty="0">
                <a:solidFill>
                  <a:schemeClr val="accent2"/>
                </a:solidFill>
                <a:latin typeface="Trebuchet MS" panose="020B0703020202090204" pitchFamily="34" charset="0"/>
              </a:rPr>
              <a:t>(5); </a:t>
            </a:r>
            <a:r>
              <a:rPr lang="ro-RO" altLang="en-US" sz="2200" dirty="0" err="1">
                <a:solidFill>
                  <a:schemeClr val="accent2"/>
                </a:solidFill>
                <a:latin typeface="Trebuchet MS" panose="020B0703020202090204" pitchFamily="34" charset="0"/>
              </a:rPr>
              <a:t>myArray</a:t>
            </a:r>
            <a:r>
              <a:rPr lang="ro-RO" altLang="en-US" sz="2200" dirty="0">
                <a:solidFill>
                  <a:schemeClr val="accent2"/>
                </a:solidFill>
                <a:latin typeface="Trebuchet MS" panose="020B0703020202090204" pitchFamily="34" charset="0"/>
              </a:rPr>
              <a:t>[10] = 3;</a:t>
            </a:r>
          </a:p>
          <a:p>
            <a:pPr eaLnBrk="1" hangingPunct="1">
              <a:lnSpc>
                <a:spcPct val="110000"/>
              </a:lnSpc>
              <a:spcBef>
                <a:spcPts val="600"/>
              </a:spcBef>
              <a:spcAft>
                <a:spcPts val="600"/>
              </a:spcAft>
            </a:pPr>
            <a:r>
              <a:rPr lang="ro-RO" altLang="en-US" sz="2400" dirty="0"/>
              <a:t>Tablourile sunt structuri de date risipite, spațiul este alocat doar pentru elementele cărora le-a fost cu asignată o valoare</a:t>
            </a:r>
          </a:p>
          <a:p>
            <a:pPr lvl="1" eaLnBrk="1" hangingPunct="1">
              <a:lnSpc>
                <a:spcPct val="110000"/>
              </a:lnSpc>
              <a:spcBef>
                <a:spcPts val="600"/>
              </a:spcBef>
              <a:spcAft>
                <a:spcPts val="600"/>
              </a:spcAft>
            </a:pPr>
            <a:r>
              <a:rPr lang="ro-RO" altLang="en-US" sz="2200" dirty="0"/>
              <a:t>Exemplu: </a:t>
            </a:r>
            <a:r>
              <a:rPr lang="ro-RO" altLang="en-US" sz="2200" dirty="0" err="1">
                <a:solidFill>
                  <a:schemeClr val="accent2"/>
                </a:solidFill>
                <a:latin typeface="Trebuchet MS" panose="020B0703020202090204" pitchFamily="34" charset="0"/>
              </a:rPr>
              <a:t>myArray</a:t>
            </a:r>
            <a:r>
              <a:rPr lang="ro-RO" altLang="en-US" sz="2200" dirty="0">
                <a:solidFill>
                  <a:schemeClr val="accent2"/>
                </a:solidFill>
                <a:latin typeface="Trebuchet MS" panose="020B0703020202090204" pitchFamily="34" charset="0"/>
              </a:rPr>
              <a:t>[50000] = 3;</a:t>
            </a:r>
            <a:r>
              <a:rPr lang="ro-RO" altLang="en-US" sz="2200" dirty="0">
                <a:solidFill>
                  <a:schemeClr val="accent2"/>
                </a:solidFill>
              </a:rPr>
              <a:t> </a:t>
            </a:r>
            <a:r>
              <a:rPr lang="ro-RO" altLang="en-US" sz="2200" dirty="0"/>
              <a:t>este perfect OK</a:t>
            </a:r>
          </a:p>
          <a:p>
            <a:pPr lvl="1" eaLnBrk="1" hangingPunct="1">
              <a:lnSpc>
                <a:spcPct val="110000"/>
              </a:lnSpc>
              <a:spcBef>
                <a:spcPts val="600"/>
              </a:spcBef>
              <a:spcAft>
                <a:spcPts val="600"/>
              </a:spcAft>
            </a:pPr>
            <a:r>
              <a:rPr lang="ro-RO" altLang="en-US" sz="2200" dirty="0"/>
              <a:t>Indicii trebuie să fie între 0 și 2</a:t>
            </a:r>
            <a:r>
              <a:rPr lang="ro-RO" altLang="en-US" sz="2200" baseline="30000" dirty="0"/>
              <a:t>32</a:t>
            </a:r>
            <a:r>
              <a:rPr lang="ro-RO" altLang="en-US" sz="2200" dirty="0"/>
              <a:t>-1</a:t>
            </a:r>
          </a:p>
          <a:p>
            <a:pPr eaLnBrk="1" hangingPunct="1">
              <a:lnSpc>
                <a:spcPct val="110000"/>
              </a:lnSpc>
              <a:spcBef>
                <a:spcPts val="600"/>
              </a:spcBef>
              <a:spcAft>
                <a:spcPts val="600"/>
              </a:spcAft>
            </a:pPr>
            <a:r>
              <a:rPr lang="ro-RO" altLang="en-US" sz="2400" dirty="0"/>
              <a:t>Similar ca în C și Java, nu există tablouri bidimensionale; dar există tablou de tablou: </a:t>
            </a:r>
            <a:r>
              <a:rPr lang="ro-RO" altLang="en-US" sz="2000" dirty="0" err="1">
                <a:solidFill>
                  <a:schemeClr val="accent2"/>
                </a:solidFill>
                <a:latin typeface="Trebuchet MS" panose="020B0703020202090204" pitchFamily="34" charset="0"/>
              </a:rPr>
              <a:t>myArray</a:t>
            </a:r>
            <a:r>
              <a:rPr lang="ro-RO" altLang="en-US" sz="2000" dirty="0">
                <a:solidFill>
                  <a:schemeClr val="accent2"/>
                </a:solidFill>
                <a:latin typeface="Trebuchet MS" panose="020B0703020202090204" pitchFamily="34" charset="0"/>
              </a:rPr>
              <a:t>[5][3]</a:t>
            </a:r>
            <a:endParaRPr lang="ro-RO" altLang="en-US" sz="2800" dirty="0">
              <a:solidFill>
                <a:schemeClr val="accent2"/>
              </a:solidFill>
            </a:endParaRPr>
          </a:p>
          <a:p>
            <a:pPr eaLnBrk="1" hangingPunct="1">
              <a:lnSpc>
                <a:spcPct val="110000"/>
              </a:lnSpc>
              <a:spcBef>
                <a:spcPts val="600"/>
              </a:spcBef>
              <a:spcAft>
                <a:spcPts val="600"/>
              </a:spcAft>
            </a:pPr>
            <a:endParaRPr lang="ro-RO" altLang="en-US" sz="2400" dirty="0"/>
          </a:p>
        </p:txBody>
      </p:sp>
      <p:sp>
        <p:nvSpPr>
          <p:cNvPr id="49156" name="Footer Placeholder 4">
            <a:extLst>
              <a:ext uri="{FF2B5EF4-FFF2-40B4-BE49-F238E27FC236}">
                <a16:creationId xmlns:a16="http://schemas.microsoft.com/office/drawing/2014/main" id="{83C35D51-8F64-4E48-6751-A64F80F6ECA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900">
                <a:solidFill>
                  <a:schemeClr val="bg1"/>
                </a:solidFill>
              </a:rPr>
              <a:t>Curs Programare Web, anul 4 C5 – Curs 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Slide Number Placeholder 5">
            <a:extLst>
              <a:ext uri="{FF2B5EF4-FFF2-40B4-BE49-F238E27FC236}">
                <a16:creationId xmlns:a16="http://schemas.microsoft.com/office/drawing/2014/main" id="{E73D8BFC-0A0C-330F-F5F2-0E24809D83B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E90D8C04-686C-374A-A0EE-A61E0465795A}" type="slidenum">
              <a:rPr lang="en-US" altLang="en-US" sz="900">
                <a:solidFill>
                  <a:schemeClr val="bg1"/>
                </a:solidFill>
              </a:rPr>
              <a:pPr>
                <a:spcBef>
                  <a:spcPct val="0"/>
                </a:spcBef>
                <a:buFontTx/>
                <a:buNone/>
              </a:pPr>
              <a:t>24</a:t>
            </a:fld>
            <a:endParaRPr lang="en-US" altLang="en-US" sz="900">
              <a:solidFill>
                <a:schemeClr val="bg1"/>
              </a:solidFill>
            </a:endParaRPr>
          </a:p>
        </p:txBody>
      </p:sp>
      <p:sp>
        <p:nvSpPr>
          <p:cNvPr id="657410" name="Rectangle 2">
            <a:extLst>
              <a:ext uri="{FF2B5EF4-FFF2-40B4-BE49-F238E27FC236}">
                <a16:creationId xmlns:a16="http://schemas.microsoft.com/office/drawing/2014/main" id="{157D3C35-ABB0-0043-A30C-CD5AD627B133}"/>
              </a:ext>
            </a:extLst>
          </p:cNvPr>
          <p:cNvSpPr>
            <a:spLocks noGrp="1" noChangeArrowheads="1"/>
          </p:cNvSpPr>
          <p:nvPr>
            <p:ph type="title"/>
          </p:nvPr>
        </p:nvSpPr>
        <p:spPr/>
        <p:txBody>
          <a:bodyPr vert="horz" lIns="91440" tIns="45720" rIns="91440" bIns="45720" rtlCol="0" anchor="ctr">
            <a:normAutofit/>
          </a:bodyPr>
          <a:lstStyle/>
          <a:p>
            <a:r>
              <a:rPr lang="ro-RO" sz="6000" b="1"/>
              <a:t>Tablouri</a:t>
            </a:r>
            <a:r>
              <a:rPr lang="en-US" sz="6000" b="1"/>
              <a:t> </a:t>
            </a:r>
            <a:r>
              <a:rPr lang="ro-RO" sz="6000" b="1"/>
              <a:t>vs.</a:t>
            </a:r>
            <a:r>
              <a:rPr lang="en-US" sz="6000" b="1"/>
              <a:t> obiecte</a:t>
            </a:r>
            <a:endParaRPr lang="en-US" sz="6000" b="1" dirty="0"/>
          </a:p>
        </p:txBody>
      </p:sp>
      <p:sp>
        <p:nvSpPr>
          <p:cNvPr id="50179" name="Rectangle 3">
            <a:extLst>
              <a:ext uri="{FF2B5EF4-FFF2-40B4-BE49-F238E27FC236}">
                <a16:creationId xmlns:a16="http://schemas.microsoft.com/office/drawing/2014/main" id="{3E151DD1-EF3C-6F32-649B-B9E375B0EC20}"/>
              </a:ext>
            </a:extLst>
          </p:cNvPr>
          <p:cNvSpPr>
            <a:spLocks noGrp="1" noChangeArrowheads="1"/>
          </p:cNvSpPr>
          <p:nvPr>
            <p:ph type="body" idx="1"/>
          </p:nvPr>
        </p:nvSpPr>
        <p:spPr>
          <a:xfrm>
            <a:off x="1120970" y="2084832"/>
            <a:ext cx="10487934" cy="4023360"/>
          </a:xfrm>
        </p:spPr>
        <p:txBody>
          <a:bodyPr>
            <a:normAutofit fontScale="92500" lnSpcReduction="10000"/>
          </a:bodyPr>
          <a:lstStyle/>
          <a:p>
            <a:pPr>
              <a:lnSpc>
                <a:spcPct val="110000"/>
              </a:lnSpc>
              <a:spcBef>
                <a:spcPts val="600"/>
              </a:spcBef>
              <a:spcAft>
                <a:spcPts val="600"/>
              </a:spcAft>
            </a:pPr>
            <a:r>
              <a:rPr lang="ro-RO" altLang="en-US" sz="2800" dirty="0"/>
              <a:t>Variabilele de tip </a:t>
            </a:r>
            <a:r>
              <a:rPr lang="ro-RO" altLang="en-US" sz="2800" dirty="0" err="1"/>
              <a:t>array</a:t>
            </a:r>
            <a:r>
              <a:rPr lang="ro-RO" altLang="en-US" sz="2800" dirty="0"/>
              <a:t> </a:t>
            </a:r>
            <a:r>
              <a:rPr lang="ro-RO" altLang="en-US" sz="2800" i="1" dirty="0"/>
              <a:t>sunt</a:t>
            </a:r>
            <a:r>
              <a:rPr lang="ro-RO" altLang="en-US" sz="2800" dirty="0"/>
              <a:t> obiecte</a:t>
            </a:r>
          </a:p>
          <a:p>
            <a:pPr lvl="1">
              <a:lnSpc>
                <a:spcPct val="110000"/>
              </a:lnSpc>
              <a:spcBef>
                <a:spcPts val="600"/>
              </a:spcBef>
              <a:spcAft>
                <a:spcPts val="600"/>
              </a:spcAft>
              <a:buNone/>
            </a:pPr>
            <a:r>
              <a:rPr lang="ro-RO" altLang="en-US" sz="2400" dirty="0">
                <a:solidFill>
                  <a:schemeClr val="accent2"/>
                </a:solidFill>
                <a:latin typeface="Trebuchet MS" panose="020B0703020202090204" pitchFamily="34" charset="0"/>
              </a:rPr>
              <a:t>car = { </a:t>
            </a:r>
            <a:r>
              <a:rPr lang="ro-RO" altLang="en-US" sz="2400" dirty="0" err="1">
                <a:solidFill>
                  <a:schemeClr val="accent2"/>
                </a:solidFill>
                <a:latin typeface="Trebuchet MS" panose="020B0703020202090204" pitchFamily="34" charset="0"/>
              </a:rPr>
              <a:t>myCar</a:t>
            </a:r>
            <a:r>
              <a:rPr lang="ro-RO" altLang="en-US" sz="2400" dirty="0">
                <a:solidFill>
                  <a:schemeClr val="accent2"/>
                </a:solidFill>
                <a:latin typeface="Trebuchet MS" panose="020B0703020202090204" pitchFamily="34" charset="0"/>
              </a:rPr>
              <a:t>: "Saturn",  7: "Mazda" }</a:t>
            </a:r>
          </a:p>
          <a:p>
            <a:pPr lvl="1">
              <a:lnSpc>
                <a:spcPct val="110000"/>
              </a:lnSpc>
              <a:spcBef>
                <a:spcPts val="600"/>
              </a:spcBef>
              <a:spcAft>
                <a:spcPts val="600"/>
              </a:spcAft>
            </a:pPr>
            <a:r>
              <a:rPr lang="ro-RO" altLang="en-US" sz="2400" dirty="0">
                <a:solidFill>
                  <a:schemeClr val="accent2"/>
                </a:solidFill>
                <a:latin typeface="Trebuchet MS" panose="020B0703020202090204" pitchFamily="34" charset="0"/>
              </a:rPr>
              <a:t>car[7]</a:t>
            </a:r>
            <a:r>
              <a:rPr lang="ro-RO" altLang="en-US" sz="2400" dirty="0">
                <a:solidFill>
                  <a:srgbClr val="FFFF7F"/>
                </a:solidFill>
                <a:latin typeface="Trebuchet MS" panose="020B0703020202090204" pitchFamily="34" charset="0"/>
              </a:rPr>
              <a:t> </a:t>
            </a:r>
            <a:r>
              <a:rPr lang="ro-RO" altLang="en-US" sz="2400" dirty="0">
                <a:latin typeface="Trebuchet MS" panose="020B0703020202090204" pitchFamily="34" charset="0"/>
              </a:rPr>
              <a:t>este echivalent cu </a:t>
            </a:r>
            <a:r>
              <a:rPr lang="ro-RO" altLang="en-US" sz="2400" dirty="0">
                <a:solidFill>
                  <a:schemeClr val="accent2"/>
                </a:solidFill>
                <a:latin typeface="Trebuchet MS" panose="020B0703020202090204" pitchFamily="34" charset="0"/>
              </a:rPr>
              <a:t>car.7</a:t>
            </a:r>
          </a:p>
          <a:p>
            <a:pPr lvl="1">
              <a:lnSpc>
                <a:spcPct val="110000"/>
              </a:lnSpc>
              <a:spcBef>
                <a:spcPts val="600"/>
              </a:spcBef>
              <a:spcAft>
                <a:spcPts val="600"/>
              </a:spcAft>
            </a:pPr>
            <a:r>
              <a:rPr lang="ro-RO" altLang="en-US" sz="2400" dirty="0" err="1">
                <a:solidFill>
                  <a:schemeClr val="accent2"/>
                </a:solidFill>
                <a:latin typeface="Trebuchet MS" panose="020B0703020202090204" pitchFamily="34" charset="0"/>
              </a:rPr>
              <a:t>car.myCar</a:t>
            </a:r>
            <a:r>
              <a:rPr lang="ro-RO" altLang="en-US" sz="2400" dirty="0">
                <a:solidFill>
                  <a:srgbClr val="FFFF7F"/>
                </a:solidFill>
                <a:latin typeface="Trebuchet MS" panose="020B0703020202090204" pitchFamily="34" charset="0"/>
              </a:rPr>
              <a:t> </a:t>
            </a:r>
            <a:r>
              <a:rPr lang="ro-RO" altLang="en-US" sz="2400" dirty="0">
                <a:latin typeface="Trebuchet MS" panose="020B0703020202090204" pitchFamily="34" charset="0"/>
              </a:rPr>
              <a:t>este același cu </a:t>
            </a:r>
            <a:r>
              <a:rPr lang="ro-RO" altLang="en-US" sz="2400" dirty="0">
                <a:solidFill>
                  <a:schemeClr val="accent2"/>
                </a:solidFill>
                <a:latin typeface="Trebuchet MS" panose="020B0703020202090204" pitchFamily="34" charset="0"/>
              </a:rPr>
              <a:t>car["</a:t>
            </a:r>
            <a:r>
              <a:rPr lang="ro-RO" altLang="en-US" sz="2400" dirty="0" err="1">
                <a:solidFill>
                  <a:schemeClr val="accent2"/>
                </a:solidFill>
                <a:latin typeface="Trebuchet MS" panose="020B0703020202090204" pitchFamily="34" charset="0"/>
              </a:rPr>
              <a:t>myCar</a:t>
            </a:r>
            <a:r>
              <a:rPr lang="ro-RO" altLang="en-US" sz="2400" dirty="0">
                <a:solidFill>
                  <a:schemeClr val="accent2"/>
                </a:solidFill>
                <a:latin typeface="Trebuchet MS" panose="020B0703020202090204" pitchFamily="34" charset="0"/>
              </a:rPr>
              <a:t>"]</a:t>
            </a:r>
          </a:p>
          <a:p>
            <a:pPr>
              <a:lnSpc>
                <a:spcPct val="110000"/>
              </a:lnSpc>
              <a:spcBef>
                <a:spcPts val="600"/>
              </a:spcBef>
              <a:spcAft>
                <a:spcPts val="600"/>
              </a:spcAft>
            </a:pPr>
            <a:r>
              <a:rPr lang="ro-RO" altLang="en-US" sz="2800" dirty="0"/>
              <a:t>Dacă </a:t>
            </a:r>
            <a:r>
              <a:rPr lang="ro-RO" altLang="en-US" sz="2800" i="1" dirty="0"/>
              <a:t>cunoașteți </a:t>
            </a:r>
            <a:r>
              <a:rPr lang="ro-RO" altLang="en-US" sz="2800" dirty="0"/>
              <a:t>numele unei proprietăți puteți folosi notația cu punct: </a:t>
            </a:r>
            <a:r>
              <a:rPr lang="ro-RO" altLang="en-US" sz="2800" dirty="0" err="1">
                <a:solidFill>
                  <a:schemeClr val="accent2"/>
                </a:solidFill>
                <a:latin typeface="Trebuchet MS" panose="020B0703020202090204" pitchFamily="34" charset="0"/>
              </a:rPr>
              <a:t>car.myCar</a:t>
            </a:r>
            <a:endParaRPr lang="ro-RO" altLang="en-US" sz="2800" dirty="0">
              <a:solidFill>
                <a:schemeClr val="accent2"/>
              </a:solidFill>
              <a:latin typeface="Trebuchet MS" panose="020B0703020202090204" pitchFamily="34" charset="0"/>
            </a:endParaRPr>
          </a:p>
          <a:p>
            <a:pPr>
              <a:lnSpc>
                <a:spcPct val="110000"/>
              </a:lnSpc>
              <a:spcBef>
                <a:spcPts val="600"/>
              </a:spcBef>
              <a:spcAft>
                <a:spcPts val="600"/>
              </a:spcAft>
            </a:pPr>
            <a:r>
              <a:rPr lang="ro-RO" altLang="en-US" sz="2800" dirty="0"/>
              <a:t>Daca </a:t>
            </a:r>
            <a:r>
              <a:rPr lang="ro-RO" altLang="en-US" sz="2800" i="1" dirty="0"/>
              <a:t>nu cunoașteți </a:t>
            </a:r>
            <a:r>
              <a:rPr lang="ro-RO" altLang="en-US" sz="2800" dirty="0"/>
              <a:t>numele proprietății dar îl aveți într-o variabilă (sau îl puteți calcula), </a:t>
            </a:r>
            <a:r>
              <a:rPr lang="ro-RO" altLang="en-US" sz="2800" i="1" dirty="0"/>
              <a:t>folosiți </a:t>
            </a:r>
            <a:r>
              <a:rPr lang="ro-RO" altLang="en-US" sz="2800" dirty="0"/>
              <a:t>notația de tip </a:t>
            </a:r>
            <a:r>
              <a:rPr lang="ro-RO" altLang="en-US" sz="2800" dirty="0" err="1"/>
              <a:t>array</a:t>
            </a:r>
            <a:r>
              <a:rPr lang="ro-RO" altLang="en-US" sz="2800" dirty="0"/>
              <a:t>: </a:t>
            </a:r>
            <a:r>
              <a:rPr lang="ro-RO" altLang="en-US" sz="2800" dirty="0">
                <a:solidFill>
                  <a:schemeClr val="accent2"/>
                </a:solidFill>
                <a:latin typeface="Trebuchet MS" panose="020B0703020202090204" pitchFamily="34" charset="0"/>
              </a:rPr>
              <a:t>car["</a:t>
            </a:r>
            <a:r>
              <a:rPr lang="ro-RO" altLang="en-US" sz="2800" dirty="0" err="1">
                <a:solidFill>
                  <a:schemeClr val="accent2"/>
                </a:solidFill>
                <a:latin typeface="Trebuchet MS" panose="020B0703020202090204" pitchFamily="34" charset="0"/>
              </a:rPr>
              <a:t>my</a:t>
            </a:r>
            <a:r>
              <a:rPr lang="ro-RO" altLang="en-US" sz="2800" dirty="0">
                <a:solidFill>
                  <a:schemeClr val="accent2"/>
                </a:solidFill>
                <a:latin typeface="Trebuchet MS" panose="020B0703020202090204" pitchFamily="34" charset="0"/>
              </a:rPr>
              <a:t>" + "Car"]</a:t>
            </a:r>
          </a:p>
          <a:p>
            <a:pPr>
              <a:lnSpc>
                <a:spcPct val="110000"/>
              </a:lnSpc>
              <a:spcBef>
                <a:spcPts val="600"/>
              </a:spcBef>
              <a:spcAft>
                <a:spcPts val="600"/>
              </a:spcAft>
            </a:pPr>
            <a:endParaRPr lang="ro-RO" altLang="en-US" sz="2800" dirty="0"/>
          </a:p>
        </p:txBody>
      </p:sp>
      <p:sp>
        <p:nvSpPr>
          <p:cNvPr id="50180" name="Footer Placeholder 4">
            <a:extLst>
              <a:ext uri="{FF2B5EF4-FFF2-40B4-BE49-F238E27FC236}">
                <a16:creationId xmlns:a16="http://schemas.microsoft.com/office/drawing/2014/main" id="{927676B3-8ADE-582D-BC0B-5C0B8B12B5F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900">
                <a:solidFill>
                  <a:schemeClr val="bg1"/>
                </a:solidFill>
              </a:rPr>
              <a:t>Curs Programare Web, anul 4 C5 – Curs 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3">
            <a:extLst>
              <a:ext uri="{FF2B5EF4-FFF2-40B4-BE49-F238E27FC236}">
                <a16:creationId xmlns:a16="http://schemas.microsoft.com/office/drawing/2014/main" id="{6CFC15A7-17F5-61D5-8D2F-0E1D8B94CA14}"/>
              </a:ext>
            </a:extLst>
          </p:cNvPr>
          <p:cNvSpPr>
            <a:spLocks noGrp="1" noChangeArrowheads="1"/>
          </p:cNvSpPr>
          <p:nvPr>
            <p:ph type="body" idx="1"/>
          </p:nvPr>
        </p:nvSpPr>
        <p:spPr>
          <a:xfrm>
            <a:off x="939068" y="1677723"/>
            <a:ext cx="11027115" cy="5334000"/>
          </a:xfrm>
        </p:spPr>
        <p:txBody>
          <a:bodyPr>
            <a:normAutofit/>
          </a:bodyPr>
          <a:lstStyle/>
          <a:p>
            <a:pPr>
              <a:lnSpc>
                <a:spcPct val="100000"/>
              </a:lnSpc>
              <a:spcBef>
                <a:spcPts val="600"/>
              </a:spcBef>
              <a:spcAft>
                <a:spcPts val="600"/>
              </a:spcAft>
            </a:pPr>
            <a:r>
              <a:rPr lang="ro-RO" altLang="en-US" sz="2400" dirty="0"/>
              <a:t>Puteți itera printre proprietățile unui obiect folosind</a:t>
            </a:r>
            <a:br>
              <a:rPr lang="ro-RO" altLang="en-US" sz="2400" dirty="0"/>
            </a:br>
            <a:r>
              <a:rPr lang="ro-RO" altLang="en-US" sz="2400" dirty="0">
                <a:solidFill>
                  <a:srgbClr val="FF0000"/>
                </a:solidFill>
                <a:latin typeface="Trebuchet MS" panose="020B0703020202090204" pitchFamily="34" charset="0"/>
              </a:rPr>
              <a:t>for (</a:t>
            </a:r>
            <a:r>
              <a:rPr lang="ro-RO" altLang="en-US" sz="2400" b="1" i="1" dirty="0" err="1">
                <a:solidFill>
                  <a:srgbClr val="FF0000"/>
                </a:solidFill>
              </a:rPr>
              <a:t>variable</a:t>
            </a:r>
            <a:r>
              <a:rPr lang="ro-RO" altLang="en-US" sz="2400" dirty="0">
                <a:solidFill>
                  <a:srgbClr val="FF0000"/>
                </a:solidFill>
              </a:rPr>
              <a:t> </a:t>
            </a:r>
            <a:r>
              <a:rPr lang="ro-RO" altLang="en-US" sz="2400" dirty="0">
                <a:solidFill>
                  <a:srgbClr val="FF0000"/>
                </a:solidFill>
                <a:latin typeface="Trebuchet MS" panose="020B0703020202090204" pitchFamily="34" charset="0"/>
              </a:rPr>
              <a:t>in</a:t>
            </a:r>
            <a:r>
              <a:rPr lang="ro-RO" altLang="en-US" sz="2400" dirty="0">
                <a:solidFill>
                  <a:srgbClr val="FF0000"/>
                </a:solidFill>
              </a:rPr>
              <a:t> </a:t>
            </a:r>
            <a:r>
              <a:rPr lang="ro-RO" altLang="en-US" sz="2400" b="1" i="1" dirty="0" err="1">
                <a:solidFill>
                  <a:srgbClr val="FF0000"/>
                </a:solidFill>
              </a:rPr>
              <a:t>object</a:t>
            </a:r>
            <a:r>
              <a:rPr lang="ro-RO" altLang="en-US" sz="2400" dirty="0">
                <a:solidFill>
                  <a:srgbClr val="FF0000"/>
                </a:solidFill>
                <a:latin typeface="Trebuchet MS" panose="020B0703020202090204" pitchFamily="34" charset="0"/>
              </a:rPr>
              <a:t>)</a:t>
            </a:r>
            <a:r>
              <a:rPr lang="ro-RO" altLang="en-US" sz="2400" dirty="0">
                <a:solidFill>
                  <a:srgbClr val="FF0000"/>
                </a:solidFill>
              </a:rPr>
              <a:t> </a:t>
            </a:r>
            <a:r>
              <a:rPr lang="ro-RO" altLang="en-US" sz="2400" b="1" i="1" dirty="0" err="1">
                <a:solidFill>
                  <a:srgbClr val="FF0000"/>
                </a:solidFill>
              </a:rPr>
              <a:t>statement</a:t>
            </a:r>
            <a:r>
              <a:rPr lang="ro-RO" altLang="en-US" sz="2400" dirty="0">
                <a:solidFill>
                  <a:srgbClr val="FF0000"/>
                </a:solidFill>
                <a:latin typeface="Trebuchet MS" panose="020B0703020202090204" pitchFamily="34" charset="0"/>
              </a:rPr>
              <a:t>;</a:t>
            </a:r>
          </a:p>
          <a:p>
            <a:pPr lvl="1" eaLnBrk="1" hangingPunct="1">
              <a:lnSpc>
                <a:spcPct val="100000"/>
              </a:lnSpc>
              <a:spcBef>
                <a:spcPts val="600"/>
              </a:spcBef>
              <a:spcAft>
                <a:spcPts val="600"/>
              </a:spcAft>
            </a:pPr>
            <a:r>
              <a:rPr lang="ro-RO" altLang="en-US" sz="2000" dirty="0"/>
              <a:t>Exemplu:  </a:t>
            </a:r>
            <a:r>
              <a:rPr lang="ro-RO" altLang="en-US" sz="2000" dirty="0">
                <a:solidFill>
                  <a:schemeClr val="accent2"/>
                </a:solidFill>
                <a:latin typeface="Trebuchet MS" panose="020B0703020202090204" pitchFamily="34" charset="0"/>
              </a:rPr>
              <a:t>for (var </a:t>
            </a:r>
            <a:r>
              <a:rPr lang="ro-RO" altLang="en-US" sz="2000" dirty="0" err="1">
                <a:solidFill>
                  <a:schemeClr val="accent2"/>
                </a:solidFill>
                <a:latin typeface="Trebuchet MS" panose="020B0703020202090204" pitchFamily="34" charset="0"/>
              </a:rPr>
              <a:t>prop</a:t>
            </a:r>
            <a:r>
              <a:rPr lang="ro-RO" altLang="en-US" sz="2000" dirty="0">
                <a:solidFill>
                  <a:schemeClr val="accent2"/>
                </a:solidFill>
                <a:latin typeface="Trebuchet MS" panose="020B0703020202090204" pitchFamily="34" charset="0"/>
              </a:rPr>
              <a:t> in </a:t>
            </a:r>
            <a:r>
              <a:rPr lang="ro-RO" altLang="en-US" sz="2000" dirty="0" err="1">
                <a:solidFill>
                  <a:schemeClr val="accent2"/>
                </a:solidFill>
                <a:latin typeface="Trebuchet MS" panose="020B0703020202090204" pitchFamily="34" charset="0"/>
              </a:rPr>
              <a:t>course</a:t>
            </a:r>
            <a:r>
              <a:rPr lang="ro-RO" altLang="en-US" sz="2000" dirty="0">
                <a:solidFill>
                  <a:schemeClr val="accent2"/>
                </a:solidFill>
                <a:latin typeface="Trebuchet MS" panose="020B0703020202090204" pitchFamily="34" charset="0"/>
              </a:rPr>
              <a:t>) {</a:t>
            </a:r>
            <a:br>
              <a:rPr lang="ro-RO" altLang="en-US" sz="2000" dirty="0">
                <a:solidFill>
                  <a:schemeClr val="accent2"/>
                </a:solidFill>
                <a:latin typeface="Trebuchet MS" panose="020B0703020202090204" pitchFamily="34" charset="0"/>
              </a:rPr>
            </a:br>
            <a:r>
              <a:rPr lang="ro-RO" altLang="en-US" sz="2000" dirty="0">
                <a:solidFill>
                  <a:schemeClr val="accent2"/>
                </a:solidFill>
                <a:latin typeface="Trebuchet MS" panose="020B0703020202090204" pitchFamily="34" charset="0"/>
              </a:rPr>
              <a:t>                      </a:t>
            </a:r>
            <a:r>
              <a:rPr lang="ro-RO" altLang="en-US" sz="2000" dirty="0" err="1">
                <a:solidFill>
                  <a:schemeClr val="accent2"/>
                </a:solidFill>
                <a:latin typeface="Trebuchet MS" panose="020B0703020202090204" pitchFamily="34" charset="0"/>
              </a:rPr>
              <a:t>document.write</a:t>
            </a:r>
            <a:r>
              <a:rPr lang="ro-RO" altLang="en-US" sz="2000" dirty="0">
                <a:solidFill>
                  <a:schemeClr val="accent2"/>
                </a:solidFill>
                <a:latin typeface="Trebuchet MS" panose="020B0703020202090204" pitchFamily="34" charset="0"/>
              </a:rPr>
              <a:t>(</a:t>
            </a:r>
            <a:r>
              <a:rPr lang="ro-RO" altLang="en-US" sz="2000" dirty="0" err="1">
                <a:solidFill>
                  <a:schemeClr val="accent2"/>
                </a:solidFill>
                <a:latin typeface="Trebuchet MS" panose="020B0703020202090204" pitchFamily="34" charset="0"/>
              </a:rPr>
              <a:t>prop</a:t>
            </a:r>
            <a:r>
              <a:rPr lang="ro-RO" altLang="en-US" sz="2000" dirty="0">
                <a:solidFill>
                  <a:schemeClr val="accent2"/>
                </a:solidFill>
                <a:latin typeface="Trebuchet MS" panose="020B0703020202090204" pitchFamily="34" charset="0"/>
              </a:rPr>
              <a:t> + ": " + </a:t>
            </a:r>
            <a:r>
              <a:rPr lang="ro-RO" altLang="en-US" sz="2000" dirty="0" err="1">
                <a:solidFill>
                  <a:schemeClr val="accent2"/>
                </a:solidFill>
                <a:latin typeface="Trebuchet MS" panose="020B0703020202090204" pitchFamily="34" charset="0"/>
              </a:rPr>
              <a:t>course</a:t>
            </a:r>
            <a:r>
              <a:rPr lang="ro-RO" altLang="en-US" sz="2000" dirty="0">
                <a:solidFill>
                  <a:schemeClr val="accent2"/>
                </a:solidFill>
                <a:latin typeface="Trebuchet MS" panose="020B0703020202090204" pitchFamily="34" charset="0"/>
              </a:rPr>
              <a:t>[</a:t>
            </a:r>
            <a:r>
              <a:rPr lang="ro-RO" altLang="en-US" sz="2000" dirty="0" err="1">
                <a:solidFill>
                  <a:schemeClr val="accent2"/>
                </a:solidFill>
                <a:latin typeface="Trebuchet MS" panose="020B0703020202090204" pitchFamily="34" charset="0"/>
              </a:rPr>
              <a:t>prop</a:t>
            </a:r>
            <a:r>
              <a:rPr lang="ro-RO" altLang="en-US" sz="2000" dirty="0">
                <a:solidFill>
                  <a:schemeClr val="accent2"/>
                </a:solidFill>
                <a:latin typeface="Trebuchet MS" panose="020B0703020202090204" pitchFamily="34" charset="0"/>
              </a:rPr>
              <a:t>]);</a:t>
            </a:r>
            <a:br>
              <a:rPr lang="ro-RO" altLang="en-US" sz="2000" dirty="0">
                <a:solidFill>
                  <a:schemeClr val="accent2"/>
                </a:solidFill>
                <a:latin typeface="Trebuchet MS" panose="020B0703020202090204" pitchFamily="34" charset="0"/>
              </a:rPr>
            </a:br>
            <a:r>
              <a:rPr lang="ro-RO" altLang="en-US" sz="2000" dirty="0">
                <a:solidFill>
                  <a:schemeClr val="accent2"/>
                </a:solidFill>
                <a:latin typeface="Trebuchet MS" panose="020B0703020202090204" pitchFamily="34" charset="0"/>
              </a:rPr>
              <a:t>                  }</a:t>
            </a:r>
          </a:p>
          <a:p>
            <a:pPr lvl="1" eaLnBrk="1" hangingPunct="1">
              <a:lnSpc>
                <a:spcPct val="100000"/>
              </a:lnSpc>
              <a:spcBef>
                <a:spcPts val="600"/>
              </a:spcBef>
              <a:spcAft>
                <a:spcPts val="600"/>
              </a:spcAft>
            </a:pPr>
            <a:r>
              <a:rPr lang="ro-RO" altLang="en-US" sz="2000" dirty="0"/>
              <a:t>Posibil output: </a:t>
            </a:r>
            <a:r>
              <a:rPr lang="ro-RO" altLang="en-US" sz="2000" dirty="0">
                <a:solidFill>
                  <a:schemeClr val="accent2"/>
                </a:solidFill>
                <a:latin typeface="Trebuchet MS" panose="020B0703020202090204" pitchFamily="34" charset="0"/>
              </a:rPr>
              <a:t> </a:t>
            </a:r>
            <a:r>
              <a:rPr lang="ro-RO" altLang="en-US" sz="2000" dirty="0" err="1">
                <a:solidFill>
                  <a:schemeClr val="accent2"/>
                </a:solidFill>
                <a:latin typeface="Trebuchet MS" panose="020B0703020202090204" pitchFamily="34" charset="0"/>
              </a:rPr>
              <a:t>teacher</a:t>
            </a:r>
            <a:r>
              <a:rPr lang="ro-RO" altLang="en-US" sz="2000" dirty="0">
                <a:solidFill>
                  <a:schemeClr val="accent2"/>
                </a:solidFill>
                <a:latin typeface="Trebuchet MS" panose="020B0703020202090204" pitchFamily="34" charset="0"/>
              </a:rPr>
              <a:t>: Ciprian Dobre</a:t>
            </a:r>
            <a:br>
              <a:rPr lang="ro-RO" altLang="en-US" sz="2000" dirty="0">
                <a:solidFill>
                  <a:schemeClr val="accent2"/>
                </a:solidFill>
                <a:latin typeface="Trebuchet MS" panose="020B0703020202090204" pitchFamily="34" charset="0"/>
              </a:rPr>
            </a:br>
            <a:r>
              <a:rPr lang="ro-RO" altLang="en-US" sz="2000" dirty="0">
                <a:solidFill>
                  <a:schemeClr val="accent2"/>
                </a:solidFill>
                <a:latin typeface="Trebuchet MS" panose="020B0703020202090204" pitchFamily="34" charset="0"/>
              </a:rPr>
              <a:t>                       </a:t>
            </a:r>
            <a:r>
              <a:rPr lang="ro-RO" altLang="en-US" sz="2000" dirty="0" err="1">
                <a:solidFill>
                  <a:schemeClr val="accent2"/>
                </a:solidFill>
                <a:latin typeface="Trebuchet MS" panose="020B0703020202090204" pitchFamily="34" charset="0"/>
              </a:rPr>
              <a:t>name</a:t>
            </a:r>
            <a:r>
              <a:rPr lang="ro-RO" altLang="en-US" sz="2000" dirty="0">
                <a:solidFill>
                  <a:schemeClr val="accent2"/>
                </a:solidFill>
                <a:latin typeface="Trebuchet MS" panose="020B0703020202090204" pitchFamily="34" charset="0"/>
              </a:rPr>
              <a:t>: </a:t>
            </a:r>
            <a:r>
              <a:rPr lang="ro-RO" altLang="en-US" sz="2000" dirty="0" err="1">
                <a:solidFill>
                  <a:schemeClr val="accent2"/>
                </a:solidFill>
                <a:latin typeface="Trebuchet MS" panose="020B0703020202090204" pitchFamily="34" charset="0"/>
              </a:rPr>
              <a:t>PWeb</a:t>
            </a:r>
            <a:endParaRPr lang="ro-RO" altLang="en-US" sz="2000" dirty="0">
              <a:solidFill>
                <a:schemeClr val="accent2"/>
              </a:solidFill>
              <a:latin typeface="Trebuchet MS" panose="020B0703020202090204" pitchFamily="34" charset="0"/>
            </a:endParaRPr>
          </a:p>
          <a:p>
            <a:pPr lvl="1" eaLnBrk="1" hangingPunct="1">
              <a:lnSpc>
                <a:spcPct val="100000"/>
              </a:lnSpc>
              <a:spcBef>
                <a:spcPts val="600"/>
              </a:spcBef>
              <a:spcAft>
                <a:spcPts val="600"/>
              </a:spcAft>
            </a:pPr>
            <a:r>
              <a:rPr lang="ro-RO" altLang="en-US" sz="2000" dirty="0"/>
              <a:t>Proprietățile sunt accesate într-o ordine </a:t>
            </a:r>
            <a:r>
              <a:rPr lang="ro-RO" altLang="en-US" sz="2000" i="1" dirty="0"/>
              <a:t>nedefinită</a:t>
            </a:r>
            <a:endParaRPr lang="ro-RO" altLang="en-US" sz="2000" dirty="0"/>
          </a:p>
          <a:p>
            <a:pPr lvl="1" eaLnBrk="1" hangingPunct="1">
              <a:lnSpc>
                <a:spcPct val="100000"/>
              </a:lnSpc>
              <a:spcBef>
                <a:spcPts val="600"/>
              </a:spcBef>
              <a:spcAft>
                <a:spcPts val="600"/>
              </a:spcAft>
            </a:pPr>
            <a:r>
              <a:rPr lang="ro-RO" altLang="en-US" sz="2000" dirty="0"/>
              <a:t>Dacă adăugați sau ștergeți proprietăți obiectului din buclă este </a:t>
            </a:r>
            <a:r>
              <a:rPr lang="ro-RO" altLang="en-US" sz="2000" i="1" dirty="0"/>
              <a:t>nedefinit </a:t>
            </a:r>
            <a:r>
              <a:rPr lang="ro-RO" altLang="en-US" sz="2000" dirty="0"/>
              <a:t>dacă instrucțiunea iterativă va traversa și proprietățile nou definite sau nu</a:t>
            </a:r>
          </a:p>
          <a:p>
            <a:pPr lvl="1" eaLnBrk="1" hangingPunct="1">
              <a:lnSpc>
                <a:spcPct val="100000"/>
              </a:lnSpc>
              <a:spcBef>
                <a:spcPts val="600"/>
              </a:spcBef>
              <a:spcAft>
                <a:spcPts val="600"/>
              </a:spcAft>
            </a:pPr>
            <a:r>
              <a:rPr lang="ro-RO" altLang="en-US" sz="2000" dirty="0"/>
              <a:t>Tablourile </a:t>
            </a:r>
            <a:r>
              <a:rPr lang="ro-RO" altLang="en-US" sz="2000" i="1" dirty="0"/>
              <a:t>sunt</a:t>
            </a:r>
            <a:r>
              <a:rPr lang="ro-RO" altLang="en-US" sz="2000" dirty="0"/>
              <a:t> obiecte; aplicată unui tablou, </a:t>
            </a:r>
            <a:r>
              <a:rPr lang="ro-RO" altLang="en-US" sz="2000" dirty="0">
                <a:solidFill>
                  <a:schemeClr val="accent2"/>
                </a:solidFill>
                <a:latin typeface="Trebuchet MS" panose="020B0703020202090204" pitchFamily="34" charset="0"/>
              </a:rPr>
              <a:t>for…in</a:t>
            </a:r>
            <a:r>
              <a:rPr lang="ro-RO" altLang="en-US" sz="2000" dirty="0"/>
              <a:t> va vizita “proprietățile” </a:t>
            </a:r>
            <a:r>
              <a:rPr lang="ro-RO" altLang="en-US" sz="2000" dirty="0">
                <a:solidFill>
                  <a:schemeClr val="accent2"/>
                </a:solidFill>
                <a:latin typeface="Trebuchet MS" panose="020B0703020202090204" pitchFamily="34" charset="0"/>
              </a:rPr>
              <a:t>0</a:t>
            </a:r>
            <a:r>
              <a:rPr lang="ro-RO" altLang="en-US" sz="2000" dirty="0"/>
              <a:t>, </a:t>
            </a:r>
            <a:r>
              <a:rPr lang="ro-RO" altLang="en-US" sz="2000" dirty="0">
                <a:solidFill>
                  <a:schemeClr val="accent2"/>
                </a:solidFill>
                <a:latin typeface="Trebuchet MS" panose="020B0703020202090204" pitchFamily="34" charset="0"/>
              </a:rPr>
              <a:t>1</a:t>
            </a:r>
            <a:r>
              <a:rPr lang="ro-RO" altLang="en-US" sz="2000" dirty="0"/>
              <a:t>, </a:t>
            </a:r>
            <a:r>
              <a:rPr lang="ro-RO" altLang="en-US" sz="2000" dirty="0">
                <a:solidFill>
                  <a:schemeClr val="accent2"/>
                </a:solidFill>
                <a:latin typeface="Trebuchet MS" panose="020B0703020202090204" pitchFamily="34" charset="0"/>
              </a:rPr>
              <a:t>2</a:t>
            </a:r>
            <a:r>
              <a:rPr lang="ro-RO" altLang="en-US" sz="2000" dirty="0"/>
              <a:t>, …</a:t>
            </a:r>
          </a:p>
          <a:p>
            <a:pPr lvl="1" eaLnBrk="1" hangingPunct="1">
              <a:lnSpc>
                <a:spcPct val="100000"/>
              </a:lnSpc>
              <a:spcBef>
                <a:spcPts val="600"/>
              </a:spcBef>
              <a:spcAft>
                <a:spcPts val="600"/>
              </a:spcAft>
            </a:pPr>
            <a:r>
              <a:rPr lang="ro-RO" altLang="en-US" sz="2000" dirty="0"/>
              <a:t>Observați că </a:t>
            </a:r>
            <a:r>
              <a:rPr lang="ro-RO" altLang="en-US" sz="2000" dirty="0" err="1">
                <a:solidFill>
                  <a:schemeClr val="accent2"/>
                </a:solidFill>
                <a:latin typeface="Trebuchet MS" panose="020B0703020202090204" pitchFamily="34" charset="0"/>
              </a:rPr>
              <a:t>course</a:t>
            </a:r>
            <a:r>
              <a:rPr lang="ro-RO" altLang="en-US" sz="2000" dirty="0">
                <a:solidFill>
                  <a:schemeClr val="accent2"/>
                </a:solidFill>
                <a:latin typeface="Trebuchet MS" panose="020B0703020202090204" pitchFamily="34" charset="0"/>
              </a:rPr>
              <a:t>["</a:t>
            </a:r>
            <a:r>
              <a:rPr lang="ro-RO" altLang="en-US" sz="2000" dirty="0" err="1">
                <a:solidFill>
                  <a:schemeClr val="accent2"/>
                </a:solidFill>
                <a:latin typeface="Trebuchet MS" panose="020B0703020202090204" pitchFamily="34" charset="0"/>
              </a:rPr>
              <a:t>teacher</a:t>
            </a:r>
            <a:r>
              <a:rPr lang="ro-RO" altLang="en-US" sz="2000" dirty="0">
                <a:solidFill>
                  <a:schemeClr val="accent2"/>
                </a:solidFill>
                <a:latin typeface="Trebuchet MS" panose="020B0703020202090204" pitchFamily="34" charset="0"/>
              </a:rPr>
              <a:t>"]</a:t>
            </a:r>
            <a:r>
              <a:rPr lang="ro-RO" altLang="en-US" sz="2000" dirty="0">
                <a:solidFill>
                  <a:srgbClr val="FFFF7F"/>
                </a:solidFill>
                <a:latin typeface="Trebuchet MS" panose="020B0703020202090204" pitchFamily="34" charset="0"/>
              </a:rPr>
              <a:t> </a:t>
            </a:r>
            <a:r>
              <a:rPr lang="ro-RO" altLang="en-US" sz="2000" dirty="0">
                <a:latin typeface="Trebuchet MS" panose="020B0703020202090204" pitchFamily="34" charset="0"/>
              </a:rPr>
              <a:t>este echivalent cu </a:t>
            </a:r>
            <a:r>
              <a:rPr lang="ro-RO" altLang="en-US" sz="2000" dirty="0" err="1">
                <a:solidFill>
                  <a:schemeClr val="accent2"/>
                </a:solidFill>
                <a:latin typeface="Trebuchet MS" panose="020B0703020202090204" pitchFamily="34" charset="0"/>
              </a:rPr>
              <a:t>course.teacher</a:t>
            </a:r>
            <a:endParaRPr lang="ro-RO" altLang="en-US" sz="2000" dirty="0">
              <a:solidFill>
                <a:schemeClr val="accent2"/>
              </a:solidFill>
              <a:latin typeface="Trebuchet MS" panose="020B0703020202090204" pitchFamily="34" charset="0"/>
            </a:endParaRPr>
          </a:p>
          <a:p>
            <a:pPr eaLnBrk="1" hangingPunct="1">
              <a:lnSpc>
                <a:spcPct val="100000"/>
              </a:lnSpc>
              <a:spcBef>
                <a:spcPts val="600"/>
              </a:spcBef>
              <a:spcAft>
                <a:spcPts val="600"/>
              </a:spcAft>
            </a:pPr>
            <a:endParaRPr lang="ro-RO" altLang="en-US" sz="2400" dirty="0"/>
          </a:p>
        </p:txBody>
      </p:sp>
      <p:sp>
        <p:nvSpPr>
          <p:cNvPr id="54274" name="Slide Number Placeholder 5">
            <a:extLst>
              <a:ext uri="{FF2B5EF4-FFF2-40B4-BE49-F238E27FC236}">
                <a16:creationId xmlns:a16="http://schemas.microsoft.com/office/drawing/2014/main" id="{A9578325-46AF-62D8-4AEF-577D7C91AA8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6202E011-82AB-0542-B799-AE645A510421}" type="slidenum">
              <a:rPr lang="en-US" altLang="en-US" sz="900">
                <a:solidFill>
                  <a:schemeClr val="bg1"/>
                </a:solidFill>
              </a:rPr>
              <a:pPr>
                <a:spcBef>
                  <a:spcPct val="0"/>
                </a:spcBef>
                <a:buFontTx/>
                <a:buNone/>
              </a:pPr>
              <a:t>25</a:t>
            </a:fld>
            <a:endParaRPr lang="en-US" altLang="en-US" sz="900">
              <a:solidFill>
                <a:schemeClr val="bg1"/>
              </a:solidFill>
            </a:endParaRPr>
          </a:p>
        </p:txBody>
      </p:sp>
      <p:sp>
        <p:nvSpPr>
          <p:cNvPr id="659458" name="Rectangle 2">
            <a:extLst>
              <a:ext uri="{FF2B5EF4-FFF2-40B4-BE49-F238E27FC236}">
                <a16:creationId xmlns:a16="http://schemas.microsoft.com/office/drawing/2014/main" id="{56C445A8-07CA-1741-8FE7-31589F154115}"/>
              </a:ext>
            </a:extLst>
          </p:cNvPr>
          <p:cNvSpPr>
            <a:spLocks noGrp="1" noChangeArrowheads="1"/>
          </p:cNvSpPr>
          <p:nvPr>
            <p:ph type="title"/>
          </p:nvPr>
        </p:nvSpPr>
        <p:spPr>
          <a:xfrm>
            <a:off x="1024128" y="361932"/>
            <a:ext cx="9720072" cy="1499616"/>
          </a:xfrm>
        </p:spPr>
        <p:txBody>
          <a:bodyPr vert="horz" lIns="91440" tIns="45720" rIns="91440" bIns="45720" rtlCol="0" anchor="ctr">
            <a:normAutofit/>
          </a:bodyPr>
          <a:lstStyle/>
          <a:p>
            <a:r>
              <a:rPr lang="en-US" sz="6000" b="1" dirty="0" err="1"/>
              <a:t>Instruc</a:t>
            </a:r>
            <a:r>
              <a:rPr lang="ro-RO" sz="6000" b="1" dirty="0"/>
              <a:t>ț</a:t>
            </a:r>
            <a:r>
              <a:rPr lang="en-US" sz="6000" b="1" dirty="0" err="1"/>
              <a:t>iunea</a:t>
            </a:r>
            <a:r>
              <a:rPr lang="en-US" sz="6000" b="1" dirty="0"/>
              <a:t> for … in</a:t>
            </a:r>
          </a:p>
        </p:txBody>
      </p:sp>
      <p:sp>
        <p:nvSpPr>
          <p:cNvPr id="54276" name="Footer Placeholder 4">
            <a:extLst>
              <a:ext uri="{FF2B5EF4-FFF2-40B4-BE49-F238E27FC236}">
                <a16:creationId xmlns:a16="http://schemas.microsoft.com/office/drawing/2014/main" id="{3B95B4B7-64B4-E795-50CA-64D750F5402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900">
                <a:solidFill>
                  <a:schemeClr val="bg1"/>
                </a:solidFill>
              </a:rPr>
              <a:t>Curs Programare Web, anul 4 C5 – Curs 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12A99-1230-4555-98D1-10588A4508F6}"/>
              </a:ext>
            </a:extLst>
          </p:cNvPr>
          <p:cNvSpPr>
            <a:spLocks noGrp="1"/>
          </p:cNvSpPr>
          <p:nvPr>
            <p:ph type="title"/>
          </p:nvPr>
        </p:nvSpPr>
        <p:spPr>
          <a:xfrm>
            <a:off x="1024128" y="585216"/>
            <a:ext cx="8018272" cy="1499616"/>
          </a:xfrm>
        </p:spPr>
        <p:txBody>
          <a:bodyPr>
            <a:normAutofit/>
          </a:bodyPr>
          <a:lstStyle/>
          <a:p>
            <a:r>
              <a:rPr lang="en-US" b="1" dirty="0" err="1"/>
              <a:t>Copierea</a:t>
            </a:r>
            <a:r>
              <a:rPr lang="en-US" b="1" dirty="0"/>
              <a:t> </a:t>
            </a:r>
            <a:r>
              <a:rPr lang="en-US" b="1" dirty="0" err="1"/>
              <a:t>Obiectelor</a:t>
            </a:r>
            <a:endParaRPr lang="en-US" b="1" dirty="0"/>
          </a:p>
        </p:txBody>
      </p:sp>
      <p:sp>
        <p:nvSpPr>
          <p:cNvPr id="3" name="Content Placeholder 2">
            <a:extLst>
              <a:ext uri="{FF2B5EF4-FFF2-40B4-BE49-F238E27FC236}">
                <a16:creationId xmlns:a16="http://schemas.microsoft.com/office/drawing/2014/main" id="{03BACC6A-9D5C-4302-AA04-7B37C3490FAF}"/>
              </a:ext>
            </a:extLst>
          </p:cNvPr>
          <p:cNvSpPr>
            <a:spLocks noGrp="1"/>
          </p:cNvSpPr>
          <p:nvPr>
            <p:ph idx="1"/>
          </p:nvPr>
        </p:nvSpPr>
        <p:spPr>
          <a:xfrm>
            <a:off x="1038164" y="1967024"/>
            <a:ext cx="8018271" cy="4023360"/>
          </a:xfrm>
        </p:spPr>
        <p:txBody>
          <a:bodyPr>
            <a:normAutofit/>
          </a:bodyPr>
          <a:lstStyle/>
          <a:p>
            <a:pPr>
              <a:lnSpc>
                <a:spcPct val="100000"/>
              </a:lnSpc>
              <a:spcBef>
                <a:spcPts val="600"/>
              </a:spcBef>
              <a:spcAft>
                <a:spcPts val="600"/>
              </a:spcAft>
            </a:pPr>
            <a:r>
              <a:rPr lang="ro-RO" sz="2400" b="1" dirty="0"/>
              <a:t>Obiectele</a:t>
            </a:r>
            <a:r>
              <a:rPr lang="ro-RO" sz="2400" dirty="0"/>
              <a:t> sunt copiate, implicit, prin referință</a:t>
            </a:r>
          </a:p>
          <a:p>
            <a:pPr>
              <a:lnSpc>
                <a:spcPct val="100000"/>
              </a:lnSpc>
              <a:spcBef>
                <a:spcPts val="600"/>
              </a:spcBef>
              <a:spcAft>
                <a:spcPts val="600"/>
              </a:spcAft>
            </a:pPr>
            <a:r>
              <a:rPr lang="ro-RO" sz="2400" dirty="0"/>
              <a:t>Copierea unui obiect prin valoare se poate realiza în mai multe moduri:</a:t>
            </a:r>
          </a:p>
          <a:p>
            <a:pPr lvl="1">
              <a:lnSpc>
                <a:spcPct val="100000"/>
              </a:lnSpc>
              <a:spcBef>
                <a:spcPts val="600"/>
              </a:spcBef>
              <a:spcAft>
                <a:spcPts val="600"/>
              </a:spcAft>
            </a:pPr>
            <a:r>
              <a:rPr lang="ro-RO" sz="2000" dirty="0"/>
              <a:t>Folosind </a:t>
            </a:r>
            <a:r>
              <a:rPr lang="ro-RO" sz="2000" b="1" dirty="0" err="1"/>
              <a:t>Object.assign</a:t>
            </a:r>
            <a:endParaRPr lang="ro-RO" sz="2000" b="1" dirty="0"/>
          </a:p>
          <a:p>
            <a:pPr lvl="1">
              <a:lnSpc>
                <a:spcPct val="100000"/>
              </a:lnSpc>
              <a:spcBef>
                <a:spcPts val="600"/>
              </a:spcBef>
              <a:spcAft>
                <a:spcPts val="600"/>
              </a:spcAft>
            </a:pPr>
            <a:r>
              <a:rPr lang="ro-RO" sz="2000" dirty="0"/>
              <a:t>Folosind </a:t>
            </a:r>
            <a:r>
              <a:rPr lang="ro-RO" sz="2000" b="1" dirty="0" err="1"/>
              <a:t>spread</a:t>
            </a:r>
            <a:r>
              <a:rPr lang="ro-RO" sz="2000" b="1" dirty="0"/>
              <a:t> operator </a:t>
            </a:r>
            <a:r>
              <a:rPr lang="ro-RO" sz="2000" dirty="0"/>
              <a:t>(ES6)</a:t>
            </a:r>
          </a:p>
          <a:p>
            <a:pPr lvl="1">
              <a:lnSpc>
                <a:spcPct val="100000"/>
              </a:lnSpc>
              <a:spcBef>
                <a:spcPts val="600"/>
              </a:spcBef>
              <a:spcAft>
                <a:spcPts val="600"/>
              </a:spcAft>
            </a:pPr>
            <a:r>
              <a:rPr lang="ro-RO" sz="2000" dirty="0"/>
              <a:t>Folosind </a:t>
            </a:r>
            <a:r>
              <a:rPr lang="ro-RO" sz="2000" b="1" dirty="0" err="1"/>
              <a:t>JSON.parse</a:t>
            </a:r>
            <a:r>
              <a:rPr lang="ro-RO" sz="2000" b="1" dirty="0"/>
              <a:t> </a:t>
            </a:r>
            <a:r>
              <a:rPr lang="ro-RO" sz="2000" dirty="0"/>
              <a:t>si </a:t>
            </a:r>
            <a:r>
              <a:rPr lang="ro-RO" sz="2000" b="1" dirty="0" err="1"/>
              <a:t>JSON.stringify</a:t>
            </a:r>
            <a:r>
              <a:rPr lang="ro-RO" sz="2000" b="1" dirty="0"/>
              <a:t> </a:t>
            </a:r>
            <a:r>
              <a:rPr lang="ro-RO" sz="2000" dirty="0"/>
              <a:t>(cea mai bună)</a:t>
            </a:r>
          </a:p>
          <a:p>
            <a:pPr>
              <a:lnSpc>
                <a:spcPct val="100000"/>
              </a:lnSpc>
              <a:spcBef>
                <a:spcPts val="600"/>
              </a:spcBef>
              <a:spcAft>
                <a:spcPts val="600"/>
              </a:spcAft>
            </a:pPr>
            <a:r>
              <a:rPr lang="ro-RO" sz="2400" dirty="0"/>
              <a:t>Problema la primele două variante apare atunci când se dorește copierea unor obiecte care au la rândul lor alte obiecte în interior</a:t>
            </a:r>
          </a:p>
        </p:txBody>
      </p:sp>
      <p:sp>
        <p:nvSpPr>
          <p:cNvPr id="8" name="Rectangle 7">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786237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303BA78-6B4A-4599-A939-730B9EB1DD84}"/>
              </a:ext>
            </a:extLst>
          </p:cNvPr>
          <p:cNvPicPr>
            <a:picLocks noChangeAspect="1"/>
          </p:cNvPicPr>
          <p:nvPr/>
        </p:nvPicPr>
        <p:blipFill>
          <a:blip r:embed="rId2"/>
          <a:stretch>
            <a:fillRect/>
          </a:stretch>
        </p:blipFill>
        <p:spPr>
          <a:xfrm>
            <a:off x="170867" y="95250"/>
            <a:ext cx="9163050" cy="6667500"/>
          </a:xfrm>
          <a:prstGeom prst="rect">
            <a:avLst/>
          </a:prstGeom>
        </p:spPr>
      </p:pic>
      <p:pic>
        <p:nvPicPr>
          <p:cNvPr id="9" name="Picture 8">
            <a:extLst>
              <a:ext uri="{FF2B5EF4-FFF2-40B4-BE49-F238E27FC236}">
                <a16:creationId xmlns:a16="http://schemas.microsoft.com/office/drawing/2014/main" id="{801E701D-F273-486F-95C8-624CE24CFF03}"/>
              </a:ext>
            </a:extLst>
          </p:cNvPr>
          <p:cNvPicPr>
            <a:picLocks noChangeAspect="1"/>
          </p:cNvPicPr>
          <p:nvPr/>
        </p:nvPicPr>
        <p:blipFill>
          <a:blip r:embed="rId3"/>
          <a:stretch>
            <a:fillRect/>
          </a:stretch>
        </p:blipFill>
        <p:spPr>
          <a:xfrm>
            <a:off x="8838616" y="1791734"/>
            <a:ext cx="3182517" cy="2633092"/>
          </a:xfrm>
          <a:prstGeom prst="rect">
            <a:avLst/>
          </a:prstGeom>
        </p:spPr>
      </p:pic>
      <p:cxnSp>
        <p:nvCxnSpPr>
          <p:cNvPr id="12" name="Straight Arrow Connector 11">
            <a:extLst>
              <a:ext uri="{FF2B5EF4-FFF2-40B4-BE49-F238E27FC236}">
                <a16:creationId xmlns:a16="http://schemas.microsoft.com/office/drawing/2014/main" id="{8167F619-088A-45BD-B53B-F04AACDE013E}"/>
              </a:ext>
            </a:extLst>
          </p:cNvPr>
          <p:cNvCxnSpPr/>
          <p:nvPr/>
        </p:nvCxnSpPr>
        <p:spPr>
          <a:xfrm>
            <a:off x="6363478" y="1623527"/>
            <a:ext cx="2475138" cy="541175"/>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13" name="Straight Arrow Connector 12">
            <a:extLst>
              <a:ext uri="{FF2B5EF4-FFF2-40B4-BE49-F238E27FC236}">
                <a16:creationId xmlns:a16="http://schemas.microsoft.com/office/drawing/2014/main" id="{5598FF43-B29A-4DC8-964C-523E0B875397}"/>
              </a:ext>
            </a:extLst>
          </p:cNvPr>
          <p:cNvCxnSpPr>
            <a:cxnSpLocks/>
          </p:cNvCxnSpPr>
          <p:nvPr/>
        </p:nvCxnSpPr>
        <p:spPr>
          <a:xfrm flipV="1">
            <a:off x="6451710" y="2778284"/>
            <a:ext cx="2381890" cy="40462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5" name="Straight Arrow Connector 14">
            <a:extLst>
              <a:ext uri="{FF2B5EF4-FFF2-40B4-BE49-F238E27FC236}">
                <a16:creationId xmlns:a16="http://schemas.microsoft.com/office/drawing/2014/main" id="{722E6601-2FC0-45C0-9DCF-6CA23DAED8A7}"/>
              </a:ext>
            </a:extLst>
          </p:cNvPr>
          <p:cNvCxnSpPr>
            <a:cxnSpLocks/>
          </p:cNvCxnSpPr>
          <p:nvPr/>
        </p:nvCxnSpPr>
        <p:spPr>
          <a:xfrm flipV="1">
            <a:off x="6363478" y="3429000"/>
            <a:ext cx="2555933" cy="1353025"/>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9AC133B0-416C-4D60-B889-465763860D26}"/>
              </a:ext>
            </a:extLst>
          </p:cNvPr>
          <p:cNvCxnSpPr>
            <a:cxnSpLocks/>
          </p:cNvCxnSpPr>
          <p:nvPr/>
        </p:nvCxnSpPr>
        <p:spPr>
          <a:xfrm flipV="1">
            <a:off x="6363478" y="4018547"/>
            <a:ext cx="2555933" cy="23260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C58FC35A-2E2E-4F8B-A869-713E36CBA83C}"/>
              </a:ext>
            </a:extLst>
          </p:cNvPr>
          <p:cNvSpPr/>
          <p:nvPr/>
        </p:nvSpPr>
        <p:spPr>
          <a:xfrm>
            <a:off x="8919411" y="3721768"/>
            <a:ext cx="3015915" cy="601579"/>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0" name="Rectangle 19">
            <a:extLst>
              <a:ext uri="{FF2B5EF4-FFF2-40B4-BE49-F238E27FC236}">
                <a16:creationId xmlns:a16="http://schemas.microsoft.com/office/drawing/2014/main" id="{AE2EB76C-3C2D-4BEB-BCBC-0206C814201A}"/>
              </a:ext>
            </a:extLst>
          </p:cNvPr>
          <p:cNvSpPr/>
          <p:nvPr/>
        </p:nvSpPr>
        <p:spPr>
          <a:xfrm>
            <a:off x="8919410" y="3092363"/>
            <a:ext cx="3015915" cy="601579"/>
          </a:xfrm>
          <a:prstGeom prst="rect">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1" name="Rectangle 20">
            <a:extLst>
              <a:ext uri="{FF2B5EF4-FFF2-40B4-BE49-F238E27FC236}">
                <a16:creationId xmlns:a16="http://schemas.microsoft.com/office/drawing/2014/main" id="{A651EE2C-6C21-41F5-B211-5C62E498CECD}"/>
              </a:ext>
            </a:extLst>
          </p:cNvPr>
          <p:cNvSpPr/>
          <p:nvPr/>
        </p:nvSpPr>
        <p:spPr>
          <a:xfrm>
            <a:off x="8919409" y="2462958"/>
            <a:ext cx="3015915" cy="601579"/>
          </a:xfrm>
          <a:prstGeom prst="rect">
            <a:avLst/>
          </a:prstGeom>
          <a:noFill/>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23" name="Rectangle 22">
            <a:extLst>
              <a:ext uri="{FF2B5EF4-FFF2-40B4-BE49-F238E27FC236}">
                <a16:creationId xmlns:a16="http://schemas.microsoft.com/office/drawing/2014/main" id="{9DD6FFA5-B766-473A-B37A-E3A909D94002}"/>
              </a:ext>
            </a:extLst>
          </p:cNvPr>
          <p:cNvSpPr/>
          <p:nvPr/>
        </p:nvSpPr>
        <p:spPr>
          <a:xfrm>
            <a:off x="8919408" y="1837563"/>
            <a:ext cx="3015915" cy="601579"/>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3084585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12A99-1230-4555-98D1-10588A4508F6}"/>
              </a:ext>
            </a:extLst>
          </p:cNvPr>
          <p:cNvSpPr>
            <a:spLocks noGrp="1"/>
          </p:cNvSpPr>
          <p:nvPr>
            <p:ph type="title"/>
          </p:nvPr>
        </p:nvSpPr>
        <p:spPr>
          <a:xfrm>
            <a:off x="1024128" y="585216"/>
            <a:ext cx="8018272" cy="1499616"/>
          </a:xfrm>
        </p:spPr>
        <p:txBody>
          <a:bodyPr>
            <a:normAutofit/>
          </a:bodyPr>
          <a:lstStyle/>
          <a:p>
            <a:r>
              <a:rPr lang="en-US" b="1" dirty="0" err="1"/>
              <a:t>Functii</a:t>
            </a:r>
            <a:endParaRPr lang="en-US" b="1" dirty="0"/>
          </a:p>
        </p:txBody>
      </p:sp>
      <p:sp>
        <p:nvSpPr>
          <p:cNvPr id="9" name="Content Placeholder 2">
            <a:extLst>
              <a:ext uri="{FF2B5EF4-FFF2-40B4-BE49-F238E27FC236}">
                <a16:creationId xmlns:a16="http://schemas.microsoft.com/office/drawing/2014/main" id="{CFA02E1F-7083-4F8D-AC9E-0D983A887B0F}"/>
              </a:ext>
            </a:extLst>
          </p:cNvPr>
          <p:cNvSpPr>
            <a:spLocks noGrp="1"/>
          </p:cNvSpPr>
          <p:nvPr>
            <p:ph idx="1"/>
          </p:nvPr>
        </p:nvSpPr>
        <p:spPr>
          <a:xfrm>
            <a:off x="1024129" y="1769164"/>
            <a:ext cx="8305401" cy="4936435"/>
          </a:xfrm>
        </p:spPr>
        <p:txBody>
          <a:bodyPr>
            <a:normAutofit/>
          </a:bodyPr>
          <a:lstStyle/>
          <a:p>
            <a:r>
              <a:rPr lang="ro-RO" sz="2400" dirty="0"/>
              <a:t>Funcțiile din JS sunt asemănătoare cu cele din C, cu câteva excepții:</a:t>
            </a:r>
          </a:p>
          <a:p>
            <a:pPr lvl="1"/>
            <a:r>
              <a:rPr lang="ro-RO" sz="2000" dirty="0"/>
              <a:t>Nu au tip de retur</a:t>
            </a:r>
          </a:p>
          <a:p>
            <a:pPr lvl="1"/>
            <a:r>
              <a:rPr lang="ro-RO" sz="2000" dirty="0"/>
              <a:t>Nu au tip la parametri</a:t>
            </a:r>
          </a:p>
          <a:p>
            <a:r>
              <a:rPr lang="ro-RO" sz="2400" dirty="0"/>
              <a:t>Până la introducerea ES6, funcțiile se declarau folosind cuvântul cheie </a:t>
            </a:r>
            <a:r>
              <a:rPr lang="ro-RO" sz="2400" b="1" dirty="0" err="1"/>
              <a:t>function</a:t>
            </a:r>
            <a:endParaRPr lang="ro-RO" sz="2400" dirty="0"/>
          </a:p>
          <a:p>
            <a:r>
              <a:rPr lang="ro-RO" sz="2400" dirty="0"/>
              <a:t>ES6 a introdus </a:t>
            </a:r>
            <a:r>
              <a:rPr lang="ro-RO" sz="2400" b="1" dirty="0" err="1"/>
              <a:t>arrow</a:t>
            </a:r>
            <a:r>
              <a:rPr lang="ro-RO" sz="2400" b="1" dirty="0"/>
              <a:t> </a:t>
            </a:r>
            <a:r>
              <a:rPr lang="ro-RO" sz="2400" b="1" dirty="0" err="1"/>
              <a:t>functions</a:t>
            </a:r>
            <a:endParaRPr lang="ro-RO" sz="2400" b="1" dirty="0"/>
          </a:p>
          <a:p>
            <a:r>
              <a:rPr lang="ro-RO" sz="2400" b="1" dirty="0"/>
              <a:t>Arrow </a:t>
            </a:r>
            <a:r>
              <a:rPr lang="ro-RO" sz="2400" b="1" dirty="0" err="1"/>
              <a:t>function</a:t>
            </a:r>
            <a:r>
              <a:rPr lang="ro-RO" sz="2400" dirty="0"/>
              <a:t> se bazează pe modelul lambda, atribuind unei variabile drept valoare o funcție anonimă</a:t>
            </a:r>
          </a:p>
          <a:p>
            <a:r>
              <a:rPr lang="ro-RO" sz="2400" dirty="0"/>
              <a:t>O funcție atașată unei chei dintr-un obiect se numește </a:t>
            </a:r>
            <a:r>
              <a:rPr lang="ro-RO" sz="2400" b="1" dirty="0"/>
              <a:t>metodă</a:t>
            </a:r>
            <a:endParaRPr lang="ro-RO" sz="2400" dirty="0"/>
          </a:p>
        </p:txBody>
      </p:sp>
      <p:sp>
        <p:nvSpPr>
          <p:cNvPr id="14" name="Rectangle 13">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16437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12A99-1230-4555-98D1-10588A4508F6}"/>
              </a:ext>
            </a:extLst>
          </p:cNvPr>
          <p:cNvSpPr>
            <a:spLocks noGrp="1"/>
          </p:cNvSpPr>
          <p:nvPr>
            <p:ph type="title"/>
          </p:nvPr>
        </p:nvSpPr>
        <p:spPr>
          <a:xfrm>
            <a:off x="895446" y="366708"/>
            <a:ext cx="10131425" cy="1283369"/>
          </a:xfrm>
        </p:spPr>
        <p:txBody>
          <a:bodyPr>
            <a:normAutofit/>
          </a:bodyPr>
          <a:lstStyle/>
          <a:p>
            <a:r>
              <a:rPr lang="en-US" sz="6000" b="1" dirty="0" err="1"/>
              <a:t>Functii</a:t>
            </a:r>
            <a:endParaRPr lang="en-US" sz="6000" b="1" dirty="0"/>
          </a:p>
        </p:txBody>
      </p:sp>
      <p:pic>
        <p:nvPicPr>
          <p:cNvPr id="7" name="Picture 6">
            <a:extLst>
              <a:ext uri="{FF2B5EF4-FFF2-40B4-BE49-F238E27FC236}">
                <a16:creationId xmlns:a16="http://schemas.microsoft.com/office/drawing/2014/main" id="{12CB9661-D0D2-4AE0-88DD-5CDA463D7AEC}"/>
              </a:ext>
            </a:extLst>
          </p:cNvPr>
          <p:cNvPicPr>
            <a:picLocks noChangeAspect="1"/>
          </p:cNvPicPr>
          <p:nvPr/>
        </p:nvPicPr>
        <p:blipFill>
          <a:blip r:embed="rId2"/>
          <a:stretch>
            <a:fillRect/>
          </a:stretch>
        </p:blipFill>
        <p:spPr>
          <a:xfrm>
            <a:off x="895447" y="1791119"/>
            <a:ext cx="8105775" cy="1495425"/>
          </a:xfrm>
          <a:prstGeom prst="rect">
            <a:avLst/>
          </a:prstGeom>
        </p:spPr>
      </p:pic>
      <p:sp>
        <p:nvSpPr>
          <p:cNvPr id="98" name="Rectangle 97">
            <a:extLst>
              <a:ext uri="{FF2B5EF4-FFF2-40B4-BE49-F238E27FC236}">
                <a16:creationId xmlns:a16="http://schemas.microsoft.com/office/drawing/2014/main" id="{86C808F7-A21E-4A58-A4BD-4EF74DCAEFE9}"/>
              </a:ext>
            </a:extLst>
          </p:cNvPr>
          <p:cNvSpPr/>
          <p:nvPr/>
        </p:nvSpPr>
        <p:spPr>
          <a:xfrm>
            <a:off x="2454092" y="3639479"/>
            <a:ext cx="4988482" cy="584775"/>
          </a:xfrm>
          <a:prstGeom prst="rect">
            <a:avLst/>
          </a:prstGeom>
        </p:spPr>
        <p:txBody>
          <a:bodyPr wrap="none">
            <a:spAutoFit/>
          </a:bodyPr>
          <a:lstStyle/>
          <a:p>
            <a:r>
              <a:rPr lang="en-US" sz="3200" b="1" dirty="0" err="1"/>
              <a:t>este</a:t>
            </a:r>
            <a:r>
              <a:rPr lang="en-US" sz="3200" b="1" dirty="0"/>
              <a:t> (</a:t>
            </a:r>
            <a:r>
              <a:rPr lang="en-US" sz="3200" b="1" dirty="0" err="1">
                <a:solidFill>
                  <a:schemeClr val="accent2">
                    <a:lumMod val="75000"/>
                  </a:schemeClr>
                </a:solidFill>
              </a:rPr>
              <a:t>aproape</a:t>
            </a:r>
            <a:r>
              <a:rPr lang="en-US" sz="3200" b="1" dirty="0"/>
              <a:t>) </a:t>
            </a:r>
            <a:r>
              <a:rPr lang="en-US" sz="3200" b="1" dirty="0" err="1"/>
              <a:t>echivalent</a:t>
            </a:r>
            <a:r>
              <a:rPr lang="en-US" sz="3200" b="1" dirty="0"/>
              <a:t> cu</a:t>
            </a:r>
          </a:p>
        </p:txBody>
      </p:sp>
      <p:pic>
        <p:nvPicPr>
          <p:cNvPr id="10" name="Picture 9">
            <a:extLst>
              <a:ext uri="{FF2B5EF4-FFF2-40B4-BE49-F238E27FC236}">
                <a16:creationId xmlns:a16="http://schemas.microsoft.com/office/drawing/2014/main" id="{1ABB2F73-F6E7-4AB9-AD57-AF6EEF43E037}"/>
              </a:ext>
            </a:extLst>
          </p:cNvPr>
          <p:cNvPicPr>
            <a:picLocks noChangeAspect="1"/>
          </p:cNvPicPr>
          <p:nvPr/>
        </p:nvPicPr>
        <p:blipFill>
          <a:blip r:embed="rId3"/>
          <a:stretch>
            <a:fillRect/>
          </a:stretch>
        </p:blipFill>
        <p:spPr>
          <a:xfrm>
            <a:off x="895446" y="4577189"/>
            <a:ext cx="8105775" cy="1272418"/>
          </a:xfrm>
          <a:prstGeom prst="rect">
            <a:avLst/>
          </a:prstGeom>
        </p:spPr>
      </p:pic>
    </p:spTree>
    <p:extLst>
      <p:ext uri="{BB962C8B-B14F-4D97-AF65-F5344CB8AC3E}">
        <p14:creationId xmlns:p14="http://schemas.microsoft.com/office/powerpoint/2010/main" val="16192155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12A99-1230-4555-98D1-10588A4508F6}"/>
              </a:ext>
            </a:extLst>
          </p:cNvPr>
          <p:cNvSpPr>
            <a:spLocks noGrp="1"/>
          </p:cNvSpPr>
          <p:nvPr>
            <p:ph type="title"/>
          </p:nvPr>
        </p:nvSpPr>
        <p:spPr>
          <a:xfrm>
            <a:off x="1024128" y="585216"/>
            <a:ext cx="8018272" cy="1499616"/>
          </a:xfrm>
        </p:spPr>
        <p:txBody>
          <a:bodyPr>
            <a:normAutofit/>
          </a:bodyPr>
          <a:lstStyle/>
          <a:p>
            <a:r>
              <a:rPr lang="en-US" b="1" dirty="0"/>
              <a:t>this</a:t>
            </a:r>
          </a:p>
        </p:txBody>
      </p:sp>
      <p:sp>
        <p:nvSpPr>
          <p:cNvPr id="6" name="Content Placeholder 2">
            <a:extLst>
              <a:ext uri="{FF2B5EF4-FFF2-40B4-BE49-F238E27FC236}">
                <a16:creationId xmlns:a16="http://schemas.microsoft.com/office/drawing/2014/main" id="{48659BC6-1372-4849-B446-9F9C9329BE77}"/>
              </a:ext>
            </a:extLst>
          </p:cNvPr>
          <p:cNvSpPr>
            <a:spLocks noGrp="1"/>
          </p:cNvSpPr>
          <p:nvPr>
            <p:ph idx="1"/>
          </p:nvPr>
        </p:nvSpPr>
        <p:spPr>
          <a:xfrm>
            <a:off x="1024129" y="1828800"/>
            <a:ext cx="8018271" cy="4023360"/>
          </a:xfrm>
        </p:spPr>
        <p:txBody>
          <a:bodyPr>
            <a:normAutofit lnSpcReduction="10000"/>
          </a:bodyPr>
          <a:lstStyle/>
          <a:p>
            <a:pPr>
              <a:lnSpc>
                <a:spcPct val="100000"/>
              </a:lnSpc>
              <a:spcBef>
                <a:spcPts val="600"/>
              </a:spcBef>
              <a:spcAft>
                <a:spcPts val="600"/>
              </a:spcAft>
            </a:pPr>
            <a:r>
              <a:rPr lang="ro-RO" sz="3200" dirty="0"/>
              <a:t>În </a:t>
            </a:r>
            <a:r>
              <a:rPr lang="ro-RO" sz="3200" dirty="0" err="1"/>
              <a:t>JavaScript</a:t>
            </a:r>
            <a:r>
              <a:rPr lang="ro-RO" sz="3200" dirty="0"/>
              <a:t> există </a:t>
            </a:r>
            <a:r>
              <a:rPr lang="ro-RO" sz="3200" b="1" dirty="0" err="1"/>
              <a:t>this</a:t>
            </a:r>
            <a:endParaRPr lang="ro-RO" sz="3200" dirty="0"/>
          </a:p>
          <a:p>
            <a:pPr>
              <a:lnSpc>
                <a:spcPct val="100000"/>
              </a:lnSpc>
              <a:spcBef>
                <a:spcPts val="600"/>
              </a:spcBef>
              <a:spcAft>
                <a:spcPts val="600"/>
              </a:spcAft>
            </a:pPr>
            <a:r>
              <a:rPr lang="ro-RO" sz="3200" b="1" dirty="0" err="1"/>
              <a:t>This</a:t>
            </a:r>
            <a:r>
              <a:rPr lang="ro-RO" sz="3200" dirty="0"/>
              <a:t> este oricare dintre:</a:t>
            </a:r>
          </a:p>
          <a:p>
            <a:pPr lvl="1">
              <a:lnSpc>
                <a:spcPct val="100000"/>
              </a:lnSpc>
              <a:spcBef>
                <a:spcPts val="600"/>
              </a:spcBef>
              <a:spcAft>
                <a:spcPts val="600"/>
              </a:spcAft>
            </a:pPr>
            <a:r>
              <a:rPr lang="ro-RO" sz="2800" dirty="0"/>
              <a:t>Într-o metodă este </a:t>
            </a:r>
            <a:r>
              <a:rPr lang="ro-RO" sz="2800" b="1" dirty="0"/>
              <a:t>obiectul posesor</a:t>
            </a:r>
          </a:p>
          <a:p>
            <a:pPr lvl="1">
              <a:lnSpc>
                <a:spcPct val="100000"/>
              </a:lnSpc>
              <a:spcBef>
                <a:spcPts val="600"/>
              </a:spcBef>
              <a:spcAft>
                <a:spcPts val="600"/>
              </a:spcAft>
            </a:pPr>
            <a:r>
              <a:rPr lang="ro-RO" sz="2800" dirty="0"/>
              <a:t>De unul singur este </a:t>
            </a:r>
            <a:r>
              <a:rPr lang="ro-RO" sz="2800" b="1" dirty="0"/>
              <a:t>obiectul global</a:t>
            </a:r>
            <a:endParaRPr lang="ro-RO" sz="2800" dirty="0"/>
          </a:p>
          <a:p>
            <a:pPr lvl="1">
              <a:lnSpc>
                <a:spcPct val="100000"/>
              </a:lnSpc>
              <a:spcBef>
                <a:spcPts val="600"/>
              </a:spcBef>
              <a:spcAft>
                <a:spcPts val="600"/>
              </a:spcAft>
            </a:pPr>
            <a:r>
              <a:rPr lang="ro-RO" sz="2800" dirty="0"/>
              <a:t>Într-o funcție este </a:t>
            </a:r>
            <a:r>
              <a:rPr lang="ro-RO" sz="2800" b="1" dirty="0"/>
              <a:t>obiectul global</a:t>
            </a:r>
          </a:p>
          <a:p>
            <a:pPr lvl="1">
              <a:lnSpc>
                <a:spcPct val="100000"/>
              </a:lnSpc>
              <a:spcBef>
                <a:spcPts val="600"/>
              </a:spcBef>
              <a:spcAft>
                <a:spcPts val="600"/>
              </a:spcAft>
            </a:pPr>
            <a:r>
              <a:rPr lang="ro-RO" sz="2800" dirty="0"/>
              <a:t>Într-un eveniment, </a:t>
            </a:r>
            <a:r>
              <a:rPr lang="ro-RO" sz="2800" b="1" dirty="0" err="1"/>
              <a:t>this</a:t>
            </a:r>
            <a:r>
              <a:rPr lang="ro-RO" sz="2800" b="1" dirty="0"/>
              <a:t> </a:t>
            </a:r>
            <a:r>
              <a:rPr lang="ro-RO" sz="2800" dirty="0"/>
              <a:t>este </a:t>
            </a:r>
            <a:r>
              <a:rPr lang="ro-RO" sz="2800" b="1" dirty="0"/>
              <a:t>elementul care a primit evenimentul</a:t>
            </a:r>
          </a:p>
          <a:p>
            <a:pPr lvl="1">
              <a:lnSpc>
                <a:spcPct val="100000"/>
              </a:lnSpc>
              <a:spcBef>
                <a:spcPts val="600"/>
              </a:spcBef>
              <a:spcAft>
                <a:spcPts val="600"/>
              </a:spcAft>
            </a:pPr>
            <a:endParaRPr lang="ro-RO" sz="2800" dirty="0"/>
          </a:p>
        </p:txBody>
      </p:sp>
      <p:sp>
        <p:nvSpPr>
          <p:cNvPr id="11" name="Rectangle 10">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503494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12A99-1230-4555-98D1-10588A4508F6}"/>
              </a:ext>
            </a:extLst>
          </p:cNvPr>
          <p:cNvSpPr>
            <a:spLocks noGrp="1"/>
          </p:cNvSpPr>
          <p:nvPr>
            <p:ph type="title"/>
          </p:nvPr>
        </p:nvSpPr>
        <p:spPr>
          <a:xfrm>
            <a:off x="1024128" y="585216"/>
            <a:ext cx="8018272" cy="1499616"/>
          </a:xfrm>
        </p:spPr>
        <p:txBody>
          <a:bodyPr>
            <a:normAutofit/>
          </a:bodyPr>
          <a:lstStyle/>
          <a:p>
            <a:r>
              <a:rPr lang="en-US" b="1" dirty="0"/>
              <a:t>Function vs arrow function</a:t>
            </a:r>
          </a:p>
        </p:txBody>
      </p:sp>
      <p:sp>
        <p:nvSpPr>
          <p:cNvPr id="4" name="Content Placeholder 3">
            <a:extLst>
              <a:ext uri="{FF2B5EF4-FFF2-40B4-BE49-F238E27FC236}">
                <a16:creationId xmlns:a16="http://schemas.microsoft.com/office/drawing/2014/main" id="{B701020C-2A02-43EE-8CEA-845EB7EFA3C1}"/>
              </a:ext>
            </a:extLst>
          </p:cNvPr>
          <p:cNvSpPr>
            <a:spLocks noGrp="1"/>
          </p:cNvSpPr>
          <p:nvPr>
            <p:ph idx="1"/>
          </p:nvPr>
        </p:nvSpPr>
        <p:spPr>
          <a:xfrm>
            <a:off x="1024128" y="1967024"/>
            <a:ext cx="8018271" cy="4023360"/>
          </a:xfrm>
        </p:spPr>
        <p:txBody>
          <a:bodyPr>
            <a:normAutofit/>
          </a:bodyPr>
          <a:lstStyle/>
          <a:p>
            <a:pPr lvl="1">
              <a:lnSpc>
                <a:spcPct val="100000"/>
              </a:lnSpc>
              <a:spcBef>
                <a:spcPts val="600"/>
              </a:spcBef>
              <a:spcAft>
                <a:spcPts val="600"/>
              </a:spcAft>
            </a:pPr>
            <a:r>
              <a:rPr lang="ro-RO" sz="2400" b="1" dirty="0"/>
              <a:t>Funcțiile clasice</a:t>
            </a:r>
            <a:r>
              <a:rPr lang="ro-RO" sz="2400" dirty="0"/>
              <a:t> nu sunt identice cu </a:t>
            </a:r>
            <a:r>
              <a:rPr lang="ro-RO" sz="2400" b="1" dirty="0"/>
              <a:t>funcțiile</a:t>
            </a:r>
            <a:r>
              <a:rPr lang="ro-RO" sz="2400" dirty="0"/>
              <a:t> </a:t>
            </a:r>
            <a:r>
              <a:rPr lang="ro-RO" sz="2400" b="1" dirty="0" err="1"/>
              <a:t>arrow</a:t>
            </a:r>
            <a:endParaRPr lang="ro-RO" sz="2400" b="1" dirty="0"/>
          </a:p>
          <a:p>
            <a:pPr lvl="1">
              <a:lnSpc>
                <a:spcPct val="100000"/>
              </a:lnSpc>
              <a:spcBef>
                <a:spcPts val="600"/>
              </a:spcBef>
              <a:spcAft>
                <a:spcPts val="600"/>
              </a:spcAft>
            </a:pPr>
            <a:r>
              <a:rPr lang="ro-RO" sz="2400" dirty="0"/>
              <a:t>Când sunt folosite ca </a:t>
            </a:r>
            <a:r>
              <a:rPr lang="ro-RO" sz="2400" b="1" dirty="0"/>
              <a:t>metode</a:t>
            </a:r>
            <a:r>
              <a:rPr lang="ro-RO" sz="2400" dirty="0"/>
              <a:t>, </a:t>
            </a:r>
            <a:r>
              <a:rPr lang="ro-RO" sz="2400" b="1" dirty="0" err="1"/>
              <a:t>this</a:t>
            </a:r>
            <a:r>
              <a:rPr lang="ro-RO" sz="2400" b="1" dirty="0"/>
              <a:t> </a:t>
            </a:r>
            <a:r>
              <a:rPr lang="ro-RO" sz="2400" dirty="0"/>
              <a:t>are valori diferite</a:t>
            </a:r>
          </a:p>
          <a:p>
            <a:pPr lvl="2">
              <a:lnSpc>
                <a:spcPct val="100000"/>
              </a:lnSpc>
              <a:spcBef>
                <a:spcPts val="600"/>
              </a:spcBef>
              <a:spcAft>
                <a:spcPts val="600"/>
              </a:spcAft>
            </a:pPr>
            <a:r>
              <a:rPr lang="ro-RO" sz="1800" b="1" dirty="0"/>
              <a:t>Funcțiile clasice</a:t>
            </a:r>
            <a:r>
              <a:rPr lang="ro-RO" sz="1800" dirty="0"/>
              <a:t> au comportamentul obișnuit</a:t>
            </a:r>
          </a:p>
          <a:p>
            <a:pPr lvl="2">
              <a:lnSpc>
                <a:spcPct val="100000"/>
              </a:lnSpc>
              <a:spcBef>
                <a:spcPts val="600"/>
              </a:spcBef>
              <a:spcAft>
                <a:spcPts val="600"/>
              </a:spcAft>
            </a:pPr>
            <a:r>
              <a:rPr lang="ro-RO" sz="1800" b="1" dirty="0"/>
              <a:t>Funcțiile </a:t>
            </a:r>
            <a:r>
              <a:rPr lang="ro-RO" sz="1800" b="1" dirty="0" err="1"/>
              <a:t>arrow</a:t>
            </a:r>
            <a:r>
              <a:rPr lang="ro-RO" sz="1800" dirty="0"/>
              <a:t> considera </a:t>
            </a:r>
            <a:r>
              <a:rPr lang="ro-RO" sz="1800" b="1" dirty="0" err="1"/>
              <a:t>this</a:t>
            </a:r>
            <a:r>
              <a:rPr lang="ro-RO" sz="1800" dirty="0"/>
              <a:t> ca făcând parte din contextul în care au fost apelate</a:t>
            </a:r>
          </a:p>
          <a:p>
            <a:pPr lvl="1">
              <a:lnSpc>
                <a:spcPct val="100000"/>
              </a:lnSpc>
              <a:spcBef>
                <a:spcPts val="600"/>
              </a:spcBef>
              <a:spcAft>
                <a:spcPts val="600"/>
              </a:spcAft>
            </a:pPr>
            <a:r>
              <a:rPr lang="ro-RO" sz="2400" b="1" dirty="0"/>
              <a:t>Funcțiile clasice</a:t>
            </a:r>
            <a:r>
              <a:rPr lang="ro-RO" sz="2400" dirty="0"/>
              <a:t> pot fi folosite drept constructor, </a:t>
            </a:r>
            <a:r>
              <a:rPr lang="ro-RO" sz="2400" b="1" dirty="0"/>
              <a:t>funcțiile </a:t>
            </a:r>
            <a:r>
              <a:rPr lang="ro-RO" sz="2400" b="1" dirty="0" err="1"/>
              <a:t>arrow</a:t>
            </a:r>
            <a:r>
              <a:rPr lang="ro-RO" sz="2400" dirty="0"/>
              <a:t> nu</a:t>
            </a:r>
          </a:p>
          <a:p>
            <a:pPr lvl="1">
              <a:lnSpc>
                <a:spcPct val="100000"/>
              </a:lnSpc>
              <a:spcBef>
                <a:spcPts val="600"/>
              </a:spcBef>
              <a:spcAft>
                <a:spcPts val="600"/>
              </a:spcAft>
            </a:pPr>
            <a:r>
              <a:rPr lang="ro-RO" sz="2400" b="1" dirty="0"/>
              <a:t>Funcțiile </a:t>
            </a:r>
            <a:r>
              <a:rPr lang="ro-RO" sz="2400" b="1" dirty="0" err="1"/>
              <a:t>arrow</a:t>
            </a:r>
            <a:r>
              <a:rPr lang="ro-RO" sz="2400" dirty="0"/>
              <a:t> nu au obiectul </a:t>
            </a:r>
            <a:r>
              <a:rPr lang="ro-RO" sz="2400" b="1" dirty="0"/>
              <a:t>argument</a:t>
            </a:r>
          </a:p>
        </p:txBody>
      </p:sp>
      <p:sp>
        <p:nvSpPr>
          <p:cNvPr id="9" name="Rectangle 8">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13908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563BB5-2C92-4B9A-86B5-45A63FE630CE}"/>
              </a:ext>
            </a:extLst>
          </p:cNvPr>
          <p:cNvPicPr>
            <a:picLocks noChangeAspect="1"/>
          </p:cNvPicPr>
          <p:nvPr/>
        </p:nvPicPr>
        <p:blipFill>
          <a:blip r:embed="rId2"/>
          <a:stretch>
            <a:fillRect/>
          </a:stretch>
        </p:blipFill>
        <p:spPr>
          <a:xfrm>
            <a:off x="242597" y="382111"/>
            <a:ext cx="8994508" cy="6093778"/>
          </a:xfrm>
          <a:prstGeom prst="rect">
            <a:avLst/>
          </a:prstGeom>
        </p:spPr>
      </p:pic>
      <p:pic>
        <p:nvPicPr>
          <p:cNvPr id="15" name="Picture 14">
            <a:extLst>
              <a:ext uri="{FF2B5EF4-FFF2-40B4-BE49-F238E27FC236}">
                <a16:creationId xmlns:a16="http://schemas.microsoft.com/office/drawing/2014/main" id="{5A8A2B08-6885-4806-B482-EF5322E3F5F9}"/>
              </a:ext>
            </a:extLst>
          </p:cNvPr>
          <p:cNvPicPr>
            <a:picLocks noChangeAspect="1"/>
          </p:cNvPicPr>
          <p:nvPr/>
        </p:nvPicPr>
        <p:blipFill>
          <a:blip r:embed="rId3"/>
          <a:stretch>
            <a:fillRect/>
          </a:stretch>
        </p:blipFill>
        <p:spPr>
          <a:xfrm>
            <a:off x="6312930" y="5599589"/>
            <a:ext cx="5848350" cy="876300"/>
          </a:xfrm>
          <a:prstGeom prst="rect">
            <a:avLst/>
          </a:prstGeom>
        </p:spPr>
      </p:pic>
      <p:cxnSp>
        <p:nvCxnSpPr>
          <p:cNvPr id="19" name="Straight Arrow Connector 18">
            <a:extLst>
              <a:ext uri="{FF2B5EF4-FFF2-40B4-BE49-F238E27FC236}">
                <a16:creationId xmlns:a16="http://schemas.microsoft.com/office/drawing/2014/main" id="{A2D83631-ED6E-460E-8942-BFDC3AE427EF}"/>
              </a:ext>
            </a:extLst>
          </p:cNvPr>
          <p:cNvCxnSpPr/>
          <p:nvPr/>
        </p:nvCxnSpPr>
        <p:spPr>
          <a:xfrm flipV="1">
            <a:off x="4427621" y="5839326"/>
            <a:ext cx="1828800" cy="12031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B070D525-0D4F-456B-AA85-BFB0BA03D9F0}"/>
              </a:ext>
            </a:extLst>
          </p:cNvPr>
          <p:cNvCxnSpPr>
            <a:cxnSpLocks/>
          </p:cNvCxnSpPr>
          <p:nvPr/>
        </p:nvCxnSpPr>
        <p:spPr>
          <a:xfrm flipV="1">
            <a:off x="3513221" y="6248400"/>
            <a:ext cx="2743200" cy="751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23" name="Picture 22">
            <a:extLst>
              <a:ext uri="{FF2B5EF4-FFF2-40B4-BE49-F238E27FC236}">
                <a16:creationId xmlns:a16="http://schemas.microsoft.com/office/drawing/2014/main" id="{0C926A26-9709-4D5A-B12F-D7EC12867A9E}"/>
              </a:ext>
            </a:extLst>
          </p:cNvPr>
          <p:cNvPicPr>
            <a:picLocks noChangeAspect="1"/>
          </p:cNvPicPr>
          <p:nvPr/>
        </p:nvPicPr>
        <p:blipFill>
          <a:blip r:embed="rId4"/>
          <a:stretch>
            <a:fillRect/>
          </a:stretch>
        </p:blipFill>
        <p:spPr>
          <a:xfrm>
            <a:off x="8879667" y="221690"/>
            <a:ext cx="2752306" cy="1323224"/>
          </a:xfrm>
          <a:prstGeom prst="rect">
            <a:avLst/>
          </a:prstGeom>
        </p:spPr>
      </p:pic>
      <p:pic>
        <p:nvPicPr>
          <p:cNvPr id="24" name="Picture 23">
            <a:extLst>
              <a:ext uri="{FF2B5EF4-FFF2-40B4-BE49-F238E27FC236}">
                <a16:creationId xmlns:a16="http://schemas.microsoft.com/office/drawing/2014/main" id="{A9079B1D-5E95-42FA-9123-F275E5FBBC0A}"/>
              </a:ext>
            </a:extLst>
          </p:cNvPr>
          <p:cNvPicPr>
            <a:picLocks noChangeAspect="1"/>
          </p:cNvPicPr>
          <p:nvPr/>
        </p:nvPicPr>
        <p:blipFill>
          <a:blip r:embed="rId5"/>
          <a:stretch>
            <a:fillRect/>
          </a:stretch>
        </p:blipFill>
        <p:spPr>
          <a:xfrm>
            <a:off x="8739478" y="3470974"/>
            <a:ext cx="3209925" cy="466725"/>
          </a:xfrm>
          <a:prstGeom prst="rect">
            <a:avLst/>
          </a:prstGeom>
        </p:spPr>
      </p:pic>
      <p:cxnSp>
        <p:nvCxnSpPr>
          <p:cNvPr id="27" name="Connector: Elbow 26">
            <a:extLst>
              <a:ext uri="{FF2B5EF4-FFF2-40B4-BE49-F238E27FC236}">
                <a16:creationId xmlns:a16="http://schemas.microsoft.com/office/drawing/2014/main" id="{B5A3F401-75D9-4D1B-95D7-7A4ADD5213D2}"/>
              </a:ext>
            </a:extLst>
          </p:cNvPr>
          <p:cNvCxnSpPr/>
          <p:nvPr/>
        </p:nvCxnSpPr>
        <p:spPr>
          <a:xfrm flipV="1">
            <a:off x="5566611" y="883302"/>
            <a:ext cx="3313056" cy="833203"/>
          </a:xfrm>
          <a:prstGeom prst="bentConnector3">
            <a:avLst>
              <a:gd name="adj1" fmla="val -116"/>
            </a:avLst>
          </a:prstGeom>
          <a:ln>
            <a:tailEnd type="triangle"/>
          </a:ln>
        </p:spPr>
        <p:style>
          <a:lnRef idx="2">
            <a:schemeClr val="dk1"/>
          </a:lnRef>
          <a:fillRef idx="0">
            <a:schemeClr val="dk1"/>
          </a:fillRef>
          <a:effectRef idx="1">
            <a:schemeClr val="dk1"/>
          </a:effectRef>
          <a:fontRef idx="minor">
            <a:schemeClr val="tx1"/>
          </a:fontRef>
        </p:style>
      </p:cxnSp>
      <p:cxnSp>
        <p:nvCxnSpPr>
          <p:cNvPr id="29" name="Connector: Elbow 28">
            <a:extLst>
              <a:ext uri="{FF2B5EF4-FFF2-40B4-BE49-F238E27FC236}">
                <a16:creationId xmlns:a16="http://schemas.microsoft.com/office/drawing/2014/main" id="{D18A9FB3-6D8E-426E-8F64-61D5B332458D}"/>
              </a:ext>
            </a:extLst>
          </p:cNvPr>
          <p:cNvCxnSpPr>
            <a:cxnSpLocks/>
          </p:cNvCxnSpPr>
          <p:nvPr/>
        </p:nvCxnSpPr>
        <p:spPr>
          <a:xfrm flipV="1">
            <a:off x="7121483" y="1214108"/>
            <a:ext cx="1758184" cy="594976"/>
          </a:xfrm>
          <a:prstGeom prst="bentConnector3">
            <a:avLst>
              <a:gd name="adj1" fmla="val -183"/>
            </a:avLst>
          </a:prstGeom>
          <a:ln>
            <a:tailEnd type="triangle"/>
          </a:ln>
        </p:spPr>
        <p:style>
          <a:lnRef idx="2">
            <a:schemeClr val="dk1"/>
          </a:lnRef>
          <a:fillRef idx="0">
            <a:schemeClr val="dk1"/>
          </a:fillRef>
          <a:effectRef idx="1">
            <a:schemeClr val="dk1"/>
          </a:effectRef>
          <a:fontRef idx="minor">
            <a:schemeClr val="tx1"/>
          </a:fontRef>
        </p:style>
      </p:cxnSp>
      <p:cxnSp>
        <p:nvCxnSpPr>
          <p:cNvPr id="34" name="Connector: Elbow 33">
            <a:extLst>
              <a:ext uri="{FF2B5EF4-FFF2-40B4-BE49-F238E27FC236}">
                <a16:creationId xmlns:a16="http://schemas.microsoft.com/office/drawing/2014/main" id="{244267D2-1AEB-4C97-AA28-8B83991B1E57}"/>
              </a:ext>
            </a:extLst>
          </p:cNvPr>
          <p:cNvCxnSpPr/>
          <p:nvPr/>
        </p:nvCxnSpPr>
        <p:spPr>
          <a:xfrm flipV="1">
            <a:off x="5406780" y="3542429"/>
            <a:ext cx="3313056" cy="833203"/>
          </a:xfrm>
          <a:prstGeom prst="bentConnector3">
            <a:avLst>
              <a:gd name="adj1" fmla="val -116"/>
            </a:avLst>
          </a:prstGeom>
          <a:ln>
            <a:tailEnd type="triangle"/>
          </a:ln>
        </p:spPr>
        <p:style>
          <a:lnRef idx="2">
            <a:schemeClr val="dk1"/>
          </a:lnRef>
          <a:fillRef idx="0">
            <a:schemeClr val="dk1"/>
          </a:fillRef>
          <a:effectRef idx="1">
            <a:schemeClr val="dk1"/>
          </a:effectRef>
          <a:fontRef idx="minor">
            <a:schemeClr val="tx1"/>
          </a:fontRef>
        </p:style>
      </p:cxnSp>
      <p:cxnSp>
        <p:nvCxnSpPr>
          <p:cNvPr id="35" name="Connector: Elbow 34">
            <a:extLst>
              <a:ext uri="{FF2B5EF4-FFF2-40B4-BE49-F238E27FC236}">
                <a16:creationId xmlns:a16="http://schemas.microsoft.com/office/drawing/2014/main" id="{B908F466-444C-4487-881F-1A0474442F8A}"/>
              </a:ext>
            </a:extLst>
          </p:cNvPr>
          <p:cNvCxnSpPr>
            <a:cxnSpLocks/>
          </p:cNvCxnSpPr>
          <p:nvPr/>
        </p:nvCxnSpPr>
        <p:spPr>
          <a:xfrm flipV="1">
            <a:off x="7279994" y="3812159"/>
            <a:ext cx="1439842" cy="649889"/>
          </a:xfrm>
          <a:prstGeom prst="bentConnector3">
            <a:avLst>
              <a:gd name="adj1" fmla="val -137"/>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9279487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Straight Arrow Connector 18">
            <a:extLst>
              <a:ext uri="{FF2B5EF4-FFF2-40B4-BE49-F238E27FC236}">
                <a16:creationId xmlns:a16="http://schemas.microsoft.com/office/drawing/2014/main" id="{A2D83631-ED6E-460E-8942-BFDC3AE427EF}"/>
              </a:ext>
            </a:extLst>
          </p:cNvPr>
          <p:cNvCxnSpPr/>
          <p:nvPr/>
        </p:nvCxnSpPr>
        <p:spPr>
          <a:xfrm flipV="1">
            <a:off x="4427621" y="5839326"/>
            <a:ext cx="1828800" cy="12031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B070D525-0D4F-456B-AA85-BFB0BA03D9F0}"/>
              </a:ext>
            </a:extLst>
          </p:cNvPr>
          <p:cNvCxnSpPr>
            <a:cxnSpLocks/>
          </p:cNvCxnSpPr>
          <p:nvPr/>
        </p:nvCxnSpPr>
        <p:spPr>
          <a:xfrm flipV="1">
            <a:off x="3513221" y="6248400"/>
            <a:ext cx="2743200" cy="751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2" name="Picture 1">
            <a:extLst>
              <a:ext uri="{FF2B5EF4-FFF2-40B4-BE49-F238E27FC236}">
                <a16:creationId xmlns:a16="http://schemas.microsoft.com/office/drawing/2014/main" id="{C406487E-0CD5-488E-B109-DB341873FCDC}"/>
              </a:ext>
            </a:extLst>
          </p:cNvPr>
          <p:cNvPicPr>
            <a:picLocks noChangeAspect="1"/>
          </p:cNvPicPr>
          <p:nvPr/>
        </p:nvPicPr>
        <p:blipFill>
          <a:blip r:embed="rId2"/>
          <a:stretch>
            <a:fillRect/>
          </a:stretch>
        </p:blipFill>
        <p:spPr>
          <a:xfrm>
            <a:off x="0" y="-1786"/>
            <a:ext cx="8576612" cy="6858000"/>
          </a:xfrm>
          <a:prstGeom prst="rect">
            <a:avLst/>
          </a:prstGeom>
        </p:spPr>
      </p:pic>
      <p:pic>
        <p:nvPicPr>
          <p:cNvPr id="3" name="Picture 2">
            <a:extLst>
              <a:ext uri="{FF2B5EF4-FFF2-40B4-BE49-F238E27FC236}">
                <a16:creationId xmlns:a16="http://schemas.microsoft.com/office/drawing/2014/main" id="{67880BAB-7E7E-47C1-A479-A69419620B6E}"/>
              </a:ext>
            </a:extLst>
          </p:cNvPr>
          <p:cNvPicPr>
            <a:picLocks noChangeAspect="1"/>
          </p:cNvPicPr>
          <p:nvPr/>
        </p:nvPicPr>
        <p:blipFill>
          <a:blip r:embed="rId3"/>
          <a:stretch>
            <a:fillRect/>
          </a:stretch>
        </p:blipFill>
        <p:spPr>
          <a:xfrm>
            <a:off x="7544301" y="5994232"/>
            <a:ext cx="3476625" cy="704850"/>
          </a:xfrm>
          <a:prstGeom prst="rect">
            <a:avLst/>
          </a:prstGeom>
        </p:spPr>
      </p:pic>
      <p:cxnSp>
        <p:nvCxnSpPr>
          <p:cNvPr id="17" name="Straight Arrow Connector 16">
            <a:extLst>
              <a:ext uri="{FF2B5EF4-FFF2-40B4-BE49-F238E27FC236}">
                <a16:creationId xmlns:a16="http://schemas.microsoft.com/office/drawing/2014/main" id="{8DB94C3C-9A03-44B7-8939-467F0FD88615}"/>
              </a:ext>
            </a:extLst>
          </p:cNvPr>
          <p:cNvCxnSpPr>
            <a:cxnSpLocks/>
          </p:cNvCxnSpPr>
          <p:nvPr/>
        </p:nvCxnSpPr>
        <p:spPr>
          <a:xfrm flipV="1">
            <a:off x="4050632" y="6165792"/>
            <a:ext cx="3457073" cy="21796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E0A7ABE4-0C40-4508-B9B0-D0E61C72F6D8}"/>
              </a:ext>
            </a:extLst>
          </p:cNvPr>
          <p:cNvCxnSpPr>
            <a:cxnSpLocks/>
          </p:cNvCxnSpPr>
          <p:nvPr/>
        </p:nvCxnSpPr>
        <p:spPr>
          <a:xfrm flipV="1">
            <a:off x="3216442" y="6466363"/>
            <a:ext cx="4291263" cy="20965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4145765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12A99-1230-4555-98D1-10588A4508F6}"/>
              </a:ext>
            </a:extLst>
          </p:cNvPr>
          <p:cNvSpPr>
            <a:spLocks noGrp="1"/>
          </p:cNvSpPr>
          <p:nvPr>
            <p:ph type="title"/>
          </p:nvPr>
        </p:nvSpPr>
        <p:spPr>
          <a:xfrm>
            <a:off x="1024128" y="585216"/>
            <a:ext cx="8018272" cy="1499616"/>
          </a:xfrm>
        </p:spPr>
        <p:txBody>
          <a:bodyPr>
            <a:normAutofit/>
          </a:bodyPr>
          <a:lstStyle/>
          <a:p>
            <a:r>
              <a:rPr lang="en-US" b="1" dirty="0" err="1"/>
              <a:t>Funcție</a:t>
            </a:r>
            <a:r>
              <a:rPr lang="en-US" b="1" dirty="0"/>
              <a:t> constructor</a:t>
            </a:r>
          </a:p>
        </p:txBody>
      </p:sp>
      <p:sp>
        <p:nvSpPr>
          <p:cNvPr id="9" name="Content Placeholder 2">
            <a:extLst>
              <a:ext uri="{FF2B5EF4-FFF2-40B4-BE49-F238E27FC236}">
                <a16:creationId xmlns:a16="http://schemas.microsoft.com/office/drawing/2014/main" id="{CFA02E1F-7083-4F8D-AC9E-0D983A887B0F}"/>
              </a:ext>
            </a:extLst>
          </p:cNvPr>
          <p:cNvSpPr>
            <a:spLocks noGrp="1"/>
          </p:cNvSpPr>
          <p:nvPr>
            <p:ph idx="1"/>
          </p:nvPr>
        </p:nvSpPr>
        <p:spPr>
          <a:xfrm>
            <a:off x="1024128" y="1892595"/>
            <a:ext cx="8018272" cy="4263656"/>
          </a:xfrm>
        </p:spPr>
        <p:txBody>
          <a:bodyPr>
            <a:normAutofit/>
          </a:bodyPr>
          <a:lstStyle/>
          <a:p>
            <a:pPr>
              <a:lnSpc>
                <a:spcPct val="100000"/>
              </a:lnSpc>
              <a:spcBef>
                <a:spcPts val="600"/>
              </a:spcBef>
              <a:spcAft>
                <a:spcPts val="600"/>
              </a:spcAft>
            </a:pPr>
            <a:r>
              <a:rPr lang="ro-RO" sz="2400" dirty="0"/>
              <a:t>O funcție definită în mod clasic, cu </a:t>
            </a:r>
            <a:r>
              <a:rPr lang="ro-RO" sz="2400" b="1" dirty="0" err="1"/>
              <a:t>function</a:t>
            </a:r>
            <a:r>
              <a:rPr lang="ro-RO" sz="2400" dirty="0"/>
              <a:t>, poate fi </a:t>
            </a:r>
            <a:r>
              <a:rPr lang="ro-RO" sz="2400" b="1" dirty="0"/>
              <a:t>constructor</a:t>
            </a:r>
          </a:p>
          <a:p>
            <a:pPr>
              <a:lnSpc>
                <a:spcPct val="100000"/>
              </a:lnSpc>
              <a:spcBef>
                <a:spcPts val="600"/>
              </a:spcBef>
              <a:spcAft>
                <a:spcPts val="600"/>
              </a:spcAft>
            </a:pPr>
            <a:r>
              <a:rPr lang="ro-RO" sz="2400" dirty="0"/>
              <a:t>Un constructor se comportă asemănător cu o </a:t>
            </a:r>
            <a:r>
              <a:rPr lang="ro-RO" sz="2400" b="1" dirty="0"/>
              <a:t>clasă</a:t>
            </a:r>
            <a:endParaRPr lang="ro-RO" sz="2400" dirty="0"/>
          </a:p>
          <a:p>
            <a:pPr>
              <a:lnSpc>
                <a:spcPct val="100000"/>
              </a:lnSpc>
              <a:spcBef>
                <a:spcPts val="600"/>
              </a:spcBef>
              <a:spcAft>
                <a:spcPts val="600"/>
              </a:spcAft>
            </a:pPr>
            <a:r>
              <a:rPr lang="ro-RO" sz="2400" dirty="0"/>
              <a:t>Un constructor este un </a:t>
            </a:r>
            <a:r>
              <a:rPr lang="ro-RO" sz="2400" b="1" dirty="0" err="1"/>
              <a:t>blueprint</a:t>
            </a:r>
            <a:r>
              <a:rPr lang="ro-RO" sz="2400" dirty="0"/>
              <a:t> pentru un obiect</a:t>
            </a:r>
          </a:p>
          <a:p>
            <a:pPr>
              <a:lnSpc>
                <a:spcPct val="100000"/>
              </a:lnSpc>
              <a:spcBef>
                <a:spcPts val="600"/>
              </a:spcBef>
              <a:spcAft>
                <a:spcPts val="600"/>
              </a:spcAft>
            </a:pPr>
            <a:r>
              <a:rPr lang="ro-RO" sz="2400" dirty="0"/>
              <a:t>Un constructor utilizează </a:t>
            </a:r>
            <a:r>
              <a:rPr lang="ro-RO" sz="2400" b="1" dirty="0" err="1"/>
              <a:t>this</a:t>
            </a:r>
            <a:r>
              <a:rPr lang="ro-RO" sz="2400" dirty="0"/>
              <a:t> pentru a asigna proprietăți și metode obiectelor</a:t>
            </a:r>
          </a:p>
          <a:p>
            <a:pPr>
              <a:lnSpc>
                <a:spcPct val="100000"/>
              </a:lnSpc>
              <a:spcBef>
                <a:spcPts val="600"/>
              </a:spcBef>
              <a:spcAft>
                <a:spcPts val="600"/>
              </a:spcAft>
            </a:pPr>
            <a:r>
              <a:rPr lang="ro-RO" sz="2400" dirty="0"/>
              <a:t>Pentru a instanția un obiect, se folosește </a:t>
            </a:r>
            <a:r>
              <a:rPr lang="ro-RO" sz="2400" b="1" dirty="0" err="1"/>
              <a:t>new</a:t>
            </a:r>
            <a:endParaRPr lang="ro-RO" sz="2400" dirty="0"/>
          </a:p>
        </p:txBody>
      </p:sp>
      <p:sp>
        <p:nvSpPr>
          <p:cNvPr id="14" name="Rectangle 13">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68061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A2ABA94-408D-4D55-A1CE-10C979D46B2B}"/>
              </a:ext>
            </a:extLst>
          </p:cNvPr>
          <p:cNvPicPr>
            <a:picLocks noGrp="1" noChangeAspect="1"/>
          </p:cNvPicPr>
          <p:nvPr>
            <p:ph idx="1"/>
          </p:nvPr>
        </p:nvPicPr>
        <p:blipFill>
          <a:blip r:embed="rId2"/>
          <a:stretch>
            <a:fillRect/>
          </a:stretch>
        </p:blipFill>
        <p:spPr>
          <a:xfrm>
            <a:off x="477045" y="1697966"/>
            <a:ext cx="11237910" cy="4423433"/>
          </a:xfrm>
          <a:prstGeom prst="rect">
            <a:avLst/>
          </a:prstGeom>
        </p:spPr>
      </p:pic>
      <p:sp>
        <p:nvSpPr>
          <p:cNvPr id="5" name="Title 1">
            <a:extLst>
              <a:ext uri="{FF2B5EF4-FFF2-40B4-BE49-F238E27FC236}">
                <a16:creationId xmlns:a16="http://schemas.microsoft.com/office/drawing/2014/main" id="{04B94BED-4AED-441B-83FA-08C85F891041}"/>
              </a:ext>
            </a:extLst>
          </p:cNvPr>
          <p:cNvSpPr>
            <a:spLocks noGrp="1"/>
          </p:cNvSpPr>
          <p:nvPr>
            <p:ph type="title"/>
          </p:nvPr>
        </p:nvSpPr>
        <p:spPr>
          <a:xfrm>
            <a:off x="786272" y="514742"/>
            <a:ext cx="10928683" cy="1283369"/>
          </a:xfrm>
        </p:spPr>
        <p:txBody>
          <a:bodyPr>
            <a:noAutofit/>
          </a:bodyPr>
          <a:lstStyle/>
          <a:p>
            <a:r>
              <a:rPr lang="en-US" sz="4000" b="1" dirty="0" err="1"/>
              <a:t>Functie</a:t>
            </a:r>
            <a:r>
              <a:rPr lang="en-US" sz="4000" b="1" dirty="0"/>
              <a:t> constructor</a:t>
            </a:r>
          </a:p>
        </p:txBody>
      </p:sp>
    </p:spTree>
    <p:extLst>
      <p:ext uri="{BB962C8B-B14F-4D97-AF65-F5344CB8AC3E}">
        <p14:creationId xmlns:p14="http://schemas.microsoft.com/office/powerpoint/2010/main" val="12568853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3">
            <a:extLst>
              <a:ext uri="{FF2B5EF4-FFF2-40B4-BE49-F238E27FC236}">
                <a16:creationId xmlns:a16="http://schemas.microsoft.com/office/drawing/2014/main" id="{E7F23D4C-E0B1-F2A5-B5E2-4EF73C8F56ED}"/>
              </a:ext>
            </a:extLst>
          </p:cNvPr>
          <p:cNvSpPr>
            <a:spLocks noGrp="1" noChangeArrowheads="1"/>
          </p:cNvSpPr>
          <p:nvPr>
            <p:ph type="body" idx="1"/>
          </p:nvPr>
        </p:nvSpPr>
        <p:spPr>
          <a:xfrm>
            <a:off x="969580" y="1767324"/>
            <a:ext cx="11006959" cy="5334000"/>
          </a:xfrm>
        </p:spPr>
        <p:txBody>
          <a:bodyPr/>
          <a:lstStyle/>
          <a:p>
            <a:pPr eaLnBrk="1" hangingPunct="1">
              <a:lnSpc>
                <a:spcPct val="100000"/>
              </a:lnSpc>
            </a:pPr>
            <a:r>
              <a:rPr lang="ro-RO" altLang="en-US" sz="2400" dirty="0"/>
              <a:t>O expresie regulată poate fi scrisă în oricare din următoarele forme:</a:t>
            </a:r>
          </a:p>
          <a:p>
            <a:pPr lvl="1" eaLnBrk="1" hangingPunct="1">
              <a:lnSpc>
                <a:spcPct val="100000"/>
              </a:lnSpc>
            </a:pPr>
            <a:r>
              <a:rPr lang="ro-RO" altLang="en-US" sz="2000" dirty="0"/>
              <a:t>Folosind un constructor, precum în </a:t>
            </a:r>
            <a:r>
              <a:rPr lang="ro-RO" altLang="en-US" sz="2000" dirty="0">
                <a:solidFill>
                  <a:schemeClr val="accent2"/>
                </a:solidFill>
                <a:latin typeface="Trebuchet MS" panose="020B0703020202090204" pitchFamily="34" charset="0"/>
              </a:rPr>
              <a:t>re = </a:t>
            </a:r>
            <a:r>
              <a:rPr lang="ro-RO" altLang="en-US" sz="2000" dirty="0" err="1">
                <a:solidFill>
                  <a:schemeClr val="accent2"/>
                </a:solidFill>
                <a:latin typeface="Trebuchet MS" panose="020B0703020202090204" pitchFamily="34" charset="0"/>
              </a:rPr>
              <a:t>new</a:t>
            </a:r>
            <a:r>
              <a:rPr lang="ro-RO" altLang="en-US" sz="2000" dirty="0">
                <a:solidFill>
                  <a:schemeClr val="accent2"/>
                </a:solidFill>
                <a:latin typeface="Trebuchet MS" panose="020B0703020202090204" pitchFamily="34" charset="0"/>
              </a:rPr>
              <a:t> </a:t>
            </a:r>
            <a:r>
              <a:rPr lang="ro-RO" altLang="en-US" sz="2000" dirty="0" err="1">
                <a:solidFill>
                  <a:schemeClr val="accent2"/>
                </a:solidFill>
                <a:latin typeface="Trebuchet MS" panose="020B0703020202090204" pitchFamily="34" charset="0"/>
              </a:rPr>
              <a:t>RegExp</a:t>
            </a:r>
            <a:r>
              <a:rPr lang="ro-RO" altLang="en-US" sz="2000" dirty="0">
                <a:solidFill>
                  <a:schemeClr val="accent2"/>
                </a:solidFill>
                <a:latin typeface="Trebuchet MS" panose="020B0703020202090204" pitchFamily="34" charset="0"/>
              </a:rPr>
              <a:t>("</a:t>
            </a:r>
            <a:r>
              <a:rPr lang="ro-RO" altLang="en-US" sz="2000" dirty="0" err="1">
                <a:solidFill>
                  <a:schemeClr val="accent2"/>
                </a:solidFill>
                <a:latin typeface="Trebuchet MS" panose="020B0703020202090204" pitchFamily="34" charset="0"/>
              </a:rPr>
              <a:t>ab+c</a:t>
            </a:r>
            <a:r>
              <a:rPr lang="ro-RO" altLang="en-US" sz="2000" dirty="0">
                <a:solidFill>
                  <a:schemeClr val="accent2"/>
                </a:solidFill>
                <a:latin typeface="Trebuchet MS" panose="020B0703020202090204" pitchFamily="34" charset="0"/>
              </a:rPr>
              <a:t>")</a:t>
            </a:r>
          </a:p>
          <a:p>
            <a:pPr lvl="1" eaLnBrk="1" hangingPunct="1">
              <a:lnSpc>
                <a:spcPct val="100000"/>
              </a:lnSpc>
            </a:pPr>
            <a:r>
              <a:rPr lang="ro-RO" altLang="en-US" sz="2000" dirty="0"/>
              <a:t>Folosind </a:t>
            </a:r>
            <a:r>
              <a:rPr lang="ro-RO" altLang="en-US" sz="2000" dirty="0" err="1"/>
              <a:t>slash</a:t>
            </a:r>
            <a:r>
              <a:rPr lang="ro-RO" altLang="en-US" sz="2000" dirty="0"/>
              <a:t>-uri, precum în </a:t>
            </a:r>
            <a:r>
              <a:rPr lang="ro-RO" altLang="en-US" sz="2000" dirty="0">
                <a:solidFill>
                  <a:schemeClr val="accent2"/>
                </a:solidFill>
                <a:latin typeface="Trebuchet MS" panose="020B0703020202090204" pitchFamily="34" charset="0"/>
              </a:rPr>
              <a:t>re = /</a:t>
            </a:r>
            <a:r>
              <a:rPr lang="ro-RO" altLang="en-US" sz="2000" dirty="0" err="1">
                <a:solidFill>
                  <a:schemeClr val="accent2"/>
                </a:solidFill>
                <a:latin typeface="Trebuchet MS" panose="020B0703020202090204" pitchFamily="34" charset="0"/>
              </a:rPr>
              <a:t>ab+c</a:t>
            </a:r>
            <a:r>
              <a:rPr lang="ro-RO" altLang="en-US" sz="2000" dirty="0">
                <a:solidFill>
                  <a:schemeClr val="accent2"/>
                </a:solidFill>
                <a:latin typeface="Trebuchet MS" panose="020B0703020202090204" pitchFamily="34" charset="0"/>
              </a:rPr>
              <a:t>/</a:t>
            </a:r>
            <a:endParaRPr lang="ro-RO" altLang="en-US" sz="2000" dirty="0">
              <a:solidFill>
                <a:schemeClr val="accent2"/>
              </a:solidFill>
            </a:endParaRPr>
          </a:p>
          <a:p>
            <a:pPr eaLnBrk="1" hangingPunct="1">
              <a:lnSpc>
                <a:spcPct val="100000"/>
              </a:lnSpc>
            </a:pPr>
            <a:r>
              <a:rPr lang="ro-RO" altLang="en-US" sz="2400" dirty="0"/>
              <a:t>Expresiile regulate sunt aproape la fel ca în Perl sau Java (doar câteva elemente mai puțin folosite lipsesc)</a:t>
            </a:r>
          </a:p>
          <a:p>
            <a:pPr eaLnBrk="1" hangingPunct="1">
              <a:lnSpc>
                <a:spcPct val="100000"/>
              </a:lnSpc>
            </a:pPr>
            <a:r>
              <a:rPr lang="ro-RO" altLang="en-US" sz="2400" dirty="0" err="1">
                <a:solidFill>
                  <a:srgbClr val="FF0000"/>
                </a:solidFill>
              </a:rPr>
              <a:t>string</a:t>
            </a:r>
            <a:r>
              <a:rPr lang="ro-RO" altLang="en-US" sz="2400" dirty="0" err="1">
                <a:solidFill>
                  <a:srgbClr val="FF0000"/>
                </a:solidFill>
                <a:latin typeface="Trebuchet MS" panose="020B0703020202090204" pitchFamily="34" charset="0"/>
              </a:rPr>
              <a:t>.match</a:t>
            </a:r>
            <a:r>
              <a:rPr lang="ro-RO" altLang="en-US" sz="2400" dirty="0">
                <a:solidFill>
                  <a:srgbClr val="FF0000"/>
                </a:solidFill>
                <a:latin typeface="Trebuchet MS" panose="020B0703020202090204" pitchFamily="34" charset="0"/>
              </a:rPr>
              <a:t>(</a:t>
            </a:r>
            <a:r>
              <a:rPr lang="ro-RO" altLang="en-US" sz="2400" dirty="0" err="1">
                <a:solidFill>
                  <a:srgbClr val="FF0000"/>
                </a:solidFill>
              </a:rPr>
              <a:t>regexp</a:t>
            </a:r>
            <a:r>
              <a:rPr lang="ro-RO" altLang="en-US" sz="2400" dirty="0">
                <a:solidFill>
                  <a:srgbClr val="FF0000"/>
                </a:solidFill>
                <a:latin typeface="Trebuchet MS" panose="020B0703020202090204" pitchFamily="34" charset="0"/>
              </a:rPr>
              <a:t>) </a:t>
            </a:r>
            <a:r>
              <a:rPr lang="ro-RO" altLang="en-US" sz="2400" dirty="0">
                <a:latin typeface="Trebuchet MS" panose="020B0703020202090204" pitchFamily="34" charset="0"/>
              </a:rPr>
              <a:t>are rolul de a căuta în </a:t>
            </a:r>
            <a:r>
              <a:rPr lang="ro-RO" altLang="en-US" sz="2400" i="1" dirty="0" err="1">
                <a:solidFill>
                  <a:schemeClr val="accent2"/>
                </a:solidFill>
              </a:rPr>
              <a:t>string</a:t>
            </a:r>
            <a:r>
              <a:rPr lang="ro-RO" altLang="en-US" sz="2400" i="1" dirty="0">
                <a:solidFill>
                  <a:schemeClr val="accent2"/>
                </a:solidFill>
              </a:rPr>
              <a:t> </a:t>
            </a:r>
            <a:r>
              <a:rPr lang="ro-RO" altLang="en-US" sz="2400" dirty="0"/>
              <a:t>apariții ale </a:t>
            </a:r>
            <a:r>
              <a:rPr lang="ro-RO" altLang="en-US" sz="2400" i="1" dirty="0" err="1">
                <a:solidFill>
                  <a:schemeClr val="accent2"/>
                </a:solidFill>
              </a:rPr>
              <a:t>regexp</a:t>
            </a:r>
            <a:endParaRPr lang="ro-RO" altLang="en-US" sz="2400" i="1" dirty="0">
              <a:solidFill>
                <a:schemeClr val="accent2"/>
              </a:solidFill>
            </a:endParaRPr>
          </a:p>
          <a:p>
            <a:pPr lvl="1" eaLnBrk="1" hangingPunct="1">
              <a:lnSpc>
                <a:spcPct val="100000"/>
              </a:lnSpc>
            </a:pPr>
            <a:r>
              <a:rPr lang="ro-RO" altLang="en-US" sz="2000" dirty="0"/>
              <a:t>Întoarce </a:t>
            </a:r>
            <a:r>
              <a:rPr lang="ro-RO" altLang="en-US" sz="2000" dirty="0" err="1">
                <a:solidFill>
                  <a:schemeClr val="accent2"/>
                </a:solidFill>
                <a:latin typeface="Trebuchet MS" panose="020B0703020202090204" pitchFamily="34" charset="0"/>
              </a:rPr>
              <a:t>null</a:t>
            </a:r>
            <a:r>
              <a:rPr lang="ro-RO" altLang="en-US" sz="2000" dirty="0">
                <a:solidFill>
                  <a:srgbClr val="FFFF7F"/>
                </a:solidFill>
                <a:latin typeface="Trebuchet MS" panose="020B0703020202090204" pitchFamily="34" charset="0"/>
              </a:rPr>
              <a:t> </a:t>
            </a:r>
            <a:r>
              <a:rPr lang="ro-RO" altLang="en-US" sz="2000" dirty="0">
                <a:latin typeface="Trebuchet MS" panose="020B0703020202090204" pitchFamily="34" charset="0"/>
              </a:rPr>
              <a:t>dacă nu este găsit nimic</a:t>
            </a:r>
            <a:endParaRPr lang="ro-RO" altLang="en-US" sz="2000" dirty="0"/>
          </a:p>
          <a:p>
            <a:pPr lvl="1" eaLnBrk="1" hangingPunct="1">
              <a:lnSpc>
                <a:spcPct val="100000"/>
              </a:lnSpc>
            </a:pPr>
            <a:r>
              <a:rPr lang="ro-RO" altLang="en-US" sz="2000" dirty="0"/>
              <a:t>Dacă </a:t>
            </a:r>
            <a:r>
              <a:rPr lang="ro-RO" altLang="en-US" sz="2000" dirty="0" err="1">
                <a:solidFill>
                  <a:schemeClr val="accent2"/>
                </a:solidFill>
                <a:latin typeface="Trebuchet MS" panose="020B0703020202090204" pitchFamily="34" charset="0"/>
              </a:rPr>
              <a:t>regexp</a:t>
            </a:r>
            <a:r>
              <a:rPr lang="ro-RO" altLang="en-US" sz="2000" dirty="0">
                <a:solidFill>
                  <a:schemeClr val="accent2"/>
                </a:solidFill>
                <a:latin typeface="Trebuchet MS" panose="020B0703020202090204" pitchFamily="34" charset="0"/>
              </a:rPr>
              <a:t> </a:t>
            </a:r>
            <a:r>
              <a:rPr lang="ro-RO" altLang="en-US" sz="2000" dirty="0"/>
              <a:t>are setat </a:t>
            </a:r>
            <a:r>
              <a:rPr lang="ro-RO" altLang="en-US" sz="2000" dirty="0" err="1"/>
              <a:t>flag-ul</a:t>
            </a:r>
            <a:r>
              <a:rPr lang="ro-RO" altLang="en-US" sz="2000" dirty="0"/>
              <a:t> </a:t>
            </a:r>
            <a:r>
              <a:rPr lang="ro-RO" altLang="en-US" sz="2000" dirty="0">
                <a:solidFill>
                  <a:schemeClr val="accent2"/>
                </a:solidFill>
                <a:latin typeface="Trebuchet MS" panose="020B0703020202090204" pitchFamily="34" charset="0"/>
              </a:rPr>
              <a:t>g</a:t>
            </a:r>
            <a:r>
              <a:rPr lang="ro-RO" altLang="en-US" sz="2000" dirty="0"/>
              <a:t> (</a:t>
            </a:r>
            <a:r>
              <a:rPr lang="ro-RO" altLang="en-US" sz="2000" i="1" dirty="0"/>
              <a:t>global </a:t>
            </a:r>
            <a:r>
              <a:rPr lang="ro-RO" altLang="en-US" sz="2000" i="1" dirty="0" err="1"/>
              <a:t>search</a:t>
            </a:r>
            <a:r>
              <a:rPr lang="ro-RO" altLang="en-US" sz="2000" dirty="0"/>
              <a:t>), </a:t>
            </a:r>
            <a:r>
              <a:rPr lang="ro-RO" altLang="en-US" sz="2000" dirty="0" err="1">
                <a:solidFill>
                  <a:schemeClr val="accent2"/>
                </a:solidFill>
                <a:latin typeface="Trebuchet MS" panose="020B0703020202090204" pitchFamily="34" charset="0"/>
              </a:rPr>
              <a:t>match</a:t>
            </a:r>
            <a:r>
              <a:rPr lang="ro-RO" altLang="en-US" sz="2000" dirty="0"/>
              <a:t> întoarce un tablou cu toate </a:t>
            </a:r>
            <a:r>
              <a:rPr lang="ro-RO" altLang="en-US" sz="2000" dirty="0" err="1"/>
              <a:t>substringurile</a:t>
            </a:r>
            <a:r>
              <a:rPr lang="ro-RO" altLang="en-US" sz="2000" dirty="0"/>
              <a:t> ce se potrivesc expresiei</a:t>
            </a:r>
          </a:p>
          <a:p>
            <a:pPr lvl="1" eaLnBrk="1" hangingPunct="1">
              <a:lnSpc>
                <a:spcPct val="100000"/>
              </a:lnSpc>
            </a:pPr>
            <a:r>
              <a:rPr lang="ro-RO" altLang="en-US" sz="2000" dirty="0"/>
              <a:t>Dacă </a:t>
            </a:r>
            <a:r>
              <a:rPr lang="ro-RO" altLang="en-US" sz="2000" dirty="0">
                <a:solidFill>
                  <a:schemeClr val="accent2"/>
                </a:solidFill>
                <a:latin typeface="Trebuchet MS" panose="020B0703020202090204" pitchFamily="34" charset="0"/>
              </a:rPr>
              <a:t>g</a:t>
            </a:r>
            <a:r>
              <a:rPr lang="ro-RO" altLang="en-US" sz="2000" dirty="0">
                <a:solidFill>
                  <a:srgbClr val="FFFF7F"/>
                </a:solidFill>
                <a:latin typeface="Trebuchet MS" panose="020B0703020202090204" pitchFamily="34" charset="0"/>
              </a:rPr>
              <a:t> </a:t>
            </a:r>
            <a:r>
              <a:rPr lang="ro-RO" altLang="en-US" sz="2000" dirty="0">
                <a:latin typeface="Trebuchet MS" panose="020B0703020202090204" pitchFamily="34" charset="0"/>
              </a:rPr>
              <a:t>nu este setat</a:t>
            </a:r>
            <a:r>
              <a:rPr lang="ro-RO" altLang="en-US" sz="2000" dirty="0"/>
              <a:t>, </a:t>
            </a:r>
            <a:r>
              <a:rPr lang="ro-RO" altLang="en-US" sz="2000" dirty="0" err="1">
                <a:solidFill>
                  <a:schemeClr val="accent2"/>
                </a:solidFill>
                <a:latin typeface="Trebuchet MS" panose="020B0703020202090204" pitchFamily="34" charset="0"/>
              </a:rPr>
              <a:t>match</a:t>
            </a:r>
            <a:r>
              <a:rPr lang="ro-RO" altLang="en-US" sz="2000" dirty="0"/>
              <a:t> întoarce un tablou al cărui element de pe poziția 0 reprezintă textul ce se potrivește expresiei, iar restul elementelor sunt subexpresiile </a:t>
            </a:r>
            <a:r>
              <a:rPr lang="ro-RO" altLang="en-US" sz="2000" dirty="0" err="1"/>
              <a:t>paranterizate</a:t>
            </a:r>
            <a:r>
              <a:rPr lang="en-US" altLang="en-US" sz="2000" dirty="0"/>
              <a:t>.</a:t>
            </a:r>
            <a:endParaRPr lang="ro-RO" altLang="en-US" sz="2000" dirty="0">
              <a:solidFill>
                <a:srgbClr val="FFFF7F"/>
              </a:solidFill>
              <a:latin typeface="Trebuchet MS" panose="020B0703020202090204" pitchFamily="34" charset="0"/>
            </a:endParaRPr>
          </a:p>
          <a:p>
            <a:pPr eaLnBrk="1" hangingPunct="1">
              <a:lnSpc>
                <a:spcPct val="100000"/>
              </a:lnSpc>
            </a:pPr>
            <a:endParaRPr lang="ro-RO" altLang="en-US" sz="2400" dirty="0"/>
          </a:p>
          <a:p>
            <a:pPr eaLnBrk="1" hangingPunct="1">
              <a:lnSpc>
                <a:spcPct val="100000"/>
              </a:lnSpc>
            </a:pPr>
            <a:endParaRPr lang="ro-RO" altLang="en-US" sz="2400" dirty="0"/>
          </a:p>
        </p:txBody>
      </p:sp>
      <p:sp>
        <p:nvSpPr>
          <p:cNvPr id="57346" name="Slide Number Placeholder 5">
            <a:extLst>
              <a:ext uri="{FF2B5EF4-FFF2-40B4-BE49-F238E27FC236}">
                <a16:creationId xmlns:a16="http://schemas.microsoft.com/office/drawing/2014/main" id="{34553269-5DB8-8394-1356-47C7D1561AD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4324B0A7-B51B-B545-A4BF-CB500FD9705F}" type="slidenum">
              <a:rPr lang="en-US" altLang="en-US" sz="900">
                <a:solidFill>
                  <a:schemeClr val="bg1"/>
                </a:solidFill>
              </a:rPr>
              <a:pPr>
                <a:spcBef>
                  <a:spcPct val="0"/>
                </a:spcBef>
                <a:buFontTx/>
                <a:buNone/>
              </a:pPr>
              <a:t>36</a:t>
            </a:fld>
            <a:endParaRPr lang="en-US" altLang="en-US" sz="900">
              <a:solidFill>
                <a:schemeClr val="bg1"/>
              </a:solidFill>
            </a:endParaRPr>
          </a:p>
        </p:txBody>
      </p:sp>
      <p:sp>
        <p:nvSpPr>
          <p:cNvPr id="663554" name="Rectangle 2">
            <a:extLst>
              <a:ext uri="{FF2B5EF4-FFF2-40B4-BE49-F238E27FC236}">
                <a16:creationId xmlns:a16="http://schemas.microsoft.com/office/drawing/2014/main" id="{8A97600C-02A8-4D4C-B4EE-EEB614A16967}"/>
              </a:ext>
            </a:extLst>
          </p:cNvPr>
          <p:cNvSpPr>
            <a:spLocks noGrp="1" noChangeArrowheads="1"/>
          </p:cNvSpPr>
          <p:nvPr>
            <p:ph type="title"/>
          </p:nvPr>
        </p:nvSpPr>
        <p:spPr>
          <a:xfrm>
            <a:off x="969580" y="1020187"/>
            <a:ext cx="8229600" cy="487363"/>
          </a:xfrm>
        </p:spPr>
        <p:txBody>
          <a:bodyPr vert="horz" lIns="91440" tIns="45720" rIns="91440" bIns="45720" rtlCol="0" anchor="ctr">
            <a:noAutofit/>
          </a:bodyPr>
          <a:lstStyle/>
          <a:p>
            <a:r>
              <a:rPr lang="en-US" sz="4000" b="1" dirty="0" err="1"/>
              <a:t>Expresii</a:t>
            </a:r>
            <a:r>
              <a:rPr lang="en-US" sz="4000" b="1" dirty="0"/>
              <a:t> regulate</a:t>
            </a:r>
          </a:p>
        </p:txBody>
      </p:sp>
      <p:sp>
        <p:nvSpPr>
          <p:cNvPr id="57348" name="Footer Placeholder 4">
            <a:extLst>
              <a:ext uri="{FF2B5EF4-FFF2-40B4-BE49-F238E27FC236}">
                <a16:creationId xmlns:a16="http://schemas.microsoft.com/office/drawing/2014/main" id="{4B63B8F8-32A4-1EAB-679A-B4CD428E71B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900">
                <a:solidFill>
                  <a:schemeClr val="bg1"/>
                </a:solidFill>
              </a:rPr>
              <a:t>Curs Programare Web, anul 4 C5 – Curs 5</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C4574-7CF0-DB45-B9CB-530DE41DA2D5}"/>
              </a:ext>
            </a:extLst>
          </p:cNvPr>
          <p:cNvSpPr>
            <a:spLocks noGrp="1"/>
          </p:cNvSpPr>
          <p:nvPr>
            <p:ph type="title"/>
          </p:nvPr>
        </p:nvSpPr>
        <p:spPr/>
        <p:txBody>
          <a:bodyPr vert="horz" lIns="91440" tIns="45720" rIns="91440" bIns="45720" rtlCol="0" anchor="ctr">
            <a:noAutofit/>
          </a:bodyPr>
          <a:lstStyle/>
          <a:p>
            <a:r>
              <a:rPr lang="ro-RO" altLang="en-US" sz="4000" b="1" dirty="0"/>
              <a:t>Exemplu</a:t>
            </a:r>
            <a:endParaRPr lang="en-US" altLang="en-US" sz="4000" b="1" dirty="0"/>
          </a:p>
        </p:txBody>
      </p:sp>
      <p:sp>
        <p:nvSpPr>
          <p:cNvPr id="59394" name="Content Placeholder 2">
            <a:extLst>
              <a:ext uri="{FF2B5EF4-FFF2-40B4-BE49-F238E27FC236}">
                <a16:creationId xmlns:a16="http://schemas.microsoft.com/office/drawing/2014/main" id="{6C45BA27-D0C1-96B8-BC4E-DAA1893E8039}"/>
              </a:ext>
            </a:extLst>
          </p:cNvPr>
          <p:cNvSpPr>
            <a:spLocks noGrp="1" noChangeArrowheads="1"/>
          </p:cNvSpPr>
          <p:nvPr>
            <p:ph idx="1"/>
          </p:nvPr>
        </p:nvSpPr>
        <p:spPr>
          <a:xfrm>
            <a:off x="3273973" y="762000"/>
            <a:ext cx="10628586" cy="5817476"/>
          </a:xfrm>
        </p:spPr>
        <p:txBody>
          <a:bodyPr>
            <a:normAutofit fontScale="92500" lnSpcReduction="10000"/>
          </a:bodyPr>
          <a:lstStyle/>
          <a:p>
            <a:pPr eaLnBrk="1" hangingPunct="1">
              <a:buFontTx/>
              <a:buNone/>
            </a:pPr>
            <a:r>
              <a:rPr lang="en-US" altLang="en-US" sz="1400" dirty="0">
                <a:solidFill>
                  <a:srgbClr val="FF0000"/>
                </a:solidFill>
                <a:latin typeface="Comic Sans MS" panose="030F0902030302020204" pitchFamily="66" charset="0"/>
              </a:rPr>
              <a:t>&lt;head&gt;</a:t>
            </a:r>
          </a:p>
          <a:p>
            <a:pPr eaLnBrk="1" hangingPunct="1">
              <a:buFontTx/>
              <a:buNone/>
            </a:pPr>
            <a:r>
              <a:rPr lang="en-US" altLang="en-US" sz="1400" dirty="0">
                <a:solidFill>
                  <a:srgbClr val="FF0000"/>
                </a:solidFill>
                <a:latin typeface="Comic Sans MS" panose="030F0902030302020204" pitchFamily="66" charset="0"/>
              </a:rPr>
              <a:t>&lt;script language=</a:t>
            </a:r>
            <a:r>
              <a:rPr lang="en-US" altLang="en-US" sz="1400" dirty="0" err="1">
                <a:solidFill>
                  <a:srgbClr val="FF0000"/>
                </a:solidFill>
                <a:latin typeface="Comic Sans MS" panose="030F0902030302020204" pitchFamily="66" charset="0"/>
              </a:rPr>
              <a:t>javascript</a:t>
            </a:r>
            <a:r>
              <a:rPr lang="en-US" altLang="en-US" sz="1400" dirty="0">
                <a:solidFill>
                  <a:srgbClr val="FF0000"/>
                </a:solidFill>
                <a:latin typeface="Comic Sans MS" panose="030F0902030302020204" pitchFamily="66" charset="0"/>
              </a:rPr>
              <a:t>&gt;   </a:t>
            </a:r>
          </a:p>
          <a:p>
            <a:pPr eaLnBrk="1" hangingPunct="1">
              <a:buFontTx/>
              <a:buNone/>
            </a:pPr>
            <a:r>
              <a:rPr lang="en-US" altLang="en-US" sz="1400" dirty="0">
                <a:solidFill>
                  <a:srgbClr val="FF0000"/>
                </a:solidFill>
                <a:latin typeface="Comic Sans MS" panose="030F0902030302020204" pitchFamily="66" charset="0"/>
              </a:rPr>
              <a:t>	function </a:t>
            </a:r>
            <a:r>
              <a:rPr lang="en-US" altLang="en-US" sz="1400" dirty="0" err="1">
                <a:solidFill>
                  <a:srgbClr val="FF0000"/>
                </a:solidFill>
                <a:latin typeface="Comic Sans MS" panose="030F0902030302020204" pitchFamily="66" charset="0"/>
              </a:rPr>
              <a:t>checkpostal</a:t>
            </a:r>
            <a:r>
              <a:rPr lang="en-US" altLang="en-US" sz="1400" dirty="0">
                <a:solidFill>
                  <a:srgbClr val="FF0000"/>
                </a:solidFill>
                <a:latin typeface="Comic Sans MS" panose="030F0902030302020204" pitchFamily="66" charset="0"/>
              </a:rPr>
              <a:t>(){</a:t>
            </a:r>
          </a:p>
          <a:p>
            <a:pPr eaLnBrk="1" hangingPunct="1">
              <a:buFontTx/>
              <a:buNone/>
            </a:pPr>
            <a:r>
              <a:rPr lang="en-US" altLang="en-US" sz="1400" dirty="0">
                <a:solidFill>
                  <a:srgbClr val="FF0000"/>
                </a:solidFill>
                <a:latin typeface="Comic Sans MS" panose="030F0902030302020204" pitchFamily="66" charset="0"/>
              </a:rPr>
              <a:t>		</a:t>
            </a:r>
            <a:r>
              <a:rPr lang="en-US" altLang="en-US" sz="1400" dirty="0">
                <a:solidFill>
                  <a:srgbClr val="7F7F7F"/>
                </a:solidFill>
                <a:latin typeface="Comic Sans MS" panose="030F0902030302020204" pitchFamily="66" charset="0"/>
              </a:rPr>
              <a:t>var re5digit=/^\d{5}$/</a:t>
            </a:r>
            <a:r>
              <a:rPr lang="en-US" altLang="en-US" sz="1400" dirty="0">
                <a:solidFill>
                  <a:srgbClr val="FF0000"/>
                </a:solidFill>
                <a:latin typeface="Comic Sans MS" panose="030F0902030302020204" pitchFamily="66" charset="0"/>
              </a:rPr>
              <a:t> //</a:t>
            </a:r>
            <a:r>
              <a:rPr lang="ro-RO" altLang="en-US" sz="1400" dirty="0">
                <a:solidFill>
                  <a:srgbClr val="FF0000"/>
                </a:solidFill>
                <a:latin typeface="Comic Sans MS" panose="030F0902030302020204" pitchFamily="66" charset="0"/>
              </a:rPr>
              <a:t> expresie regulata ce </a:t>
            </a:r>
            <a:r>
              <a:rPr lang="ro-RO" altLang="en-US" sz="1400" dirty="0" err="1">
                <a:solidFill>
                  <a:srgbClr val="FF0000"/>
                </a:solidFill>
                <a:latin typeface="Comic Sans MS" panose="030F0902030302020204" pitchFamily="66" charset="0"/>
              </a:rPr>
              <a:t>defineste</a:t>
            </a:r>
            <a:r>
              <a:rPr lang="ro-RO" altLang="en-US" sz="1400" dirty="0">
                <a:solidFill>
                  <a:srgbClr val="FF0000"/>
                </a:solidFill>
                <a:latin typeface="Comic Sans MS" panose="030F0902030302020204" pitchFamily="66" charset="0"/>
              </a:rPr>
              <a:t> un </a:t>
            </a:r>
            <a:r>
              <a:rPr lang="ro-RO" altLang="en-US" sz="1400" dirty="0" err="1">
                <a:solidFill>
                  <a:srgbClr val="FF0000"/>
                </a:solidFill>
                <a:latin typeface="Comic Sans MS" panose="030F0902030302020204" pitchFamily="66" charset="0"/>
              </a:rPr>
              <a:t>numar</a:t>
            </a:r>
            <a:r>
              <a:rPr lang="ro-RO" altLang="en-US" sz="1400" dirty="0">
                <a:solidFill>
                  <a:srgbClr val="FF0000"/>
                </a:solidFill>
                <a:latin typeface="Comic Sans MS" panose="030F0902030302020204" pitchFamily="66" charset="0"/>
              </a:rPr>
              <a:t> din </a:t>
            </a:r>
            <a:r>
              <a:rPr lang="en-US" altLang="en-US" sz="1400" dirty="0">
                <a:solidFill>
                  <a:srgbClr val="FF0000"/>
                </a:solidFill>
                <a:latin typeface="Comic Sans MS" panose="030F0902030302020204" pitchFamily="66" charset="0"/>
              </a:rPr>
              <a:t>5</a:t>
            </a:r>
            <a:r>
              <a:rPr lang="ro-RO" altLang="en-US" sz="1400" dirty="0">
                <a:solidFill>
                  <a:srgbClr val="FF0000"/>
                </a:solidFill>
                <a:latin typeface="Comic Sans MS" panose="030F0902030302020204" pitchFamily="66" charset="0"/>
              </a:rPr>
              <a:t> cifre</a:t>
            </a:r>
            <a:endParaRPr lang="en-US" altLang="en-US" sz="1400" dirty="0">
              <a:solidFill>
                <a:srgbClr val="FF0000"/>
              </a:solidFill>
              <a:latin typeface="Comic Sans MS" panose="030F0902030302020204" pitchFamily="66" charset="0"/>
            </a:endParaRPr>
          </a:p>
          <a:p>
            <a:pPr eaLnBrk="1" hangingPunct="1">
              <a:buFontTx/>
              <a:buNone/>
            </a:pPr>
            <a:r>
              <a:rPr lang="en-US" altLang="en-US" sz="1400" dirty="0">
                <a:solidFill>
                  <a:srgbClr val="FF0000"/>
                </a:solidFill>
                <a:latin typeface="Comic Sans MS" panose="030F0902030302020204" pitchFamily="66" charset="0"/>
              </a:rPr>
              <a:t>		if (</a:t>
            </a:r>
            <a:r>
              <a:rPr lang="en-US" altLang="en-US" sz="1400" dirty="0" err="1">
                <a:solidFill>
                  <a:srgbClr val="7F7F7F"/>
                </a:solidFill>
                <a:latin typeface="Comic Sans MS" panose="030F0902030302020204" pitchFamily="66" charset="0"/>
              </a:rPr>
              <a:t>document.myform.myinput.value.search</a:t>
            </a:r>
            <a:r>
              <a:rPr lang="en-US" altLang="en-US" sz="1400" dirty="0">
                <a:solidFill>
                  <a:srgbClr val="7F7F7F"/>
                </a:solidFill>
                <a:latin typeface="Comic Sans MS" panose="030F0902030302020204" pitchFamily="66" charset="0"/>
              </a:rPr>
              <a:t>(re5digit)==-1</a:t>
            </a:r>
            <a:r>
              <a:rPr lang="en-US" altLang="en-US" sz="1400" dirty="0">
                <a:solidFill>
                  <a:srgbClr val="FF0000"/>
                </a:solidFill>
                <a:latin typeface="Comic Sans MS" panose="030F0902030302020204" pitchFamily="66" charset="0"/>
              </a:rPr>
              <a:t>) //</a:t>
            </a:r>
            <a:r>
              <a:rPr lang="ro-RO" altLang="en-US" sz="1400" dirty="0">
                <a:solidFill>
                  <a:srgbClr val="FF0000"/>
                </a:solidFill>
                <a:latin typeface="Comic Sans MS" panose="030F0902030302020204" pitchFamily="66" charset="0"/>
              </a:rPr>
              <a:t> daca nu se </a:t>
            </a:r>
            <a:r>
              <a:rPr lang="ro-RO" altLang="en-US" sz="1400" dirty="0" err="1">
                <a:solidFill>
                  <a:srgbClr val="FF0000"/>
                </a:solidFill>
                <a:latin typeface="Comic Sans MS" panose="030F0902030302020204" pitchFamily="66" charset="0"/>
              </a:rPr>
              <a:t>potriveste</a:t>
            </a:r>
            <a:endParaRPr lang="en-US" altLang="en-US" sz="1400" dirty="0">
              <a:solidFill>
                <a:srgbClr val="FF0000"/>
              </a:solidFill>
              <a:latin typeface="Comic Sans MS" panose="030F0902030302020204" pitchFamily="66" charset="0"/>
            </a:endParaRPr>
          </a:p>
          <a:p>
            <a:pPr eaLnBrk="1" hangingPunct="1">
              <a:buFontTx/>
              <a:buNone/>
            </a:pPr>
            <a:r>
              <a:rPr lang="en-US" altLang="en-US" sz="1400" dirty="0">
                <a:solidFill>
                  <a:srgbClr val="FF0000"/>
                </a:solidFill>
                <a:latin typeface="Comic Sans MS" panose="030F0902030302020204" pitchFamily="66" charset="0"/>
              </a:rPr>
              <a:t>			alert("Please enter a valid 5 digit number inside form")</a:t>
            </a:r>
          </a:p>
          <a:p>
            <a:pPr eaLnBrk="1" hangingPunct="1">
              <a:buFontTx/>
              <a:buNone/>
            </a:pPr>
            <a:r>
              <a:rPr lang="en-US" altLang="en-US" sz="1400" dirty="0">
                <a:solidFill>
                  <a:srgbClr val="FF0000"/>
                </a:solidFill>
                <a:latin typeface="Comic Sans MS" panose="030F0902030302020204" pitchFamily="66" charset="0"/>
              </a:rPr>
              <a:t>		else</a:t>
            </a:r>
          </a:p>
          <a:p>
            <a:pPr eaLnBrk="1" hangingPunct="1">
              <a:buFontTx/>
              <a:buNone/>
            </a:pPr>
            <a:r>
              <a:rPr lang="en-US" altLang="en-US" sz="1400" dirty="0">
                <a:solidFill>
                  <a:srgbClr val="FF0000"/>
                </a:solidFill>
                <a:latin typeface="Comic Sans MS" panose="030F0902030302020204" pitchFamily="66" charset="0"/>
              </a:rPr>
              <a:t>			alert("Number valid")</a:t>
            </a:r>
          </a:p>
          <a:p>
            <a:pPr eaLnBrk="1" hangingPunct="1">
              <a:buFontTx/>
              <a:buNone/>
            </a:pPr>
            <a:r>
              <a:rPr lang="en-US" altLang="en-US" sz="1400" dirty="0">
                <a:solidFill>
                  <a:srgbClr val="FF0000"/>
                </a:solidFill>
                <a:latin typeface="Comic Sans MS" panose="030F0902030302020204" pitchFamily="66" charset="0"/>
              </a:rPr>
              <a:t>	}</a:t>
            </a:r>
          </a:p>
          <a:p>
            <a:pPr eaLnBrk="1" hangingPunct="1">
              <a:buFontTx/>
              <a:buNone/>
            </a:pPr>
            <a:r>
              <a:rPr lang="en-US" altLang="en-US" sz="1400" dirty="0">
                <a:solidFill>
                  <a:srgbClr val="FF0000"/>
                </a:solidFill>
                <a:latin typeface="Comic Sans MS" panose="030F0902030302020204" pitchFamily="66" charset="0"/>
              </a:rPr>
              <a:t>&lt;/script&gt;</a:t>
            </a:r>
          </a:p>
          <a:p>
            <a:pPr eaLnBrk="1" hangingPunct="1">
              <a:buFontTx/>
              <a:buNone/>
            </a:pPr>
            <a:r>
              <a:rPr lang="en-US" altLang="en-US" sz="1400" dirty="0">
                <a:solidFill>
                  <a:srgbClr val="FF0000"/>
                </a:solidFill>
                <a:latin typeface="Comic Sans MS" panose="030F0902030302020204" pitchFamily="66" charset="0"/>
              </a:rPr>
              <a:t>&lt;/head&gt;</a:t>
            </a:r>
          </a:p>
          <a:p>
            <a:pPr eaLnBrk="1" hangingPunct="1">
              <a:buFontTx/>
              <a:buNone/>
            </a:pPr>
            <a:r>
              <a:rPr lang="en-US" altLang="en-US" sz="1400" dirty="0">
                <a:solidFill>
                  <a:srgbClr val="FF0000"/>
                </a:solidFill>
                <a:latin typeface="Comic Sans MS" panose="030F0902030302020204" pitchFamily="66" charset="0"/>
              </a:rPr>
              <a:t>&lt;body&gt;</a:t>
            </a:r>
          </a:p>
          <a:p>
            <a:pPr eaLnBrk="1" hangingPunct="1">
              <a:buFontTx/>
              <a:buNone/>
            </a:pPr>
            <a:r>
              <a:rPr lang="en-US" altLang="en-US" sz="1400" dirty="0">
                <a:solidFill>
                  <a:srgbClr val="FF0000"/>
                </a:solidFill>
                <a:latin typeface="Comic Sans MS" panose="030F0902030302020204" pitchFamily="66" charset="0"/>
              </a:rPr>
              <a:t>&lt;form name="</a:t>
            </a:r>
            <a:r>
              <a:rPr lang="en-US" altLang="en-US" sz="1400" dirty="0" err="1">
                <a:solidFill>
                  <a:srgbClr val="FF0000"/>
                </a:solidFill>
                <a:latin typeface="Comic Sans MS" panose="030F0902030302020204" pitchFamily="66" charset="0"/>
              </a:rPr>
              <a:t>myform</a:t>
            </a:r>
            <a:r>
              <a:rPr lang="en-US" altLang="en-US" sz="1400" dirty="0">
                <a:solidFill>
                  <a:srgbClr val="FF0000"/>
                </a:solidFill>
                <a:latin typeface="Comic Sans MS" panose="030F0902030302020204" pitchFamily="66" charset="0"/>
              </a:rPr>
              <a:t>"&gt;</a:t>
            </a:r>
          </a:p>
          <a:p>
            <a:pPr eaLnBrk="1" hangingPunct="1">
              <a:buFontTx/>
              <a:buNone/>
            </a:pPr>
            <a:r>
              <a:rPr lang="en-US" altLang="en-US" sz="1400" dirty="0">
                <a:solidFill>
                  <a:srgbClr val="FF0000"/>
                </a:solidFill>
                <a:latin typeface="Comic Sans MS" panose="030F0902030302020204" pitchFamily="66" charset="0"/>
              </a:rPr>
              <a:t>&lt;input type="text" name="</a:t>
            </a:r>
            <a:r>
              <a:rPr lang="en-US" altLang="en-US" sz="1400" dirty="0" err="1">
                <a:solidFill>
                  <a:srgbClr val="FF0000"/>
                </a:solidFill>
                <a:latin typeface="Comic Sans MS" panose="030F0902030302020204" pitchFamily="66" charset="0"/>
              </a:rPr>
              <a:t>myinput</a:t>
            </a:r>
            <a:r>
              <a:rPr lang="en-US" altLang="en-US" sz="1400" dirty="0">
                <a:solidFill>
                  <a:srgbClr val="FF0000"/>
                </a:solidFill>
                <a:latin typeface="Comic Sans MS" panose="030F0902030302020204" pitchFamily="66" charset="0"/>
              </a:rPr>
              <a:t>" size=15&gt;</a:t>
            </a:r>
          </a:p>
          <a:p>
            <a:pPr eaLnBrk="1" hangingPunct="1">
              <a:buFontTx/>
              <a:buNone/>
            </a:pPr>
            <a:r>
              <a:rPr lang="en-US" altLang="en-US" sz="1400" dirty="0">
                <a:solidFill>
                  <a:srgbClr val="FF0000"/>
                </a:solidFill>
                <a:latin typeface="Comic Sans MS" panose="030F0902030302020204" pitchFamily="66" charset="0"/>
              </a:rPr>
              <a:t>&lt;input type="button" </a:t>
            </a:r>
            <a:r>
              <a:rPr lang="en-US" altLang="en-US" sz="1400" dirty="0" err="1">
                <a:solidFill>
                  <a:srgbClr val="FF0000"/>
                </a:solidFill>
                <a:latin typeface="Comic Sans MS" panose="030F0902030302020204" pitchFamily="66" charset="0"/>
              </a:rPr>
              <a:t>onClick</a:t>
            </a:r>
            <a:r>
              <a:rPr lang="en-US" altLang="en-US" sz="1400" dirty="0">
                <a:solidFill>
                  <a:srgbClr val="FF0000"/>
                </a:solidFill>
                <a:latin typeface="Comic Sans MS" panose="030F0902030302020204" pitchFamily="66" charset="0"/>
              </a:rPr>
              <a:t>="</a:t>
            </a:r>
            <a:r>
              <a:rPr lang="en-US" altLang="en-US" sz="1400" dirty="0" err="1">
                <a:solidFill>
                  <a:srgbClr val="FF0000"/>
                </a:solidFill>
                <a:latin typeface="Comic Sans MS" panose="030F0902030302020204" pitchFamily="66" charset="0"/>
              </a:rPr>
              <a:t>checkpostal</a:t>
            </a:r>
            <a:r>
              <a:rPr lang="en-US" altLang="en-US" sz="1400" dirty="0">
                <a:solidFill>
                  <a:srgbClr val="FF0000"/>
                </a:solidFill>
                <a:latin typeface="Comic Sans MS" panose="030F0902030302020204" pitchFamily="66" charset="0"/>
              </a:rPr>
              <a:t>()" value="check"&gt;</a:t>
            </a:r>
          </a:p>
          <a:p>
            <a:pPr eaLnBrk="1" hangingPunct="1">
              <a:buFontTx/>
              <a:buNone/>
            </a:pPr>
            <a:r>
              <a:rPr lang="en-US" altLang="en-US" sz="1400" dirty="0">
                <a:solidFill>
                  <a:srgbClr val="FF0000"/>
                </a:solidFill>
                <a:latin typeface="Comic Sans MS" panose="030F0902030302020204" pitchFamily="66" charset="0"/>
              </a:rPr>
              <a:t>&lt;/form&gt;</a:t>
            </a:r>
          </a:p>
          <a:p>
            <a:pPr eaLnBrk="1" hangingPunct="1">
              <a:buFontTx/>
              <a:buNone/>
            </a:pPr>
            <a:r>
              <a:rPr lang="en-US" altLang="en-US" sz="1400" dirty="0">
                <a:solidFill>
                  <a:srgbClr val="FF0000"/>
                </a:solidFill>
                <a:latin typeface="Comic Sans MS" panose="030F0902030302020204" pitchFamily="66" charset="0"/>
              </a:rPr>
              <a:t>&lt;/body&gt;</a:t>
            </a:r>
          </a:p>
        </p:txBody>
      </p:sp>
      <p:sp>
        <p:nvSpPr>
          <p:cNvPr id="59395" name="Footer Placeholder 4">
            <a:extLst>
              <a:ext uri="{FF2B5EF4-FFF2-40B4-BE49-F238E27FC236}">
                <a16:creationId xmlns:a16="http://schemas.microsoft.com/office/drawing/2014/main" id="{6ADE4FAF-A4EF-D69D-4CB0-A6886293CB2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900">
                <a:solidFill>
                  <a:schemeClr val="bg1"/>
                </a:solidFill>
              </a:rPr>
              <a:t>Curs Programare Web, anul 4 C5 – Curs 5</a:t>
            </a:r>
          </a:p>
        </p:txBody>
      </p:sp>
      <p:sp>
        <p:nvSpPr>
          <p:cNvPr id="59396" name="Slide Number Placeholder 5">
            <a:extLst>
              <a:ext uri="{FF2B5EF4-FFF2-40B4-BE49-F238E27FC236}">
                <a16:creationId xmlns:a16="http://schemas.microsoft.com/office/drawing/2014/main" id="{46470A15-A49D-8741-DDD8-EBF4F0DAD1E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D96CC20B-C643-0648-80E4-BD0168FB225B}" type="slidenum">
              <a:rPr lang="en-US" altLang="en-US" sz="900">
                <a:solidFill>
                  <a:schemeClr val="bg1"/>
                </a:solidFill>
              </a:rPr>
              <a:pPr>
                <a:spcBef>
                  <a:spcPct val="0"/>
                </a:spcBef>
                <a:buFontTx/>
                <a:buNone/>
              </a:pPr>
              <a:t>37</a:t>
            </a:fld>
            <a:endParaRPr lang="en-US" altLang="en-US" sz="900">
              <a:solidFill>
                <a:schemeClr val="bg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6AF6876-75A5-4E08-8978-1CEF665C3C00}"/>
              </a:ext>
            </a:extLst>
          </p:cNvPr>
          <p:cNvSpPr txBox="1">
            <a:spLocks/>
          </p:cNvSpPr>
          <p:nvPr/>
        </p:nvSpPr>
        <p:spPr>
          <a:xfrm>
            <a:off x="1024128" y="585216"/>
            <a:ext cx="8018272" cy="1499616"/>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defTabSz="914400">
              <a:lnSpc>
                <a:spcPct val="80000"/>
              </a:lnSpc>
              <a:spcAft>
                <a:spcPts val="600"/>
              </a:spcAft>
            </a:pPr>
            <a:r>
              <a:rPr lang="en-US" sz="5000" b="1" spc="100" dirty="0" err="1">
                <a:solidFill>
                  <a:schemeClr val="tx1">
                    <a:lumMod val="95000"/>
                    <a:lumOff val="5000"/>
                  </a:schemeClr>
                </a:solidFill>
              </a:rPr>
              <a:t>Erori</a:t>
            </a:r>
            <a:r>
              <a:rPr lang="en-US" sz="5000" b="1" spc="100" dirty="0">
                <a:solidFill>
                  <a:schemeClr val="tx1">
                    <a:lumMod val="95000"/>
                    <a:lumOff val="5000"/>
                  </a:schemeClr>
                </a:solidFill>
              </a:rPr>
              <a:t> </a:t>
            </a:r>
            <a:r>
              <a:rPr lang="en-US" sz="5000" b="1" spc="100" dirty="0" err="1">
                <a:solidFill>
                  <a:schemeClr val="tx1">
                    <a:lumMod val="95000"/>
                    <a:lumOff val="5000"/>
                  </a:schemeClr>
                </a:solidFill>
              </a:rPr>
              <a:t>si</a:t>
            </a:r>
            <a:r>
              <a:rPr lang="en-US" sz="5000" b="1" spc="100" dirty="0">
                <a:solidFill>
                  <a:schemeClr val="tx1">
                    <a:lumMod val="95000"/>
                    <a:lumOff val="5000"/>
                  </a:schemeClr>
                </a:solidFill>
              </a:rPr>
              <a:t> </a:t>
            </a:r>
            <a:r>
              <a:rPr lang="en-US" sz="5000" b="1" spc="100" dirty="0" err="1">
                <a:solidFill>
                  <a:schemeClr val="tx1">
                    <a:lumMod val="95000"/>
                    <a:lumOff val="5000"/>
                  </a:schemeClr>
                </a:solidFill>
              </a:rPr>
              <a:t>tratarea</a:t>
            </a:r>
            <a:r>
              <a:rPr lang="en-US" sz="5000" b="1" spc="100" dirty="0">
                <a:solidFill>
                  <a:schemeClr val="tx1">
                    <a:lumMod val="95000"/>
                    <a:lumOff val="5000"/>
                  </a:schemeClr>
                </a:solidFill>
              </a:rPr>
              <a:t> </a:t>
            </a:r>
            <a:r>
              <a:rPr lang="en-US" sz="5000" b="1" spc="100" dirty="0" err="1">
                <a:solidFill>
                  <a:schemeClr val="tx1">
                    <a:lumMod val="95000"/>
                    <a:lumOff val="5000"/>
                  </a:schemeClr>
                </a:solidFill>
              </a:rPr>
              <a:t>erorilor</a:t>
            </a:r>
            <a:endParaRPr lang="en-US" sz="5000" b="1" spc="100" dirty="0">
              <a:solidFill>
                <a:schemeClr val="tx1">
                  <a:lumMod val="95000"/>
                  <a:lumOff val="5000"/>
                </a:schemeClr>
              </a:solidFill>
            </a:endParaRPr>
          </a:p>
        </p:txBody>
      </p:sp>
      <p:sp>
        <p:nvSpPr>
          <p:cNvPr id="3" name="Content Placeholder 2">
            <a:extLst>
              <a:ext uri="{FF2B5EF4-FFF2-40B4-BE49-F238E27FC236}">
                <a16:creationId xmlns:a16="http://schemas.microsoft.com/office/drawing/2014/main" id="{37C844EF-F2ED-4608-A8B6-7ADB87DA631F}"/>
              </a:ext>
            </a:extLst>
          </p:cNvPr>
          <p:cNvSpPr>
            <a:spLocks noGrp="1"/>
          </p:cNvSpPr>
          <p:nvPr>
            <p:ph idx="1"/>
          </p:nvPr>
        </p:nvSpPr>
        <p:spPr>
          <a:xfrm>
            <a:off x="1024128" y="1901686"/>
            <a:ext cx="8018272" cy="4371097"/>
          </a:xfrm>
        </p:spPr>
        <p:txBody>
          <a:bodyPr vert="horz" lIns="45720" tIns="45720" rIns="45720" bIns="45720" rtlCol="0">
            <a:normAutofit fontScale="92500"/>
          </a:bodyPr>
          <a:lstStyle/>
          <a:p>
            <a:pPr>
              <a:lnSpc>
                <a:spcPct val="100000"/>
              </a:lnSpc>
              <a:spcBef>
                <a:spcPts val="600"/>
              </a:spcBef>
              <a:spcAft>
                <a:spcPts val="600"/>
              </a:spcAft>
            </a:pPr>
            <a:r>
              <a:rPr lang="ro-RO" sz="2800" b="1" dirty="0"/>
              <a:t>Erorile </a:t>
            </a:r>
            <a:r>
              <a:rPr lang="ro-RO" sz="2800" dirty="0"/>
              <a:t>sunt obiecte de tip </a:t>
            </a:r>
            <a:r>
              <a:rPr lang="ro-RO" sz="2800" b="1" dirty="0" err="1"/>
              <a:t>Error</a:t>
            </a:r>
            <a:r>
              <a:rPr lang="ro-RO" sz="2800" dirty="0"/>
              <a:t> aruncate la </a:t>
            </a:r>
            <a:r>
              <a:rPr lang="ro-RO" sz="2800" b="1" dirty="0" err="1"/>
              <a:t>runtime</a:t>
            </a:r>
            <a:endParaRPr lang="ro-RO" sz="2800" b="1" dirty="0"/>
          </a:p>
          <a:p>
            <a:pPr>
              <a:lnSpc>
                <a:spcPct val="100000"/>
              </a:lnSpc>
              <a:spcBef>
                <a:spcPts val="600"/>
              </a:spcBef>
              <a:spcAft>
                <a:spcPts val="600"/>
              </a:spcAft>
            </a:pPr>
            <a:r>
              <a:rPr lang="ro-RO" sz="2800" dirty="0"/>
              <a:t>Implicit, conțin </a:t>
            </a:r>
            <a:r>
              <a:rPr lang="ro-RO" sz="2800" b="1" dirty="0"/>
              <a:t>nume</a:t>
            </a:r>
            <a:r>
              <a:rPr lang="ro-RO" sz="2800" dirty="0"/>
              <a:t> si </a:t>
            </a:r>
            <a:r>
              <a:rPr lang="ro-RO" sz="2800" b="1" dirty="0"/>
              <a:t>mesaj</a:t>
            </a:r>
          </a:p>
          <a:p>
            <a:pPr>
              <a:lnSpc>
                <a:spcPct val="100000"/>
              </a:lnSpc>
              <a:spcBef>
                <a:spcPts val="600"/>
              </a:spcBef>
              <a:spcAft>
                <a:spcPts val="600"/>
              </a:spcAft>
            </a:pPr>
            <a:r>
              <a:rPr lang="ro-RO" sz="2800" b="1" dirty="0"/>
              <a:t>Erorile </a:t>
            </a:r>
            <a:r>
              <a:rPr lang="ro-RO" sz="2800" dirty="0"/>
              <a:t>pot fi create folosind </a:t>
            </a:r>
            <a:r>
              <a:rPr lang="ro-RO" sz="2800" b="1" dirty="0" err="1"/>
              <a:t>new</a:t>
            </a:r>
            <a:r>
              <a:rPr lang="ro-RO" sz="2800" dirty="0"/>
              <a:t> și aruncate folosind </a:t>
            </a:r>
            <a:r>
              <a:rPr lang="ro-RO" sz="2800" b="1" dirty="0" err="1"/>
              <a:t>throw</a:t>
            </a:r>
            <a:endParaRPr lang="ro-RO" sz="2800" b="1" dirty="0"/>
          </a:p>
          <a:p>
            <a:pPr lvl="1">
              <a:lnSpc>
                <a:spcPct val="100000"/>
              </a:lnSpc>
              <a:spcBef>
                <a:spcPts val="600"/>
              </a:spcBef>
              <a:spcAft>
                <a:spcPts val="600"/>
              </a:spcAft>
            </a:pPr>
            <a:r>
              <a:rPr lang="ro-RO" sz="2400" dirty="0"/>
              <a:t>Pe lângă </a:t>
            </a:r>
            <a:r>
              <a:rPr lang="ro-RO" sz="2400" b="1" dirty="0"/>
              <a:t>mesajul</a:t>
            </a:r>
            <a:r>
              <a:rPr lang="ro-RO" sz="2400" dirty="0"/>
              <a:t> oferit în constructor, </a:t>
            </a:r>
            <a:r>
              <a:rPr lang="ro-RO" sz="2400" b="1" dirty="0"/>
              <a:t>se pot adăuga și câmpuri noi </a:t>
            </a:r>
            <a:r>
              <a:rPr lang="ro-RO" sz="2400" dirty="0"/>
              <a:t>sub formă de proprietăți după ce obiectul a fost instanția</a:t>
            </a:r>
          </a:p>
          <a:p>
            <a:pPr>
              <a:lnSpc>
                <a:spcPct val="100000"/>
              </a:lnSpc>
              <a:spcBef>
                <a:spcPts val="600"/>
              </a:spcBef>
              <a:spcAft>
                <a:spcPts val="600"/>
              </a:spcAft>
            </a:pPr>
            <a:r>
              <a:rPr lang="ro-RO" sz="2800" dirty="0"/>
              <a:t>Acestea pot fi tratate utilizând </a:t>
            </a:r>
            <a:r>
              <a:rPr lang="ro-RO" sz="2800" b="1" dirty="0" err="1"/>
              <a:t>try</a:t>
            </a:r>
            <a:r>
              <a:rPr lang="ro-RO" sz="2800" b="1" dirty="0"/>
              <a:t> … catch</a:t>
            </a:r>
          </a:p>
          <a:p>
            <a:pPr>
              <a:lnSpc>
                <a:spcPct val="100000"/>
              </a:lnSpc>
              <a:spcBef>
                <a:spcPts val="600"/>
              </a:spcBef>
              <a:spcAft>
                <a:spcPts val="600"/>
              </a:spcAft>
            </a:pPr>
            <a:r>
              <a:rPr lang="ro-RO" sz="2800" dirty="0"/>
              <a:t>Pentru </a:t>
            </a:r>
            <a:r>
              <a:rPr lang="ro-RO" sz="2800" dirty="0" err="1"/>
              <a:t>debug</a:t>
            </a:r>
            <a:r>
              <a:rPr lang="ro-RO" sz="2800" dirty="0"/>
              <a:t>, este util să investigați stiva erorii </a:t>
            </a:r>
            <a:r>
              <a:rPr lang="ro-RO" sz="2800" b="1" dirty="0"/>
              <a:t>(</a:t>
            </a:r>
            <a:r>
              <a:rPr lang="ro-RO" sz="2800" b="1" dirty="0" err="1"/>
              <a:t>error.stack</a:t>
            </a:r>
            <a:r>
              <a:rPr lang="ro-RO" sz="2800" b="1" dirty="0"/>
              <a:t>)</a:t>
            </a:r>
          </a:p>
        </p:txBody>
      </p:sp>
      <p:sp>
        <p:nvSpPr>
          <p:cNvPr id="11" name="Rectangle 10">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31504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0F5785B-E52B-4ED6-AA5F-5F12275A7BFF}"/>
              </a:ext>
            </a:extLst>
          </p:cNvPr>
          <p:cNvPicPr>
            <a:picLocks noChangeAspect="1"/>
          </p:cNvPicPr>
          <p:nvPr/>
        </p:nvPicPr>
        <p:blipFill>
          <a:blip r:embed="rId2"/>
          <a:stretch>
            <a:fillRect/>
          </a:stretch>
        </p:blipFill>
        <p:spPr>
          <a:xfrm>
            <a:off x="66675" y="0"/>
            <a:ext cx="12058650" cy="4114800"/>
          </a:xfrm>
          <a:prstGeom prst="rect">
            <a:avLst/>
          </a:prstGeom>
        </p:spPr>
      </p:pic>
      <p:pic>
        <p:nvPicPr>
          <p:cNvPr id="7" name="Picture 6">
            <a:extLst>
              <a:ext uri="{FF2B5EF4-FFF2-40B4-BE49-F238E27FC236}">
                <a16:creationId xmlns:a16="http://schemas.microsoft.com/office/drawing/2014/main" id="{60B4C109-81BC-49A3-A98C-12BEBE6F5A06}"/>
              </a:ext>
            </a:extLst>
          </p:cNvPr>
          <p:cNvPicPr>
            <a:picLocks noChangeAspect="1"/>
          </p:cNvPicPr>
          <p:nvPr/>
        </p:nvPicPr>
        <p:blipFill>
          <a:blip r:embed="rId3"/>
          <a:stretch>
            <a:fillRect/>
          </a:stretch>
        </p:blipFill>
        <p:spPr>
          <a:xfrm>
            <a:off x="2068496" y="4114800"/>
            <a:ext cx="7501641" cy="2445863"/>
          </a:xfrm>
          <a:prstGeom prst="rect">
            <a:avLst/>
          </a:prstGeom>
        </p:spPr>
      </p:pic>
    </p:spTree>
    <p:extLst>
      <p:ext uri="{BB962C8B-B14F-4D97-AF65-F5344CB8AC3E}">
        <p14:creationId xmlns:p14="http://schemas.microsoft.com/office/powerpoint/2010/main" val="39076107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539657" name="Rectangle 539656">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9650" name="Rectangle 2">
            <a:extLst>
              <a:ext uri="{FF2B5EF4-FFF2-40B4-BE49-F238E27FC236}">
                <a16:creationId xmlns:a16="http://schemas.microsoft.com/office/drawing/2014/main" id="{68CCA04D-4813-714A-8C09-65A066557B94}"/>
              </a:ext>
            </a:extLst>
          </p:cNvPr>
          <p:cNvSpPr>
            <a:spLocks noGrp="1" noChangeArrowheads="1"/>
          </p:cNvSpPr>
          <p:nvPr>
            <p:ph type="ctrTitle"/>
          </p:nvPr>
        </p:nvSpPr>
        <p:spPr>
          <a:xfrm>
            <a:off x="613611" y="685892"/>
            <a:ext cx="3566407" cy="3794020"/>
          </a:xfrm>
        </p:spPr>
        <p:txBody>
          <a:bodyPr anchor="b">
            <a:normAutofit/>
          </a:bodyPr>
          <a:lstStyle/>
          <a:p>
            <a:pPr eaLnBrk="1" hangingPunct="1">
              <a:defRPr/>
            </a:pPr>
            <a:r>
              <a:rPr lang="en-US" sz="4000"/>
              <a:t>JavaScript </a:t>
            </a:r>
            <a:r>
              <a:rPr lang="ro-RO" sz="4000"/>
              <a:t>ș</a:t>
            </a:r>
            <a:r>
              <a:rPr lang="en-US" sz="4000"/>
              <a:t>i HTML</a:t>
            </a:r>
          </a:p>
        </p:txBody>
      </p:sp>
      <p:sp>
        <p:nvSpPr>
          <p:cNvPr id="539651" name="Rectangle 3">
            <a:extLst>
              <a:ext uri="{FF2B5EF4-FFF2-40B4-BE49-F238E27FC236}">
                <a16:creationId xmlns:a16="http://schemas.microsoft.com/office/drawing/2014/main" id="{8EB6FEAE-8202-7B9F-D62E-6FFF5382A5B3}"/>
              </a:ext>
            </a:extLst>
          </p:cNvPr>
          <p:cNvSpPr>
            <a:spLocks noGrp="1" noChangeArrowheads="1"/>
          </p:cNvSpPr>
          <p:nvPr>
            <p:ph type="subTitle" idx="1"/>
          </p:nvPr>
        </p:nvSpPr>
        <p:spPr>
          <a:xfrm>
            <a:off x="613611" y="4684242"/>
            <a:ext cx="3566407" cy="1463040"/>
          </a:xfrm>
        </p:spPr>
        <p:txBody>
          <a:bodyPr anchor="t">
            <a:normAutofit/>
          </a:bodyPr>
          <a:lstStyle/>
          <a:p>
            <a:pPr algn="r" eaLnBrk="1" hangingPunct="1"/>
            <a:r>
              <a:rPr lang="en-US" altLang="en-US" sz="1600"/>
              <a:t>Gestiunea Simpl</a:t>
            </a:r>
            <a:r>
              <a:rPr lang="ro-RO" altLang="en-US" sz="1600"/>
              <a:t>ă</a:t>
            </a:r>
            <a:r>
              <a:rPr lang="en-US" altLang="en-US" sz="1600"/>
              <a:t> a Evenimentelor</a:t>
            </a:r>
          </a:p>
        </p:txBody>
      </p:sp>
      <p:cxnSp>
        <p:nvCxnSpPr>
          <p:cNvPr id="539659" name="Straight Connector 539658">
            <a:extLst>
              <a:ext uri="{FF2B5EF4-FFF2-40B4-BE49-F238E27FC236}">
                <a16:creationId xmlns:a16="http://schemas.microsoft.com/office/drawing/2014/main" id="{96D07482-83A3-4451-943C-B469610829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5557" y="4593863"/>
            <a:ext cx="2926080" cy="0"/>
          </a:xfrm>
          <a:prstGeom prst="line">
            <a:avLst/>
          </a:prstGeom>
          <a:ln w="19050">
            <a:solidFill>
              <a:srgbClr val="5054A3"/>
            </a:solidFill>
          </a:ln>
        </p:spPr>
        <p:style>
          <a:lnRef idx="1">
            <a:schemeClr val="accent1"/>
          </a:lnRef>
          <a:fillRef idx="0">
            <a:schemeClr val="accent1"/>
          </a:fillRef>
          <a:effectRef idx="0">
            <a:schemeClr val="accent1"/>
          </a:effectRef>
          <a:fontRef idx="minor">
            <a:schemeClr val="tx1"/>
          </a:fontRef>
        </p:style>
      </p:cxnSp>
      <p:pic>
        <p:nvPicPr>
          <p:cNvPr id="539653" name="Picture 539652" descr="Data concept">
            <a:extLst>
              <a:ext uri="{FF2B5EF4-FFF2-40B4-BE49-F238E27FC236}">
                <a16:creationId xmlns:a16="http://schemas.microsoft.com/office/drawing/2014/main" id="{6D4030BF-799F-4564-8743-10BFA13D923F}"/>
              </a:ext>
            </a:extLst>
          </p:cNvPr>
          <p:cNvPicPr>
            <a:picLocks noChangeAspect="1"/>
          </p:cNvPicPr>
          <p:nvPr/>
        </p:nvPicPr>
        <p:blipFill rotWithShape="1">
          <a:blip r:embed="rId2"/>
          <a:srcRect r="17610"/>
          <a:stretch/>
        </p:blipFill>
        <p:spPr>
          <a:xfrm>
            <a:off x="4658258" y="975"/>
            <a:ext cx="7533742" cy="6858000"/>
          </a:xfrm>
          <a:prstGeom prst="rect">
            <a:avLst/>
          </a:prstGeom>
        </p:spPr>
      </p:pic>
      <p:sp>
        <p:nvSpPr>
          <p:cNvPr id="65540" name="Footer Placeholder 4">
            <a:extLst>
              <a:ext uri="{FF2B5EF4-FFF2-40B4-BE49-F238E27FC236}">
                <a16:creationId xmlns:a16="http://schemas.microsoft.com/office/drawing/2014/main" id="{13C7FF8F-45DF-42E0-2684-C99E6BD6C36C}"/>
              </a:ext>
            </a:extLst>
          </p:cNvPr>
          <p:cNvSpPr>
            <a:spLocks noGrp="1"/>
          </p:cNvSpPr>
          <p:nvPr>
            <p:ph type="ftr" sz="quarter" idx="11"/>
          </p:nvPr>
        </p:nvSpPr>
        <p:spPr>
          <a:xfrm>
            <a:off x="4842932" y="6470704"/>
            <a:ext cx="5901459" cy="274320"/>
          </a:xfrm>
          <a:effectLst>
            <a:outerShdw blurRad="50800" dist="12700" dir="2700000" algn="tl" rotWithShape="0">
              <a:prstClr val="black">
                <a:alpha val="43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90000"/>
              </a:lnSpc>
              <a:spcBef>
                <a:spcPct val="0"/>
              </a:spcBef>
              <a:spcAft>
                <a:spcPts val="600"/>
              </a:spcAft>
              <a:buFontTx/>
              <a:buNone/>
            </a:pPr>
            <a:r>
              <a:rPr lang="en-US" altLang="en-US" sz="1300">
                <a:solidFill>
                  <a:srgbClr val="FFFFFF"/>
                </a:solidFill>
              </a:rPr>
              <a:t>Curs Programare Web, anul 4 C5 – Curs 5</a:t>
            </a:r>
          </a:p>
        </p:txBody>
      </p:sp>
      <p:sp>
        <p:nvSpPr>
          <p:cNvPr id="65537" name="Slide Number Placeholder 5">
            <a:extLst>
              <a:ext uri="{FF2B5EF4-FFF2-40B4-BE49-F238E27FC236}">
                <a16:creationId xmlns:a16="http://schemas.microsoft.com/office/drawing/2014/main" id="{F05C5CBF-74C7-2005-06EF-E1EE7D69BD40}"/>
              </a:ext>
            </a:extLst>
          </p:cNvPr>
          <p:cNvSpPr>
            <a:spLocks noGrp="1"/>
          </p:cNvSpPr>
          <p:nvPr>
            <p:ph type="sldNum" sz="quarter" idx="12"/>
          </p:nvPr>
        </p:nvSpPr>
        <p:spPr>
          <a:xfrm>
            <a:off x="10837333" y="6470704"/>
            <a:ext cx="973667" cy="274320"/>
          </a:xfrm>
          <a:effectLst>
            <a:outerShdw blurRad="50800" dist="12700" dir="2700000" algn="tl" rotWithShape="0">
              <a:prstClr val="black">
                <a:alpha val="43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90000"/>
              </a:lnSpc>
              <a:spcBef>
                <a:spcPct val="0"/>
              </a:spcBef>
              <a:spcAft>
                <a:spcPts val="600"/>
              </a:spcAft>
              <a:buFontTx/>
              <a:buNone/>
            </a:pPr>
            <a:fld id="{D7275A9C-B860-A04E-AB1D-66802C1F72DE}" type="slidenum">
              <a:rPr lang="en-US" altLang="en-US" sz="1300">
                <a:solidFill>
                  <a:srgbClr val="FFFFFF"/>
                </a:solidFill>
              </a:rPr>
              <a:pPr>
                <a:lnSpc>
                  <a:spcPct val="90000"/>
                </a:lnSpc>
                <a:spcBef>
                  <a:spcPct val="0"/>
                </a:spcBef>
                <a:spcAft>
                  <a:spcPts val="600"/>
                </a:spcAft>
                <a:buFontTx/>
                <a:buNone/>
              </a:pPr>
              <a:t>40</a:t>
            </a:fld>
            <a:endParaRPr lang="en-US" altLang="en-US" sz="1300">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39651">
                                            <p:txEl>
                                              <p:pRg st="0" end="0"/>
                                            </p:txEl>
                                          </p:spTgt>
                                        </p:tgtEl>
                                        <p:attrNameLst>
                                          <p:attrName>style.visibility</p:attrName>
                                        </p:attrNameLst>
                                      </p:cBhvr>
                                      <p:to>
                                        <p:strVal val="visible"/>
                                      </p:to>
                                    </p:set>
                                    <p:animEffect transition="in" filter="wipe(left)">
                                      <p:cBhvr>
                                        <p:cTn id="7" dur="500"/>
                                        <p:tgtEl>
                                          <p:spTgt spid="53965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9651"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Slide Number Placeholder 5">
            <a:extLst>
              <a:ext uri="{FF2B5EF4-FFF2-40B4-BE49-F238E27FC236}">
                <a16:creationId xmlns:a16="http://schemas.microsoft.com/office/drawing/2014/main" id="{19A510D6-003B-5487-2767-9C1C8A72556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C63D4B25-D6C6-2B4C-A763-DE151B87211A}" type="slidenum">
              <a:rPr lang="en-US" altLang="en-US" sz="900">
                <a:solidFill>
                  <a:schemeClr val="bg1"/>
                </a:solidFill>
              </a:rPr>
              <a:pPr>
                <a:spcBef>
                  <a:spcPct val="0"/>
                </a:spcBef>
                <a:buFontTx/>
                <a:buNone/>
              </a:pPr>
              <a:t>41</a:t>
            </a:fld>
            <a:endParaRPr lang="en-US" altLang="en-US" sz="900">
              <a:solidFill>
                <a:schemeClr val="bg1"/>
              </a:solidFill>
            </a:endParaRPr>
          </a:p>
        </p:txBody>
      </p:sp>
      <p:sp>
        <p:nvSpPr>
          <p:cNvPr id="665602" name="Rectangle 2">
            <a:extLst>
              <a:ext uri="{FF2B5EF4-FFF2-40B4-BE49-F238E27FC236}">
                <a16:creationId xmlns:a16="http://schemas.microsoft.com/office/drawing/2014/main" id="{B52C1AD7-EEDD-544F-A578-597D59005BD5}"/>
              </a:ext>
            </a:extLst>
          </p:cNvPr>
          <p:cNvSpPr>
            <a:spLocks noGrp="1" noChangeArrowheads="1"/>
          </p:cNvSpPr>
          <p:nvPr>
            <p:ph type="title"/>
          </p:nvPr>
        </p:nvSpPr>
        <p:spPr/>
        <p:txBody>
          <a:bodyPr vert="horz" lIns="91440" tIns="45720" rIns="91440" bIns="45720" rtlCol="0" anchor="ctr">
            <a:normAutofit/>
          </a:bodyPr>
          <a:lstStyle/>
          <a:p>
            <a:pPr>
              <a:spcAft>
                <a:spcPts val="600"/>
              </a:spcAft>
            </a:pPr>
            <a:r>
              <a:rPr lang="en-US" b="1" dirty="0">
                <a:ln w="3175" cmpd="sng">
                  <a:noFill/>
                </a:ln>
              </a:rPr>
              <a:t>JavaScript </a:t>
            </a:r>
            <a:r>
              <a:rPr lang="ro-RO" b="1" dirty="0">
                <a:ln w="3175" cmpd="sng">
                  <a:noFill/>
                </a:ln>
              </a:rPr>
              <a:t>ș</a:t>
            </a:r>
            <a:r>
              <a:rPr lang="en-US" b="1" dirty="0" err="1">
                <a:ln w="3175" cmpd="sng">
                  <a:noFill/>
                </a:ln>
              </a:rPr>
              <a:t>i</a:t>
            </a:r>
            <a:r>
              <a:rPr lang="en-US" b="1" dirty="0">
                <a:ln w="3175" cmpd="sng">
                  <a:noFill/>
                </a:ln>
              </a:rPr>
              <a:t> DOM</a:t>
            </a:r>
          </a:p>
        </p:txBody>
      </p:sp>
      <p:sp>
        <p:nvSpPr>
          <p:cNvPr id="66563" name="Rectangle 3">
            <a:extLst>
              <a:ext uri="{FF2B5EF4-FFF2-40B4-BE49-F238E27FC236}">
                <a16:creationId xmlns:a16="http://schemas.microsoft.com/office/drawing/2014/main" id="{26A4BA6B-DFFD-65B6-FA34-79505E4755C1}"/>
              </a:ext>
            </a:extLst>
          </p:cNvPr>
          <p:cNvSpPr>
            <a:spLocks noGrp="1" noChangeArrowheads="1"/>
          </p:cNvSpPr>
          <p:nvPr>
            <p:ph type="body" idx="1"/>
          </p:nvPr>
        </p:nvSpPr>
        <p:spPr>
          <a:xfrm>
            <a:off x="1024128" y="1961321"/>
            <a:ext cx="10412895" cy="5334000"/>
          </a:xfrm>
        </p:spPr>
        <p:txBody>
          <a:bodyPr/>
          <a:lstStyle/>
          <a:p>
            <a:pPr>
              <a:lnSpc>
                <a:spcPct val="100000"/>
              </a:lnSpc>
              <a:spcBef>
                <a:spcPts val="600"/>
              </a:spcBef>
              <a:spcAft>
                <a:spcPts val="600"/>
              </a:spcAft>
            </a:pPr>
            <a:r>
              <a:rPr lang="ro-RO" altLang="en-US" sz="2800" dirty="0" err="1"/>
              <a:t>JavaScript</a:t>
            </a:r>
            <a:r>
              <a:rPr lang="ro-RO" altLang="en-US" sz="2800" dirty="0"/>
              <a:t> se bazează pe un </a:t>
            </a:r>
            <a:r>
              <a:rPr lang="ro-RO" altLang="en-US" sz="2800" dirty="0">
                <a:solidFill>
                  <a:srgbClr val="FF0000"/>
                </a:solidFill>
              </a:rPr>
              <a:t>Document </a:t>
            </a:r>
            <a:r>
              <a:rPr lang="ro-RO" altLang="en-US" sz="2800" dirty="0" err="1">
                <a:solidFill>
                  <a:srgbClr val="FF0000"/>
                </a:solidFill>
              </a:rPr>
              <a:t>Object</a:t>
            </a:r>
            <a:r>
              <a:rPr lang="ro-RO" altLang="en-US" sz="2800" dirty="0">
                <a:solidFill>
                  <a:srgbClr val="FF0000"/>
                </a:solidFill>
              </a:rPr>
              <a:t> Model</a:t>
            </a:r>
            <a:r>
              <a:rPr lang="ro-RO" altLang="en-US" sz="2800" dirty="0"/>
              <a:t> (</a:t>
            </a:r>
            <a:r>
              <a:rPr lang="ro-RO" altLang="en-US" sz="2800" dirty="0">
                <a:solidFill>
                  <a:schemeClr val="tx2"/>
                </a:solidFill>
              </a:rPr>
              <a:t>DOM</a:t>
            </a:r>
            <a:r>
              <a:rPr lang="ro-RO" altLang="en-US" sz="2800" dirty="0"/>
              <a:t>) ce descrie structura paginii web</a:t>
            </a:r>
          </a:p>
          <a:p>
            <a:pPr lvl="1">
              <a:lnSpc>
                <a:spcPct val="100000"/>
              </a:lnSpc>
              <a:spcBef>
                <a:spcPts val="600"/>
              </a:spcBef>
              <a:spcAft>
                <a:spcPts val="600"/>
              </a:spcAft>
            </a:pPr>
            <a:r>
              <a:rPr lang="ro-RO" altLang="en-US" sz="2400" dirty="0"/>
              <a:t>Nu reprezintă același lucru ca XML DOM</a:t>
            </a:r>
          </a:p>
          <a:p>
            <a:pPr>
              <a:lnSpc>
                <a:spcPct val="100000"/>
              </a:lnSpc>
              <a:spcBef>
                <a:spcPts val="600"/>
              </a:spcBef>
              <a:spcAft>
                <a:spcPts val="600"/>
              </a:spcAft>
            </a:pPr>
            <a:r>
              <a:rPr lang="ro-RO" altLang="en-US" sz="2800" dirty="0"/>
              <a:t>Puteți face multe lucruri înțelegând conceptul de DOM</a:t>
            </a:r>
          </a:p>
          <a:p>
            <a:pPr lvl="1">
              <a:lnSpc>
                <a:spcPct val="100000"/>
              </a:lnSpc>
              <a:spcBef>
                <a:spcPts val="600"/>
              </a:spcBef>
              <a:spcAft>
                <a:spcPts val="600"/>
              </a:spcAft>
            </a:pPr>
            <a:r>
              <a:rPr lang="ro-RO" altLang="en-US" sz="2400" dirty="0"/>
              <a:t>Puteți folosi DOM pentru a accesa elementele paginii Web</a:t>
            </a:r>
          </a:p>
          <a:p>
            <a:pPr lvl="1">
              <a:lnSpc>
                <a:spcPct val="100000"/>
              </a:lnSpc>
              <a:spcBef>
                <a:spcPts val="600"/>
              </a:spcBef>
              <a:spcAft>
                <a:spcPts val="600"/>
              </a:spcAft>
            </a:pPr>
            <a:r>
              <a:rPr lang="ro-RO" altLang="en-US" sz="2400" dirty="0"/>
              <a:t>Puteți capta evenimente fără să fiți deloc familiarizați cu conceptul DOM dar ….</a:t>
            </a:r>
          </a:p>
          <a:p>
            <a:pPr lvl="1">
              <a:lnSpc>
                <a:spcPct val="100000"/>
              </a:lnSpc>
              <a:spcBef>
                <a:spcPts val="600"/>
              </a:spcBef>
              <a:spcAft>
                <a:spcPts val="600"/>
              </a:spcAft>
            </a:pPr>
            <a:r>
              <a:rPr lang="ro-RO" altLang="en-US" sz="2400" dirty="0"/>
              <a:t>Aveți nevoie de DOM pentru a face eventuale modificări în pagina Web</a:t>
            </a:r>
          </a:p>
          <a:p>
            <a:pPr>
              <a:lnSpc>
                <a:spcPct val="100000"/>
              </a:lnSpc>
              <a:spcBef>
                <a:spcPts val="600"/>
              </a:spcBef>
              <a:spcAft>
                <a:spcPts val="600"/>
              </a:spcAft>
            </a:pPr>
            <a:endParaRPr lang="ro-RO" altLang="en-US" sz="2800" dirty="0"/>
          </a:p>
        </p:txBody>
      </p:sp>
      <p:sp>
        <p:nvSpPr>
          <p:cNvPr id="66564" name="Footer Placeholder 4">
            <a:extLst>
              <a:ext uri="{FF2B5EF4-FFF2-40B4-BE49-F238E27FC236}">
                <a16:creationId xmlns:a16="http://schemas.microsoft.com/office/drawing/2014/main" id="{938055FC-FE0F-036D-0D7A-62826161A4F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900">
                <a:solidFill>
                  <a:schemeClr val="bg1"/>
                </a:solidFill>
              </a:rPr>
              <a:t>Curs Programare Web, anul 4 C5 – Curs 5</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Slide Number Placeholder 5">
            <a:extLst>
              <a:ext uri="{FF2B5EF4-FFF2-40B4-BE49-F238E27FC236}">
                <a16:creationId xmlns:a16="http://schemas.microsoft.com/office/drawing/2014/main" id="{D093814B-F4D1-CB16-664A-73264B4EF59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37794B2-FFA7-D64A-B42C-7AA257ED387C}" type="slidenum">
              <a:rPr lang="en-US" altLang="en-US" sz="900">
                <a:solidFill>
                  <a:schemeClr val="bg1"/>
                </a:solidFill>
              </a:rPr>
              <a:pPr>
                <a:spcBef>
                  <a:spcPct val="0"/>
                </a:spcBef>
                <a:buFontTx/>
                <a:buNone/>
              </a:pPr>
              <a:t>42</a:t>
            </a:fld>
            <a:endParaRPr lang="en-US" altLang="en-US" sz="900">
              <a:solidFill>
                <a:schemeClr val="bg1"/>
              </a:solidFill>
            </a:endParaRPr>
          </a:p>
        </p:txBody>
      </p:sp>
      <p:sp>
        <p:nvSpPr>
          <p:cNvPr id="666626" name="Rectangle 2">
            <a:extLst>
              <a:ext uri="{FF2B5EF4-FFF2-40B4-BE49-F238E27FC236}">
                <a16:creationId xmlns:a16="http://schemas.microsoft.com/office/drawing/2014/main" id="{BB22C9E4-8885-7C4D-A098-C597ADA2566F}"/>
              </a:ext>
            </a:extLst>
          </p:cNvPr>
          <p:cNvSpPr>
            <a:spLocks noGrp="1" noChangeArrowheads="1"/>
          </p:cNvSpPr>
          <p:nvPr>
            <p:ph type="title"/>
          </p:nvPr>
        </p:nvSpPr>
        <p:spPr>
          <a:xfrm>
            <a:off x="1023729" y="920693"/>
            <a:ext cx="8623854" cy="815341"/>
          </a:xfrm>
        </p:spPr>
        <p:txBody>
          <a:bodyPr vert="horz" lIns="91440" tIns="45720" rIns="91440" bIns="45720" rtlCol="0" anchor="ctr">
            <a:normAutofit/>
          </a:bodyPr>
          <a:lstStyle/>
          <a:p>
            <a:pPr>
              <a:spcAft>
                <a:spcPts val="600"/>
              </a:spcAft>
            </a:pPr>
            <a:r>
              <a:rPr lang="en-US" b="1">
                <a:ln w="3175" cmpd="sng">
                  <a:noFill/>
                </a:ln>
              </a:rPr>
              <a:t>Evenimente</a:t>
            </a:r>
            <a:endParaRPr lang="en-US" b="1" dirty="0">
              <a:ln w="3175" cmpd="sng">
                <a:noFill/>
              </a:ln>
            </a:endParaRPr>
          </a:p>
        </p:txBody>
      </p:sp>
      <p:sp>
        <p:nvSpPr>
          <p:cNvPr id="67587" name="Rectangle 3">
            <a:extLst>
              <a:ext uri="{FF2B5EF4-FFF2-40B4-BE49-F238E27FC236}">
                <a16:creationId xmlns:a16="http://schemas.microsoft.com/office/drawing/2014/main" id="{5FCFDBAD-62B8-70C3-825F-9760E06E7756}"/>
              </a:ext>
            </a:extLst>
          </p:cNvPr>
          <p:cNvSpPr>
            <a:spLocks noGrp="1" noChangeArrowheads="1"/>
          </p:cNvSpPr>
          <p:nvPr>
            <p:ph type="body" idx="1"/>
          </p:nvPr>
        </p:nvSpPr>
        <p:spPr>
          <a:xfrm>
            <a:off x="1023729" y="1842359"/>
            <a:ext cx="11314043" cy="5638800"/>
          </a:xfrm>
        </p:spPr>
        <p:txBody>
          <a:bodyPr/>
          <a:lstStyle/>
          <a:p>
            <a:pPr eaLnBrk="1" hangingPunct="1">
              <a:lnSpc>
                <a:spcPct val="100000"/>
              </a:lnSpc>
              <a:spcBef>
                <a:spcPts val="600"/>
              </a:spcBef>
              <a:spcAft>
                <a:spcPts val="600"/>
              </a:spcAft>
            </a:pPr>
            <a:r>
              <a:rPr lang="ro-RO" altLang="en-US" sz="2800" dirty="0"/>
              <a:t>Unele (dar nu toate) elementele paginii web răspund la interactivitatea din partea utilizatorului (</a:t>
            </a:r>
            <a:r>
              <a:rPr lang="ro-RO" altLang="en-US" sz="2800" i="1" dirty="0" err="1"/>
              <a:t>keystrokes</a:t>
            </a:r>
            <a:r>
              <a:rPr lang="ro-RO" altLang="en-US" sz="2800" dirty="0"/>
              <a:t>, </a:t>
            </a:r>
            <a:r>
              <a:rPr lang="ro-RO" altLang="en-US" sz="2800" i="1" dirty="0"/>
              <a:t>mouse </a:t>
            </a:r>
            <a:r>
              <a:rPr lang="ro-RO" altLang="en-US" sz="2800" i="1" dirty="0" err="1"/>
              <a:t>clicks</a:t>
            </a:r>
            <a:r>
              <a:rPr lang="ro-RO" altLang="en-US" sz="2800" dirty="0"/>
              <a:t>) prin crearea de evenimente</a:t>
            </a:r>
          </a:p>
          <a:p>
            <a:pPr lvl="1" eaLnBrk="1" hangingPunct="1">
              <a:lnSpc>
                <a:spcPct val="100000"/>
              </a:lnSpc>
              <a:spcBef>
                <a:spcPts val="600"/>
              </a:spcBef>
              <a:spcAft>
                <a:spcPts val="600"/>
              </a:spcAft>
            </a:pPr>
            <a:r>
              <a:rPr lang="ro-RO" altLang="en-US" sz="2400" dirty="0"/>
              <a:t>Diverse tipuri de elemente produc evenimente diferite</a:t>
            </a:r>
          </a:p>
          <a:p>
            <a:pPr lvl="2" eaLnBrk="1" hangingPunct="1">
              <a:lnSpc>
                <a:spcPct val="100000"/>
              </a:lnSpc>
              <a:spcBef>
                <a:spcPts val="600"/>
              </a:spcBef>
              <a:spcAft>
                <a:spcPts val="600"/>
              </a:spcAft>
            </a:pPr>
            <a:r>
              <a:rPr lang="ro-RO" altLang="en-US" sz="2000" dirty="0" err="1"/>
              <a:t>Browserele</a:t>
            </a:r>
            <a:r>
              <a:rPr lang="ro-RO" altLang="en-US" sz="2000" dirty="0"/>
              <a:t> nu seamănă nici când vine vorba de tipurile de evenimente pe care le produc</a:t>
            </a:r>
          </a:p>
          <a:p>
            <a:pPr lvl="1" eaLnBrk="1" hangingPunct="1">
              <a:lnSpc>
                <a:spcPct val="100000"/>
              </a:lnSpc>
              <a:spcBef>
                <a:spcPts val="600"/>
              </a:spcBef>
              <a:spcAft>
                <a:spcPts val="600"/>
              </a:spcAft>
            </a:pPr>
            <a:r>
              <a:rPr lang="ro-RO" altLang="en-US" sz="2400" dirty="0"/>
              <a:t>Ne vom concentra pe evenimente ce țin de elementele specifice unor </a:t>
            </a:r>
            <a:r>
              <a:rPr lang="ro-RO" altLang="en-US" sz="2400" dirty="0">
                <a:solidFill>
                  <a:schemeClr val="accent2"/>
                </a:solidFill>
                <a:latin typeface="Trebuchet MS" panose="020B0703020202090204" pitchFamily="34" charset="0"/>
              </a:rPr>
              <a:t>formulare</a:t>
            </a:r>
            <a:r>
              <a:rPr lang="ro-RO" altLang="en-US" sz="2400" dirty="0"/>
              <a:t> HTML</a:t>
            </a:r>
          </a:p>
          <a:p>
            <a:pPr eaLnBrk="1" hangingPunct="1">
              <a:lnSpc>
                <a:spcPct val="100000"/>
              </a:lnSpc>
              <a:spcBef>
                <a:spcPts val="600"/>
              </a:spcBef>
              <a:spcAft>
                <a:spcPts val="600"/>
              </a:spcAft>
            </a:pPr>
            <a:r>
              <a:rPr lang="ro-RO" altLang="en-US" sz="2800" dirty="0"/>
              <a:t>Puteți folosi </a:t>
            </a:r>
            <a:r>
              <a:rPr lang="ro-RO" altLang="en-US" sz="2800" i="1" dirty="0" err="1"/>
              <a:t>handlere</a:t>
            </a:r>
            <a:r>
              <a:rPr lang="ro-RO" altLang="en-US" sz="2800" dirty="0"/>
              <a:t> asociate unor elemente de </a:t>
            </a:r>
            <a:r>
              <a:rPr lang="ro-RO" altLang="en-US" dirty="0">
                <a:solidFill>
                  <a:schemeClr val="accent2"/>
                </a:solidFill>
                <a:latin typeface="Trebuchet MS" panose="020B0703020202090204" pitchFamily="34" charset="0"/>
              </a:rPr>
              <a:t>formulare</a:t>
            </a:r>
            <a:r>
              <a:rPr lang="ro-RO" altLang="en-US" sz="2800" dirty="0"/>
              <a:t> HTML</a:t>
            </a:r>
          </a:p>
          <a:p>
            <a:pPr lvl="1" eaLnBrk="1" hangingPunct="1">
              <a:lnSpc>
                <a:spcPct val="100000"/>
              </a:lnSpc>
              <a:spcBef>
                <a:spcPts val="600"/>
              </a:spcBef>
              <a:spcAft>
                <a:spcPts val="600"/>
              </a:spcAft>
            </a:pPr>
            <a:r>
              <a:rPr lang="ro-RO" altLang="en-US" sz="2400" dirty="0"/>
              <a:t>Dacă evenimentul nu este generat </a:t>
            </a:r>
            <a:r>
              <a:rPr lang="ro-RO" altLang="en-US" sz="2400" dirty="0" err="1"/>
              <a:t>handlerul</a:t>
            </a:r>
            <a:r>
              <a:rPr lang="ro-RO" altLang="en-US" sz="2400" dirty="0"/>
              <a:t> nu face nimic</a:t>
            </a:r>
          </a:p>
          <a:p>
            <a:pPr lvl="1" eaLnBrk="1" hangingPunct="1">
              <a:lnSpc>
                <a:spcPct val="100000"/>
              </a:lnSpc>
              <a:spcBef>
                <a:spcPts val="600"/>
              </a:spcBef>
              <a:spcAft>
                <a:spcPts val="600"/>
              </a:spcAft>
            </a:pPr>
            <a:r>
              <a:rPr lang="ro-RO" altLang="en-US" sz="2400" dirty="0"/>
              <a:t>Un </a:t>
            </a:r>
            <a:r>
              <a:rPr lang="ro-RO" altLang="en-US" sz="2400" dirty="0" err="1"/>
              <a:t>handler</a:t>
            </a:r>
            <a:r>
              <a:rPr lang="ro-RO" altLang="en-US" sz="2400" dirty="0"/>
              <a:t> ar trebui să fie redus ca dimensiune</a:t>
            </a:r>
          </a:p>
          <a:p>
            <a:pPr lvl="2" eaLnBrk="1" hangingPunct="1">
              <a:lnSpc>
                <a:spcPct val="100000"/>
              </a:lnSpc>
              <a:spcBef>
                <a:spcPts val="600"/>
              </a:spcBef>
              <a:spcAft>
                <a:spcPts val="600"/>
              </a:spcAft>
            </a:pPr>
            <a:r>
              <a:rPr lang="ro-RO" altLang="en-US" sz="2000" dirty="0"/>
              <a:t>Majoritatea </a:t>
            </a:r>
            <a:r>
              <a:rPr lang="ro-RO" altLang="en-US" sz="2000" dirty="0" err="1"/>
              <a:t>handlerelor</a:t>
            </a:r>
            <a:r>
              <a:rPr lang="ro-RO" altLang="en-US" sz="2000" dirty="0"/>
              <a:t> apelează o funcție în care se produce toată funcționalitatea specifică evenimentului</a:t>
            </a:r>
          </a:p>
          <a:p>
            <a:pPr eaLnBrk="1" hangingPunct="1">
              <a:lnSpc>
                <a:spcPct val="100000"/>
              </a:lnSpc>
              <a:spcBef>
                <a:spcPts val="600"/>
              </a:spcBef>
              <a:spcAft>
                <a:spcPts val="600"/>
              </a:spcAft>
            </a:pPr>
            <a:endParaRPr lang="ro-RO" altLang="en-US" sz="2800" dirty="0"/>
          </a:p>
        </p:txBody>
      </p:sp>
      <p:sp>
        <p:nvSpPr>
          <p:cNvPr id="67588" name="Footer Placeholder 4">
            <a:extLst>
              <a:ext uri="{FF2B5EF4-FFF2-40B4-BE49-F238E27FC236}">
                <a16:creationId xmlns:a16="http://schemas.microsoft.com/office/drawing/2014/main" id="{89F3006F-8905-CECF-EF25-9B5FEE4A228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900">
                <a:solidFill>
                  <a:schemeClr val="bg1"/>
                </a:solidFill>
              </a:rPr>
              <a:t>Curs Programare Web, anul 4 C5 – Curs 5</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Slide Number Placeholder 5">
            <a:extLst>
              <a:ext uri="{FF2B5EF4-FFF2-40B4-BE49-F238E27FC236}">
                <a16:creationId xmlns:a16="http://schemas.microsoft.com/office/drawing/2014/main" id="{5096D5DD-D13B-EED3-92D7-2B0D33670F2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C6F105B3-F81D-DB49-B9E4-0AE9C9347BBB}" type="slidenum">
              <a:rPr lang="en-US" altLang="en-US" sz="900">
                <a:solidFill>
                  <a:schemeClr val="bg1"/>
                </a:solidFill>
              </a:rPr>
              <a:pPr>
                <a:spcBef>
                  <a:spcPct val="0"/>
                </a:spcBef>
                <a:buFontTx/>
                <a:buNone/>
              </a:pPr>
              <a:t>43</a:t>
            </a:fld>
            <a:endParaRPr lang="en-US" altLang="en-US" sz="900">
              <a:solidFill>
                <a:schemeClr val="bg1"/>
              </a:solidFill>
            </a:endParaRPr>
          </a:p>
        </p:txBody>
      </p:sp>
      <p:sp>
        <p:nvSpPr>
          <p:cNvPr id="667650" name="Rectangle 2">
            <a:extLst>
              <a:ext uri="{FF2B5EF4-FFF2-40B4-BE49-F238E27FC236}">
                <a16:creationId xmlns:a16="http://schemas.microsoft.com/office/drawing/2014/main" id="{92E4B417-B770-FF40-8C17-83E58EC920B2}"/>
              </a:ext>
            </a:extLst>
          </p:cNvPr>
          <p:cNvSpPr>
            <a:spLocks noGrp="1" noChangeArrowheads="1"/>
          </p:cNvSpPr>
          <p:nvPr>
            <p:ph type="title"/>
          </p:nvPr>
        </p:nvSpPr>
        <p:spPr>
          <a:xfrm>
            <a:off x="988943" y="636105"/>
            <a:ext cx="9465366" cy="1258956"/>
          </a:xfrm>
        </p:spPr>
        <p:txBody>
          <a:bodyPr vert="horz" lIns="91440" tIns="45720" rIns="91440" bIns="45720" rtlCol="0" anchor="ctr">
            <a:normAutofit/>
          </a:bodyPr>
          <a:lstStyle/>
          <a:p>
            <a:pPr>
              <a:spcAft>
                <a:spcPts val="600"/>
              </a:spcAft>
            </a:pPr>
            <a:r>
              <a:rPr lang="en-US" b="1" dirty="0">
                <a:ln w="3175" cmpd="sng">
                  <a:noFill/>
                </a:ln>
              </a:rPr>
              <a:t>Un handler de </a:t>
            </a:r>
            <a:r>
              <a:rPr lang="en-US" b="1" dirty="0" err="1">
                <a:ln w="3175" cmpd="sng">
                  <a:noFill/>
                </a:ln>
              </a:rPr>
              <a:t>evenimente</a:t>
            </a:r>
            <a:r>
              <a:rPr lang="en-US" b="1" dirty="0">
                <a:ln w="3175" cmpd="sng">
                  <a:noFill/>
                </a:ln>
              </a:rPr>
              <a:t> </a:t>
            </a:r>
            <a:r>
              <a:rPr lang="en-US" b="1" dirty="0" err="1">
                <a:ln w="3175" cmpd="sng">
                  <a:noFill/>
                </a:ln>
              </a:rPr>
              <a:t>simplu</a:t>
            </a:r>
            <a:endParaRPr lang="en-US" b="1" dirty="0">
              <a:ln w="3175" cmpd="sng">
                <a:noFill/>
              </a:ln>
            </a:endParaRPr>
          </a:p>
        </p:txBody>
      </p:sp>
      <p:sp>
        <p:nvSpPr>
          <p:cNvPr id="68611" name="Rectangle 3">
            <a:extLst>
              <a:ext uri="{FF2B5EF4-FFF2-40B4-BE49-F238E27FC236}">
                <a16:creationId xmlns:a16="http://schemas.microsoft.com/office/drawing/2014/main" id="{EADF39B4-9526-B4F9-F7C3-4875604ACFDD}"/>
              </a:ext>
            </a:extLst>
          </p:cNvPr>
          <p:cNvSpPr>
            <a:spLocks noGrp="1" noChangeArrowheads="1"/>
          </p:cNvSpPr>
          <p:nvPr>
            <p:ph type="body" idx="1"/>
          </p:nvPr>
        </p:nvSpPr>
        <p:spPr>
          <a:xfrm>
            <a:off x="1010478" y="1696278"/>
            <a:ext cx="10214113" cy="5334000"/>
          </a:xfrm>
        </p:spPr>
        <p:txBody>
          <a:bodyPr>
            <a:normAutofit fontScale="92500" lnSpcReduction="10000"/>
          </a:bodyPr>
          <a:lstStyle/>
          <a:p>
            <a:pPr>
              <a:lnSpc>
                <a:spcPct val="110000"/>
              </a:lnSpc>
              <a:spcBef>
                <a:spcPts val="600"/>
              </a:spcBef>
              <a:spcAft>
                <a:spcPts val="600"/>
              </a:spcAft>
            </a:pPr>
            <a:r>
              <a:rPr lang="ro-RO" altLang="en-US" sz="2400" dirty="0">
                <a:solidFill>
                  <a:srgbClr val="FF0000"/>
                </a:solidFill>
                <a:latin typeface="Trebuchet MS" panose="020B0703020202090204" pitchFamily="34" charset="0"/>
              </a:rPr>
              <a:t>&lt;</a:t>
            </a:r>
            <a:r>
              <a:rPr lang="ro-RO" altLang="en-US" sz="2400" dirty="0" err="1">
                <a:solidFill>
                  <a:srgbClr val="FF0000"/>
                </a:solidFill>
                <a:latin typeface="Trebuchet MS" panose="020B0703020202090204" pitchFamily="34" charset="0"/>
              </a:rPr>
              <a:t>form</a:t>
            </a:r>
            <a:r>
              <a:rPr lang="ro-RO" altLang="en-US" sz="2400" dirty="0">
                <a:solidFill>
                  <a:srgbClr val="FF0000"/>
                </a:solidFill>
                <a:latin typeface="Trebuchet MS" panose="020B0703020202090204" pitchFamily="34" charset="0"/>
              </a:rPr>
              <a:t> </a:t>
            </a:r>
            <a:r>
              <a:rPr lang="ro-RO" altLang="en-US" sz="2400" dirty="0" err="1">
                <a:solidFill>
                  <a:srgbClr val="FF0000"/>
                </a:solidFill>
                <a:latin typeface="Trebuchet MS" panose="020B0703020202090204" pitchFamily="34" charset="0"/>
              </a:rPr>
              <a:t>method</a:t>
            </a:r>
            <a:r>
              <a:rPr lang="ro-RO" altLang="en-US" sz="2400" dirty="0">
                <a:solidFill>
                  <a:srgbClr val="FF0000"/>
                </a:solidFill>
                <a:latin typeface="Trebuchet MS" panose="020B0703020202090204" pitchFamily="34" charset="0"/>
              </a:rPr>
              <a:t>="post" </a:t>
            </a:r>
            <a:r>
              <a:rPr lang="ro-RO" altLang="en-US" sz="2400" dirty="0" err="1">
                <a:solidFill>
                  <a:srgbClr val="FF0000"/>
                </a:solidFill>
                <a:latin typeface="Trebuchet MS" panose="020B0703020202090204" pitchFamily="34" charset="0"/>
              </a:rPr>
              <a:t>action</a:t>
            </a:r>
            <a:r>
              <a:rPr lang="ro-RO" altLang="en-US" sz="2400" dirty="0">
                <a:solidFill>
                  <a:srgbClr val="FF0000"/>
                </a:solidFill>
                <a:latin typeface="Trebuchet MS" panose="020B0703020202090204" pitchFamily="34" charset="0"/>
              </a:rPr>
              <a:t>=""&gt;</a:t>
            </a:r>
            <a:br>
              <a:rPr lang="ro-RO" altLang="en-US" sz="2400" dirty="0">
                <a:solidFill>
                  <a:srgbClr val="FF0000"/>
                </a:solidFill>
                <a:latin typeface="Trebuchet MS" panose="020B0703020202090204" pitchFamily="34" charset="0"/>
              </a:rPr>
            </a:br>
            <a:r>
              <a:rPr lang="ro-RO" altLang="en-US" sz="2400" dirty="0">
                <a:solidFill>
                  <a:srgbClr val="FF0000"/>
                </a:solidFill>
                <a:latin typeface="Trebuchet MS" panose="020B0703020202090204" pitchFamily="34" charset="0"/>
              </a:rPr>
              <a:t>  &lt;input </a:t>
            </a:r>
            <a:r>
              <a:rPr lang="ro-RO" altLang="en-US" sz="2400" dirty="0" err="1">
                <a:solidFill>
                  <a:srgbClr val="FF0000"/>
                </a:solidFill>
                <a:latin typeface="Trebuchet MS" panose="020B0703020202090204" pitchFamily="34" charset="0"/>
              </a:rPr>
              <a:t>type</a:t>
            </a:r>
            <a:r>
              <a:rPr lang="ro-RO" altLang="en-US" sz="2400" dirty="0">
                <a:solidFill>
                  <a:srgbClr val="FF0000"/>
                </a:solidFill>
                <a:latin typeface="Trebuchet MS" panose="020B0703020202090204" pitchFamily="34" charset="0"/>
              </a:rPr>
              <a:t>="</a:t>
            </a:r>
            <a:r>
              <a:rPr lang="ro-RO" altLang="en-US" sz="2400" dirty="0" err="1">
                <a:solidFill>
                  <a:srgbClr val="FF0000"/>
                </a:solidFill>
                <a:latin typeface="Trebuchet MS" panose="020B0703020202090204" pitchFamily="34" charset="0"/>
              </a:rPr>
              <a:t>button</a:t>
            </a:r>
            <a:r>
              <a:rPr lang="ro-RO" altLang="en-US" sz="2400" dirty="0">
                <a:solidFill>
                  <a:srgbClr val="FF0000"/>
                </a:solidFill>
                <a:latin typeface="Trebuchet MS" panose="020B0703020202090204" pitchFamily="34" charset="0"/>
              </a:rPr>
              <a:t>"</a:t>
            </a:r>
            <a:br>
              <a:rPr lang="ro-RO" altLang="en-US" sz="2400" dirty="0">
                <a:solidFill>
                  <a:srgbClr val="FF0000"/>
                </a:solidFill>
                <a:latin typeface="Trebuchet MS" panose="020B0703020202090204" pitchFamily="34" charset="0"/>
              </a:rPr>
            </a:br>
            <a:r>
              <a:rPr lang="ro-RO" altLang="en-US" sz="2400" dirty="0">
                <a:solidFill>
                  <a:srgbClr val="FF0000"/>
                </a:solidFill>
                <a:latin typeface="Trebuchet MS" panose="020B0703020202090204" pitchFamily="34" charset="0"/>
              </a:rPr>
              <a:t>            </a:t>
            </a:r>
            <a:r>
              <a:rPr lang="ro-RO" altLang="en-US" sz="2400" dirty="0" err="1">
                <a:solidFill>
                  <a:srgbClr val="FF0000"/>
                </a:solidFill>
                <a:latin typeface="Trebuchet MS" panose="020B0703020202090204" pitchFamily="34" charset="0"/>
              </a:rPr>
              <a:t>name</a:t>
            </a:r>
            <a:r>
              <a:rPr lang="ro-RO" altLang="en-US" sz="2400" dirty="0">
                <a:solidFill>
                  <a:srgbClr val="FF0000"/>
                </a:solidFill>
                <a:latin typeface="Trebuchet MS" panose="020B0703020202090204" pitchFamily="34" charset="0"/>
              </a:rPr>
              <a:t>="</a:t>
            </a:r>
            <a:r>
              <a:rPr lang="ro-RO" altLang="en-US" sz="2400" dirty="0" err="1">
                <a:solidFill>
                  <a:srgbClr val="FF0000"/>
                </a:solidFill>
                <a:latin typeface="Trebuchet MS" panose="020B0703020202090204" pitchFamily="34" charset="0"/>
              </a:rPr>
              <a:t>myButton</a:t>
            </a:r>
            <a:r>
              <a:rPr lang="ro-RO" altLang="en-US" sz="2400" dirty="0">
                <a:solidFill>
                  <a:srgbClr val="FF0000"/>
                </a:solidFill>
                <a:latin typeface="Trebuchet MS" panose="020B0703020202090204" pitchFamily="34" charset="0"/>
              </a:rPr>
              <a:t>"</a:t>
            </a:r>
            <a:br>
              <a:rPr lang="ro-RO" altLang="en-US" sz="2400" dirty="0">
                <a:solidFill>
                  <a:srgbClr val="FF0000"/>
                </a:solidFill>
                <a:latin typeface="Trebuchet MS" panose="020B0703020202090204" pitchFamily="34" charset="0"/>
              </a:rPr>
            </a:br>
            <a:r>
              <a:rPr lang="ro-RO" altLang="en-US" sz="2400" dirty="0">
                <a:solidFill>
                  <a:srgbClr val="FF0000"/>
                </a:solidFill>
                <a:latin typeface="Trebuchet MS" panose="020B0703020202090204" pitchFamily="34" charset="0"/>
              </a:rPr>
              <a:t>            </a:t>
            </a:r>
            <a:r>
              <a:rPr lang="ro-RO" altLang="en-US" sz="2400" dirty="0" err="1">
                <a:solidFill>
                  <a:srgbClr val="FF0000"/>
                </a:solidFill>
                <a:latin typeface="Trebuchet MS" panose="020B0703020202090204" pitchFamily="34" charset="0"/>
              </a:rPr>
              <a:t>value</a:t>
            </a:r>
            <a:r>
              <a:rPr lang="ro-RO" altLang="en-US" sz="2400" dirty="0">
                <a:solidFill>
                  <a:srgbClr val="FF0000"/>
                </a:solidFill>
                <a:latin typeface="Trebuchet MS" panose="020B0703020202090204" pitchFamily="34" charset="0"/>
              </a:rPr>
              <a:t>="Click </a:t>
            </a:r>
            <a:r>
              <a:rPr lang="ro-RO" altLang="en-US" sz="2400" dirty="0" err="1">
                <a:solidFill>
                  <a:srgbClr val="FF0000"/>
                </a:solidFill>
                <a:latin typeface="Trebuchet MS" panose="020B0703020202090204" pitchFamily="34" charset="0"/>
              </a:rPr>
              <a:t>me</a:t>
            </a:r>
            <a:r>
              <a:rPr lang="ro-RO" altLang="en-US" sz="2400" dirty="0">
                <a:solidFill>
                  <a:srgbClr val="FF0000"/>
                </a:solidFill>
                <a:latin typeface="Trebuchet MS" panose="020B0703020202090204" pitchFamily="34" charset="0"/>
              </a:rPr>
              <a:t>"</a:t>
            </a:r>
            <a:br>
              <a:rPr lang="ro-RO" altLang="en-US" sz="2400" dirty="0">
                <a:solidFill>
                  <a:srgbClr val="FF0000"/>
                </a:solidFill>
                <a:latin typeface="Trebuchet MS" panose="020B0703020202090204" pitchFamily="34" charset="0"/>
              </a:rPr>
            </a:br>
            <a:r>
              <a:rPr lang="ro-RO" altLang="en-US" sz="2400" dirty="0">
                <a:solidFill>
                  <a:srgbClr val="FF0000"/>
                </a:solidFill>
                <a:latin typeface="Trebuchet MS" panose="020B0703020202090204" pitchFamily="34" charset="0"/>
              </a:rPr>
              <a:t>            </a:t>
            </a:r>
            <a:r>
              <a:rPr lang="ro-RO" altLang="en-US" sz="2400" dirty="0" err="1">
                <a:solidFill>
                  <a:srgbClr val="FF0000"/>
                </a:solidFill>
                <a:latin typeface="Trebuchet MS" panose="020B0703020202090204" pitchFamily="34" charset="0"/>
              </a:rPr>
              <a:t>onclick</a:t>
            </a:r>
            <a:r>
              <a:rPr lang="ro-RO" altLang="en-US" sz="2400" dirty="0">
                <a:solidFill>
                  <a:srgbClr val="FF0000"/>
                </a:solidFill>
                <a:latin typeface="Trebuchet MS" panose="020B0703020202090204" pitchFamily="34" charset="0"/>
              </a:rPr>
              <a:t>="alert('</a:t>
            </a:r>
            <a:r>
              <a:rPr lang="ro-RO" altLang="en-US" sz="2400" dirty="0" err="1">
                <a:solidFill>
                  <a:srgbClr val="FF0000"/>
                </a:solidFill>
                <a:latin typeface="Trebuchet MS" panose="020B0703020202090204" pitchFamily="34" charset="0"/>
              </a:rPr>
              <a:t>You</a:t>
            </a:r>
            <a:r>
              <a:rPr lang="ro-RO" altLang="en-US" sz="2400" dirty="0">
                <a:solidFill>
                  <a:srgbClr val="FF0000"/>
                </a:solidFill>
                <a:latin typeface="Trebuchet MS" panose="020B0703020202090204" pitchFamily="34" charset="0"/>
              </a:rPr>
              <a:t> </a:t>
            </a:r>
            <a:r>
              <a:rPr lang="ro-RO" altLang="en-US" sz="2400" dirty="0" err="1">
                <a:solidFill>
                  <a:srgbClr val="FF0000"/>
                </a:solidFill>
                <a:latin typeface="Trebuchet MS" panose="020B0703020202090204" pitchFamily="34" charset="0"/>
              </a:rPr>
              <a:t>clicked</a:t>
            </a:r>
            <a:r>
              <a:rPr lang="ro-RO" altLang="en-US" sz="2400" dirty="0">
                <a:solidFill>
                  <a:srgbClr val="FF0000"/>
                </a:solidFill>
                <a:latin typeface="Trebuchet MS" panose="020B0703020202090204" pitchFamily="34" charset="0"/>
              </a:rPr>
              <a:t> </a:t>
            </a:r>
            <a:r>
              <a:rPr lang="ro-RO" altLang="en-US" sz="2400" dirty="0" err="1">
                <a:solidFill>
                  <a:srgbClr val="FF0000"/>
                </a:solidFill>
                <a:latin typeface="Trebuchet MS" panose="020B0703020202090204" pitchFamily="34" charset="0"/>
              </a:rPr>
              <a:t>the</a:t>
            </a:r>
            <a:r>
              <a:rPr lang="ro-RO" altLang="en-US" sz="2400" dirty="0">
                <a:solidFill>
                  <a:srgbClr val="FF0000"/>
                </a:solidFill>
                <a:latin typeface="Trebuchet MS" panose="020B0703020202090204" pitchFamily="34" charset="0"/>
              </a:rPr>
              <a:t> </a:t>
            </a:r>
            <a:r>
              <a:rPr lang="ro-RO" altLang="en-US" sz="2400" dirty="0" err="1">
                <a:solidFill>
                  <a:srgbClr val="FF0000"/>
                </a:solidFill>
                <a:latin typeface="Trebuchet MS" panose="020B0703020202090204" pitchFamily="34" charset="0"/>
              </a:rPr>
              <a:t>button</a:t>
            </a:r>
            <a:r>
              <a:rPr lang="ro-RO" altLang="en-US" sz="2400" dirty="0">
                <a:solidFill>
                  <a:srgbClr val="FF0000"/>
                </a:solidFill>
                <a:latin typeface="Trebuchet MS" panose="020B0703020202090204" pitchFamily="34" charset="0"/>
              </a:rPr>
              <a:t>!');"&gt;</a:t>
            </a:r>
            <a:br>
              <a:rPr lang="ro-RO" altLang="en-US" sz="2400" dirty="0">
                <a:solidFill>
                  <a:srgbClr val="FF0000"/>
                </a:solidFill>
                <a:latin typeface="Trebuchet MS" panose="020B0703020202090204" pitchFamily="34" charset="0"/>
              </a:rPr>
            </a:br>
            <a:r>
              <a:rPr lang="ro-RO" altLang="en-US" sz="2400" dirty="0">
                <a:solidFill>
                  <a:srgbClr val="FF0000"/>
                </a:solidFill>
                <a:latin typeface="Trebuchet MS" panose="020B0703020202090204" pitchFamily="34" charset="0"/>
              </a:rPr>
              <a:t>&lt;/</a:t>
            </a:r>
            <a:r>
              <a:rPr lang="ro-RO" altLang="en-US" sz="2400" dirty="0" err="1">
                <a:solidFill>
                  <a:srgbClr val="FF0000"/>
                </a:solidFill>
                <a:latin typeface="Trebuchet MS" panose="020B0703020202090204" pitchFamily="34" charset="0"/>
              </a:rPr>
              <a:t>form</a:t>
            </a:r>
            <a:r>
              <a:rPr lang="ro-RO" altLang="en-US" sz="2400" dirty="0">
                <a:solidFill>
                  <a:srgbClr val="FF0000"/>
                </a:solidFill>
                <a:latin typeface="Trebuchet MS" panose="020B0703020202090204" pitchFamily="34" charset="0"/>
              </a:rPr>
              <a:t>&gt;</a:t>
            </a:r>
            <a:endParaRPr lang="ro-RO" altLang="en-US" sz="2800" dirty="0">
              <a:solidFill>
                <a:srgbClr val="FF0000"/>
              </a:solidFill>
            </a:endParaRPr>
          </a:p>
          <a:p>
            <a:pPr lvl="1">
              <a:lnSpc>
                <a:spcPct val="110000"/>
              </a:lnSpc>
              <a:spcBef>
                <a:spcPts val="600"/>
              </a:spcBef>
              <a:spcAft>
                <a:spcPts val="600"/>
              </a:spcAft>
            </a:pPr>
            <a:r>
              <a:rPr lang="ro-RO" altLang="en-US" sz="2400" dirty="0"/>
              <a:t>Butonul este încorporat într-un </a:t>
            </a:r>
            <a:r>
              <a:rPr lang="ro-RO" altLang="en-US" sz="2400" dirty="0">
                <a:solidFill>
                  <a:schemeClr val="accent2"/>
                </a:solidFill>
                <a:latin typeface="Trebuchet MS" panose="020B0703020202090204" pitchFamily="34" charset="0"/>
              </a:rPr>
              <a:t>formular </a:t>
            </a:r>
          </a:p>
          <a:p>
            <a:pPr lvl="1">
              <a:lnSpc>
                <a:spcPct val="110000"/>
              </a:lnSpc>
              <a:spcBef>
                <a:spcPts val="600"/>
              </a:spcBef>
              <a:spcAft>
                <a:spcPts val="600"/>
              </a:spcAft>
            </a:pPr>
            <a:r>
              <a:rPr lang="ro-RO" altLang="en-US" sz="2400" dirty="0" err="1"/>
              <a:t>Tag-ul</a:t>
            </a:r>
            <a:r>
              <a:rPr lang="ro-RO" altLang="en-US" sz="2400" dirty="0"/>
              <a:t> este </a:t>
            </a:r>
            <a:r>
              <a:rPr lang="ro-RO" altLang="en-US" sz="2400" dirty="0">
                <a:solidFill>
                  <a:schemeClr val="accent2"/>
                </a:solidFill>
                <a:latin typeface="Trebuchet MS" panose="020B0703020202090204" pitchFamily="34" charset="0"/>
              </a:rPr>
              <a:t>input</a:t>
            </a:r>
            <a:r>
              <a:rPr lang="ro-RO" altLang="en-US" sz="2400" dirty="0">
                <a:latin typeface="Trebuchet MS" panose="020B0703020202090204" pitchFamily="34" charset="0"/>
              </a:rPr>
              <a:t>, având atributul </a:t>
            </a:r>
            <a:r>
              <a:rPr lang="ro-RO" altLang="en-US" sz="2400" dirty="0" err="1">
                <a:solidFill>
                  <a:schemeClr val="accent2"/>
                </a:solidFill>
                <a:latin typeface="Trebuchet MS" panose="020B0703020202090204" pitchFamily="34" charset="0"/>
              </a:rPr>
              <a:t>type</a:t>
            </a:r>
            <a:r>
              <a:rPr lang="ro-RO" altLang="en-US" sz="2400" dirty="0">
                <a:solidFill>
                  <a:schemeClr val="accent2"/>
                </a:solidFill>
                <a:latin typeface="Trebuchet MS" panose="020B0703020202090204" pitchFamily="34" charset="0"/>
              </a:rPr>
              <a:t>="</a:t>
            </a:r>
            <a:r>
              <a:rPr lang="ro-RO" altLang="en-US" sz="2400" dirty="0" err="1">
                <a:solidFill>
                  <a:schemeClr val="accent2"/>
                </a:solidFill>
                <a:latin typeface="Trebuchet MS" panose="020B0703020202090204" pitchFamily="34" charset="0"/>
              </a:rPr>
              <a:t>button</a:t>
            </a:r>
            <a:r>
              <a:rPr lang="ro-RO" altLang="en-US" sz="2400" dirty="0">
                <a:solidFill>
                  <a:schemeClr val="accent2"/>
                </a:solidFill>
                <a:latin typeface="Trebuchet MS" panose="020B0703020202090204" pitchFamily="34" charset="0"/>
              </a:rPr>
              <a:t>"</a:t>
            </a:r>
          </a:p>
          <a:p>
            <a:pPr lvl="1">
              <a:lnSpc>
                <a:spcPct val="110000"/>
              </a:lnSpc>
              <a:spcBef>
                <a:spcPts val="600"/>
              </a:spcBef>
              <a:spcAft>
                <a:spcPts val="600"/>
              </a:spcAft>
            </a:pPr>
            <a:r>
              <a:rPr lang="ro-RO" altLang="en-US" sz="2400" dirty="0"/>
              <a:t>Atributul </a:t>
            </a:r>
            <a:r>
              <a:rPr lang="ro-RO" altLang="en-US" sz="2400" dirty="0" err="1">
                <a:solidFill>
                  <a:schemeClr val="accent2"/>
                </a:solidFill>
                <a:latin typeface="Trebuchet MS" panose="020B0703020202090204" pitchFamily="34" charset="0"/>
              </a:rPr>
              <a:t>name</a:t>
            </a:r>
            <a:r>
              <a:rPr lang="ro-RO" altLang="en-US" sz="2400" dirty="0"/>
              <a:t> poate fi folosit din codul </a:t>
            </a:r>
            <a:r>
              <a:rPr lang="ro-RO" altLang="en-US" sz="2400" dirty="0" err="1"/>
              <a:t>JavaScript</a:t>
            </a:r>
            <a:endParaRPr lang="ro-RO" altLang="en-US" sz="2400" dirty="0"/>
          </a:p>
          <a:p>
            <a:pPr lvl="1">
              <a:lnSpc>
                <a:spcPct val="110000"/>
              </a:lnSpc>
              <a:spcBef>
                <a:spcPts val="600"/>
              </a:spcBef>
              <a:spcAft>
                <a:spcPts val="600"/>
              </a:spcAft>
            </a:pPr>
            <a:r>
              <a:rPr lang="ro-RO" altLang="en-US" sz="2400" dirty="0" err="1">
                <a:solidFill>
                  <a:srgbClr val="FF0000"/>
                </a:solidFill>
                <a:latin typeface="Trebuchet MS" panose="020B0703020202090204" pitchFamily="34" charset="0"/>
              </a:rPr>
              <a:t>onclick</a:t>
            </a:r>
            <a:r>
              <a:rPr lang="ro-RO" altLang="en-US" sz="2400" dirty="0"/>
              <a:t> este numele evenimentului ce se vrea a fi gestionat</a:t>
            </a:r>
          </a:p>
          <a:p>
            <a:pPr lvl="2">
              <a:lnSpc>
                <a:spcPct val="110000"/>
              </a:lnSpc>
              <a:spcBef>
                <a:spcPts val="600"/>
              </a:spcBef>
              <a:spcAft>
                <a:spcPts val="600"/>
              </a:spcAft>
            </a:pPr>
            <a:r>
              <a:rPr lang="ro-RO" altLang="en-US" sz="2000" dirty="0"/>
              <a:t>Valoarea elementului </a:t>
            </a:r>
            <a:r>
              <a:rPr lang="ro-RO" altLang="en-US" sz="2000" dirty="0" err="1">
                <a:solidFill>
                  <a:schemeClr val="accent2"/>
                </a:solidFill>
                <a:latin typeface="Trebuchet MS" panose="020B0703020202090204" pitchFamily="34" charset="0"/>
              </a:rPr>
              <a:t>onclick</a:t>
            </a:r>
            <a:r>
              <a:rPr lang="ro-RO" altLang="en-US" sz="2000" dirty="0"/>
              <a:t> este codul </a:t>
            </a:r>
            <a:r>
              <a:rPr lang="ro-RO" altLang="en-US" sz="2000" dirty="0" err="1"/>
              <a:t>JavaScript</a:t>
            </a:r>
            <a:r>
              <a:rPr lang="ro-RO" altLang="en-US" sz="2000" dirty="0"/>
              <a:t> care va fi executat</a:t>
            </a:r>
          </a:p>
          <a:p>
            <a:pPr lvl="2">
              <a:lnSpc>
                <a:spcPct val="110000"/>
              </a:lnSpc>
              <a:spcBef>
                <a:spcPts val="600"/>
              </a:spcBef>
              <a:spcAft>
                <a:spcPts val="600"/>
              </a:spcAft>
            </a:pPr>
            <a:r>
              <a:rPr lang="ro-RO" altLang="en-US" sz="2000" dirty="0">
                <a:solidFill>
                  <a:schemeClr val="accent2"/>
                </a:solidFill>
                <a:latin typeface="Trebuchet MS" panose="020B0703020202090204" pitchFamily="34" charset="0"/>
              </a:rPr>
              <a:t>alert</a:t>
            </a:r>
            <a:r>
              <a:rPr lang="ro-RO" altLang="en-US" sz="2000" dirty="0"/>
              <a:t> are rolul de a declanșa o fereastră de pop-</a:t>
            </a:r>
            <a:r>
              <a:rPr lang="ro-RO" altLang="en-US" sz="2000" dirty="0" err="1"/>
              <a:t>up</a:t>
            </a:r>
            <a:r>
              <a:rPr lang="ro-RO" altLang="en-US" sz="2000" dirty="0"/>
              <a:t> de tip alertă cu un mesaj furnizat ca argument</a:t>
            </a:r>
          </a:p>
          <a:p>
            <a:pPr>
              <a:lnSpc>
                <a:spcPct val="110000"/>
              </a:lnSpc>
              <a:spcBef>
                <a:spcPts val="600"/>
              </a:spcBef>
              <a:spcAft>
                <a:spcPts val="600"/>
              </a:spcAft>
            </a:pPr>
            <a:endParaRPr lang="ro-RO" altLang="en-US" sz="2800" dirty="0"/>
          </a:p>
        </p:txBody>
      </p:sp>
      <p:sp>
        <p:nvSpPr>
          <p:cNvPr id="68612" name="Footer Placeholder 4">
            <a:extLst>
              <a:ext uri="{FF2B5EF4-FFF2-40B4-BE49-F238E27FC236}">
                <a16:creationId xmlns:a16="http://schemas.microsoft.com/office/drawing/2014/main" id="{09C0937D-F21A-F2D5-7DAA-B3E4B637889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900">
                <a:solidFill>
                  <a:schemeClr val="bg1"/>
                </a:solidFill>
              </a:rPr>
              <a:t>Curs Programare Web, anul 4 C5 – Curs 5</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Slide Number Placeholder 5">
            <a:extLst>
              <a:ext uri="{FF2B5EF4-FFF2-40B4-BE49-F238E27FC236}">
                <a16:creationId xmlns:a16="http://schemas.microsoft.com/office/drawing/2014/main" id="{037AD292-F483-B7B6-022C-02A441521FE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C13BACA1-72A8-6644-B36B-17ABD5D79E16}" type="slidenum">
              <a:rPr lang="en-US" altLang="en-US" sz="900">
                <a:solidFill>
                  <a:schemeClr val="bg1"/>
                </a:solidFill>
              </a:rPr>
              <a:pPr>
                <a:spcBef>
                  <a:spcPct val="0"/>
                </a:spcBef>
                <a:buFontTx/>
                <a:buNone/>
              </a:pPr>
              <a:t>44</a:t>
            </a:fld>
            <a:endParaRPr lang="en-US" altLang="en-US" sz="900">
              <a:solidFill>
                <a:schemeClr val="bg1"/>
              </a:solidFill>
            </a:endParaRPr>
          </a:p>
        </p:txBody>
      </p:sp>
      <p:sp>
        <p:nvSpPr>
          <p:cNvPr id="672770" name="Rectangle 2">
            <a:extLst>
              <a:ext uri="{FF2B5EF4-FFF2-40B4-BE49-F238E27FC236}">
                <a16:creationId xmlns:a16="http://schemas.microsoft.com/office/drawing/2014/main" id="{4DD1D8E1-5138-8240-BF9B-08180B98AB1A}"/>
              </a:ext>
            </a:extLst>
          </p:cNvPr>
          <p:cNvSpPr>
            <a:spLocks noGrp="1" noChangeArrowheads="1"/>
          </p:cNvSpPr>
          <p:nvPr>
            <p:ph type="title"/>
          </p:nvPr>
        </p:nvSpPr>
        <p:spPr>
          <a:xfrm>
            <a:off x="891609" y="278296"/>
            <a:ext cx="10786870" cy="2040835"/>
          </a:xfrm>
        </p:spPr>
        <p:txBody>
          <a:bodyPr vert="horz" lIns="91440" tIns="45720" rIns="91440" bIns="45720" rtlCol="0" anchor="ctr">
            <a:normAutofit/>
          </a:bodyPr>
          <a:lstStyle/>
          <a:p>
            <a:pPr>
              <a:spcAft>
                <a:spcPts val="600"/>
              </a:spcAft>
            </a:pPr>
            <a:r>
              <a:rPr lang="ro-RO" b="1" dirty="0">
                <a:ln w="3175" cmpd="sng">
                  <a:noFill/>
                </a:ln>
              </a:rPr>
              <a:t>Î</a:t>
            </a:r>
            <a:r>
              <a:rPr lang="en-US" b="1" dirty="0" err="1">
                <a:ln w="3175" cmpd="sng">
                  <a:noFill/>
                </a:ln>
              </a:rPr>
              <a:t>napoi</a:t>
            </a:r>
            <a:r>
              <a:rPr lang="en-US" b="1" dirty="0">
                <a:ln w="3175" cmpd="sng">
                  <a:noFill/>
                </a:ln>
              </a:rPr>
              <a:t> la DOM</a:t>
            </a:r>
          </a:p>
        </p:txBody>
      </p:sp>
      <p:sp>
        <p:nvSpPr>
          <p:cNvPr id="79875" name="Rectangle 3">
            <a:extLst>
              <a:ext uri="{FF2B5EF4-FFF2-40B4-BE49-F238E27FC236}">
                <a16:creationId xmlns:a16="http://schemas.microsoft.com/office/drawing/2014/main" id="{210B6BB6-1B63-A298-204B-970802B75E0E}"/>
              </a:ext>
            </a:extLst>
          </p:cNvPr>
          <p:cNvSpPr>
            <a:spLocks noGrp="1" noChangeArrowheads="1"/>
          </p:cNvSpPr>
          <p:nvPr>
            <p:ph type="body" idx="1"/>
          </p:nvPr>
        </p:nvSpPr>
        <p:spPr>
          <a:xfrm>
            <a:off x="891608" y="1820294"/>
            <a:ext cx="10786871" cy="4459024"/>
          </a:xfrm>
        </p:spPr>
        <p:txBody>
          <a:bodyPr>
            <a:normAutofit lnSpcReduction="10000"/>
          </a:bodyPr>
          <a:lstStyle/>
          <a:p>
            <a:pPr>
              <a:lnSpc>
                <a:spcPct val="100000"/>
              </a:lnSpc>
              <a:spcAft>
                <a:spcPts val="600"/>
              </a:spcAft>
            </a:pPr>
            <a:r>
              <a:rPr lang="ro-RO" altLang="en-US" sz="2400" dirty="0"/>
              <a:t>Puteți atașa </a:t>
            </a:r>
            <a:r>
              <a:rPr lang="ro-RO" altLang="en-US" sz="2400" dirty="0" err="1"/>
              <a:t>handlere</a:t>
            </a:r>
            <a:r>
              <a:rPr lang="ro-RO" altLang="en-US" sz="2400" dirty="0"/>
              <a:t> de evenimente elementelor HTML având puține cunoștințe legate de DOM</a:t>
            </a:r>
          </a:p>
          <a:p>
            <a:pPr>
              <a:lnSpc>
                <a:spcPct val="100000"/>
              </a:lnSpc>
              <a:spcAft>
                <a:spcPts val="600"/>
              </a:spcAft>
            </a:pPr>
            <a:r>
              <a:rPr lang="ro-RO" altLang="en-US" sz="2400" dirty="0"/>
              <a:t>Totuși, pentru a </a:t>
            </a:r>
            <a:r>
              <a:rPr lang="ro-RO" altLang="en-US" sz="2400" i="1" dirty="0">
                <a:solidFill>
                  <a:srgbClr val="FF0000"/>
                </a:solidFill>
              </a:rPr>
              <a:t>schimba</a:t>
            </a:r>
            <a:r>
              <a:rPr lang="ro-RO" altLang="en-US" sz="2400" i="1" dirty="0"/>
              <a:t> </a:t>
            </a:r>
            <a:r>
              <a:rPr lang="ro-RO" altLang="en-US" sz="2400" dirty="0"/>
              <a:t>ceea ce este afișat în cadrul paginii aveți nevoie să cunoașteți modul în care puteți referi diversele elemente ale paginii</a:t>
            </a:r>
          </a:p>
          <a:p>
            <a:pPr>
              <a:lnSpc>
                <a:spcPct val="100000"/>
              </a:lnSpc>
              <a:spcAft>
                <a:spcPts val="600"/>
              </a:spcAft>
            </a:pPr>
            <a:r>
              <a:rPr lang="ro-RO" altLang="en-US" sz="2400" dirty="0"/>
              <a:t>DOM-ul este un </a:t>
            </a:r>
            <a:r>
              <a:rPr lang="ro-RO" altLang="en-US" sz="2400" dirty="0">
                <a:solidFill>
                  <a:srgbClr val="FF0000"/>
                </a:solidFill>
              </a:rPr>
              <a:t>standard</a:t>
            </a:r>
            <a:r>
              <a:rPr lang="ro-RO" altLang="en-US" sz="2400" dirty="0"/>
              <a:t> W3C </a:t>
            </a:r>
          </a:p>
          <a:p>
            <a:pPr>
              <a:lnSpc>
                <a:spcPct val="100000"/>
              </a:lnSpc>
              <a:spcAft>
                <a:spcPts val="600"/>
              </a:spcAft>
            </a:pPr>
            <a:r>
              <a:rPr lang="ro-RO" altLang="en-US" sz="2800" dirty="0"/>
              <a:t>Elementul de pe nivelul cel mai înalt (în cazul paginii curente) este </a:t>
            </a:r>
            <a:r>
              <a:rPr lang="ro-RO" altLang="en-US" sz="2800" dirty="0" err="1">
                <a:solidFill>
                  <a:schemeClr val="accent2"/>
                </a:solidFill>
                <a:latin typeface="Trebuchet MS" panose="020B0703020202090204" pitchFamily="34" charset="0"/>
              </a:rPr>
              <a:t>window</a:t>
            </a:r>
            <a:r>
              <a:rPr lang="ro-RO" altLang="en-US" sz="2800" dirty="0"/>
              <a:t>, și orice altceva descinde de la acesta</a:t>
            </a:r>
          </a:p>
          <a:p>
            <a:pPr lvl="1">
              <a:lnSpc>
                <a:spcPct val="100000"/>
              </a:lnSpc>
              <a:spcAft>
                <a:spcPts val="600"/>
              </a:spcAft>
            </a:pPr>
            <a:r>
              <a:rPr lang="ro-RO" altLang="en-US" sz="2400" dirty="0"/>
              <a:t>În DOM, toate variabilele se presupune ca pornesc cu “</a:t>
            </a:r>
            <a:r>
              <a:rPr lang="ro-RO" altLang="en-US" sz="2400" dirty="0" err="1">
                <a:solidFill>
                  <a:schemeClr val="accent2"/>
                </a:solidFill>
                <a:latin typeface="Trebuchet MS" panose="020B0703020202090204" pitchFamily="34" charset="0"/>
              </a:rPr>
              <a:t>window</a:t>
            </a:r>
            <a:r>
              <a:rPr lang="ro-RO" altLang="en-US" sz="2400" dirty="0">
                <a:solidFill>
                  <a:schemeClr val="accent2"/>
                </a:solidFill>
                <a:latin typeface="Trebuchet MS" panose="020B0703020202090204" pitchFamily="34" charset="0"/>
              </a:rPr>
              <a:t>.</a:t>
            </a:r>
            <a:r>
              <a:rPr lang="ro-RO" altLang="en-US" sz="2400" dirty="0"/>
              <a:t>”</a:t>
            </a:r>
          </a:p>
          <a:p>
            <a:pPr lvl="1">
              <a:lnSpc>
                <a:spcPct val="100000"/>
              </a:lnSpc>
              <a:spcAft>
                <a:spcPts val="600"/>
              </a:spcAft>
            </a:pPr>
            <a:r>
              <a:rPr lang="ro-RO" altLang="en-US" sz="2400" dirty="0"/>
              <a:t>Toate celelalte elemente pot fi accesate mergând în jos pornind de la acest element de nivel cel mai înalt</a:t>
            </a:r>
          </a:p>
          <a:p>
            <a:pPr>
              <a:lnSpc>
                <a:spcPct val="100000"/>
              </a:lnSpc>
              <a:spcAft>
                <a:spcPts val="600"/>
              </a:spcAft>
            </a:pPr>
            <a:endParaRPr lang="ro-RO" altLang="en-US" sz="2400" dirty="0"/>
          </a:p>
        </p:txBody>
      </p:sp>
      <p:sp>
        <p:nvSpPr>
          <p:cNvPr id="79876" name="Footer Placeholder 4">
            <a:extLst>
              <a:ext uri="{FF2B5EF4-FFF2-40B4-BE49-F238E27FC236}">
                <a16:creationId xmlns:a16="http://schemas.microsoft.com/office/drawing/2014/main" id="{B4592DC8-A33F-D744-FF0E-706B9F3319A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900">
                <a:solidFill>
                  <a:schemeClr val="bg1"/>
                </a:solidFill>
              </a:rPr>
              <a:t>Curs Programare Web, anul 4 C5 – Curs 5</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Slide Number Placeholder 4">
            <a:extLst>
              <a:ext uri="{FF2B5EF4-FFF2-40B4-BE49-F238E27FC236}">
                <a16:creationId xmlns:a16="http://schemas.microsoft.com/office/drawing/2014/main" id="{3AA8FD1D-D0B8-24F6-998B-428F891A7CC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5366977-B153-DE4B-9E65-A62B22C4BCF3}" type="slidenum">
              <a:rPr lang="en-US" altLang="en-US" sz="900">
                <a:solidFill>
                  <a:schemeClr val="bg1"/>
                </a:solidFill>
              </a:rPr>
              <a:pPr>
                <a:spcBef>
                  <a:spcPct val="0"/>
                </a:spcBef>
                <a:buFontTx/>
                <a:buNone/>
              </a:pPr>
              <a:t>45</a:t>
            </a:fld>
            <a:endParaRPr lang="en-US" altLang="en-US" sz="900">
              <a:solidFill>
                <a:schemeClr val="bg1"/>
              </a:solidFill>
            </a:endParaRPr>
          </a:p>
        </p:txBody>
      </p:sp>
      <p:sp>
        <p:nvSpPr>
          <p:cNvPr id="553986" name="Rectangle 2">
            <a:extLst>
              <a:ext uri="{FF2B5EF4-FFF2-40B4-BE49-F238E27FC236}">
                <a16:creationId xmlns:a16="http://schemas.microsoft.com/office/drawing/2014/main" id="{7D4A7AA2-B9C8-934A-B78D-2B3EF1A1CF97}"/>
              </a:ext>
            </a:extLst>
          </p:cNvPr>
          <p:cNvSpPr>
            <a:spLocks noGrp="1" noChangeArrowheads="1"/>
          </p:cNvSpPr>
          <p:nvPr>
            <p:ph type="title"/>
          </p:nvPr>
        </p:nvSpPr>
        <p:spPr>
          <a:xfrm>
            <a:off x="1011767" y="838200"/>
            <a:ext cx="2667000" cy="1371600"/>
          </a:xfrm>
        </p:spPr>
        <p:txBody>
          <a:bodyPr vert="horz" lIns="91440" tIns="45720" rIns="91440" bIns="45720" rtlCol="0" anchor="ctr">
            <a:normAutofit/>
          </a:bodyPr>
          <a:lstStyle/>
          <a:p>
            <a:pPr>
              <a:spcAft>
                <a:spcPts val="600"/>
              </a:spcAft>
            </a:pPr>
            <a:r>
              <a:rPr lang="en-US" b="1">
                <a:ln w="3175" cmpd="sng">
                  <a:noFill/>
                </a:ln>
              </a:rPr>
              <a:t>Ierarhia DOM</a:t>
            </a:r>
          </a:p>
        </p:txBody>
      </p:sp>
      <p:pic>
        <p:nvPicPr>
          <p:cNvPr id="553987" name="Picture 3">
            <a:extLst>
              <a:ext uri="{FF2B5EF4-FFF2-40B4-BE49-F238E27FC236}">
                <a16:creationId xmlns:a16="http://schemas.microsoft.com/office/drawing/2014/main" id="{E9406492-B568-90C9-2728-97E4A78F3D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1" y="0"/>
            <a:ext cx="4906963" cy="701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988" name="Text Box 4">
            <a:extLst>
              <a:ext uri="{FF2B5EF4-FFF2-40B4-BE49-F238E27FC236}">
                <a16:creationId xmlns:a16="http://schemas.microsoft.com/office/drawing/2014/main" id="{EC3E5D9F-1386-6649-6420-F2265B81D6A5}"/>
              </a:ext>
            </a:extLst>
          </p:cNvPr>
          <p:cNvSpPr txBox="1">
            <a:spLocks noChangeArrowheads="1"/>
          </p:cNvSpPr>
          <p:nvPr/>
        </p:nvSpPr>
        <p:spPr bwMode="auto">
          <a:xfrm>
            <a:off x="1676400" y="5791200"/>
            <a:ext cx="5562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400">
                <a:latin typeface="Times" pitchFamily="18" charset="0"/>
              </a:rPr>
              <a:t>Sursa:</a:t>
            </a:r>
            <a:r>
              <a:rPr lang="en-US" altLang="en-US" sz="2000">
                <a:latin typeface="Times" pitchFamily="18" charset="0"/>
              </a:rPr>
              <a:t> </a:t>
            </a:r>
            <a:r>
              <a:rPr lang="en-US" altLang="en-US" sz="2000">
                <a:latin typeface="Trebuchet MS" panose="020B0703020202090204" pitchFamily="34" charset="0"/>
              </a:rPr>
              <a:t>http://sislands.com/coin70/week1/dom.htm</a:t>
            </a:r>
            <a:endParaRPr lang="en-US" altLang="en-US" sz="2000">
              <a:latin typeface="Times" pitchFamily="18" charset="0"/>
            </a:endParaRPr>
          </a:p>
        </p:txBody>
      </p:sp>
      <p:sp>
        <p:nvSpPr>
          <p:cNvPr id="80901" name="Footer Placeholder 4">
            <a:extLst>
              <a:ext uri="{FF2B5EF4-FFF2-40B4-BE49-F238E27FC236}">
                <a16:creationId xmlns:a16="http://schemas.microsoft.com/office/drawing/2014/main" id="{BC510CD2-C17C-AD5E-4A88-EFC0932DE8C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900">
                <a:solidFill>
                  <a:schemeClr val="bg1"/>
                </a:solidFill>
              </a:rPr>
              <a:t>Curs Programare Web, anul 4 C5 – Curs 5</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53987"/>
                                        </p:tgtEl>
                                        <p:attrNameLst>
                                          <p:attrName>style.visibility</p:attrName>
                                        </p:attrNameLst>
                                      </p:cBhvr>
                                      <p:to>
                                        <p:strVal val="visible"/>
                                      </p:to>
                                    </p:set>
                                    <p:animEffect transition="in" filter="dissolve">
                                      <p:cBhvr>
                                        <p:cTn id="7" dur="500"/>
                                        <p:tgtEl>
                                          <p:spTgt spid="5539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53988"/>
                                        </p:tgtEl>
                                        <p:attrNameLst>
                                          <p:attrName>style.visibility</p:attrName>
                                        </p:attrNameLst>
                                      </p:cBhvr>
                                      <p:to>
                                        <p:strVal val="visible"/>
                                      </p:to>
                                    </p:set>
                                    <p:animEffect transition="in" filter="wipe(left)">
                                      <p:cBhvr>
                                        <p:cTn id="12" dur="500"/>
                                        <p:tgtEl>
                                          <p:spTgt spid="5539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88"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61AA-9B3C-2843-9D00-6FD7FF1C4527}"/>
              </a:ext>
            </a:extLst>
          </p:cNvPr>
          <p:cNvSpPr>
            <a:spLocks noGrp="1"/>
          </p:cNvSpPr>
          <p:nvPr>
            <p:ph type="title"/>
          </p:nvPr>
        </p:nvSpPr>
        <p:spPr>
          <a:xfrm>
            <a:off x="728870" y="420661"/>
            <a:ext cx="5943600" cy="487363"/>
          </a:xfrm>
        </p:spPr>
        <p:txBody>
          <a:bodyPr vert="horz" lIns="91440" tIns="45720" rIns="91440" bIns="45720" rtlCol="0" anchor="ctr">
            <a:normAutofit fontScale="90000"/>
          </a:bodyPr>
          <a:lstStyle/>
          <a:p>
            <a:pPr>
              <a:spcAft>
                <a:spcPts val="600"/>
              </a:spcAft>
            </a:pPr>
            <a:r>
              <a:rPr lang="ro-RO" altLang="en-US" b="1" dirty="0">
                <a:ln w="3175" cmpd="sng">
                  <a:noFill/>
                </a:ln>
              </a:rPr>
              <a:t>Exemplu DOM</a:t>
            </a:r>
            <a:endParaRPr lang="en-US" altLang="en-US" b="1" dirty="0">
              <a:ln w="3175" cmpd="sng">
                <a:noFill/>
              </a:ln>
            </a:endParaRPr>
          </a:p>
        </p:txBody>
      </p:sp>
      <p:sp>
        <p:nvSpPr>
          <p:cNvPr id="90114" name="Content Placeholder 2">
            <a:extLst>
              <a:ext uri="{FF2B5EF4-FFF2-40B4-BE49-F238E27FC236}">
                <a16:creationId xmlns:a16="http://schemas.microsoft.com/office/drawing/2014/main" id="{6A61C9A2-5BAE-2DC0-2E9F-C9DEB5C1A543}"/>
              </a:ext>
            </a:extLst>
          </p:cNvPr>
          <p:cNvSpPr>
            <a:spLocks noGrp="1" noChangeArrowheads="1"/>
          </p:cNvSpPr>
          <p:nvPr>
            <p:ph idx="1"/>
          </p:nvPr>
        </p:nvSpPr>
        <p:spPr>
          <a:xfrm>
            <a:off x="930965" y="1093788"/>
            <a:ext cx="7086600" cy="3352800"/>
          </a:xfrm>
        </p:spPr>
        <p:txBody>
          <a:bodyPr>
            <a:normAutofit fontScale="70000" lnSpcReduction="20000"/>
          </a:bodyPr>
          <a:lstStyle/>
          <a:p>
            <a:pPr eaLnBrk="1" hangingPunct="1">
              <a:buFontTx/>
              <a:buNone/>
            </a:pPr>
            <a:r>
              <a:rPr lang="ro-RO" altLang="en-US" sz="1400" dirty="0">
                <a:latin typeface="Comic Sans MS" panose="030F0902030302020204" pitchFamily="66" charset="0"/>
              </a:rPr>
              <a:t>&lt;!DOCTYPE </a:t>
            </a:r>
            <a:r>
              <a:rPr lang="ro-RO" altLang="en-US" sz="1400" dirty="0" err="1">
                <a:latin typeface="Comic Sans MS" panose="030F0902030302020204" pitchFamily="66" charset="0"/>
              </a:rPr>
              <a:t>html</a:t>
            </a:r>
            <a:r>
              <a:rPr lang="ro-RO" altLang="en-US" sz="1400" dirty="0">
                <a:latin typeface="Comic Sans MS" panose="030F0902030302020204" pitchFamily="66" charset="0"/>
              </a:rPr>
              <a:t> PUBLIC "-//W3C//DTD XHTML 1.0 Strict//EN"</a:t>
            </a:r>
          </a:p>
          <a:p>
            <a:pPr eaLnBrk="1" hangingPunct="1">
              <a:buFontTx/>
              <a:buNone/>
            </a:pPr>
            <a:r>
              <a:rPr lang="ro-RO" altLang="en-US" sz="1400" dirty="0">
                <a:latin typeface="Comic Sans MS" panose="030F0902030302020204" pitchFamily="66" charset="0"/>
              </a:rPr>
              <a:t>  "</a:t>
            </a:r>
            <a:r>
              <a:rPr lang="ro-RO" altLang="en-US" sz="1400" dirty="0" err="1">
                <a:latin typeface="Comic Sans MS" panose="030F0902030302020204" pitchFamily="66" charset="0"/>
              </a:rPr>
              <a:t>http</a:t>
            </a:r>
            <a:r>
              <a:rPr lang="ro-RO" altLang="en-US" sz="1400" dirty="0">
                <a:latin typeface="Comic Sans MS" panose="030F0902030302020204" pitchFamily="66" charset="0"/>
              </a:rPr>
              <a:t>://www.w3.org/TR/xhtml1/DTD/xhtml1-strict.dtd"&gt;</a:t>
            </a:r>
          </a:p>
          <a:p>
            <a:pPr eaLnBrk="1" hangingPunct="1">
              <a:buFontTx/>
              <a:buNone/>
            </a:pPr>
            <a:r>
              <a:rPr lang="ro-RO" altLang="en-US" sz="1400" dirty="0">
                <a:latin typeface="Comic Sans MS" panose="030F0902030302020204" pitchFamily="66" charset="0"/>
              </a:rPr>
              <a:t>&lt;</a:t>
            </a:r>
            <a:r>
              <a:rPr lang="ro-RO" altLang="en-US" sz="1400" dirty="0" err="1">
                <a:latin typeface="Comic Sans MS" panose="030F0902030302020204" pitchFamily="66" charset="0"/>
              </a:rPr>
              <a:t>html</a:t>
            </a:r>
            <a:r>
              <a:rPr lang="ro-RO" altLang="en-US" sz="1400" dirty="0">
                <a:latin typeface="Comic Sans MS" panose="030F0902030302020204" pitchFamily="66" charset="0"/>
              </a:rPr>
              <a:t>&gt;</a:t>
            </a:r>
          </a:p>
          <a:p>
            <a:pPr eaLnBrk="1" hangingPunct="1">
              <a:buFontTx/>
              <a:buNone/>
            </a:pPr>
            <a:r>
              <a:rPr lang="ro-RO" altLang="en-US" sz="1400" dirty="0">
                <a:latin typeface="Comic Sans MS" panose="030F0902030302020204" pitchFamily="66" charset="0"/>
              </a:rPr>
              <a:t>    &lt;</a:t>
            </a:r>
            <a:r>
              <a:rPr lang="ro-RO" altLang="en-US" sz="1400" dirty="0" err="1">
                <a:latin typeface="Comic Sans MS" panose="030F0902030302020204" pitchFamily="66" charset="0"/>
              </a:rPr>
              <a:t>head</a:t>
            </a:r>
            <a:r>
              <a:rPr lang="ro-RO" altLang="en-US" sz="1400" dirty="0">
                <a:latin typeface="Comic Sans MS" panose="030F0902030302020204" pitchFamily="66" charset="0"/>
              </a:rPr>
              <a:t>&gt;</a:t>
            </a:r>
          </a:p>
          <a:p>
            <a:pPr eaLnBrk="1" hangingPunct="1">
              <a:buFontTx/>
              <a:buNone/>
            </a:pPr>
            <a:r>
              <a:rPr lang="ro-RO" altLang="en-US" sz="1400" dirty="0">
                <a:latin typeface="Comic Sans MS" panose="030F0902030302020204" pitchFamily="66" charset="0"/>
              </a:rPr>
              <a:t>        &lt;</a:t>
            </a:r>
            <a:r>
              <a:rPr lang="ro-RO" altLang="en-US" sz="1400" dirty="0" err="1">
                <a:latin typeface="Comic Sans MS" panose="030F0902030302020204" pitchFamily="66" charset="0"/>
              </a:rPr>
              <a:t>title</a:t>
            </a:r>
            <a:r>
              <a:rPr lang="ro-RO" altLang="en-US" sz="1400" dirty="0">
                <a:latin typeface="Comic Sans MS" panose="030F0902030302020204" pitchFamily="66" charset="0"/>
              </a:rPr>
              <a:t>&gt;Acesta este titlul documentului&lt;/</a:t>
            </a:r>
            <a:r>
              <a:rPr lang="ro-RO" altLang="en-US" sz="1400" dirty="0" err="1">
                <a:latin typeface="Comic Sans MS" panose="030F0902030302020204" pitchFamily="66" charset="0"/>
              </a:rPr>
              <a:t>title</a:t>
            </a:r>
            <a:r>
              <a:rPr lang="ro-RO" altLang="en-US" sz="1400" dirty="0">
                <a:latin typeface="Comic Sans MS" panose="030F0902030302020204" pitchFamily="66" charset="0"/>
              </a:rPr>
              <a:t>&gt;</a:t>
            </a:r>
          </a:p>
          <a:p>
            <a:pPr eaLnBrk="1" hangingPunct="1">
              <a:buFontTx/>
              <a:buNone/>
            </a:pPr>
            <a:r>
              <a:rPr lang="ro-RO" altLang="en-US" sz="1400" dirty="0">
                <a:latin typeface="Comic Sans MS" panose="030F0902030302020204" pitchFamily="66" charset="0"/>
              </a:rPr>
              <a:t>    &lt;/</a:t>
            </a:r>
            <a:r>
              <a:rPr lang="ro-RO" altLang="en-US" sz="1400" dirty="0" err="1">
                <a:latin typeface="Comic Sans MS" panose="030F0902030302020204" pitchFamily="66" charset="0"/>
              </a:rPr>
              <a:t>head</a:t>
            </a:r>
            <a:r>
              <a:rPr lang="ro-RO" altLang="en-US" sz="1400" dirty="0">
                <a:latin typeface="Comic Sans MS" panose="030F0902030302020204" pitchFamily="66" charset="0"/>
              </a:rPr>
              <a:t>&gt;</a:t>
            </a:r>
          </a:p>
          <a:p>
            <a:pPr eaLnBrk="1" hangingPunct="1">
              <a:buFontTx/>
              <a:buNone/>
            </a:pPr>
            <a:r>
              <a:rPr lang="ro-RO" altLang="en-US" sz="1400" dirty="0">
                <a:latin typeface="Comic Sans MS" panose="030F0902030302020204" pitchFamily="66" charset="0"/>
              </a:rPr>
              <a:t>    &lt;body&gt;</a:t>
            </a:r>
          </a:p>
          <a:p>
            <a:pPr eaLnBrk="1" hangingPunct="1">
              <a:buFontTx/>
              <a:buNone/>
            </a:pPr>
            <a:r>
              <a:rPr lang="ro-RO" altLang="en-US" sz="1400" dirty="0">
                <a:latin typeface="Comic Sans MS" panose="030F0902030302020204" pitchFamily="66" charset="0"/>
              </a:rPr>
              <a:t>        &lt;h1 </a:t>
            </a:r>
            <a:r>
              <a:rPr lang="ro-RO" altLang="en-US" sz="1400" dirty="0" err="1">
                <a:solidFill>
                  <a:srgbClr val="FF0000"/>
                </a:solidFill>
                <a:latin typeface="Comic Sans MS" panose="030F0902030302020204" pitchFamily="66" charset="0"/>
              </a:rPr>
              <a:t>id</a:t>
            </a:r>
            <a:r>
              <a:rPr lang="ro-RO" altLang="en-US" sz="1400" dirty="0">
                <a:solidFill>
                  <a:srgbClr val="FF0000"/>
                </a:solidFill>
                <a:latin typeface="Comic Sans MS" panose="030F0902030302020204" pitchFamily="66" charset="0"/>
              </a:rPr>
              <a:t>="</a:t>
            </a:r>
            <a:r>
              <a:rPr lang="ro-RO" altLang="en-US" sz="1400" dirty="0" err="1">
                <a:solidFill>
                  <a:srgbClr val="FF0000"/>
                </a:solidFill>
                <a:latin typeface="Comic Sans MS" panose="030F0902030302020204" pitchFamily="66" charset="0"/>
              </a:rPr>
              <a:t>titlu_doc</a:t>
            </a:r>
            <a:r>
              <a:rPr lang="ro-RO" altLang="en-US" sz="1400" dirty="0">
                <a:solidFill>
                  <a:srgbClr val="FF0000"/>
                </a:solidFill>
                <a:latin typeface="Comic Sans MS" panose="030F0902030302020204" pitchFamily="66" charset="0"/>
              </a:rPr>
              <a:t>"</a:t>
            </a:r>
            <a:r>
              <a:rPr lang="ro-RO" altLang="en-US" sz="1400" dirty="0">
                <a:latin typeface="Comic Sans MS" panose="030F0902030302020204" pitchFamily="66" charset="0"/>
              </a:rPr>
              <a:t>&gt;Acesta este titlul documentului&lt;/h1&gt;</a:t>
            </a:r>
          </a:p>
          <a:p>
            <a:pPr eaLnBrk="1" hangingPunct="1">
              <a:buFontTx/>
              <a:buNone/>
            </a:pPr>
            <a:r>
              <a:rPr lang="ro-RO" altLang="en-US" sz="1400" dirty="0">
                <a:latin typeface="Comic Sans MS" panose="030F0902030302020204" pitchFamily="66" charset="0"/>
              </a:rPr>
              <a:t>        &lt;p&gt;Acesta este un paragraf de text &lt;</a:t>
            </a:r>
            <a:r>
              <a:rPr lang="ro-RO" altLang="en-US" sz="1400" dirty="0" err="1">
                <a:latin typeface="Comic Sans MS" panose="030F0902030302020204" pitchFamily="66" charset="0"/>
              </a:rPr>
              <a:t>img</a:t>
            </a:r>
            <a:r>
              <a:rPr lang="ro-RO" altLang="en-US" sz="1400" dirty="0">
                <a:latin typeface="Comic Sans MS" panose="030F0902030302020204" pitchFamily="66" charset="0"/>
              </a:rPr>
              <a:t> </a:t>
            </a:r>
            <a:r>
              <a:rPr lang="ro-RO" altLang="en-US" sz="1400" dirty="0" err="1">
                <a:latin typeface="Comic Sans MS" panose="030F0902030302020204" pitchFamily="66" charset="0"/>
              </a:rPr>
              <a:t>src</a:t>
            </a:r>
            <a:r>
              <a:rPr lang="ro-RO" altLang="en-US" sz="1400" dirty="0">
                <a:latin typeface="Comic Sans MS" panose="030F0902030302020204" pitchFamily="66" charset="0"/>
              </a:rPr>
              <a:t>="</a:t>
            </a:r>
            <a:r>
              <a:rPr lang="ro-RO" altLang="en-US" sz="1400" dirty="0" err="1">
                <a:latin typeface="Comic Sans MS" panose="030F0902030302020204" pitchFamily="66" charset="0"/>
              </a:rPr>
              <a:t>bullet.gif</a:t>
            </a:r>
            <a:r>
              <a:rPr lang="ro-RO" altLang="en-US" sz="1400" dirty="0">
                <a:latin typeface="Comic Sans MS" panose="030F0902030302020204" pitchFamily="66" charset="0"/>
              </a:rPr>
              <a:t>" alt="</a:t>
            </a:r>
            <a:r>
              <a:rPr lang="ro-RO" altLang="en-US" sz="1400" dirty="0" err="1">
                <a:latin typeface="Comic Sans MS" panose="030F0902030302020204" pitchFamily="66" charset="0"/>
              </a:rPr>
              <a:t>Bullet</a:t>
            </a:r>
            <a:r>
              <a:rPr lang="ro-RO" altLang="en-US" sz="1400" dirty="0">
                <a:latin typeface="Comic Sans MS" panose="030F0902030302020204" pitchFamily="66" charset="0"/>
              </a:rPr>
              <a:t>" /&gt;&lt;/p&gt;</a:t>
            </a:r>
          </a:p>
          <a:p>
            <a:pPr eaLnBrk="1" hangingPunct="1">
              <a:buFontTx/>
              <a:buNone/>
            </a:pPr>
            <a:r>
              <a:rPr lang="ro-RO" altLang="en-US" sz="1400" dirty="0">
                <a:latin typeface="Comic Sans MS" panose="030F0902030302020204" pitchFamily="66" charset="0"/>
              </a:rPr>
              <a:t>        &lt;p&gt;Acesta este un alt paragraf de text&lt;/p&gt;</a:t>
            </a:r>
          </a:p>
          <a:p>
            <a:pPr eaLnBrk="1" hangingPunct="1">
              <a:buFontTx/>
              <a:buNone/>
            </a:pPr>
            <a:r>
              <a:rPr lang="ro-RO" altLang="en-US" sz="1400" dirty="0">
                <a:latin typeface="Comic Sans MS" panose="030F0902030302020204" pitchFamily="66" charset="0"/>
              </a:rPr>
              <a:t>    &lt;/body&gt;</a:t>
            </a:r>
          </a:p>
          <a:p>
            <a:pPr eaLnBrk="1" hangingPunct="1">
              <a:buFontTx/>
              <a:buNone/>
            </a:pPr>
            <a:r>
              <a:rPr lang="ro-RO" altLang="en-US" sz="1400" dirty="0">
                <a:latin typeface="Comic Sans MS" panose="030F0902030302020204" pitchFamily="66" charset="0"/>
              </a:rPr>
              <a:t>&lt;/</a:t>
            </a:r>
            <a:r>
              <a:rPr lang="ro-RO" altLang="en-US" sz="1400" dirty="0" err="1">
                <a:latin typeface="Comic Sans MS" panose="030F0902030302020204" pitchFamily="66" charset="0"/>
              </a:rPr>
              <a:t>html</a:t>
            </a:r>
            <a:r>
              <a:rPr lang="ro-RO" altLang="en-US" sz="1400" dirty="0">
                <a:latin typeface="Comic Sans MS" panose="030F0902030302020204" pitchFamily="66" charset="0"/>
              </a:rPr>
              <a:t>&gt;</a:t>
            </a:r>
            <a:endParaRPr lang="en-US" altLang="en-US" sz="1400" dirty="0">
              <a:latin typeface="Comic Sans MS" panose="030F0902030302020204" pitchFamily="66" charset="0"/>
            </a:endParaRPr>
          </a:p>
        </p:txBody>
      </p:sp>
      <p:sp>
        <p:nvSpPr>
          <p:cNvPr id="90115" name="Footer Placeholder 4">
            <a:extLst>
              <a:ext uri="{FF2B5EF4-FFF2-40B4-BE49-F238E27FC236}">
                <a16:creationId xmlns:a16="http://schemas.microsoft.com/office/drawing/2014/main" id="{6E0B553E-098C-B9C2-7196-1CE6B799A00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900">
                <a:solidFill>
                  <a:schemeClr val="bg1"/>
                </a:solidFill>
              </a:rPr>
              <a:t>Curs Programare Web, anul 4 C5 – Curs 5</a:t>
            </a:r>
          </a:p>
        </p:txBody>
      </p:sp>
      <p:sp>
        <p:nvSpPr>
          <p:cNvPr id="90116" name="Slide Number Placeholder 5">
            <a:extLst>
              <a:ext uri="{FF2B5EF4-FFF2-40B4-BE49-F238E27FC236}">
                <a16:creationId xmlns:a16="http://schemas.microsoft.com/office/drawing/2014/main" id="{ECC048E0-C6E7-BE61-C52D-10915AEB4A3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1E4598D-17F7-6E43-BD33-B56A6E9CFBE5}" type="slidenum">
              <a:rPr lang="en-US" altLang="en-US" sz="900">
                <a:solidFill>
                  <a:schemeClr val="bg1"/>
                </a:solidFill>
              </a:rPr>
              <a:pPr>
                <a:spcBef>
                  <a:spcPct val="0"/>
                </a:spcBef>
                <a:buFontTx/>
                <a:buNone/>
              </a:pPr>
              <a:t>46</a:t>
            </a:fld>
            <a:endParaRPr lang="en-US" altLang="en-US" sz="900">
              <a:solidFill>
                <a:schemeClr val="bg1"/>
              </a:solidFill>
            </a:endParaRPr>
          </a:p>
        </p:txBody>
      </p:sp>
      <p:sp>
        <p:nvSpPr>
          <p:cNvPr id="7" name="Rectangle 6">
            <a:extLst>
              <a:ext uri="{FF2B5EF4-FFF2-40B4-BE49-F238E27FC236}">
                <a16:creationId xmlns:a16="http://schemas.microsoft.com/office/drawing/2014/main" id="{8A4D900D-AC47-A846-8C2D-B1151F3CAE50}"/>
              </a:ext>
            </a:extLst>
          </p:cNvPr>
          <p:cNvSpPr>
            <a:spLocks noChangeArrowheads="1"/>
          </p:cNvSpPr>
          <p:nvPr/>
        </p:nvSpPr>
        <p:spPr bwMode="auto">
          <a:xfrm>
            <a:off x="6400800" y="1600200"/>
            <a:ext cx="4267200" cy="1169988"/>
          </a:xfrm>
          <a:prstGeom prst="rect">
            <a:avLst/>
          </a:prstGeom>
          <a:gradFill rotWithShape="1">
            <a:gsLst>
              <a:gs pos="0">
                <a:srgbClr val="F0FFFF"/>
              </a:gs>
              <a:gs pos="64999">
                <a:srgbClr val="DDFEFF"/>
              </a:gs>
              <a:gs pos="100000">
                <a:srgbClr val="CFFFFF"/>
              </a:gs>
            </a:gsLst>
            <a:lin ang="5400000" scaled="1"/>
          </a:gradFill>
          <a:ln w="9525">
            <a:solidFill>
              <a:srgbClr val="B6DCDF"/>
            </a:solidFill>
            <a:miter lim="800000"/>
            <a:headEnd/>
            <a:tailEnd/>
          </a:ln>
          <a:effectLst>
            <a:outerShdw blurRad="40000" dist="20000" dir="5400000" rotWithShape="0">
              <a:srgbClr val="808080">
                <a:alpha val="37999"/>
              </a:srgbClr>
            </a:outerShdw>
          </a:effec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r>
              <a:rPr lang="en-US" altLang="en-US" sz="1400">
                <a:solidFill>
                  <a:srgbClr val="000000"/>
                </a:solidFill>
                <a:latin typeface="Comic Sans MS" panose="030F0902030302020204" pitchFamily="66" charset="0"/>
              </a:rPr>
              <a:t>&lt;script type="text/javascript"&gt;</a:t>
            </a:r>
          </a:p>
          <a:p>
            <a:pPr eaLnBrk="1" hangingPunct="1">
              <a:spcBef>
                <a:spcPct val="0"/>
              </a:spcBef>
              <a:buFontTx/>
              <a:buNone/>
              <a:defRPr/>
            </a:pPr>
            <a:endParaRPr lang="en-US" altLang="en-US" sz="1400">
              <a:solidFill>
                <a:srgbClr val="000000"/>
              </a:solidFill>
              <a:latin typeface="Comic Sans MS" panose="030F0902030302020204" pitchFamily="66" charset="0"/>
            </a:endParaRPr>
          </a:p>
          <a:p>
            <a:pPr eaLnBrk="1" hangingPunct="1">
              <a:spcBef>
                <a:spcPct val="0"/>
              </a:spcBef>
              <a:buFontTx/>
              <a:buNone/>
              <a:defRPr/>
            </a:pPr>
            <a:r>
              <a:rPr lang="en-US" altLang="en-US" sz="1400">
                <a:solidFill>
                  <a:srgbClr val="000000"/>
                </a:solidFill>
                <a:latin typeface="Comic Sans MS" panose="030F0902030302020204" pitchFamily="66" charset="0"/>
              </a:rPr>
              <a:t>    titlu = document.getElementById('titlu_doc');</a:t>
            </a:r>
          </a:p>
          <a:p>
            <a:pPr eaLnBrk="1" hangingPunct="1">
              <a:spcBef>
                <a:spcPct val="0"/>
              </a:spcBef>
              <a:buFontTx/>
              <a:buNone/>
              <a:defRPr/>
            </a:pPr>
            <a:endParaRPr lang="en-US" altLang="en-US" sz="1400">
              <a:solidFill>
                <a:srgbClr val="000000"/>
              </a:solidFill>
              <a:latin typeface="Comic Sans MS" panose="030F0902030302020204" pitchFamily="66" charset="0"/>
            </a:endParaRPr>
          </a:p>
          <a:p>
            <a:pPr eaLnBrk="1" hangingPunct="1">
              <a:spcBef>
                <a:spcPct val="0"/>
              </a:spcBef>
              <a:buFontTx/>
              <a:buNone/>
              <a:defRPr/>
            </a:pPr>
            <a:r>
              <a:rPr lang="en-US" altLang="en-US" sz="1400">
                <a:solidFill>
                  <a:srgbClr val="000000"/>
                </a:solidFill>
                <a:latin typeface="Comic Sans MS" panose="030F0902030302020204" pitchFamily="66" charset="0"/>
              </a:rPr>
              <a:t>&lt;/script&gt;</a:t>
            </a:r>
          </a:p>
        </p:txBody>
      </p:sp>
      <p:sp>
        <p:nvSpPr>
          <p:cNvPr id="8" name="Rectangle 7">
            <a:extLst>
              <a:ext uri="{FF2B5EF4-FFF2-40B4-BE49-F238E27FC236}">
                <a16:creationId xmlns:a16="http://schemas.microsoft.com/office/drawing/2014/main" id="{D550FA3C-9BCE-0446-A72C-9A9C2ABCBBC3}"/>
              </a:ext>
            </a:extLst>
          </p:cNvPr>
          <p:cNvSpPr>
            <a:spLocks noChangeArrowheads="1"/>
          </p:cNvSpPr>
          <p:nvPr/>
        </p:nvSpPr>
        <p:spPr bwMode="auto">
          <a:xfrm>
            <a:off x="4191000" y="3965576"/>
            <a:ext cx="5638800" cy="2892425"/>
          </a:xfrm>
          <a:prstGeom prst="rect">
            <a:avLst/>
          </a:prstGeom>
          <a:gradFill rotWithShape="1">
            <a:gsLst>
              <a:gs pos="0">
                <a:srgbClr val="F0FFFF"/>
              </a:gs>
              <a:gs pos="64999">
                <a:srgbClr val="DDFEFF"/>
              </a:gs>
              <a:gs pos="100000">
                <a:srgbClr val="CFFFFF"/>
              </a:gs>
            </a:gsLst>
            <a:lin ang="5400000" scaled="1"/>
          </a:gradFill>
          <a:ln w="9525">
            <a:solidFill>
              <a:srgbClr val="B6DCDF"/>
            </a:solidFill>
            <a:miter lim="800000"/>
            <a:headEnd/>
            <a:tailEnd/>
          </a:ln>
          <a:effectLst>
            <a:outerShdw blurRad="40000" dist="20000" dir="5400000" rotWithShape="0">
              <a:srgbClr val="808080">
                <a:alpha val="37999"/>
              </a:srgbClr>
            </a:outerShdw>
          </a:effec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r>
              <a:rPr lang="en-US" altLang="en-US" sz="1400">
                <a:solidFill>
                  <a:srgbClr val="000000"/>
                </a:solidFill>
                <a:latin typeface="Comic Sans MS" panose="030F0902030302020204" pitchFamily="66" charset="0"/>
              </a:rPr>
              <a:t>&lt;script type="text/javascript"&gt;</a:t>
            </a:r>
          </a:p>
          <a:p>
            <a:pPr eaLnBrk="1" hangingPunct="1">
              <a:spcBef>
                <a:spcPct val="0"/>
              </a:spcBef>
              <a:buFontTx/>
              <a:buNone/>
              <a:defRPr/>
            </a:pPr>
            <a:endParaRPr lang="en-US" altLang="en-US" sz="1400">
              <a:solidFill>
                <a:srgbClr val="000000"/>
              </a:solidFill>
              <a:latin typeface="Comic Sans MS" panose="030F0902030302020204" pitchFamily="66" charset="0"/>
            </a:endParaRPr>
          </a:p>
          <a:p>
            <a:pPr eaLnBrk="1" hangingPunct="1">
              <a:spcBef>
                <a:spcPct val="0"/>
              </a:spcBef>
              <a:buFontTx/>
              <a:buNone/>
              <a:defRPr/>
            </a:pPr>
            <a:r>
              <a:rPr lang="en-US" altLang="en-US" sz="1400">
                <a:solidFill>
                  <a:srgbClr val="000000"/>
                </a:solidFill>
                <a:latin typeface="Comic Sans MS" panose="030F0902030302020204" pitchFamily="66" charset="0"/>
              </a:rPr>
              <a:t>    // localizam imaginea</a:t>
            </a:r>
          </a:p>
          <a:p>
            <a:pPr eaLnBrk="1" hangingPunct="1">
              <a:spcBef>
                <a:spcPct val="0"/>
              </a:spcBef>
              <a:buFontTx/>
              <a:buNone/>
              <a:defRPr/>
            </a:pPr>
            <a:r>
              <a:rPr lang="en-US" altLang="en-US" sz="1400">
                <a:solidFill>
                  <a:srgbClr val="000000"/>
                </a:solidFill>
                <a:latin typeface="Comic Sans MS" panose="030F0902030302020204" pitchFamily="66" charset="0"/>
              </a:rPr>
              <a:t>    imagine = document.getElementsByTagName('img')[0];</a:t>
            </a:r>
          </a:p>
          <a:p>
            <a:pPr eaLnBrk="1" hangingPunct="1">
              <a:spcBef>
                <a:spcPct val="0"/>
              </a:spcBef>
              <a:buFontTx/>
              <a:buNone/>
              <a:defRPr/>
            </a:pPr>
            <a:r>
              <a:rPr lang="en-US" altLang="en-US" sz="1400">
                <a:solidFill>
                  <a:srgbClr val="000000"/>
                </a:solidFill>
                <a:latin typeface="Comic Sans MS" panose="030F0902030302020204" pitchFamily="66" charset="0"/>
              </a:rPr>
              <a:t>    // modificam atributul "src"</a:t>
            </a:r>
          </a:p>
          <a:p>
            <a:pPr eaLnBrk="1" hangingPunct="1">
              <a:spcBef>
                <a:spcPct val="0"/>
              </a:spcBef>
              <a:buFontTx/>
              <a:buNone/>
              <a:defRPr/>
            </a:pPr>
            <a:r>
              <a:rPr lang="en-US" altLang="en-US" sz="1400">
                <a:solidFill>
                  <a:srgbClr val="000000"/>
                </a:solidFill>
                <a:latin typeface="Comic Sans MS" panose="030F0902030302020204" pitchFamily="66" charset="0"/>
              </a:rPr>
              <a:t>    imagine.src = 'ceva.gif';</a:t>
            </a:r>
          </a:p>
          <a:p>
            <a:pPr eaLnBrk="1" hangingPunct="1">
              <a:spcBef>
                <a:spcPct val="0"/>
              </a:spcBef>
              <a:buFontTx/>
              <a:buNone/>
              <a:defRPr/>
            </a:pPr>
            <a:r>
              <a:rPr lang="en-US" altLang="en-US" sz="1400">
                <a:solidFill>
                  <a:srgbClr val="000000"/>
                </a:solidFill>
                <a:latin typeface="Comic Sans MS" panose="030F0902030302020204" pitchFamily="66" charset="0"/>
              </a:rPr>
              <a:t>          </a:t>
            </a:r>
          </a:p>
          <a:p>
            <a:pPr eaLnBrk="1" hangingPunct="1">
              <a:spcBef>
                <a:spcPct val="0"/>
              </a:spcBef>
              <a:buFontTx/>
              <a:buNone/>
              <a:defRPr/>
            </a:pPr>
            <a:r>
              <a:rPr lang="en-US" altLang="en-US" sz="1400">
                <a:solidFill>
                  <a:srgbClr val="000000"/>
                </a:solidFill>
                <a:latin typeface="Comic Sans MS" panose="030F0902030302020204" pitchFamily="66" charset="0"/>
              </a:rPr>
              <a:t>    // localizam paragraful</a:t>
            </a:r>
          </a:p>
          <a:p>
            <a:pPr eaLnBrk="1" hangingPunct="1">
              <a:spcBef>
                <a:spcPct val="0"/>
              </a:spcBef>
              <a:buFontTx/>
              <a:buNone/>
              <a:defRPr/>
            </a:pPr>
            <a:r>
              <a:rPr lang="en-US" altLang="en-US" sz="1400">
                <a:solidFill>
                  <a:srgbClr val="000000"/>
                </a:solidFill>
                <a:latin typeface="Comic Sans MS" panose="030F0902030302020204" pitchFamily="66" charset="0"/>
              </a:rPr>
              <a:t>    paragraf = document.getElementsByTagName('p')[1];</a:t>
            </a:r>
          </a:p>
          <a:p>
            <a:pPr eaLnBrk="1" hangingPunct="1">
              <a:spcBef>
                <a:spcPct val="0"/>
              </a:spcBef>
              <a:buFontTx/>
              <a:buNone/>
              <a:defRPr/>
            </a:pPr>
            <a:r>
              <a:rPr lang="en-US" altLang="en-US" sz="1400">
                <a:solidFill>
                  <a:srgbClr val="000000"/>
                </a:solidFill>
                <a:latin typeface="Comic Sans MS" panose="030F0902030302020204" pitchFamily="66" charset="0"/>
              </a:rPr>
              <a:t>    // modificam atributul CSS font-style</a:t>
            </a:r>
          </a:p>
          <a:p>
            <a:pPr eaLnBrk="1" hangingPunct="1">
              <a:spcBef>
                <a:spcPct val="0"/>
              </a:spcBef>
              <a:buFontTx/>
              <a:buNone/>
              <a:defRPr/>
            </a:pPr>
            <a:r>
              <a:rPr lang="en-US" altLang="en-US" sz="1400">
                <a:solidFill>
                  <a:srgbClr val="000000"/>
                </a:solidFill>
                <a:latin typeface="Comic Sans MS" panose="030F0902030302020204" pitchFamily="66" charset="0"/>
              </a:rPr>
              <a:t>    paragraf.style.fontStyle = 'italic';</a:t>
            </a:r>
          </a:p>
          <a:p>
            <a:pPr eaLnBrk="1" hangingPunct="1">
              <a:spcBef>
                <a:spcPct val="0"/>
              </a:spcBef>
              <a:buFontTx/>
              <a:buNone/>
              <a:defRPr/>
            </a:pPr>
            <a:endParaRPr lang="en-US" altLang="en-US" sz="1400">
              <a:solidFill>
                <a:srgbClr val="000000"/>
              </a:solidFill>
              <a:latin typeface="Comic Sans MS" panose="030F0902030302020204" pitchFamily="66" charset="0"/>
            </a:endParaRPr>
          </a:p>
          <a:p>
            <a:pPr eaLnBrk="1" hangingPunct="1">
              <a:spcBef>
                <a:spcPct val="0"/>
              </a:spcBef>
              <a:buFontTx/>
              <a:buNone/>
              <a:defRPr/>
            </a:pPr>
            <a:r>
              <a:rPr lang="en-US" altLang="en-US" sz="1400">
                <a:solidFill>
                  <a:srgbClr val="000000"/>
                </a:solidFill>
                <a:latin typeface="Comic Sans MS" panose="030F0902030302020204" pitchFamily="66" charset="0"/>
              </a:rPr>
              <a:t>&lt;/script&gt;</a:t>
            </a:r>
          </a:p>
        </p:txBody>
      </p:sp>
      <p:cxnSp>
        <p:nvCxnSpPr>
          <p:cNvPr id="10" name="Straight Arrow Connector 9">
            <a:extLst>
              <a:ext uri="{FF2B5EF4-FFF2-40B4-BE49-F238E27FC236}">
                <a16:creationId xmlns:a16="http://schemas.microsoft.com/office/drawing/2014/main" id="{CB003666-3B15-1243-AF50-9E6528566253}"/>
              </a:ext>
            </a:extLst>
          </p:cNvPr>
          <p:cNvCxnSpPr>
            <a:cxnSpLocks noChangeShapeType="1"/>
          </p:cNvCxnSpPr>
          <p:nvPr/>
        </p:nvCxnSpPr>
        <p:spPr bwMode="auto">
          <a:xfrm flipV="1">
            <a:off x="2345635" y="2514600"/>
            <a:ext cx="3902765" cy="417540"/>
          </a:xfrm>
          <a:prstGeom prst="straightConnector1">
            <a:avLst/>
          </a:prstGeom>
          <a:noFill/>
          <a:ln w="38100">
            <a:solidFill>
              <a:schemeClr val="accent2"/>
            </a:solidFill>
            <a:round/>
            <a:headE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12" name="Straight Arrow Connector 11">
            <a:extLst>
              <a:ext uri="{FF2B5EF4-FFF2-40B4-BE49-F238E27FC236}">
                <a16:creationId xmlns:a16="http://schemas.microsoft.com/office/drawing/2014/main" id="{8469BC82-3612-054E-BF8D-615506C57BBC}"/>
              </a:ext>
            </a:extLst>
          </p:cNvPr>
          <p:cNvCxnSpPr>
            <a:cxnSpLocks noChangeShapeType="1"/>
          </p:cNvCxnSpPr>
          <p:nvPr/>
        </p:nvCxnSpPr>
        <p:spPr bwMode="auto">
          <a:xfrm rot="5400000">
            <a:off x="6972301" y="3695701"/>
            <a:ext cx="381000" cy="3175"/>
          </a:xfrm>
          <a:prstGeom prst="straightConnector1">
            <a:avLst/>
          </a:prstGeom>
          <a:noFill/>
          <a:ln w="38100">
            <a:solidFill>
              <a:schemeClr val="accent2"/>
            </a:solidFill>
            <a:round/>
            <a:headE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1864" name="Rectangle 761863">
            <a:extLst>
              <a:ext uri="{FF2B5EF4-FFF2-40B4-BE49-F238E27FC236}">
                <a16:creationId xmlns:a16="http://schemas.microsoft.com/office/drawing/2014/main" id="{8CD2B798-7994-4548-A2BE-4AEF9C1A5F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761866" name="Oval 5">
            <a:extLst>
              <a:ext uri="{FF2B5EF4-FFF2-40B4-BE49-F238E27FC236}">
                <a16:creationId xmlns:a16="http://schemas.microsoft.com/office/drawing/2014/main" id="{E6162320-3B67-42BB-AF9D-939326E64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761868" name="Straight Connector 761867">
            <a:extLst>
              <a:ext uri="{FF2B5EF4-FFF2-40B4-BE49-F238E27FC236}">
                <a16:creationId xmlns:a16="http://schemas.microsoft.com/office/drawing/2014/main" id="{6722E143-84C1-4F95-937C-78B92D2811C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761870" name="Rectangle 761869">
            <a:extLst>
              <a:ext uri="{FF2B5EF4-FFF2-40B4-BE49-F238E27FC236}">
                <a16:creationId xmlns:a16="http://schemas.microsoft.com/office/drawing/2014/main" id="{B8D726A5-7900-41B4-8D49-49B4A2010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61860" name="Picture 761859" descr="Technological background">
            <a:extLst>
              <a:ext uri="{FF2B5EF4-FFF2-40B4-BE49-F238E27FC236}">
                <a16:creationId xmlns:a16="http://schemas.microsoft.com/office/drawing/2014/main" id="{39450179-4E22-DC45-E3EE-B557BC17513A}"/>
              </a:ext>
            </a:extLst>
          </p:cNvPr>
          <p:cNvPicPr>
            <a:picLocks noChangeAspect="1"/>
          </p:cNvPicPr>
          <p:nvPr/>
        </p:nvPicPr>
        <p:blipFill rotWithShape="1">
          <a:blip r:embed="rId2">
            <a:alphaModFix amt="45000"/>
          </a:blip>
          <a:srcRect t="5103" r="-1" b="10606"/>
          <a:stretch/>
        </p:blipFill>
        <p:spPr>
          <a:xfrm>
            <a:off x="20" y="-1"/>
            <a:ext cx="12188932" cy="6858000"/>
          </a:xfrm>
          <a:prstGeom prst="rect">
            <a:avLst/>
          </a:prstGeom>
        </p:spPr>
      </p:pic>
      <p:sp>
        <p:nvSpPr>
          <p:cNvPr id="761858" name="Rectangle 2">
            <a:extLst>
              <a:ext uri="{FF2B5EF4-FFF2-40B4-BE49-F238E27FC236}">
                <a16:creationId xmlns:a16="http://schemas.microsoft.com/office/drawing/2014/main" id="{B83CD1BB-06FD-FB49-A638-CB11CA621B4F}"/>
              </a:ext>
            </a:extLst>
          </p:cNvPr>
          <p:cNvSpPr>
            <a:spLocks noGrp="1" noChangeArrowheads="1"/>
          </p:cNvSpPr>
          <p:nvPr>
            <p:ph type="title"/>
          </p:nvPr>
        </p:nvSpPr>
        <p:spPr>
          <a:xfrm>
            <a:off x="643467" y="643467"/>
            <a:ext cx="7164674" cy="5571066"/>
          </a:xfrm>
        </p:spPr>
        <p:txBody>
          <a:bodyPr vert="horz" lIns="91440" tIns="45720" rIns="91440" bIns="45720" rtlCol="0" anchor="ctr">
            <a:normAutofit/>
          </a:bodyPr>
          <a:lstStyle/>
          <a:p>
            <a:pPr algn="r">
              <a:defRPr/>
            </a:pPr>
            <a:r>
              <a:rPr lang="en-US" sz="6600" kern="1200" cap="all" spc="200" baseline="0" dirty="0">
                <a:solidFill>
                  <a:schemeClr val="tx1"/>
                </a:solidFill>
                <a:latin typeface="+mj-lt"/>
                <a:ea typeface="+mj-ea"/>
                <a:cs typeface="+mj-cs"/>
              </a:rPr>
              <a:t>JavaScript </a:t>
            </a:r>
            <a:r>
              <a:rPr lang="en-US" sz="6600" kern="1200" cap="all" spc="200" baseline="0" dirty="0" err="1">
                <a:solidFill>
                  <a:schemeClr val="tx1"/>
                </a:solidFill>
                <a:latin typeface="+mj-lt"/>
                <a:ea typeface="+mj-ea"/>
                <a:cs typeface="+mj-cs"/>
              </a:rPr>
              <a:t>și</a:t>
            </a:r>
            <a:r>
              <a:rPr lang="en-US" sz="6600" kern="1200" cap="all" spc="200" baseline="0" dirty="0">
                <a:solidFill>
                  <a:schemeClr val="tx1"/>
                </a:solidFill>
                <a:latin typeface="+mj-lt"/>
                <a:ea typeface="+mj-ea"/>
                <a:cs typeface="+mj-cs"/>
              </a:rPr>
              <a:t> SYNC/ASYNC</a:t>
            </a:r>
          </a:p>
        </p:txBody>
      </p:sp>
      <p:cxnSp>
        <p:nvCxnSpPr>
          <p:cNvPr id="761872" name="Straight Connector 761871">
            <a:extLst>
              <a:ext uri="{FF2B5EF4-FFF2-40B4-BE49-F238E27FC236}">
                <a16:creationId xmlns:a16="http://schemas.microsoft.com/office/drawing/2014/main" id="{46E49661-E258-450C-8150-A91A6B30D1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39605" y="1828800"/>
            <a:ext cx="0" cy="3200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8785" name="Slide Number Placeholder 5">
            <a:extLst>
              <a:ext uri="{FF2B5EF4-FFF2-40B4-BE49-F238E27FC236}">
                <a16:creationId xmlns:a16="http://schemas.microsoft.com/office/drawing/2014/main" id="{D25AB681-9A0A-1E14-93CA-1062C3806E99}"/>
              </a:ext>
            </a:extLst>
          </p:cNvPr>
          <p:cNvSpPr>
            <a:spLocks noGrp="1"/>
          </p:cNvSpPr>
          <p:nvPr>
            <p:ph type="sldNum" sz="quarter" idx="12"/>
          </p:nvPr>
        </p:nvSpPr>
        <p:spPr>
          <a:xfrm>
            <a:off x="10837333" y="6470704"/>
            <a:ext cx="973667" cy="27432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defTabSz="914400">
              <a:spcBef>
                <a:spcPct val="0"/>
              </a:spcBef>
              <a:spcAft>
                <a:spcPts val="600"/>
              </a:spcAft>
              <a:buFontTx/>
              <a:buNone/>
            </a:pPr>
            <a:fld id="{04135F33-AEE3-D348-AA3F-EFF69B27A822}" type="slidenum">
              <a:rPr lang="en-US" altLang="en-US" sz="1000">
                <a:latin typeface="+mj-lt"/>
              </a:rPr>
              <a:pPr defTabSz="914400">
                <a:spcBef>
                  <a:spcPct val="0"/>
                </a:spcBef>
                <a:spcAft>
                  <a:spcPts val="600"/>
                </a:spcAft>
                <a:buFontTx/>
                <a:buNone/>
              </a:pPr>
              <a:t>47</a:t>
            </a:fld>
            <a:endParaRPr lang="en-US" altLang="en-US" sz="1000">
              <a:latin typeface="+mj-lt"/>
            </a:endParaRPr>
          </a:p>
        </p:txBody>
      </p:sp>
    </p:spTree>
  </p:cSld>
  <p:clrMapOvr>
    <a:overrideClrMapping bg1="dk1" tx1="lt1" bg2="dk2" tx2="lt2" accent1="accent1" accent2="accent2" accent3="accent3" accent4="accent4" accent5="accent5" accent6="accent6" hlink="hlink" folHlink="folHlink"/>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Slide Number Placeholder 8">
            <a:extLst>
              <a:ext uri="{FF2B5EF4-FFF2-40B4-BE49-F238E27FC236}">
                <a16:creationId xmlns:a16="http://schemas.microsoft.com/office/drawing/2014/main" id="{AF6BAF92-7DA0-E164-E946-EBA4A78B5A7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4926649B-B4A2-4A42-ADA0-5F5A6A406FA6}" type="slidenum">
              <a:rPr lang="en-US" altLang="en-US" sz="900">
                <a:solidFill>
                  <a:schemeClr val="bg1"/>
                </a:solidFill>
              </a:rPr>
              <a:pPr>
                <a:spcBef>
                  <a:spcPct val="0"/>
                </a:spcBef>
                <a:buFontTx/>
                <a:buNone/>
              </a:pPr>
              <a:t>48</a:t>
            </a:fld>
            <a:endParaRPr lang="en-US" altLang="en-US" sz="900">
              <a:solidFill>
                <a:schemeClr val="bg1"/>
              </a:solidFill>
            </a:endParaRPr>
          </a:p>
        </p:txBody>
      </p:sp>
      <p:sp>
        <p:nvSpPr>
          <p:cNvPr id="769026" name="Rectangle 2">
            <a:extLst>
              <a:ext uri="{FF2B5EF4-FFF2-40B4-BE49-F238E27FC236}">
                <a16:creationId xmlns:a16="http://schemas.microsoft.com/office/drawing/2014/main" id="{777403E2-CB0F-364A-82D3-DC7E4BA64EB5}"/>
              </a:ext>
            </a:extLst>
          </p:cNvPr>
          <p:cNvSpPr>
            <a:spLocks noGrp="1" noChangeArrowheads="1"/>
          </p:cNvSpPr>
          <p:nvPr>
            <p:ph type="title" sz="quarter"/>
          </p:nvPr>
        </p:nvSpPr>
        <p:spPr>
          <a:xfrm>
            <a:off x="985078" y="1097756"/>
            <a:ext cx="10972800" cy="487363"/>
          </a:xfrm>
        </p:spPr>
        <p:txBody>
          <a:bodyPr vert="horz" lIns="91440" tIns="45720" rIns="91440" bIns="45720" rtlCol="0" anchor="ctr">
            <a:normAutofit fontScale="90000"/>
          </a:bodyPr>
          <a:lstStyle/>
          <a:p>
            <a:pPr>
              <a:spcAft>
                <a:spcPts val="600"/>
              </a:spcAft>
            </a:pPr>
            <a:r>
              <a:rPr lang="en-US" altLang="en-US" b="1">
                <a:ln w="3175" cmpd="sng">
                  <a:noFill/>
                </a:ln>
              </a:rPr>
              <a:t>Interac</a:t>
            </a:r>
            <a:r>
              <a:rPr lang="ro-RO" altLang="en-US" b="1">
                <a:ln w="3175" cmpd="sng">
                  <a:noFill/>
                </a:ln>
              </a:rPr>
              <a:t>ț</a:t>
            </a:r>
            <a:r>
              <a:rPr lang="en-US" altLang="en-US" b="1">
                <a:ln w="3175" cmpd="sng">
                  <a:noFill/>
                </a:ln>
              </a:rPr>
              <a:t>iunea</a:t>
            </a:r>
            <a:r>
              <a:rPr lang="en-US" altLang="en-US" b="1" dirty="0">
                <a:ln w="3175" cmpd="sng">
                  <a:noFill/>
                </a:ln>
              </a:rPr>
              <a:t> </a:t>
            </a:r>
            <a:r>
              <a:rPr lang="en-US" altLang="en-US" b="1">
                <a:ln w="3175" cmpd="sng">
                  <a:noFill/>
                </a:ln>
              </a:rPr>
              <a:t>Web Tradi</a:t>
            </a:r>
            <a:r>
              <a:rPr lang="ro-RO" altLang="en-US" b="1">
                <a:ln w="3175" cmpd="sng">
                  <a:noFill/>
                </a:ln>
              </a:rPr>
              <a:t>ț</a:t>
            </a:r>
            <a:r>
              <a:rPr lang="en-US" altLang="en-US" b="1">
                <a:ln w="3175" cmpd="sng">
                  <a:noFill/>
                </a:ln>
              </a:rPr>
              <a:t>ional</a:t>
            </a:r>
            <a:r>
              <a:rPr lang="ro-RO" altLang="en-US" b="1">
                <a:ln w="3175" cmpd="sng">
                  <a:noFill/>
                </a:ln>
              </a:rPr>
              <a:t>ă</a:t>
            </a:r>
            <a:endParaRPr lang="en-US" altLang="en-US" b="1" dirty="0">
              <a:ln w="3175" cmpd="sng">
                <a:noFill/>
              </a:ln>
            </a:endParaRPr>
          </a:p>
        </p:txBody>
      </p:sp>
      <p:pic>
        <p:nvPicPr>
          <p:cNvPr id="122883" name="Picture 3" descr="User sitting in front of and interacting with a computer.">
            <a:extLst>
              <a:ext uri="{FF2B5EF4-FFF2-40B4-BE49-F238E27FC236}">
                <a16:creationId xmlns:a16="http://schemas.microsoft.com/office/drawing/2014/main" id="{5DC1384F-7BF7-5E22-8053-4EC767326019}"/>
              </a:ext>
            </a:extLst>
          </p:cNvPr>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a:xfrm>
            <a:off x="1760538" y="2209800"/>
            <a:ext cx="2463800" cy="2514600"/>
          </a:xfrm>
        </p:spPr>
      </p:pic>
      <p:grpSp>
        <p:nvGrpSpPr>
          <p:cNvPr id="122884" name="Group 4" descr="Arrow from the user to the web server  representing a client request to the web server. ">
            <a:extLst>
              <a:ext uri="{FF2B5EF4-FFF2-40B4-BE49-F238E27FC236}">
                <a16:creationId xmlns:a16="http://schemas.microsoft.com/office/drawing/2014/main" id="{C74E8307-7A16-C5ED-1BD3-88C4C3765FC8}"/>
              </a:ext>
            </a:extLst>
          </p:cNvPr>
          <p:cNvGrpSpPr>
            <a:grpSpLocks/>
          </p:cNvGrpSpPr>
          <p:nvPr/>
        </p:nvGrpSpPr>
        <p:grpSpPr bwMode="auto">
          <a:xfrm>
            <a:off x="4608513" y="2514600"/>
            <a:ext cx="3124200" cy="457200"/>
            <a:chOff x="1943" y="1584"/>
            <a:chExt cx="1968" cy="288"/>
          </a:xfrm>
        </p:grpSpPr>
        <p:sp>
          <p:nvSpPr>
            <p:cNvPr id="122893" name="Line 5">
              <a:extLst>
                <a:ext uri="{FF2B5EF4-FFF2-40B4-BE49-F238E27FC236}">
                  <a16:creationId xmlns:a16="http://schemas.microsoft.com/office/drawing/2014/main" id="{74817CEF-0109-9A98-5114-BBDA86D6B43E}"/>
                </a:ext>
              </a:extLst>
            </p:cNvPr>
            <p:cNvSpPr>
              <a:spLocks noChangeShapeType="1"/>
            </p:cNvSpPr>
            <p:nvPr/>
          </p:nvSpPr>
          <p:spPr bwMode="auto">
            <a:xfrm>
              <a:off x="1943" y="1872"/>
              <a:ext cx="1968"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GB"/>
            </a:p>
          </p:txBody>
        </p:sp>
        <p:sp>
          <p:nvSpPr>
            <p:cNvPr id="122894" name="Text Box 6">
              <a:extLst>
                <a:ext uri="{FF2B5EF4-FFF2-40B4-BE49-F238E27FC236}">
                  <a16:creationId xmlns:a16="http://schemas.microsoft.com/office/drawing/2014/main" id="{A5BA791B-8058-FF30-A89C-F5D96F906DCC}"/>
                </a:ext>
              </a:extLst>
            </p:cNvPr>
            <p:cNvSpPr txBox="1">
              <a:spLocks noChangeArrowheads="1"/>
            </p:cNvSpPr>
            <p:nvPr/>
          </p:nvSpPr>
          <p:spPr bwMode="auto">
            <a:xfrm>
              <a:off x="2159" y="1584"/>
              <a:ext cx="13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
                  <a:schemeClr val="accent2"/>
                </a:buClr>
                <a:buFont typeface="Wingdings" pitchFamily="2" charset="2"/>
                <a:buNone/>
              </a:pPr>
              <a:r>
                <a:rPr lang="en-US" altLang="en-US" sz="1400">
                  <a:cs typeface="Arial" panose="020B0604020202020204" pitchFamily="34" charset="0"/>
                </a:rPr>
                <a:t>Clientul face o cerere http</a:t>
              </a:r>
            </a:p>
          </p:txBody>
        </p:sp>
      </p:grpSp>
      <p:grpSp>
        <p:nvGrpSpPr>
          <p:cNvPr id="122885" name="Group 7" descr="Web server">
            <a:extLst>
              <a:ext uri="{FF2B5EF4-FFF2-40B4-BE49-F238E27FC236}">
                <a16:creationId xmlns:a16="http://schemas.microsoft.com/office/drawing/2014/main" id="{CA7BB34C-378F-D8ED-5D4D-99BB9D4DAE59}"/>
              </a:ext>
            </a:extLst>
          </p:cNvPr>
          <p:cNvGrpSpPr>
            <a:grpSpLocks/>
          </p:cNvGrpSpPr>
          <p:nvPr/>
        </p:nvGrpSpPr>
        <p:grpSpPr bwMode="auto">
          <a:xfrm>
            <a:off x="7961313" y="2667000"/>
            <a:ext cx="1090612" cy="1828800"/>
            <a:chOff x="4055" y="1680"/>
            <a:chExt cx="687" cy="1152"/>
          </a:xfrm>
        </p:grpSpPr>
        <p:sp>
          <p:nvSpPr>
            <p:cNvPr id="122891" name="tower">
              <a:extLst>
                <a:ext uri="{FF2B5EF4-FFF2-40B4-BE49-F238E27FC236}">
                  <a16:creationId xmlns:a16="http://schemas.microsoft.com/office/drawing/2014/main" id="{C8930491-E9BD-8214-1D4D-D524440ABEE0}"/>
                </a:ext>
              </a:extLst>
            </p:cNvPr>
            <p:cNvSpPr>
              <a:spLocks noEditPoints="1" noChangeArrowheads="1"/>
            </p:cNvSpPr>
            <p:nvPr/>
          </p:nvSpPr>
          <p:spPr bwMode="auto">
            <a:xfrm>
              <a:off x="4199" y="1680"/>
              <a:ext cx="432" cy="96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450 w 21600"/>
                <a:gd name="T31" fmla="*/ 22545 h 21600"/>
                <a:gd name="T32" fmla="*/ 21500 w 21600"/>
                <a:gd name="T33" fmla="*/ 27000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FFFFCC"/>
            </a:solidFill>
            <a:ln w="9525">
              <a:solidFill>
                <a:srgbClr val="000000"/>
              </a:solidFill>
              <a:miter lim="800000"/>
              <a:headEnd/>
              <a:tailEnd/>
            </a:ln>
          </p:spPr>
          <p:txBody>
            <a:bodyPr/>
            <a:lstStyle/>
            <a:p>
              <a:endParaRPr lang="en-GB"/>
            </a:p>
          </p:txBody>
        </p:sp>
        <p:sp>
          <p:nvSpPr>
            <p:cNvPr id="122892" name="Text Box 9">
              <a:extLst>
                <a:ext uri="{FF2B5EF4-FFF2-40B4-BE49-F238E27FC236}">
                  <a16:creationId xmlns:a16="http://schemas.microsoft.com/office/drawing/2014/main" id="{5C448735-606C-66F4-2A2F-3120A2DBC98A}"/>
                </a:ext>
              </a:extLst>
            </p:cNvPr>
            <p:cNvSpPr txBox="1">
              <a:spLocks noChangeArrowheads="1"/>
            </p:cNvSpPr>
            <p:nvPr/>
          </p:nvSpPr>
          <p:spPr bwMode="auto">
            <a:xfrm>
              <a:off x="4055" y="2640"/>
              <a:ext cx="68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
                  <a:schemeClr val="accent2"/>
                </a:buClr>
                <a:buFont typeface="Wingdings" pitchFamily="2" charset="2"/>
                <a:buNone/>
              </a:pPr>
              <a:r>
                <a:rPr lang="en-US" altLang="en-US" sz="1400">
                  <a:cs typeface="Arial" panose="020B0604020202020204" pitchFamily="34" charset="0"/>
                </a:rPr>
                <a:t>Web server</a:t>
              </a:r>
            </a:p>
          </p:txBody>
        </p:sp>
      </p:grpSp>
      <p:grpSp>
        <p:nvGrpSpPr>
          <p:cNvPr id="122886" name="Group 10" descr="Arrow from web server back to user representing the return of information from the web server back to the user.">
            <a:extLst>
              <a:ext uri="{FF2B5EF4-FFF2-40B4-BE49-F238E27FC236}">
                <a16:creationId xmlns:a16="http://schemas.microsoft.com/office/drawing/2014/main" id="{2009379C-D0A3-0437-8892-AAA41540F2F1}"/>
              </a:ext>
            </a:extLst>
          </p:cNvPr>
          <p:cNvGrpSpPr>
            <a:grpSpLocks/>
          </p:cNvGrpSpPr>
          <p:nvPr/>
        </p:nvGrpSpPr>
        <p:grpSpPr bwMode="auto">
          <a:xfrm>
            <a:off x="4608513" y="3270250"/>
            <a:ext cx="3124200" cy="996950"/>
            <a:chOff x="1943" y="2060"/>
            <a:chExt cx="1968" cy="628"/>
          </a:xfrm>
        </p:grpSpPr>
        <p:sp>
          <p:nvSpPr>
            <p:cNvPr id="122888" name="Text Box 11">
              <a:extLst>
                <a:ext uri="{FF2B5EF4-FFF2-40B4-BE49-F238E27FC236}">
                  <a16:creationId xmlns:a16="http://schemas.microsoft.com/office/drawing/2014/main" id="{D1CC7285-B33B-A4C0-885B-D0EBBC924650}"/>
                </a:ext>
              </a:extLst>
            </p:cNvPr>
            <p:cNvSpPr txBox="1">
              <a:spLocks noChangeArrowheads="1"/>
            </p:cNvSpPr>
            <p:nvPr/>
          </p:nvSpPr>
          <p:spPr bwMode="auto">
            <a:xfrm>
              <a:off x="2005" y="2496"/>
              <a:ext cx="16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
                  <a:schemeClr val="accent2"/>
                </a:buClr>
                <a:buFont typeface="Wingdings" pitchFamily="2" charset="2"/>
                <a:buNone/>
              </a:pPr>
              <a:r>
                <a:rPr lang="en-US" altLang="en-US" sz="1400">
                  <a:cs typeface="Arial" panose="020B0604020202020204" pitchFamily="34" charset="0"/>
                </a:rPr>
                <a:t>Serverul intoarce o noua pagina</a:t>
              </a:r>
            </a:p>
          </p:txBody>
        </p:sp>
        <p:sp>
          <p:nvSpPr>
            <p:cNvPr id="122889" name="Line 12">
              <a:extLst>
                <a:ext uri="{FF2B5EF4-FFF2-40B4-BE49-F238E27FC236}">
                  <a16:creationId xmlns:a16="http://schemas.microsoft.com/office/drawing/2014/main" id="{EC7B67C3-745C-A8B7-62F8-DEC77F6E1D11}"/>
                </a:ext>
              </a:extLst>
            </p:cNvPr>
            <p:cNvSpPr>
              <a:spLocks noChangeShapeType="1"/>
            </p:cNvSpPr>
            <p:nvPr/>
          </p:nvSpPr>
          <p:spPr bwMode="auto">
            <a:xfrm flipH="1" flipV="1">
              <a:off x="1943" y="2352"/>
              <a:ext cx="1968"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GB"/>
            </a:p>
          </p:txBody>
        </p:sp>
        <p:pic>
          <p:nvPicPr>
            <p:cNvPr id="122890" name="Picture 13" descr="page">
              <a:extLst>
                <a:ext uri="{FF2B5EF4-FFF2-40B4-BE49-F238E27FC236}">
                  <a16:creationId xmlns:a16="http://schemas.microsoft.com/office/drawing/2014/main" id="{C05CC482-8165-539D-022E-AF263C61AC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8" y="2060"/>
              <a:ext cx="268" cy="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2887" name="Footer Placeholder 4">
            <a:extLst>
              <a:ext uri="{FF2B5EF4-FFF2-40B4-BE49-F238E27FC236}">
                <a16:creationId xmlns:a16="http://schemas.microsoft.com/office/drawing/2014/main" id="{F6C0A971-F86D-2A61-A786-63E8A9AE524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900">
                <a:solidFill>
                  <a:schemeClr val="bg1"/>
                </a:solidFill>
              </a:rPr>
              <a:t>Curs Programare Web, anul 4 C5 – Curs 5</a:t>
            </a:r>
          </a:p>
        </p:txBody>
      </p:sp>
    </p:spTree>
  </p:cSld>
  <p:clrMapOvr>
    <a:masterClrMapping/>
  </p:clrMapOvr>
  <p:transition advTm="36720"/>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Slide Number Placeholder 6">
            <a:extLst>
              <a:ext uri="{FF2B5EF4-FFF2-40B4-BE49-F238E27FC236}">
                <a16:creationId xmlns:a16="http://schemas.microsoft.com/office/drawing/2014/main" id="{B9FBF456-EA9D-B9EE-B736-B841D818965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C31683F2-31DD-4E47-85AF-BCE63D116EB6}" type="slidenum">
              <a:rPr lang="en-US" altLang="en-US" sz="900">
                <a:solidFill>
                  <a:schemeClr val="bg1"/>
                </a:solidFill>
              </a:rPr>
              <a:pPr>
                <a:spcBef>
                  <a:spcPct val="0"/>
                </a:spcBef>
                <a:buFontTx/>
                <a:buNone/>
              </a:pPr>
              <a:t>49</a:t>
            </a:fld>
            <a:endParaRPr lang="en-US" altLang="en-US" sz="900">
              <a:solidFill>
                <a:schemeClr val="bg1"/>
              </a:solidFill>
            </a:endParaRPr>
          </a:p>
        </p:txBody>
      </p:sp>
      <p:sp>
        <p:nvSpPr>
          <p:cNvPr id="771074" name="Rectangle 2">
            <a:extLst>
              <a:ext uri="{FF2B5EF4-FFF2-40B4-BE49-F238E27FC236}">
                <a16:creationId xmlns:a16="http://schemas.microsoft.com/office/drawing/2014/main" id="{0F77F8E9-0B35-404C-85F1-6635811B47C9}"/>
              </a:ext>
            </a:extLst>
          </p:cNvPr>
          <p:cNvSpPr>
            <a:spLocks noGrp="1" noChangeArrowheads="1"/>
          </p:cNvSpPr>
          <p:nvPr>
            <p:ph type="title"/>
          </p:nvPr>
        </p:nvSpPr>
        <p:spPr>
          <a:xfrm>
            <a:off x="1024127" y="585216"/>
            <a:ext cx="10598029" cy="1499616"/>
          </a:xfrm>
        </p:spPr>
        <p:txBody>
          <a:bodyPr vert="horz" lIns="91440" tIns="45720" rIns="91440" bIns="45720" rtlCol="0" anchor="ctr">
            <a:normAutofit/>
          </a:bodyPr>
          <a:lstStyle/>
          <a:p>
            <a:pPr>
              <a:spcAft>
                <a:spcPts val="600"/>
              </a:spcAft>
            </a:pPr>
            <a:r>
              <a:rPr lang="en-US" b="1" dirty="0">
                <a:ln w="3175" cmpd="sng">
                  <a:noFill/>
                </a:ln>
              </a:rPr>
              <a:t>Cum </a:t>
            </a:r>
            <a:r>
              <a:rPr lang="en-US" b="1" dirty="0" err="1">
                <a:ln w="3175" cmpd="sng">
                  <a:noFill/>
                </a:ln>
              </a:rPr>
              <a:t>func</a:t>
            </a:r>
            <a:r>
              <a:rPr lang="ro-RO" b="1" dirty="0">
                <a:ln w="3175" cmpd="sng">
                  <a:noFill/>
                </a:ln>
              </a:rPr>
              <a:t>ț</a:t>
            </a:r>
            <a:r>
              <a:rPr lang="en-US" b="1" dirty="0" err="1">
                <a:ln w="3175" cmpd="sng">
                  <a:noFill/>
                </a:ln>
              </a:rPr>
              <a:t>ioneaz</a:t>
            </a:r>
            <a:r>
              <a:rPr lang="ro-RO" b="1" dirty="0">
                <a:ln w="3175" cmpd="sng">
                  <a:noFill/>
                </a:ln>
              </a:rPr>
              <a:t>ă</a:t>
            </a:r>
            <a:r>
              <a:rPr lang="en-US" b="1" dirty="0">
                <a:ln w="3175" cmpd="sng">
                  <a:noFill/>
                </a:ln>
              </a:rPr>
              <a:t> </a:t>
            </a:r>
            <a:r>
              <a:rPr lang="en-US" b="1" dirty="0" err="1">
                <a:ln w="3175" cmpd="sng">
                  <a:noFill/>
                </a:ln>
              </a:rPr>
              <a:t>comunicarea</a:t>
            </a:r>
            <a:r>
              <a:rPr lang="en-US" b="1" dirty="0">
                <a:ln w="3175" cmpd="sng">
                  <a:noFill/>
                </a:ln>
              </a:rPr>
              <a:t> async</a:t>
            </a:r>
          </a:p>
        </p:txBody>
      </p:sp>
      <p:pic>
        <p:nvPicPr>
          <p:cNvPr id="124931" name="Picture 3" descr="User sitting in front of and interacting with a computer.">
            <a:extLst>
              <a:ext uri="{FF2B5EF4-FFF2-40B4-BE49-F238E27FC236}">
                <a16:creationId xmlns:a16="http://schemas.microsoft.com/office/drawing/2014/main" id="{B3AC8444-3B73-03A6-554D-7C686F8F76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2057400"/>
            <a:ext cx="24638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4932" name="Group 4" descr="Web Server">
            <a:extLst>
              <a:ext uri="{FF2B5EF4-FFF2-40B4-BE49-F238E27FC236}">
                <a16:creationId xmlns:a16="http://schemas.microsoft.com/office/drawing/2014/main" id="{083ABAAC-2422-CF82-2B3F-7EAD0F544847}"/>
              </a:ext>
            </a:extLst>
          </p:cNvPr>
          <p:cNvGrpSpPr>
            <a:grpSpLocks/>
          </p:cNvGrpSpPr>
          <p:nvPr/>
        </p:nvGrpSpPr>
        <p:grpSpPr bwMode="auto">
          <a:xfrm>
            <a:off x="8534401" y="2286000"/>
            <a:ext cx="1090613" cy="1828800"/>
            <a:chOff x="4416" y="1440"/>
            <a:chExt cx="687" cy="1152"/>
          </a:xfrm>
        </p:grpSpPr>
        <p:sp>
          <p:nvSpPr>
            <p:cNvPr id="124948" name="tower">
              <a:extLst>
                <a:ext uri="{FF2B5EF4-FFF2-40B4-BE49-F238E27FC236}">
                  <a16:creationId xmlns:a16="http://schemas.microsoft.com/office/drawing/2014/main" id="{1B50B885-B357-3580-239B-E423354C2F95}"/>
                </a:ext>
              </a:extLst>
            </p:cNvPr>
            <p:cNvSpPr>
              <a:spLocks noEditPoints="1" noChangeArrowheads="1"/>
            </p:cNvSpPr>
            <p:nvPr/>
          </p:nvSpPr>
          <p:spPr bwMode="auto">
            <a:xfrm>
              <a:off x="4560" y="1440"/>
              <a:ext cx="432" cy="96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450 w 21600"/>
                <a:gd name="T31" fmla="*/ 22545 h 21600"/>
                <a:gd name="T32" fmla="*/ 21500 w 21600"/>
                <a:gd name="T33" fmla="*/ 27000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FFFFCC"/>
            </a:solidFill>
            <a:ln w="9525">
              <a:solidFill>
                <a:srgbClr val="000000"/>
              </a:solidFill>
              <a:miter lim="800000"/>
              <a:headEnd/>
              <a:tailEnd/>
            </a:ln>
          </p:spPr>
          <p:txBody>
            <a:bodyPr/>
            <a:lstStyle/>
            <a:p>
              <a:endParaRPr lang="en-GB"/>
            </a:p>
          </p:txBody>
        </p:sp>
        <p:sp>
          <p:nvSpPr>
            <p:cNvPr id="124949" name="Text Box 6">
              <a:extLst>
                <a:ext uri="{FF2B5EF4-FFF2-40B4-BE49-F238E27FC236}">
                  <a16:creationId xmlns:a16="http://schemas.microsoft.com/office/drawing/2014/main" id="{43CDF7E7-11A3-9737-5827-6C624C66A53B}"/>
                </a:ext>
              </a:extLst>
            </p:cNvPr>
            <p:cNvSpPr txBox="1">
              <a:spLocks noChangeArrowheads="1"/>
            </p:cNvSpPr>
            <p:nvPr/>
          </p:nvSpPr>
          <p:spPr bwMode="auto">
            <a:xfrm>
              <a:off x="4416" y="2400"/>
              <a:ext cx="68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
                  <a:schemeClr val="accent2"/>
                </a:buClr>
                <a:buFont typeface="Wingdings" pitchFamily="2" charset="2"/>
                <a:buNone/>
              </a:pPr>
              <a:r>
                <a:rPr lang="en-US" altLang="en-US" sz="1400">
                  <a:cs typeface="Arial" panose="020B0604020202020204" pitchFamily="34" charset="0"/>
                </a:rPr>
                <a:t>Web server</a:t>
              </a:r>
            </a:p>
          </p:txBody>
        </p:sp>
      </p:grpSp>
      <p:grpSp>
        <p:nvGrpSpPr>
          <p:cNvPr id="124933" name="Group 7" descr="Arrow from the user to the web server  representing a client request to the web server for a specific piece of information.">
            <a:extLst>
              <a:ext uri="{FF2B5EF4-FFF2-40B4-BE49-F238E27FC236}">
                <a16:creationId xmlns:a16="http://schemas.microsoft.com/office/drawing/2014/main" id="{94EA8427-25E6-1277-7504-7C6218EAA9F3}"/>
              </a:ext>
            </a:extLst>
          </p:cNvPr>
          <p:cNvGrpSpPr>
            <a:grpSpLocks/>
          </p:cNvGrpSpPr>
          <p:nvPr/>
        </p:nvGrpSpPr>
        <p:grpSpPr bwMode="auto">
          <a:xfrm>
            <a:off x="4756151" y="2286000"/>
            <a:ext cx="3522663" cy="457200"/>
            <a:chOff x="2036" y="1440"/>
            <a:chExt cx="2219" cy="288"/>
          </a:xfrm>
        </p:grpSpPr>
        <p:sp>
          <p:nvSpPr>
            <p:cNvPr id="124946" name="Line 8">
              <a:extLst>
                <a:ext uri="{FF2B5EF4-FFF2-40B4-BE49-F238E27FC236}">
                  <a16:creationId xmlns:a16="http://schemas.microsoft.com/office/drawing/2014/main" id="{A2EC5C7F-774A-35F6-36FA-62CA05234697}"/>
                </a:ext>
              </a:extLst>
            </p:cNvPr>
            <p:cNvSpPr>
              <a:spLocks noChangeShapeType="1"/>
            </p:cNvSpPr>
            <p:nvPr/>
          </p:nvSpPr>
          <p:spPr bwMode="auto">
            <a:xfrm>
              <a:off x="2112" y="1728"/>
              <a:ext cx="1968"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GB"/>
            </a:p>
          </p:txBody>
        </p:sp>
        <p:sp>
          <p:nvSpPr>
            <p:cNvPr id="124947" name="Text Box 9">
              <a:extLst>
                <a:ext uri="{FF2B5EF4-FFF2-40B4-BE49-F238E27FC236}">
                  <a16:creationId xmlns:a16="http://schemas.microsoft.com/office/drawing/2014/main" id="{2F087C55-FD00-1052-DCC4-8E6419A87343}"/>
                </a:ext>
              </a:extLst>
            </p:cNvPr>
            <p:cNvSpPr txBox="1">
              <a:spLocks noChangeArrowheads="1"/>
            </p:cNvSpPr>
            <p:nvPr/>
          </p:nvSpPr>
          <p:spPr bwMode="auto">
            <a:xfrm>
              <a:off x="2036" y="1440"/>
              <a:ext cx="221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
                  <a:schemeClr val="accent2"/>
                </a:buClr>
                <a:buFont typeface="Wingdings" pitchFamily="2" charset="2"/>
                <a:buNone/>
              </a:pPr>
              <a:r>
                <a:rPr lang="en-US" altLang="en-US" sz="1400">
                  <a:cs typeface="Arial" panose="020B0604020202020204" pitchFamily="34" charset="0"/>
                </a:rPr>
                <a:t>Clientul face o cerere http pentru informatii</a:t>
              </a:r>
            </a:p>
          </p:txBody>
        </p:sp>
      </p:grpSp>
      <p:grpSp>
        <p:nvGrpSpPr>
          <p:cNvPr id="124934" name="Group 10" descr="Arrow from web server back to user representing the return of a specific piece of information from the web server back to the user. The specific information is represented as a portion of a page. ">
            <a:extLst>
              <a:ext uri="{FF2B5EF4-FFF2-40B4-BE49-F238E27FC236}">
                <a16:creationId xmlns:a16="http://schemas.microsoft.com/office/drawing/2014/main" id="{E3421CC8-8D2E-EB5E-6D2E-7CF68D04F4CA}"/>
              </a:ext>
            </a:extLst>
          </p:cNvPr>
          <p:cNvGrpSpPr>
            <a:grpSpLocks/>
          </p:cNvGrpSpPr>
          <p:nvPr/>
        </p:nvGrpSpPr>
        <p:grpSpPr bwMode="auto">
          <a:xfrm>
            <a:off x="4495800" y="3200400"/>
            <a:ext cx="3733800" cy="655638"/>
            <a:chOff x="1872" y="2016"/>
            <a:chExt cx="2352" cy="413"/>
          </a:xfrm>
        </p:grpSpPr>
        <p:pic>
          <p:nvPicPr>
            <p:cNvPr id="124942" name="Picture 11" descr="page_part">
              <a:extLst>
                <a:ext uri="{FF2B5EF4-FFF2-40B4-BE49-F238E27FC236}">
                  <a16:creationId xmlns:a16="http://schemas.microsoft.com/office/drawing/2014/main" id="{0442C5F9-C9EC-138E-0EE0-7CFBE9321C5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68" y="2016"/>
              <a:ext cx="17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43" name="Line 12">
              <a:extLst>
                <a:ext uri="{FF2B5EF4-FFF2-40B4-BE49-F238E27FC236}">
                  <a16:creationId xmlns:a16="http://schemas.microsoft.com/office/drawing/2014/main" id="{6C877313-BB33-9E2F-4E46-AC1DA1CC6B73}"/>
                </a:ext>
              </a:extLst>
            </p:cNvPr>
            <p:cNvSpPr>
              <a:spLocks noChangeShapeType="1"/>
            </p:cNvSpPr>
            <p:nvPr/>
          </p:nvSpPr>
          <p:spPr bwMode="auto">
            <a:xfrm flipH="1" flipV="1">
              <a:off x="2256" y="2112"/>
              <a:ext cx="1968"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GB"/>
            </a:p>
          </p:txBody>
        </p:sp>
        <p:pic>
          <p:nvPicPr>
            <p:cNvPr id="124944" name="Picture 13" descr="page_75">
              <a:extLst>
                <a:ext uri="{FF2B5EF4-FFF2-40B4-BE49-F238E27FC236}">
                  <a16:creationId xmlns:a16="http://schemas.microsoft.com/office/drawing/2014/main" id="{2496AA0E-938F-99D6-D79E-A99C24BCEF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72" y="2016"/>
              <a:ext cx="31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45" name="Text Box 14">
              <a:extLst>
                <a:ext uri="{FF2B5EF4-FFF2-40B4-BE49-F238E27FC236}">
                  <a16:creationId xmlns:a16="http://schemas.microsoft.com/office/drawing/2014/main" id="{2153C684-38B2-E1AE-1124-682989A94538}"/>
                </a:ext>
              </a:extLst>
            </p:cNvPr>
            <p:cNvSpPr txBox="1">
              <a:spLocks noChangeArrowheads="1"/>
            </p:cNvSpPr>
            <p:nvPr/>
          </p:nvSpPr>
          <p:spPr bwMode="auto">
            <a:xfrm>
              <a:off x="2423" y="2256"/>
              <a:ext cx="162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
                  <a:schemeClr val="accent2"/>
                </a:buClr>
                <a:buFont typeface="Wingdings" pitchFamily="2" charset="2"/>
                <a:buNone/>
              </a:pPr>
              <a:r>
                <a:rPr lang="en-US" altLang="en-US" sz="1200">
                  <a:cs typeface="Arial" panose="020B0604020202020204" pitchFamily="34" charset="0"/>
                </a:rPr>
                <a:t>Serverul intoarce informatiile cerute</a:t>
              </a:r>
            </a:p>
          </p:txBody>
        </p:sp>
      </p:grpSp>
      <p:grpSp>
        <p:nvGrpSpPr>
          <p:cNvPr id="5" name="Group 15" descr="Additional examples of pieces of information returned from the web server to the user, representing multiple requests for information being served.">
            <a:extLst>
              <a:ext uri="{FF2B5EF4-FFF2-40B4-BE49-F238E27FC236}">
                <a16:creationId xmlns:a16="http://schemas.microsoft.com/office/drawing/2014/main" id="{0E2D8B9C-BAAD-E962-64B4-99C2AFCEE674}"/>
              </a:ext>
            </a:extLst>
          </p:cNvPr>
          <p:cNvGrpSpPr>
            <a:grpSpLocks/>
          </p:cNvGrpSpPr>
          <p:nvPr/>
        </p:nvGrpSpPr>
        <p:grpSpPr bwMode="auto">
          <a:xfrm>
            <a:off x="5257800" y="4343401"/>
            <a:ext cx="3276600" cy="1427163"/>
            <a:chOff x="2352" y="2208"/>
            <a:chExt cx="2064" cy="899"/>
          </a:xfrm>
        </p:grpSpPr>
        <p:pic>
          <p:nvPicPr>
            <p:cNvPr id="124937" name="Picture 16" descr="page_part_left">
              <a:extLst>
                <a:ext uri="{FF2B5EF4-FFF2-40B4-BE49-F238E27FC236}">
                  <a16:creationId xmlns:a16="http://schemas.microsoft.com/office/drawing/2014/main" id="{5174C252-D047-15B0-4977-3F0BFBC7F31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24" y="2385"/>
              <a:ext cx="228"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38" name="Line 17">
              <a:extLst>
                <a:ext uri="{FF2B5EF4-FFF2-40B4-BE49-F238E27FC236}">
                  <a16:creationId xmlns:a16="http://schemas.microsoft.com/office/drawing/2014/main" id="{5C2517CC-2643-D80A-A2FB-268A10D03635}"/>
                </a:ext>
              </a:extLst>
            </p:cNvPr>
            <p:cNvSpPr>
              <a:spLocks noChangeShapeType="1"/>
            </p:cNvSpPr>
            <p:nvPr/>
          </p:nvSpPr>
          <p:spPr bwMode="auto">
            <a:xfrm flipH="1">
              <a:off x="2352" y="2208"/>
              <a:ext cx="1968" cy="192"/>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GB"/>
            </a:p>
          </p:txBody>
        </p:sp>
        <p:sp>
          <p:nvSpPr>
            <p:cNvPr id="124939" name="Line 18">
              <a:extLst>
                <a:ext uri="{FF2B5EF4-FFF2-40B4-BE49-F238E27FC236}">
                  <a16:creationId xmlns:a16="http://schemas.microsoft.com/office/drawing/2014/main" id="{ED8A03B7-90CC-379F-9142-F5C35860F701}"/>
                </a:ext>
              </a:extLst>
            </p:cNvPr>
            <p:cNvSpPr>
              <a:spLocks noChangeShapeType="1"/>
            </p:cNvSpPr>
            <p:nvPr/>
          </p:nvSpPr>
          <p:spPr bwMode="auto">
            <a:xfrm flipH="1">
              <a:off x="2448" y="2304"/>
              <a:ext cx="1968" cy="384"/>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GB"/>
            </a:p>
          </p:txBody>
        </p:sp>
        <p:pic>
          <p:nvPicPr>
            <p:cNvPr id="124940" name="Picture 19" descr="page_part">
              <a:extLst>
                <a:ext uri="{FF2B5EF4-FFF2-40B4-BE49-F238E27FC236}">
                  <a16:creationId xmlns:a16="http://schemas.microsoft.com/office/drawing/2014/main" id="{9BD70F36-C389-BFD6-D35F-25627FF747E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45" y="2713"/>
              <a:ext cx="227"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41" name="Text Box 20">
              <a:extLst>
                <a:ext uri="{FF2B5EF4-FFF2-40B4-BE49-F238E27FC236}">
                  <a16:creationId xmlns:a16="http://schemas.microsoft.com/office/drawing/2014/main" id="{221FC105-6BA8-E0C1-02E8-3FEEC23607C2}"/>
                </a:ext>
              </a:extLst>
            </p:cNvPr>
            <p:cNvSpPr txBox="1">
              <a:spLocks noChangeArrowheads="1"/>
            </p:cNvSpPr>
            <p:nvPr/>
          </p:nvSpPr>
          <p:spPr bwMode="auto">
            <a:xfrm>
              <a:off x="2748" y="2784"/>
              <a:ext cx="131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
                  <a:schemeClr val="accent2"/>
                </a:buClr>
                <a:buFont typeface="Wingdings" pitchFamily="2" charset="2"/>
                <a:buNone/>
              </a:pPr>
              <a:r>
                <a:rPr lang="en-US" altLang="en-US" sz="1200">
                  <a:cs typeface="Arial" panose="020B0604020202020204" pitchFamily="34" charset="0"/>
                </a:rPr>
                <a:t>Mai multe cereri sunt servite</a:t>
              </a:r>
            </a:p>
          </p:txBody>
        </p:sp>
      </p:grpSp>
      <p:sp>
        <p:nvSpPr>
          <p:cNvPr id="124936" name="Footer Placeholder 4">
            <a:extLst>
              <a:ext uri="{FF2B5EF4-FFF2-40B4-BE49-F238E27FC236}">
                <a16:creationId xmlns:a16="http://schemas.microsoft.com/office/drawing/2014/main" id="{6996AC4C-F111-146E-EBED-807D4044B40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900">
                <a:solidFill>
                  <a:schemeClr val="bg1"/>
                </a:solidFill>
              </a:rPr>
              <a:t>Curs Programare Web, anul 4 C5 – Curs 5</a:t>
            </a:r>
          </a:p>
        </p:txBody>
      </p:sp>
    </p:spTree>
    <p:custDataLst>
      <p:tags r:id="rId1"/>
    </p:custDataLst>
  </p:cSld>
  <p:clrMapOvr>
    <a:masterClrMapping/>
  </p:clrMapOvr>
  <p:transition advTm="7936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6AF6876-75A5-4E08-8978-1CEF665C3C00}"/>
              </a:ext>
            </a:extLst>
          </p:cNvPr>
          <p:cNvSpPr txBox="1">
            <a:spLocks/>
          </p:cNvSpPr>
          <p:nvPr/>
        </p:nvSpPr>
        <p:spPr>
          <a:xfrm>
            <a:off x="1024128" y="325601"/>
            <a:ext cx="8018272" cy="1499616"/>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defTabSz="914400">
              <a:lnSpc>
                <a:spcPct val="80000"/>
              </a:lnSpc>
              <a:spcAft>
                <a:spcPts val="600"/>
              </a:spcAft>
            </a:pPr>
            <a:r>
              <a:rPr lang="en-US" sz="5000" b="1" spc="100" dirty="0" err="1">
                <a:solidFill>
                  <a:schemeClr val="tx1">
                    <a:lumMod val="95000"/>
                    <a:lumOff val="5000"/>
                  </a:schemeClr>
                </a:solidFill>
              </a:rPr>
              <a:t>Comportament</a:t>
            </a:r>
            <a:r>
              <a:rPr lang="en-US" sz="5000" b="1" spc="100" dirty="0">
                <a:solidFill>
                  <a:schemeClr val="tx1">
                    <a:lumMod val="95000"/>
                    <a:lumOff val="5000"/>
                  </a:schemeClr>
                </a:solidFill>
              </a:rPr>
              <a:t> </a:t>
            </a:r>
            <a:r>
              <a:rPr lang="en-US" sz="5000" b="1" spc="100" dirty="0" err="1">
                <a:solidFill>
                  <a:schemeClr val="tx1">
                    <a:lumMod val="95000"/>
                    <a:lumOff val="5000"/>
                  </a:schemeClr>
                </a:solidFill>
              </a:rPr>
              <a:t>asincron</a:t>
            </a:r>
            <a:r>
              <a:rPr lang="en-US" sz="5000" b="1" spc="100" dirty="0">
                <a:solidFill>
                  <a:schemeClr val="tx1">
                    <a:lumMod val="95000"/>
                    <a:lumOff val="5000"/>
                  </a:schemeClr>
                </a:solidFill>
              </a:rPr>
              <a:t>.</a:t>
            </a:r>
          </a:p>
        </p:txBody>
      </p:sp>
      <p:sp>
        <p:nvSpPr>
          <p:cNvPr id="3" name="Content Placeholder 2">
            <a:extLst>
              <a:ext uri="{FF2B5EF4-FFF2-40B4-BE49-F238E27FC236}">
                <a16:creationId xmlns:a16="http://schemas.microsoft.com/office/drawing/2014/main" id="{37C844EF-F2ED-4608-A8B6-7ADB87DA631F}"/>
              </a:ext>
            </a:extLst>
          </p:cNvPr>
          <p:cNvSpPr>
            <a:spLocks noGrp="1"/>
          </p:cNvSpPr>
          <p:nvPr>
            <p:ph idx="1"/>
          </p:nvPr>
        </p:nvSpPr>
        <p:spPr>
          <a:xfrm>
            <a:off x="1024128" y="1562030"/>
            <a:ext cx="8384915" cy="5066837"/>
          </a:xfrm>
        </p:spPr>
        <p:txBody>
          <a:bodyPr vert="horz" lIns="45720" tIns="45720" rIns="45720" bIns="45720" rtlCol="0">
            <a:normAutofit fontScale="92500" lnSpcReduction="10000"/>
          </a:bodyPr>
          <a:lstStyle/>
          <a:p>
            <a:pPr>
              <a:lnSpc>
                <a:spcPct val="100000"/>
              </a:lnSpc>
              <a:spcBef>
                <a:spcPts val="600"/>
              </a:spcBef>
              <a:spcAft>
                <a:spcPts val="600"/>
              </a:spcAft>
            </a:pPr>
            <a:r>
              <a:rPr lang="ro-RO" sz="1800" b="1" dirty="0" err="1"/>
              <a:t>JavaScript</a:t>
            </a:r>
            <a:r>
              <a:rPr lang="ro-RO" sz="1800" dirty="0"/>
              <a:t> rulează pe un singur </a:t>
            </a:r>
            <a:r>
              <a:rPr lang="ro-RO" sz="1800" dirty="0" err="1"/>
              <a:t>thread</a:t>
            </a:r>
            <a:endParaRPr lang="ro-RO" sz="1800" dirty="0"/>
          </a:p>
          <a:p>
            <a:pPr>
              <a:lnSpc>
                <a:spcPct val="100000"/>
              </a:lnSpc>
              <a:spcBef>
                <a:spcPts val="600"/>
              </a:spcBef>
              <a:spcAft>
                <a:spcPts val="600"/>
              </a:spcAft>
            </a:pPr>
            <a:r>
              <a:rPr lang="ro-RO" sz="1800" dirty="0"/>
              <a:t>Prezintă elemente de programare </a:t>
            </a:r>
            <a:r>
              <a:rPr lang="ro-RO" sz="1800" b="1" dirty="0"/>
              <a:t>asincronă</a:t>
            </a:r>
            <a:r>
              <a:rPr lang="ro-RO" sz="1800" dirty="0"/>
              <a:t> și </a:t>
            </a:r>
            <a:r>
              <a:rPr lang="ro-RO" sz="1800" b="1" dirty="0"/>
              <a:t>reactivă</a:t>
            </a:r>
          </a:p>
          <a:p>
            <a:pPr>
              <a:lnSpc>
                <a:spcPct val="100000"/>
              </a:lnSpc>
              <a:spcBef>
                <a:spcPts val="600"/>
              </a:spcBef>
              <a:spcAft>
                <a:spcPts val="600"/>
              </a:spcAft>
            </a:pPr>
            <a:r>
              <a:rPr lang="ro-RO" sz="1800" dirty="0"/>
              <a:t>Natura asincronă este datorată comportamentului </a:t>
            </a:r>
            <a:r>
              <a:rPr lang="ro-RO" sz="1800" dirty="0" err="1"/>
              <a:t>browserului</a:t>
            </a:r>
            <a:endParaRPr lang="ro-RO" sz="1800" dirty="0"/>
          </a:p>
          <a:p>
            <a:pPr lvl="1">
              <a:lnSpc>
                <a:spcPct val="100000"/>
              </a:lnSpc>
              <a:spcBef>
                <a:spcPts val="600"/>
              </a:spcBef>
              <a:spcAft>
                <a:spcPts val="600"/>
              </a:spcAft>
            </a:pPr>
            <a:r>
              <a:rPr lang="ro-RO" dirty="0"/>
              <a:t>Cererile HTTP complexe sau diversele operații intensive computațional nu trebuie să blocheze pagina</a:t>
            </a:r>
          </a:p>
          <a:p>
            <a:pPr lvl="1">
              <a:lnSpc>
                <a:spcPct val="100000"/>
              </a:lnSpc>
              <a:spcBef>
                <a:spcPts val="600"/>
              </a:spcBef>
              <a:spcAft>
                <a:spcPts val="600"/>
              </a:spcAft>
            </a:pPr>
            <a:r>
              <a:rPr lang="ro-RO" dirty="0"/>
              <a:t>E.g.: o cerere către un API care caută un element într-o bază de date cu 100.000 de înregistrări. Daca </a:t>
            </a:r>
            <a:r>
              <a:rPr lang="ro-RO" dirty="0" err="1"/>
              <a:t>browserul</a:t>
            </a:r>
            <a:r>
              <a:rPr lang="ro-RO" dirty="0"/>
              <a:t> ar aștepta după terminarea funcției, pagina s-ar bloca</a:t>
            </a:r>
          </a:p>
          <a:p>
            <a:pPr>
              <a:lnSpc>
                <a:spcPct val="100000"/>
              </a:lnSpc>
              <a:spcBef>
                <a:spcPts val="600"/>
              </a:spcBef>
              <a:spcAft>
                <a:spcPts val="600"/>
              </a:spcAft>
            </a:pPr>
            <a:r>
              <a:rPr lang="ro-RO" sz="1800" dirty="0"/>
              <a:t>Atunci când o funcție</a:t>
            </a:r>
            <a:r>
              <a:rPr lang="ro-RO" sz="1800" b="1" dirty="0"/>
              <a:t> asincronă</a:t>
            </a:r>
            <a:r>
              <a:rPr lang="ro-RO" sz="1800" dirty="0"/>
              <a:t> este executată, execuția ei se pune pe o </a:t>
            </a:r>
            <a:r>
              <a:rPr lang="ro-RO" sz="1800" b="1" dirty="0"/>
              <a:t>coadă de evenimente</a:t>
            </a:r>
          </a:p>
          <a:p>
            <a:pPr>
              <a:lnSpc>
                <a:spcPct val="100000"/>
              </a:lnSpc>
              <a:spcBef>
                <a:spcPts val="600"/>
              </a:spcBef>
              <a:spcAft>
                <a:spcPts val="600"/>
              </a:spcAft>
            </a:pPr>
            <a:r>
              <a:rPr lang="ro-RO" sz="1800" b="1" dirty="0"/>
              <a:t>Rezultatul ei</a:t>
            </a:r>
            <a:r>
              <a:rPr lang="ro-RO" sz="1800" dirty="0"/>
              <a:t> este întors </a:t>
            </a:r>
            <a:r>
              <a:rPr lang="ro-RO" sz="1800" b="1" dirty="0"/>
              <a:t>la un moment de timp viitor</a:t>
            </a:r>
            <a:endParaRPr lang="ro-RO" sz="1800" dirty="0"/>
          </a:p>
          <a:p>
            <a:pPr>
              <a:lnSpc>
                <a:spcPct val="100000"/>
              </a:lnSpc>
              <a:spcBef>
                <a:spcPts val="600"/>
              </a:spcBef>
              <a:spcAft>
                <a:spcPts val="600"/>
              </a:spcAft>
            </a:pPr>
            <a:r>
              <a:rPr lang="ro-RO" sz="1800" dirty="0"/>
              <a:t>Există 3 moduri de a interacționa cu o funcție asincron:</a:t>
            </a:r>
          </a:p>
          <a:p>
            <a:pPr lvl="1">
              <a:lnSpc>
                <a:spcPct val="100000"/>
              </a:lnSpc>
              <a:spcBef>
                <a:spcPts val="600"/>
              </a:spcBef>
              <a:spcAft>
                <a:spcPts val="600"/>
              </a:spcAft>
            </a:pPr>
            <a:r>
              <a:rPr lang="ro-RO" b="1" dirty="0" err="1"/>
              <a:t>Callbacks</a:t>
            </a:r>
            <a:endParaRPr lang="ro-RO" b="1" dirty="0"/>
          </a:p>
          <a:p>
            <a:pPr lvl="1">
              <a:lnSpc>
                <a:spcPct val="100000"/>
              </a:lnSpc>
              <a:spcBef>
                <a:spcPts val="600"/>
              </a:spcBef>
              <a:spcAft>
                <a:spcPts val="600"/>
              </a:spcAft>
            </a:pPr>
            <a:r>
              <a:rPr lang="ro-RO" b="1" dirty="0" err="1"/>
              <a:t>Promises</a:t>
            </a:r>
            <a:endParaRPr lang="ro-RO" b="1" dirty="0"/>
          </a:p>
          <a:p>
            <a:pPr lvl="1">
              <a:lnSpc>
                <a:spcPct val="100000"/>
              </a:lnSpc>
              <a:spcBef>
                <a:spcPts val="600"/>
              </a:spcBef>
              <a:spcAft>
                <a:spcPts val="600"/>
              </a:spcAft>
            </a:pPr>
            <a:r>
              <a:rPr lang="ro-RO" b="1" dirty="0" err="1"/>
              <a:t>Async</a:t>
            </a:r>
            <a:r>
              <a:rPr lang="ro-RO" b="1" dirty="0"/>
              <a:t>/</a:t>
            </a:r>
            <a:r>
              <a:rPr lang="ro-RO" b="1" dirty="0" err="1"/>
              <a:t>await</a:t>
            </a:r>
            <a:endParaRPr lang="ro-RO" b="1" dirty="0"/>
          </a:p>
          <a:p>
            <a:pPr>
              <a:lnSpc>
                <a:spcPct val="100000"/>
              </a:lnSpc>
              <a:spcBef>
                <a:spcPts val="600"/>
              </a:spcBef>
              <a:spcAft>
                <a:spcPts val="600"/>
              </a:spcAft>
            </a:pPr>
            <a:endParaRPr lang="ro-RO" sz="1800" dirty="0"/>
          </a:p>
        </p:txBody>
      </p:sp>
      <p:sp>
        <p:nvSpPr>
          <p:cNvPr id="11" name="Rectangle 10">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29004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6AF6876-75A5-4E08-8978-1CEF665C3C00}"/>
              </a:ext>
            </a:extLst>
          </p:cNvPr>
          <p:cNvSpPr txBox="1">
            <a:spLocks/>
          </p:cNvSpPr>
          <p:nvPr/>
        </p:nvSpPr>
        <p:spPr>
          <a:xfrm>
            <a:off x="1024128" y="585216"/>
            <a:ext cx="6066818" cy="1499616"/>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defTabSz="914400">
              <a:lnSpc>
                <a:spcPct val="80000"/>
              </a:lnSpc>
              <a:spcAft>
                <a:spcPts val="600"/>
              </a:spcAft>
            </a:pPr>
            <a:r>
              <a:rPr lang="en-US" sz="5000" b="1" spc="100" dirty="0">
                <a:solidFill>
                  <a:schemeClr val="tx1">
                    <a:lumMod val="95000"/>
                    <a:lumOff val="5000"/>
                  </a:schemeClr>
                </a:solidFill>
              </a:rPr>
              <a:t>callbacks</a:t>
            </a:r>
          </a:p>
        </p:txBody>
      </p:sp>
      <p:sp>
        <p:nvSpPr>
          <p:cNvPr id="3" name="Content Placeholder 2">
            <a:extLst>
              <a:ext uri="{FF2B5EF4-FFF2-40B4-BE49-F238E27FC236}">
                <a16:creationId xmlns:a16="http://schemas.microsoft.com/office/drawing/2014/main" id="{37C844EF-F2ED-4608-A8B6-7ADB87DA631F}"/>
              </a:ext>
            </a:extLst>
          </p:cNvPr>
          <p:cNvSpPr>
            <a:spLocks noGrp="1"/>
          </p:cNvSpPr>
          <p:nvPr>
            <p:ph idx="1"/>
          </p:nvPr>
        </p:nvSpPr>
        <p:spPr>
          <a:xfrm>
            <a:off x="918110" y="1819555"/>
            <a:ext cx="6634155" cy="5049078"/>
          </a:xfrm>
        </p:spPr>
        <p:txBody>
          <a:bodyPr vert="horz" lIns="45720" tIns="45720" rIns="45720" bIns="45720" rtlCol="0">
            <a:normAutofit/>
          </a:bodyPr>
          <a:lstStyle/>
          <a:p>
            <a:r>
              <a:rPr lang="ro-RO" sz="2000" b="1" dirty="0" err="1"/>
              <a:t>JavaScript</a:t>
            </a:r>
            <a:r>
              <a:rPr lang="ro-RO" sz="2000" dirty="0"/>
              <a:t>, prin natura funcțională, permite </a:t>
            </a:r>
            <a:r>
              <a:rPr lang="ro-RO" sz="2000" b="1" dirty="0" err="1"/>
              <a:t>high-order</a:t>
            </a:r>
            <a:r>
              <a:rPr lang="ro-RO" sz="2000" b="1" dirty="0"/>
              <a:t> </a:t>
            </a:r>
            <a:r>
              <a:rPr lang="ro-RO" sz="2000" b="1" dirty="0" err="1"/>
              <a:t>functions</a:t>
            </a:r>
            <a:r>
              <a:rPr lang="ro-RO" sz="2000" b="1" dirty="0"/>
              <a:t> (</a:t>
            </a:r>
            <a:r>
              <a:rPr lang="ro-RO" sz="2000" b="1" dirty="0" err="1"/>
              <a:t>HOCs</a:t>
            </a:r>
            <a:r>
              <a:rPr lang="ro-RO" sz="2000" b="1" dirty="0"/>
              <a:t>)</a:t>
            </a:r>
            <a:endParaRPr lang="ro-RO" sz="2000" dirty="0"/>
          </a:p>
          <a:p>
            <a:r>
              <a:rPr lang="ro-RO" sz="2000" b="1" dirty="0"/>
              <a:t>HOC</a:t>
            </a:r>
            <a:r>
              <a:rPr lang="ro-RO" sz="2000" dirty="0"/>
              <a:t> se mai numesc </a:t>
            </a:r>
            <a:r>
              <a:rPr lang="ro-RO" sz="2000" b="1" dirty="0" err="1"/>
              <a:t>callbacks</a:t>
            </a:r>
            <a:endParaRPr lang="ro-RO" sz="2000" b="1" dirty="0"/>
          </a:p>
          <a:p>
            <a:r>
              <a:rPr lang="ro-RO" sz="2000" b="1" dirty="0" err="1"/>
              <a:t>Callbacks</a:t>
            </a:r>
            <a:r>
              <a:rPr lang="ro-RO" sz="2000" dirty="0"/>
              <a:t> erau foarte folosite </a:t>
            </a:r>
            <a:r>
              <a:rPr lang="ro-RO" sz="2000" i="1" dirty="0"/>
              <a:t>intens </a:t>
            </a:r>
            <a:r>
              <a:rPr lang="ro-RO" sz="2000" dirty="0"/>
              <a:t>înainte de ES6</a:t>
            </a:r>
          </a:p>
          <a:p>
            <a:r>
              <a:rPr lang="ro-RO" sz="2000" dirty="0"/>
              <a:t>Mecanismul este următorul:</a:t>
            </a:r>
          </a:p>
          <a:p>
            <a:pPr lvl="1"/>
            <a:r>
              <a:rPr lang="ro-RO" sz="2000" dirty="0"/>
              <a:t>O funcție asincronă primește un </a:t>
            </a:r>
            <a:r>
              <a:rPr lang="ro-RO" sz="2000" b="1" dirty="0" err="1"/>
              <a:t>callback</a:t>
            </a:r>
            <a:r>
              <a:rPr lang="ro-RO" sz="2000" dirty="0"/>
              <a:t> ca și parametru</a:t>
            </a:r>
          </a:p>
          <a:p>
            <a:pPr lvl="1"/>
            <a:r>
              <a:rPr lang="ro-RO" sz="2000" dirty="0"/>
              <a:t>Funcția se execută cândva</a:t>
            </a:r>
          </a:p>
          <a:p>
            <a:pPr lvl="1"/>
            <a:r>
              <a:rPr lang="ro-RO" sz="2000" dirty="0"/>
              <a:t>Atunci când se termină de executat, se apelează </a:t>
            </a:r>
            <a:r>
              <a:rPr lang="ro-RO" sz="2000" b="1" dirty="0" err="1"/>
              <a:t>callback-ul</a:t>
            </a:r>
            <a:endParaRPr lang="ro-RO" sz="2000" b="1" dirty="0"/>
          </a:p>
          <a:p>
            <a:r>
              <a:rPr lang="ro-RO" sz="2000" dirty="0"/>
              <a:t>Exemplu de funcții asincrone native ce accepta </a:t>
            </a:r>
            <a:r>
              <a:rPr lang="ro-RO" sz="2000" b="1" dirty="0" err="1"/>
              <a:t>callbacks</a:t>
            </a:r>
            <a:endParaRPr lang="ro-RO" sz="2000" dirty="0"/>
          </a:p>
          <a:p>
            <a:pPr lvl="1"/>
            <a:r>
              <a:rPr lang="ro-RO" sz="2000" b="1" dirty="0" err="1"/>
              <a:t>setTimeout</a:t>
            </a:r>
            <a:r>
              <a:rPr lang="ro-RO" sz="2000" b="1" dirty="0"/>
              <a:t> – </a:t>
            </a:r>
            <a:r>
              <a:rPr lang="ro-RO" sz="2000" dirty="0"/>
              <a:t>execută </a:t>
            </a:r>
            <a:r>
              <a:rPr lang="ro-RO" sz="2000" dirty="0" err="1"/>
              <a:t>callbackul</a:t>
            </a:r>
            <a:r>
              <a:rPr lang="ro-RO" sz="2000" dirty="0"/>
              <a:t> </a:t>
            </a:r>
            <a:r>
              <a:rPr lang="ro-RO" sz="2000" dirty="0" err="1"/>
              <a:t>dupa</a:t>
            </a:r>
            <a:r>
              <a:rPr lang="ro-RO" sz="2000" dirty="0"/>
              <a:t> un </a:t>
            </a:r>
            <a:r>
              <a:rPr lang="ro-RO" sz="2000" dirty="0" err="1"/>
              <a:t>delay</a:t>
            </a:r>
            <a:endParaRPr lang="ro-RO" sz="2000" b="1" dirty="0"/>
          </a:p>
          <a:p>
            <a:pPr lvl="1"/>
            <a:r>
              <a:rPr lang="ro-RO" sz="2000" b="1" dirty="0" err="1"/>
              <a:t>setInterval</a:t>
            </a:r>
            <a:r>
              <a:rPr lang="ro-RO" sz="2000" b="1" dirty="0"/>
              <a:t> – </a:t>
            </a:r>
            <a:r>
              <a:rPr lang="ro-RO" sz="2000" dirty="0"/>
              <a:t>execută </a:t>
            </a:r>
            <a:r>
              <a:rPr lang="ro-RO" sz="2000" dirty="0" err="1"/>
              <a:t>callbackul</a:t>
            </a:r>
            <a:r>
              <a:rPr lang="ro-RO" sz="2000" dirty="0"/>
              <a:t> periodic</a:t>
            </a:r>
            <a:endParaRPr lang="ro-RO" sz="2000" b="1" dirty="0"/>
          </a:p>
        </p:txBody>
      </p:sp>
      <p:pic>
        <p:nvPicPr>
          <p:cNvPr id="2" name="Picture 1" descr="Graphical user interface, diagram&#10;&#10;Description automatically generated">
            <a:extLst>
              <a:ext uri="{FF2B5EF4-FFF2-40B4-BE49-F238E27FC236}">
                <a16:creationId xmlns:a16="http://schemas.microsoft.com/office/drawing/2014/main" id="{05BCDDF6-73BD-447F-8712-020AA89B833D}"/>
              </a:ext>
            </a:extLst>
          </p:cNvPr>
          <p:cNvPicPr>
            <a:picLocks noChangeAspect="1"/>
          </p:cNvPicPr>
          <p:nvPr/>
        </p:nvPicPr>
        <p:blipFill rotWithShape="1">
          <a:blip r:embed="rId2"/>
          <a:srcRect t="1698" r="-1" b="2224"/>
          <a:stretch/>
        </p:blipFill>
        <p:spPr>
          <a:xfrm>
            <a:off x="7552266" y="10"/>
            <a:ext cx="4639733" cy="6857990"/>
          </a:xfrm>
          <a:prstGeom prst="rect">
            <a:avLst/>
          </a:prstGeom>
        </p:spPr>
      </p:pic>
    </p:spTree>
    <p:extLst>
      <p:ext uri="{BB962C8B-B14F-4D97-AF65-F5344CB8AC3E}">
        <p14:creationId xmlns:p14="http://schemas.microsoft.com/office/powerpoint/2010/main" val="11207522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965FC5A0-673C-4102-9951-EDB879AF8832}"/>
              </a:ext>
            </a:extLst>
          </p:cNvPr>
          <p:cNvSpPr txBox="1"/>
          <p:nvPr/>
        </p:nvSpPr>
        <p:spPr>
          <a:xfrm>
            <a:off x="8574045" y="4147015"/>
            <a:ext cx="2971800" cy="193899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3000" dirty="0" err="1"/>
              <a:t>Două</a:t>
            </a:r>
            <a:r>
              <a:rPr lang="en-US" sz="3000" dirty="0"/>
              <a:t> callbacks </a:t>
            </a:r>
            <a:r>
              <a:rPr lang="en-US" sz="3000" dirty="0" err="1"/>
              <a:t>într</a:t>
            </a:r>
            <a:r>
              <a:rPr lang="en-US" sz="3000" dirty="0"/>
              <a:t>-un callback…</a:t>
            </a:r>
            <a:r>
              <a:rPr lang="en-US" sz="3000" dirty="0" err="1"/>
              <a:t>într</a:t>
            </a:r>
            <a:r>
              <a:rPr lang="en-US" sz="3000" dirty="0"/>
              <a:t>-un callback :D</a:t>
            </a:r>
          </a:p>
        </p:txBody>
      </p:sp>
      <p:pic>
        <p:nvPicPr>
          <p:cNvPr id="14" name="Picture 13">
            <a:extLst>
              <a:ext uri="{FF2B5EF4-FFF2-40B4-BE49-F238E27FC236}">
                <a16:creationId xmlns:a16="http://schemas.microsoft.com/office/drawing/2014/main" id="{C3A17EAC-48BD-4CF2-A7C3-359FAADFC8D1}"/>
              </a:ext>
            </a:extLst>
          </p:cNvPr>
          <p:cNvPicPr>
            <a:picLocks noChangeAspect="1"/>
          </p:cNvPicPr>
          <p:nvPr/>
        </p:nvPicPr>
        <p:blipFill>
          <a:blip r:embed="rId2"/>
          <a:stretch>
            <a:fillRect/>
          </a:stretch>
        </p:blipFill>
        <p:spPr>
          <a:xfrm>
            <a:off x="25400" y="-3175"/>
            <a:ext cx="7038724" cy="6858000"/>
          </a:xfrm>
          <a:prstGeom prst="rect">
            <a:avLst/>
          </a:prstGeom>
        </p:spPr>
      </p:pic>
      <p:cxnSp>
        <p:nvCxnSpPr>
          <p:cNvPr id="9" name="Straight Arrow Connector 8">
            <a:extLst>
              <a:ext uri="{FF2B5EF4-FFF2-40B4-BE49-F238E27FC236}">
                <a16:creationId xmlns:a16="http://schemas.microsoft.com/office/drawing/2014/main" id="{C878E46C-B491-4458-B118-30A31E5D7E4D}"/>
              </a:ext>
            </a:extLst>
          </p:cNvPr>
          <p:cNvCxnSpPr>
            <a:cxnSpLocks/>
            <a:endCxn id="10" idx="1"/>
          </p:cNvCxnSpPr>
          <p:nvPr/>
        </p:nvCxnSpPr>
        <p:spPr>
          <a:xfrm flipV="1">
            <a:off x="2324100" y="5116511"/>
            <a:ext cx="6249945" cy="130969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883766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C844EF-F2ED-4608-A8B6-7ADB87DA631F}"/>
              </a:ext>
            </a:extLst>
          </p:cNvPr>
          <p:cNvSpPr>
            <a:spLocks noGrp="1"/>
          </p:cNvSpPr>
          <p:nvPr>
            <p:ph idx="1"/>
          </p:nvPr>
        </p:nvSpPr>
        <p:spPr>
          <a:xfrm>
            <a:off x="899322" y="1499388"/>
            <a:ext cx="11188699" cy="5490633"/>
          </a:xfrm>
        </p:spPr>
        <p:txBody>
          <a:bodyPr>
            <a:normAutofit/>
          </a:bodyPr>
          <a:lstStyle/>
          <a:p>
            <a:pPr>
              <a:lnSpc>
                <a:spcPct val="100000"/>
              </a:lnSpc>
              <a:spcBef>
                <a:spcPts val="600"/>
              </a:spcBef>
              <a:spcAft>
                <a:spcPts val="600"/>
              </a:spcAft>
            </a:pPr>
            <a:r>
              <a:rPr lang="ro-RO" sz="2800" b="1" dirty="0"/>
              <a:t>Promisiunile</a:t>
            </a:r>
            <a:r>
              <a:rPr lang="ro-RO" sz="2800" dirty="0"/>
              <a:t> au fost introduse în </a:t>
            </a:r>
            <a:r>
              <a:rPr lang="ro-RO" sz="2800" b="1" dirty="0"/>
              <a:t>ES6 </a:t>
            </a:r>
            <a:r>
              <a:rPr lang="ro-RO" sz="2800" dirty="0"/>
              <a:t>pentru a combate </a:t>
            </a:r>
            <a:r>
              <a:rPr lang="ro-RO" sz="2800" b="1" dirty="0" err="1"/>
              <a:t>callback</a:t>
            </a:r>
            <a:r>
              <a:rPr lang="ro-RO" sz="2800" b="1" dirty="0"/>
              <a:t> </a:t>
            </a:r>
            <a:r>
              <a:rPr lang="ro-RO" sz="2800" b="1" dirty="0" err="1"/>
              <a:t>hell</a:t>
            </a:r>
            <a:r>
              <a:rPr lang="ro-RO" sz="2800" b="1" dirty="0"/>
              <a:t> </a:t>
            </a:r>
            <a:r>
              <a:rPr lang="ro-RO" sz="2800" dirty="0"/>
              <a:t>(structură denumită și “</a:t>
            </a:r>
            <a:r>
              <a:rPr lang="ro-RO" sz="2800" dirty="0" err="1"/>
              <a:t>the</a:t>
            </a:r>
            <a:r>
              <a:rPr lang="ro-RO" sz="2800" dirty="0"/>
              <a:t> </a:t>
            </a:r>
            <a:r>
              <a:rPr lang="ro-RO" sz="2800" dirty="0" err="1"/>
              <a:t>great</a:t>
            </a:r>
            <a:r>
              <a:rPr lang="ro-RO" sz="2800" dirty="0"/>
              <a:t> </a:t>
            </a:r>
            <a:r>
              <a:rPr lang="ro-RO" sz="2800" dirty="0" err="1"/>
              <a:t>callback</a:t>
            </a:r>
            <a:r>
              <a:rPr lang="ro-RO" sz="2800" dirty="0"/>
              <a:t> </a:t>
            </a:r>
            <a:r>
              <a:rPr lang="ro-RO" sz="2800" dirty="0" err="1"/>
              <a:t>pyramid</a:t>
            </a:r>
            <a:r>
              <a:rPr lang="ro-RO" sz="2800" dirty="0"/>
              <a:t> of </a:t>
            </a:r>
            <a:r>
              <a:rPr lang="ro-RO" sz="2800" dirty="0" err="1"/>
              <a:t>doom</a:t>
            </a:r>
            <a:r>
              <a:rPr lang="ro-RO" sz="2800" dirty="0"/>
              <a:t>”)</a:t>
            </a:r>
          </a:p>
          <a:p>
            <a:pPr>
              <a:lnSpc>
                <a:spcPct val="100000"/>
              </a:lnSpc>
              <a:spcBef>
                <a:spcPts val="600"/>
              </a:spcBef>
              <a:spcAft>
                <a:spcPts val="600"/>
              </a:spcAft>
            </a:pPr>
            <a:r>
              <a:rPr lang="ro-RO" sz="2800" dirty="0"/>
              <a:t>Câteva </a:t>
            </a:r>
            <a:r>
              <a:rPr lang="ro-RO" sz="2800" b="1" dirty="0" err="1"/>
              <a:t>callbacks</a:t>
            </a:r>
            <a:r>
              <a:rPr lang="ro-RO" sz="2800" dirty="0"/>
              <a:t> nu îngreunează codul, dar gândiți-vă cum ar arată </a:t>
            </a:r>
            <a:r>
              <a:rPr lang="ro-RO" sz="2800" dirty="0" err="1"/>
              <a:t>callback</a:t>
            </a:r>
            <a:r>
              <a:rPr lang="ro-RO" sz="2800" dirty="0"/>
              <a:t> în </a:t>
            </a:r>
            <a:r>
              <a:rPr lang="ro-RO" sz="2800" dirty="0" err="1"/>
              <a:t>callback</a:t>
            </a:r>
            <a:r>
              <a:rPr lang="ro-RO" sz="2800" dirty="0"/>
              <a:t> în </a:t>
            </a:r>
            <a:r>
              <a:rPr lang="ro-RO" sz="2800" dirty="0" err="1"/>
              <a:t>callback</a:t>
            </a:r>
            <a:r>
              <a:rPr lang="ro-RO" sz="2800" dirty="0"/>
              <a:t> … în </a:t>
            </a:r>
            <a:r>
              <a:rPr lang="ro-RO" sz="2800" dirty="0" err="1"/>
              <a:t>callback</a:t>
            </a:r>
            <a:endParaRPr lang="ro-RO" sz="2800" dirty="0"/>
          </a:p>
          <a:p>
            <a:pPr>
              <a:lnSpc>
                <a:spcPct val="100000"/>
              </a:lnSpc>
              <a:spcBef>
                <a:spcPts val="600"/>
              </a:spcBef>
              <a:spcAft>
                <a:spcPts val="600"/>
              </a:spcAft>
            </a:pPr>
            <a:r>
              <a:rPr lang="ro-RO" sz="2800" dirty="0"/>
              <a:t>Scopul </a:t>
            </a:r>
            <a:r>
              <a:rPr lang="ro-RO" sz="2800" b="1" dirty="0"/>
              <a:t>promisiunilor</a:t>
            </a:r>
            <a:r>
              <a:rPr lang="ro-RO" sz="2800" dirty="0"/>
              <a:t> este de a fluidiza scrierea codului </a:t>
            </a:r>
            <a:r>
              <a:rPr lang="ro-RO" sz="2800" b="1" dirty="0"/>
              <a:t>asincron</a:t>
            </a:r>
          </a:p>
          <a:p>
            <a:pPr>
              <a:lnSpc>
                <a:spcPct val="100000"/>
              </a:lnSpc>
              <a:spcBef>
                <a:spcPts val="600"/>
              </a:spcBef>
              <a:spcAft>
                <a:spcPts val="600"/>
              </a:spcAft>
            </a:pPr>
            <a:r>
              <a:rPr lang="ro-RO" sz="2800" b="1" dirty="0"/>
              <a:t>Promisiunile</a:t>
            </a:r>
            <a:r>
              <a:rPr lang="ro-RO" sz="2800" dirty="0"/>
              <a:t> sunt instanțe ale clasei </a:t>
            </a:r>
            <a:r>
              <a:rPr lang="ro-RO" sz="2800" b="1" dirty="0"/>
              <a:t>Promise</a:t>
            </a:r>
            <a:r>
              <a:rPr lang="ro-RO" sz="2800" dirty="0"/>
              <a:t> și au trei metode: </a:t>
            </a:r>
            <a:r>
              <a:rPr lang="ro-RO" sz="2800" b="1" dirty="0" err="1"/>
              <a:t>then</a:t>
            </a:r>
            <a:r>
              <a:rPr lang="ro-RO" sz="2800" b="1" dirty="0"/>
              <a:t>, catch</a:t>
            </a:r>
            <a:r>
              <a:rPr lang="ro-RO" sz="2800" dirty="0"/>
              <a:t> și </a:t>
            </a:r>
            <a:r>
              <a:rPr lang="ro-RO" sz="2800" b="1" dirty="0" err="1"/>
              <a:t>finally</a:t>
            </a:r>
            <a:endParaRPr lang="ro-RO" sz="2800" b="1" dirty="0"/>
          </a:p>
          <a:p>
            <a:pPr lvl="1">
              <a:lnSpc>
                <a:spcPct val="100000"/>
              </a:lnSpc>
              <a:spcBef>
                <a:spcPts val="600"/>
              </a:spcBef>
              <a:spcAft>
                <a:spcPts val="600"/>
              </a:spcAft>
            </a:pPr>
            <a:r>
              <a:rPr lang="ro-RO" sz="2400" b="1" dirty="0" err="1"/>
              <a:t>Then</a:t>
            </a:r>
            <a:r>
              <a:rPr lang="ro-RO" sz="2400" b="1" dirty="0"/>
              <a:t> </a:t>
            </a:r>
            <a:r>
              <a:rPr lang="ro-RO" sz="2400" dirty="0"/>
              <a:t>întoarce un rezultat și acceptă un </a:t>
            </a:r>
            <a:r>
              <a:rPr lang="ro-RO" sz="2400" dirty="0" err="1"/>
              <a:t>callback</a:t>
            </a:r>
            <a:r>
              <a:rPr lang="ro-RO" sz="2400" dirty="0"/>
              <a:t> care folosește rezultatul</a:t>
            </a:r>
          </a:p>
          <a:p>
            <a:pPr lvl="1">
              <a:lnSpc>
                <a:spcPct val="100000"/>
              </a:lnSpc>
              <a:spcBef>
                <a:spcPts val="600"/>
              </a:spcBef>
              <a:spcAft>
                <a:spcPts val="600"/>
              </a:spcAft>
            </a:pPr>
            <a:r>
              <a:rPr lang="ro-RO" sz="2400" b="1" dirty="0"/>
              <a:t>Catch </a:t>
            </a:r>
            <a:r>
              <a:rPr lang="ro-RO" sz="2400" dirty="0"/>
              <a:t>întoarce o eroare și acceptă un </a:t>
            </a:r>
            <a:r>
              <a:rPr lang="ro-RO" sz="2400" dirty="0" err="1"/>
              <a:t>callback</a:t>
            </a:r>
            <a:r>
              <a:rPr lang="ro-RO" sz="2400" dirty="0"/>
              <a:t> care folosește eroarea</a:t>
            </a:r>
          </a:p>
          <a:p>
            <a:pPr lvl="1">
              <a:lnSpc>
                <a:spcPct val="100000"/>
              </a:lnSpc>
              <a:spcBef>
                <a:spcPts val="600"/>
              </a:spcBef>
              <a:spcAft>
                <a:spcPts val="600"/>
              </a:spcAft>
            </a:pPr>
            <a:r>
              <a:rPr lang="ro-RO" sz="2400" b="1" dirty="0" err="1"/>
              <a:t>Finally</a:t>
            </a:r>
            <a:r>
              <a:rPr lang="ro-RO" sz="2400" dirty="0"/>
              <a:t> acceptă un </a:t>
            </a:r>
            <a:r>
              <a:rPr lang="ro-RO" sz="2400" dirty="0" err="1"/>
              <a:t>callback</a:t>
            </a:r>
            <a:endParaRPr lang="ro-RO" sz="2400" b="1" dirty="0"/>
          </a:p>
          <a:p>
            <a:pPr>
              <a:lnSpc>
                <a:spcPct val="100000"/>
              </a:lnSpc>
              <a:spcBef>
                <a:spcPts val="600"/>
              </a:spcBef>
              <a:spcAft>
                <a:spcPts val="600"/>
              </a:spcAft>
            </a:pPr>
            <a:endParaRPr lang="ro-RO" sz="2800" dirty="0"/>
          </a:p>
          <a:p>
            <a:pPr>
              <a:lnSpc>
                <a:spcPct val="100000"/>
              </a:lnSpc>
              <a:spcBef>
                <a:spcPts val="600"/>
              </a:spcBef>
              <a:spcAft>
                <a:spcPts val="600"/>
              </a:spcAft>
            </a:pPr>
            <a:endParaRPr lang="ro-RO" sz="2800" b="1" dirty="0"/>
          </a:p>
        </p:txBody>
      </p:sp>
      <p:sp>
        <p:nvSpPr>
          <p:cNvPr id="6" name="Title 1">
            <a:extLst>
              <a:ext uri="{FF2B5EF4-FFF2-40B4-BE49-F238E27FC236}">
                <a16:creationId xmlns:a16="http://schemas.microsoft.com/office/drawing/2014/main" id="{26AF6876-75A5-4E08-8978-1CEF665C3C00}"/>
              </a:ext>
            </a:extLst>
          </p:cNvPr>
          <p:cNvSpPr txBox="1">
            <a:spLocks/>
          </p:cNvSpPr>
          <p:nvPr/>
        </p:nvSpPr>
        <p:spPr>
          <a:xfrm>
            <a:off x="899322" y="399851"/>
            <a:ext cx="10928683" cy="1283369"/>
          </a:xfrm>
          <a:prstGeom prst="rect">
            <a:avLst/>
          </a:prstGeom>
          <a:effectLst/>
        </p:spPr>
        <p:txBody>
          <a:bodyPr vert="horz" lIns="91440" tIns="45720" rIns="91440" bIns="45720" rtlCol="0" anchor="ct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b="1" dirty="0" err="1"/>
              <a:t>Concepte</a:t>
            </a:r>
            <a:r>
              <a:rPr lang="en-US" sz="4000" b="1" dirty="0"/>
              <a:t> </a:t>
            </a:r>
            <a:r>
              <a:rPr lang="en-US" sz="4000" b="1" dirty="0" err="1"/>
              <a:t>avansate</a:t>
            </a:r>
            <a:r>
              <a:rPr lang="en-US" sz="4000" b="1" dirty="0"/>
              <a:t>. </a:t>
            </a:r>
            <a:r>
              <a:rPr lang="en-US" sz="4000" b="1" dirty="0" err="1"/>
              <a:t>promisiuni</a:t>
            </a:r>
            <a:r>
              <a:rPr lang="en-US" sz="4000" b="1" dirty="0"/>
              <a:t>.</a:t>
            </a:r>
          </a:p>
        </p:txBody>
      </p:sp>
    </p:spTree>
    <p:extLst>
      <p:ext uri="{BB962C8B-B14F-4D97-AF65-F5344CB8AC3E}">
        <p14:creationId xmlns:p14="http://schemas.microsoft.com/office/powerpoint/2010/main" val="13324765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C844EF-F2ED-4608-A8B6-7ADB87DA631F}"/>
              </a:ext>
            </a:extLst>
          </p:cNvPr>
          <p:cNvSpPr>
            <a:spLocks noGrp="1"/>
          </p:cNvSpPr>
          <p:nvPr>
            <p:ph idx="1"/>
          </p:nvPr>
        </p:nvSpPr>
        <p:spPr>
          <a:xfrm>
            <a:off x="501649" y="1786467"/>
            <a:ext cx="11188699" cy="5490633"/>
          </a:xfrm>
        </p:spPr>
        <p:txBody>
          <a:bodyPr>
            <a:normAutofit/>
          </a:bodyPr>
          <a:lstStyle/>
          <a:p>
            <a:endParaRPr lang="en-US" sz="2800" dirty="0"/>
          </a:p>
          <a:p>
            <a:endParaRPr lang="en-US" sz="2800" b="1" dirty="0"/>
          </a:p>
        </p:txBody>
      </p:sp>
      <p:sp>
        <p:nvSpPr>
          <p:cNvPr id="6" name="Title 1">
            <a:extLst>
              <a:ext uri="{FF2B5EF4-FFF2-40B4-BE49-F238E27FC236}">
                <a16:creationId xmlns:a16="http://schemas.microsoft.com/office/drawing/2014/main" id="{26AF6876-75A5-4E08-8978-1CEF665C3C00}"/>
              </a:ext>
            </a:extLst>
          </p:cNvPr>
          <p:cNvSpPr txBox="1">
            <a:spLocks/>
          </p:cNvSpPr>
          <p:nvPr/>
        </p:nvSpPr>
        <p:spPr>
          <a:xfrm>
            <a:off x="909953" y="503098"/>
            <a:ext cx="10928683" cy="1283369"/>
          </a:xfrm>
          <a:prstGeom prst="rect">
            <a:avLst/>
          </a:prstGeom>
          <a:effectLst/>
        </p:spPr>
        <p:txBody>
          <a:bodyPr vert="horz" lIns="91440" tIns="45720" rIns="91440" bIns="45720" rtlCol="0" anchor="ct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b="1" dirty="0" err="1"/>
              <a:t>promisiuni</a:t>
            </a:r>
            <a:endParaRPr lang="en-US" sz="4000" b="1" dirty="0"/>
          </a:p>
        </p:txBody>
      </p:sp>
      <p:pic>
        <p:nvPicPr>
          <p:cNvPr id="2" name="Picture 1">
            <a:extLst>
              <a:ext uri="{FF2B5EF4-FFF2-40B4-BE49-F238E27FC236}">
                <a16:creationId xmlns:a16="http://schemas.microsoft.com/office/drawing/2014/main" id="{D3244437-4B7F-4C1E-869F-B9C0D5A61007}"/>
              </a:ext>
            </a:extLst>
          </p:cNvPr>
          <p:cNvPicPr>
            <a:picLocks noChangeAspect="1"/>
          </p:cNvPicPr>
          <p:nvPr/>
        </p:nvPicPr>
        <p:blipFill>
          <a:blip r:embed="rId2"/>
          <a:stretch>
            <a:fillRect/>
          </a:stretch>
        </p:blipFill>
        <p:spPr>
          <a:xfrm>
            <a:off x="909953" y="2461952"/>
            <a:ext cx="9950450" cy="3976960"/>
          </a:xfrm>
          <a:prstGeom prst="rect">
            <a:avLst/>
          </a:prstGeom>
        </p:spPr>
      </p:pic>
      <p:sp>
        <p:nvSpPr>
          <p:cNvPr id="5" name="Content Placeholder 2">
            <a:extLst>
              <a:ext uri="{FF2B5EF4-FFF2-40B4-BE49-F238E27FC236}">
                <a16:creationId xmlns:a16="http://schemas.microsoft.com/office/drawing/2014/main" id="{3949E8C6-2893-4CB9-B2A2-711159F98BC6}"/>
              </a:ext>
            </a:extLst>
          </p:cNvPr>
          <p:cNvSpPr txBox="1">
            <a:spLocks/>
          </p:cNvSpPr>
          <p:nvPr/>
        </p:nvSpPr>
        <p:spPr>
          <a:xfrm>
            <a:off x="1055769" y="1636846"/>
            <a:ext cx="11188699" cy="1530217"/>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2800" b="1" dirty="0" err="1"/>
              <a:t>Promisiunile</a:t>
            </a:r>
            <a:r>
              <a:rPr lang="en-US" sz="2800" b="1" dirty="0"/>
              <a:t> </a:t>
            </a:r>
            <a:r>
              <a:rPr lang="en-US" sz="2800" dirty="0"/>
              <a:t>au 3 </a:t>
            </a:r>
            <a:r>
              <a:rPr lang="en-US" sz="2800" dirty="0" err="1"/>
              <a:t>stări</a:t>
            </a:r>
            <a:r>
              <a:rPr lang="en-US" sz="2800" dirty="0"/>
              <a:t>: </a:t>
            </a:r>
            <a:r>
              <a:rPr lang="en-US" sz="2800" b="1" dirty="0"/>
              <a:t>pending, fulfilled, rejected</a:t>
            </a:r>
          </a:p>
          <a:p>
            <a:pPr marL="0" indent="0">
              <a:buNone/>
            </a:pPr>
            <a:r>
              <a:rPr lang="en-US" sz="2800" b="1" dirty="0"/>
              <a:t> </a:t>
            </a:r>
          </a:p>
        </p:txBody>
      </p:sp>
    </p:spTree>
    <p:extLst>
      <p:ext uri="{BB962C8B-B14F-4D97-AF65-F5344CB8AC3E}">
        <p14:creationId xmlns:p14="http://schemas.microsoft.com/office/powerpoint/2010/main" val="9737941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C844EF-F2ED-4608-A8B6-7ADB87DA631F}"/>
              </a:ext>
            </a:extLst>
          </p:cNvPr>
          <p:cNvSpPr>
            <a:spLocks noGrp="1"/>
          </p:cNvSpPr>
          <p:nvPr>
            <p:ph idx="1"/>
          </p:nvPr>
        </p:nvSpPr>
        <p:spPr>
          <a:xfrm>
            <a:off x="867682" y="1780568"/>
            <a:ext cx="11188699" cy="4896678"/>
          </a:xfrm>
        </p:spPr>
        <p:txBody>
          <a:bodyPr>
            <a:normAutofit/>
          </a:bodyPr>
          <a:lstStyle/>
          <a:p>
            <a:pPr>
              <a:lnSpc>
                <a:spcPct val="100000"/>
              </a:lnSpc>
              <a:spcBef>
                <a:spcPts val="600"/>
              </a:spcBef>
              <a:spcAft>
                <a:spcPts val="600"/>
              </a:spcAft>
            </a:pPr>
            <a:r>
              <a:rPr lang="ro-RO" sz="3200" dirty="0"/>
              <a:t>Pentru a crea o </a:t>
            </a:r>
            <a:r>
              <a:rPr lang="ro-RO" sz="3200" b="1" dirty="0"/>
              <a:t>promisiune</a:t>
            </a:r>
            <a:r>
              <a:rPr lang="ro-RO" sz="3200" dirty="0"/>
              <a:t>, este nevoie să </a:t>
            </a:r>
            <a:r>
              <a:rPr lang="ro-RO" sz="3200" b="1" dirty="0" err="1"/>
              <a:t>instanțiați</a:t>
            </a:r>
            <a:r>
              <a:rPr lang="ro-RO" sz="3200" b="1" dirty="0"/>
              <a:t> </a:t>
            </a:r>
            <a:r>
              <a:rPr lang="ro-RO" sz="3200" dirty="0"/>
              <a:t>clasa </a:t>
            </a:r>
            <a:r>
              <a:rPr lang="ro-RO" sz="3200" b="1" dirty="0"/>
              <a:t>Promise</a:t>
            </a:r>
            <a:r>
              <a:rPr lang="ro-RO" sz="3200" dirty="0"/>
              <a:t> și să utilizați metodele </a:t>
            </a:r>
            <a:r>
              <a:rPr lang="ro-RO" sz="3200" b="1" dirty="0" err="1"/>
              <a:t>resolve</a:t>
            </a:r>
            <a:r>
              <a:rPr lang="ro-RO" sz="3200" dirty="0"/>
              <a:t> și </a:t>
            </a:r>
            <a:r>
              <a:rPr lang="ro-RO" sz="3200" b="1" dirty="0" err="1"/>
              <a:t>reject</a:t>
            </a:r>
            <a:r>
              <a:rPr lang="ro-RO" sz="3200" b="1" dirty="0"/>
              <a:t> </a:t>
            </a:r>
            <a:r>
              <a:rPr lang="ro-RO" sz="3200" dirty="0"/>
              <a:t>date ca argumente într-un </a:t>
            </a:r>
            <a:r>
              <a:rPr lang="ro-RO" sz="3200" dirty="0" err="1"/>
              <a:t>callback</a:t>
            </a:r>
            <a:r>
              <a:rPr lang="ro-RO" sz="3200" dirty="0"/>
              <a:t> în constructor</a:t>
            </a:r>
            <a:endParaRPr lang="ro-RO" sz="3200" b="1" dirty="0"/>
          </a:p>
          <a:p>
            <a:pPr>
              <a:lnSpc>
                <a:spcPct val="100000"/>
              </a:lnSpc>
              <a:spcBef>
                <a:spcPts val="600"/>
              </a:spcBef>
              <a:spcAft>
                <a:spcPts val="600"/>
              </a:spcAft>
            </a:pPr>
            <a:r>
              <a:rPr lang="ro-RO" sz="3200" b="1" dirty="0" err="1"/>
              <a:t>Resolve</a:t>
            </a:r>
            <a:r>
              <a:rPr lang="ro-RO" sz="3200" b="1" dirty="0"/>
              <a:t> </a:t>
            </a:r>
            <a:r>
              <a:rPr lang="ro-RO" sz="3200" dirty="0"/>
              <a:t>și </a:t>
            </a:r>
            <a:r>
              <a:rPr lang="ro-RO" sz="3200" b="1" dirty="0" err="1"/>
              <a:t>reject</a:t>
            </a:r>
            <a:r>
              <a:rPr lang="ro-RO" sz="3200" dirty="0"/>
              <a:t> sunt atât metode </a:t>
            </a:r>
            <a:r>
              <a:rPr lang="ro-RO" sz="3200" b="1" dirty="0"/>
              <a:t>statice</a:t>
            </a:r>
            <a:r>
              <a:rPr lang="ro-RO" sz="3200" dirty="0"/>
              <a:t> cât și </a:t>
            </a:r>
            <a:r>
              <a:rPr lang="ro-RO" sz="3200" b="1" dirty="0" err="1"/>
              <a:t>callbackuri</a:t>
            </a:r>
            <a:r>
              <a:rPr lang="ro-RO" sz="3200" b="1" dirty="0"/>
              <a:t> interne</a:t>
            </a:r>
          </a:p>
          <a:p>
            <a:pPr lvl="1">
              <a:lnSpc>
                <a:spcPct val="100000"/>
              </a:lnSpc>
              <a:spcBef>
                <a:spcPts val="600"/>
              </a:spcBef>
              <a:spcAft>
                <a:spcPts val="600"/>
              </a:spcAft>
            </a:pPr>
            <a:r>
              <a:rPr lang="ro-RO" sz="2400" b="1" dirty="0" err="1"/>
              <a:t>Resolve</a:t>
            </a:r>
            <a:r>
              <a:rPr lang="ro-RO" sz="2400" dirty="0"/>
              <a:t> primește ca parametru un obiect și schimbă starea promisiunii din </a:t>
            </a:r>
            <a:r>
              <a:rPr lang="ro-RO" sz="2400" b="1" dirty="0" err="1"/>
              <a:t>pending</a:t>
            </a:r>
            <a:r>
              <a:rPr lang="ro-RO" sz="2400" dirty="0"/>
              <a:t> în </a:t>
            </a:r>
            <a:r>
              <a:rPr lang="ro-RO" sz="2400" b="1" dirty="0" err="1"/>
              <a:t>fulfilled</a:t>
            </a:r>
            <a:r>
              <a:rPr lang="ro-RO" sz="2400" dirty="0"/>
              <a:t>. </a:t>
            </a:r>
            <a:r>
              <a:rPr lang="ro-RO" sz="2400" b="1" dirty="0"/>
              <a:t>Obiectul</a:t>
            </a:r>
            <a:r>
              <a:rPr lang="ro-RO" sz="2400" dirty="0"/>
              <a:t> este accesat, ulterior, în </a:t>
            </a:r>
            <a:r>
              <a:rPr lang="ro-RO" sz="2400" b="1" dirty="0" err="1"/>
              <a:t>then</a:t>
            </a:r>
            <a:r>
              <a:rPr lang="ro-RO" sz="2400" b="1" dirty="0"/>
              <a:t>.</a:t>
            </a:r>
            <a:endParaRPr lang="ro-RO" sz="2400" dirty="0"/>
          </a:p>
          <a:p>
            <a:pPr lvl="1">
              <a:lnSpc>
                <a:spcPct val="100000"/>
              </a:lnSpc>
              <a:spcBef>
                <a:spcPts val="600"/>
              </a:spcBef>
              <a:spcAft>
                <a:spcPts val="600"/>
              </a:spcAft>
            </a:pPr>
            <a:r>
              <a:rPr lang="ro-RO" sz="2400" b="1" dirty="0" err="1"/>
              <a:t>Reject</a:t>
            </a:r>
            <a:r>
              <a:rPr lang="ro-RO" sz="2400" dirty="0"/>
              <a:t> primește ca parametru o eroare și schimbă starea promisiunii din </a:t>
            </a:r>
            <a:r>
              <a:rPr lang="ro-RO" sz="2400" b="1" dirty="0" err="1"/>
              <a:t>pending</a:t>
            </a:r>
            <a:r>
              <a:rPr lang="ro-RO" sz="2400" dirty="0"/>
              <a:t> în </a:t>
            </a:r>
            <a:r>
              <a:rPr lang="ro-RO" sz="2400" b="1" dirty="0" err="1"/>
              <a:t>rejected</a:t>
            </a:r>
            <a:r>
              <a:rPr lang="ro-RO" sz="2400" dirty="0"/>
              <a:t>. </a:t>
            </a:r>
            <a:r>
              <a:rPr lang="ro-RO" sz="2400" b="1" dirty="0"/>
              <a:t>Eroarea</a:t>
            </a:r>
            <a:r>
              <a:rPr lang="ro-RO" sz="2400" dirty="0"/>
              <a:t> este accesată, ulterior, în </a:t>
            </a:r>
            <a:r>
              <a:rPr lang="ro-RO" sz="2400" b="1" dirty="0"/>
              <a:t>catch</a:t>
            </a:r>
            <a:r>
              <a:rPr lang="ro-RO" sz="2400" dirty="0"/>
              <a:t>.</a:t>
            </a:r>
            <a:endParaRPr lang="ro-RO" sz="2400" b="1" dirty="0"/>
          </a:p>
          <a:p>
            <a:pPr>
              <a:lnSpc>
                <a:spcPct val="100000"/>
              </a:lnSpc>
              <a:spcBef>
                <a:spcPts val="600"/>
              </a:spcBef>
              <a:spcAft>
                <a:spcPts val="600"/>
              </a:spcAft>
            </a:pPr>
            <a:endParaRPr lang="ro-RO" sz="3200" dirty="0"/>
          </a:p>
          <a:p>
            <a:pPr>
              <a:lnSpc>
                <a:spcPct val="100000"/>
              </a:lnSpc>
              <a:spcBef>
                <a:spcPts val="600"/>
              </a:spcBef>
              <a:spcAft>
                <a:spcPts val="600"/>
              </a:spcAft>
            </a:pPr>
            <a:endParaRPr lang="ro-RO" sz="3200" b="1" dirty="0"/>
          </a:p>
        </p:txBody>
      </p:sp>
      <p:sp>
        <p:nvSpPr>
          <p:cNvPr id="6" name="Title 1">
            <a:extLst>
              <a:ext uri="{FF2B5EF4-FFF2-40B4-BE49-F238E27FC236}">
                <a16:creationId xmlns:a16="http://schemas.microsoft.com/office/drawing/2014/main" id="{26AF6876-75A5-4E08-8978-1CEF665C3C00}"/>
              </a:ext>
            </a:extLst>
          </p:cNvPr>
          <p:cNvSpPr txBox="1">
            <a:spLocks/>
          </p:cNvSpPr>
          <p:nvPr/>
        </p:nvSpPr>
        <p:spPr>
          <a:xfrm>
            <a:off x="867682" y="677953"/>
            <a:ext cx="10928683" cy="1283369"/>
          </a:xfrm>
          <a:prstGeom prst="rect">
            <a:avLst/>
          </a:prstGeom>
          <a:effectLst/>
        </p:spPr>
        <p:txBody>
          <a:bodyPr vert="horz" lIns="91440" tIns="45720" rIns="91440" bIns="45720" rtlCol="0" anchor="ct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b="1" dirty="0" err="1"/>
              <a:t>promisiuni</a:t>
            </a:r>
            <a:endParaRPr lang="en-US" sz="4000" b="1" dirty="0"/>
          </a:p>
        </p:txBody>
      </p:sp>
    </p:spTree>
    <p:extLst>
      <p:ext uri="{BB962C8B-B14F-4D97-AF65-F5344CB8AC3E}">
        <p14:creationId xmlns:p14="http://schemas.microsoft.com/office/powerpoint/2010/main" val="181364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A50204B-C068-418D-8AB1-71D541943E30}"/>
              </a:ext>
            </a:extLst>
          </p:cNvPr>
          <p:cNvPicPr>
            <a:picLocks noChangeAspect="1"/>
          </p:cNvPicPr>
          <p:nvPr/>
        </p:nvPicPr>
        <p:blipFill>
          <a:blip r:embed="rId2"/>
          <a:stretch>
            <a:fillRect/>
          </a:stretch>
        </p:blipFill>
        <p:spPr>
          <a:xfrm>
            <a:off x="0" y="0"/>
            <a:ext cx="6946026" cy="6858000"/>
          </a:xfrm>
          <a:prstGeom prst="rect">
            <a:avLst/>
          </a:prstGeom>
        </p:spPr>
      </p:pic>
      <p:pic>
        <p:nvPicPr>
          <p:cNvPr id="7" name="Picture 6">
            <a:extLst>
              <a:ext uri="{FF2B5EF4-FFF2-40B4-BE49-F238E27FC236}">
                <a16:creationId xmlns:a16="http://schemas.microsoft.com/office/drawing/2014/main" id="{1608DBA8-951D-4033-8332-9CEE0BB5A81E}"/>
              </a:ext>
            </a:extLst>
          </p:cNvPr>
          <p:cNvPicPr>
            <a:picLocks noChangeAspect="1"/>
          </p:cNvPicPr>
          <p:nvPr/>
        </p:nvPicPr>
        <p:blipFill>
          <a:blip r:embed="rId3"/>
          <a:stretch>
            <a:fillRect/>
          </a:stretch>
        </p:blipFill>
        <p:spPr>
          <a:xfrm>
            <a:off x="7432223" y="1225473"/>
            <a:ext cx="3743325" cy="1219200"/>
          </a:xfrm>
          <a:prstGeom prst="rect">
            <a:avLst/>
          </a:prstGeom>
        </p:spPr>
      </p:pic>
      <p:cxnSp>
        <p:nvCxnSpPr>
          <p:cNvPr id="13" name="Straight Arrow Connector 12">
            <a:extLst>
              <a:ext uri="{FF2B5EF4-FFF2-40B4-BE49-F238E27FC236}">
                <a16:creationId xmlns:a16="http://schemas.microsoft.com/office/drawing/2014/main" id="{1D2C2C40-3C9F-4705-9186-003C00659331}"/>
              </a:ext>
            </a:extLst>
          </p:cNvPr>
          <p:cNvCxnSpPr>
            <a:cxnSpLocks/>
          </p:cNvCxnSpPr>
          <p:nvPr/>
        </p:nvCxnSpPr>
        <p:spPr>
          <a:xfrm flipV="1">
            <a:off x="3631326" y="1981200"/>
            <a:ext cx="3645774" cy="304800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pic>
        <p:nvPicPr>
          <p:cNvPr id="5" name="Picture 4">
            <a:extLst>
              <a:ext uri="{FF2B5EF4-FFF2-40B4-BE49-F238E27FC236}">
                <a16:creationId xmlns:a16="http://schemas.microsoft.com/office/drawing/2014/main" id="{F2CB77EC-BE13-4983-AFED-7123B0CE5266}"/>
              </a:ext>
            </a:extLst>
          </p:cNvPr>
          <p:cNvPicPr>
            <a:picLocks noChangeAspect="1"/>
          </p:cNvPicPr>
          <p:nvPr/>
        </p:nvPicPr>
        <p:blipFill>
          <a:blip r:embed="rId4"/>
          <a:stretch>
            <a:fillRect/>
          </a:stretch>
        </p:blipFill>
        <p:spPr>
          <a:xfrm>
            <a:off x="4801333" y="3143172"/>
            <a:ext cx="7390667" cy="1562255"/>
          </a:xfrm>
          <a:prstGeom prst="rect">
            <a:avLst/>
          </a:prstGeom>
          <a:ln w="12700" cap="sq">
            <a:solidFill>
              <a:srgbClr val="000000"/>
            </a:solidFill>
            <a:miter lim="800000"/>
          </a:ln>
          <a:effectLst>
            <a:outerShdw blurRad="57150" dist="50800" dir="2700000" algn="tl" rotWithShape="0">
              <a:srgbClr val="000000">
                <a:alpha val="40000"/>
              </a:srgbClr>
            </a:outerShdw>
          </a:effectLst>
        </p:spPr>
      </p:pic>
      <p:sp>
        <p:nvSpPr>
          <p:cNvPr id="15" name="Rectangle 14">
            <a:extLst>
              <a:ext uri="{FF2B5EF4-FFF2-40B4-BE49-F238E27FC236}">
                <a16:creationId xmlns:a16="http://schemas.microsoft.com/office/drawing/2014/main" id="{780CFA2A-E3AC-4865-929B-F0225663BBF7}"/>
              </a:ext>
            </a:extLst>
          </p:cNvPr>
          <p:cNvSpPr/>
          <p:nvPr/>
        </p:nvSpPr>
        <p:spPr>
          <a:xfrm>
            <a:off x="7432223" y="1511300"/>
            <a:ext cx="3145129" cy="469900"/>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6" name="Rectangle 15">
            <a:extLst>
              <a:ext uri="{FF2B5EF4-FFF2-40B4-BE49-F238E27FC236}">
                <a16:creationId xmlns:a16="http://schemas.microsoft.com/office/drawing/2014/main" id="{A46EA4D9-94CD-419B-BE46-06E4F5DC7709}"/>
              </a:ext>
            </a:extLst>
          </p:cNvPr>
          <p:cNvSpPr/>
          <p:nvPr/>
        </p:nvSpPr>
        <p:spPr>
          <a:xfrm>
            <a:off x="4801333" y="3371695"/>
            <a:ext cx="1955067" cy="209705"/>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05F2150D-0370-4F5B-A9F1-B4CA4B4608B3}"/>
              </a:ext>
            </a:extLst>
          </p:cNvPr>
          <p:cNvCxnSpPr>
            <a:cxnSpLocks/>
          </p:cNvCxnSpPr>
          <p:nvPr/>
        </p:nvCxnSpPr>
        <p:spPr>
          <a:xfrm flipV="1">
            <a:off x="3473013" y="4508500"/>
            <a:ext cx="1505387" cy="187960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993660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C844EF-F2ED-4608-A8B6-7ADB87DA631F}"/>
              </a:ext>
            </a:extLst>
          </p:cNvPr>
          <p:cNvSpPr>
            <a:spLocks noGrp="1"/>
          </p:cNvSpPr>
          <p:nvPr>
            <p:ph idx="1"/>
          </p:nvPr>
        </p:nvSpPr>
        <p:spPr>
          <a:xfrm>
            <a:off x="891674" y="1828029"/>
            <a:ext cx="11188699" cy="4764157"/>
          </a:xfrm>
        </p:spPr>
        <p:txBody>
          <a:bodyPr>
            <a:normAutofit/>
          </a:bodyPr>
          <a:lstStyle/>
          <a:p>
            <a:pPr>
              <a:lnSpc>
                <a:spcPct val="100000"/>
              </a:lnSpc>
              <a:spcBef>
                <a:spcPts val="600"/>
              </a:spcBef>
              <a:spcAft>
                <a:spcPts val="600"/>
              </a:spcAft>
            </a:pPr>
            <a:r>
              <a:rPr lang="ro-RO" sz="3200" dirty="0"/>
              <a:t>Clasa </a:t>
            </a:r>
            <a:r>
              <a:rPr lang="ro-RO" sz="3200" b="1" dirty="0"/>
              <a:t>Promise</a:t>
            </a:r>
            <a:r>
              <a:rPr lang="ro-RO" sz="3200" dirty="0"/>
              <a:t> oferă diverse metode statice utile:</a:t>
            </a:r>
          </a:p>
          <a:p>
            <a:pPr lvl="1">
              <a:lnSpc>
                <a:spcPct val="100000"/>
              </a:lnSpc>
              <a:spcBef>
                <a:spcPts val="600"/>
              </a:spcBef>
              <a:spcAft>
                <a:spcPts val="600"/>
              </a:spcAft>
            </a:pPr>
            <a:r>
              <a:rPr lang="ro-RO" sz="2400" b="1" dirty="0" err="1"/>
              <a:t>Promise.resolve</a:t>
            </a:r>
            <a:r>
              <a:rPr lang="ro-RO" sz="2400" dirty="0"/>
              <a:t> returnează o promisiune îndeplinită cu succes</a:t>
            </a:r>
          </a:p>
          <a:p>
            <a:pPr lvl="1">
              <a:lnSpc>
                <a:spcPct val="100000"/>
              </a:lnSpc>
              <a:spcBef>
                <a:spcPts val="600"/>
              </a:spcBef>
              <a:spcAft>
                <a:spcPts val="600"/>
              </a:spcAft>
            </a:pPr>
            <a:r>
              <a:rPr lang="ro-RO" sz="2400" b="1" dirty="0" err="1"/>
              <a:t>Promise</a:t>
            </a:r>
            <a:r>
              <a:rPr lang="ro-RO" sz="2400" dirty="0" err="1"/>
              <a:t>.</a:t>
            </a:r>
            <a:r>
              <a:rPr lang="ro-RO" sz="2400" b="1" dirty="0" err="1"/>
              <a:t>reject</a:t>
            </a:r>
            <a:r>
              <a:rPr lang="ro-RO" sz="2400" dirty="0"/>
              <a:t> returnează o promisiune eșuată</a:t>
            </a:r>
          </a:p>
          <a:p>
            <a:pPr lvl="1">
              <a:lnSpc>
                <a:spcPct val="100000"/>
              </a:lnSpc>
              <a:spcBef>
                <a:spcPts val="600"/>
              </a:spcBef>
              <a:spcAft>
                <a:spcPts val="600"/>
              </a:spcAft>
            </a:pPr>
            <a:r>
              <a:rPr lang="ro-RO" sz="2400" b="1" dirty="0" err="1"/>
              <a:t>Promise.race</a:t>
            </a:r>
            <a:r>
              <a:rPr lang="ro-RO" sz="2400" dirty="0"/>
              <a:t> primește un vector de promisiuni și întoarce promisiunea care se execută cel mai repede</a:t>
            </a:r>
          </a:p>
          <a:p>
            <a:pPr lvl="1">
              <a:lnSpc>
                <a:spcPct val="100000"/>
              </a:lnSpc>
              <a:spcBef>
                <a:spcPts val="600"/>
              </a:spcBef>
              <a:spcAft>
                <a:spcPts val="600"/>
              </a:spcAft>
            </a:pPr>
            <a:r>
              <a:rPr lang="ro-RO" sz="2400" b="1" dirty="0" err="1"/>
              <a:t>Promise.all</a:t>
            </a:r>
            <a:r>
              <a:rPr lang="ro-RO" sz="2400" dirty="0"/>
              <a:t> primește un vector de promisiuni și întoarce o promisiune ce conține rezultatele tuturor promisiunilor executate</a:t>
            </a:r>
            <a:endParaRPr lang="ro-RO" sz="2400" b="1" dirty="0"/>
          </a:p>
          <a:p>
            <a:pPr>
              <a:lnSpc>
                <a:spcPct val="100000"/>
              </a:lnSpc>
              <a:spcBef>
                <a:spcPts val="600"/>
              </a:spcBef>
              <a:spcAft>
                <a:spcPts val="600"/>
              </a:spcAft>
            </a:pPr>
            <a:endParaRPr lang="ro-RO" sz="3600" dirty="0"/>
          </a:p>
          <a:p>
            <a:pPr>
              <a:lnSpc>
                <a:spcPct val="100000"/>
              </a:lnSpc>
              <a:spcBef>
                <a:spcPts val="600"/>
              </a:spcBef>
              <a:spcAft>
                <a:spcPts val="600"/>
              </a:spcAft>
            </a:pPr>
            <a:endParaRPr lang="ro-RO" sz="3600" b="1" dirty="0"/>
          </a:p>
        </p:txBody>
      </p:sp>
      <p:sp>
        <p:nvSpPr>
          <p:cNvPr id="6" name="Title 1">
            <a:extLst>
              <a:ext uri="{FF2B5EF4-FFF2-40B4-BE49-F238E27FC236}">
                <a16:creationId xmlns:a16="http://schemas.microsoft.com/office/drawing/2014/main" id="{26AF6876-75A5-4E08-8978-1CEF665C3C00}"/>
              </a:ext>
            </a:extLst>
          </p:cNvPr>
          <p:cNvSpPr txBox="1">
            <a:spLocks/>
          </p:cNvSpPr>
          <p:nvPr/>
        </p:nvSpPr>
        <p:spPr>
          <a:xfrm>
            <a:off x="891674" y="681383"/>
            <a:ext cx="10928683" cy="1283369"/>
          </a:xfrm>
          <a:prstGeom prst="rect">
            <a:avLst/>
          </a:prstGeom>
          <a:effectLst/>
        </p:spPr>
        <p:txBody>
          <a:bodyPr vert="horz" lIns="91440" tIns="45720" rIns="91440" bIns="45720" rtlCol="0" anchor="ct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b="1" dirty="0" err="1"/>
              <a:t>promisiuni</a:t>
            </a:r>
            <a:endParaRPr lang="en-US" sz="4000" b="1" dirty="0"/>
          </a:p>
        </p:txBody>
      </p:sp>
    </p:spTree>
    <p:extLst>
      <p:ext uri="{BB962C8B-B14F-4D97-AF65-F5344CB8AC3E}">
        <p14:creationId xmlns:p14="http://schemas.microsoft.com/office/powerpoint/2010/main" val="9603068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6AF6876-75A5-4E08-8978-1CEF665C3C00}"/>
              </a:ext>
            </a:extLst>
          </p:cNvPr>
          <p:cNvSpPr txBox="1">
            <a:spLocks/>
          </p:cNvSpPr>
          <p:nvPr/>
        </p:nvSpPr>
        <p:spPr>
          <a:xfrm>
            <a:off x="841208" y="584676"/>
            <a:ext cx="10928683" cy="1283369"/>
          </a:xfrm>
          <a:prstGeom prst="rect">
            <a:avLst/>
          </a:prstGeom>
          <a:effectLst/>
        </p:spPr>
        <p:txBody>
          <a:bodyPr vert="horz" lIns="91440" tIns="45720" rIns="91440" bIns="45720" rtlCol="0" anchor="ct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b="1" dirty="0" err="1"/>
              <a:t>promisiuni</a:t>
            </a:r>
            <a:endParaRPr lang="en-US" sz="4000" b="1" dirty="0"/>
          </a:p>
        </p:txBody>
      </p:sp>
      <p:pic>
        <p:nvPicPr>
          <p:cNvPr id="2" name="Picture 1">
            <a:extLst>
              <a:ext uri="{FF2B5EF4-FFF2-40B4-BE49-F238E27FC236}">
                <a16:creationId xmlns:a16="http://schemas.microsoft.com/office/drawing/2014/main" id="{083E13AB-75E5-40AC-A5B9-B1048CC0C36F}"/>
              </a:ext>
            </a:extLst>
          </p:cNvPr>
          <p:cNvPicPr>
            <a:picLocks noChangeAspect="1"/>
          </p:cNvPicPr>
          <p:nvPr/>
        </p:nvPicPr>
        <p:blipFill>
          <a:blip r:embed="rId2"/>
          <a:stretch>
            <a:fillRect/>
          </a:stretch>
        </p:blipFill>
        <p:spPr>
          <a:xfrm>
            <a:off x="530391" y="1987775"/>
            <a:ext cx="8168552" cy="4063331"/>
          </a:xfrm>
          <a:prstGeom prst="rect">
            <a:avLst/>
          </a:prstGeom>
        </p:spPr>
      </p:pic>
      <p:pic>
        <p:nvPicPr>
          <p:cNvPr id="7" name="Picture 6">
            <a:extLst>
              <a:ext uri="{FF2B5EF4-FFF2-40B4-BE49-F238E27FC236}">
                <a16:creationId xmlns:a16="http://schemas.microsoft.com/office/drawing/2014/main" id="{BB15E237-83BD-4DAE-865A-52992BE9473A}"/>
              </a:ext>
            </a:extLst>
          </p:cNvPr>
          <p:cNvPicPr>
            <a:picLocks noChangeAspect="1"/>
          </p:cNvPicPr>
          <p:nvPr/>
        </p:nvPicPr>
        <p:blipFill>
          <a:blip r:embed="rId3"/>
          <a:stretch>
            <a:fillRect/>
          </a:stretch>
        </p:blipFill>
        <p:spPr>
          <a:xfrm>
            <a:off x="8979066" y="3252344"/>
            <a:ext cx="2790825" cy="1076325"/>
          </a:xfrm>
          <a:prstGeom prst="rect">
            <a:avLst/>
          </a:prstGeom>
        </p:spPr>
      </p:pic>
      <p:cxnSp>
        <p:nvCxnSpPr>
          <p:cNvPr id="9" name="Straight Arrow Connector 8">
            <a:extLst>
              <a:ext uri="{FF2B5EF4-FFF2-40B4-BE49-F238E27FC236}">
                <a16:creationId xmlns:a16="http://schemas.microsoft.com/office/drawing/2014/main" id="{D644AD13-7EB3-4939-9AEB-D1CB8740883D}"/>
              </a:ext>
            </a:extLst>
          </p:cNvPr>
          <p:cNvCxnSpPr>
            <a:cxnSpLocks/>
          </p:cNvCxnSpPr>
          <p:nvPr/>
        </p:nvCxnSpPr>
        <p:spPr>
          <a:xfrm flipV="1">
            <a:off x="3622841" y="3752408"/>
            <a:ext cx="5473700" cy="18668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8633EED9-724D-4838-96C4-B100FA18D336}"/>
              </a:ext>
            </a:extLst>
          </p:cNvPr>
          <p:cNvCxnSpPr>
            <a:cxnSpLocks/>
          </p:cNvCxnSpPr>
          <p:nvPr/>
        </p:nvCxnSpPr>
        <p:spPr>
          <a:xfrm flipV="1">
            <a:off x="6727990" y="4222307"/>
            <a:ext cx="3092451" cy="14906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381524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6AF6876-75A5-4E08-8978-1CEF665C3C00}"/>
              </a:ext>
            </a:extLst>
          </p:cNvPr>
          <p:cNvSpPr txBox="1">
            <a:spLocks/>
          </p:cNvSpPr>
          <p:nvPr/>
        </p:nvSpPr>
        <p:spPr>
          <a:xfrm>
            <a:off x="945815" y="492730"/>
            <a:ext cx="10928683" cy="1283369"/>
          </a:xfrm>
          <a:prstGeom prst="rect">
            <a:avLst/>
          </a:prstGeom>
          <a:effectLst/>
        </p:spPr>
        <p:txBody>
          <a:bodyPr vert="horz" lIns="91440" tIns="45720" rIns="91440" bIns="45720" rtlCol="0" anchor="ct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b="1" dirty="0"/>
              <a:t>Async/await</a:t>
            </a:r>
          </a:p>
        </p:txBody>
      </p:sp>
      <p:sp>
        <p:nvSpPr>
          <p:cNvPr id="4" name="Content Placeholder 2">
            <a:extLst>
              <a:ext uri="{FF2B5EF4-FFF2-40B4-BE49-F238E27FC236}">
                <a16:creationId xmlns:a16="http://schemas.microsoft.com/office/drawing/2014/main" id="{B03DEBB7-0A6F-4D7C-99AA-79F7ADE456BC}"/>
              </a:ext>
            </a:extLst>
          </p:cNvPr>
          <p:cNvSpPr txBox="1">
            <a:spLocks/>
          </p:cNvSpPr>
          <p:nvPr/>
        </p:nvSpPr>
        <p:spPr>
          <a:xfrm>
            <a:off x="815808" y="1563448"/>
            <a:ext cx="11188699" cy="5016500"/>
          </a:xfrm>
          <a:prstGeom prst="rect">
            <a:avLst/>
          </a:prstGeom>
        </p:spPr>
        <p:txBody>
          <a:bodyPr vert="horz" lIns="91440" tIns="45720" rIns="91440" bIns="45720" rtlCol="0" anchor="ctr">
            <a:normAutofit lnSpcReduction="1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a:lnSpc>
                <a:spcPct val="110000"/>
              </a:lnSpc>
              <a:spcBef>
                <a:spcPts val="600"/>
              </a:spcBef>
              <a:spcAft>
                <a:spcPts val="600"/>
              </a:spcAft>
            </a:pPr>
            <a:r>
              <a:rPr lang="ro-RO" sz="2800" b="1" dirty="0" err="1"/>
              <a:t>Async</a:t>
            </a:r>
            <a:r>
              <a:rPr lang="ro-RO" sz="2800" b="1" dirty="0"/>
              <a:t>/</a:t>
            </a:r>
            <a:r>
              <a:rPr lang="ro-RO" sz="2800" b="1" dirty="0" err="1"/>
              <a:t>Await</a:t>
            </a:r>
            <a:r>
              <a:rPr lang="ro-RO" sz="2800" dirty="0"/>
              <a:t> a fost introdus în </a:t>
            </a:r>
            <a:r>
              <a:rPr lang="ro-RO" sz="2800" b="1" dirty="0"/>
              <a:t>ES7 </a:t>
            </a:r>
            <a:r>
              <a:rPr lang="ro-RO" sz="2800" dirty="0"/>
              <a:t>ca o iterație peste </a:t>
            </a:r>
            <a:r>
              <a:rPr lang="ro-RO" sz="2800" b="1" dirty="0"/>
              <a:t>promisiuni</a:t>
            </a:r>
            <a:r>
              <a:rPr lang="ro-RO" sz="2800" dirty="0"/>
              <a:t> pentru a fluidiza și mai mult scrierea codului asincron</a:t>
            </a:r>
          </a:p>
          <a:p>
            <a:pPr>
              <a:lnSpc>
                <a:spcPct val="110000"/>
              </a:lnSpc>
              <a:spcBef>
                <a:spcPts val="600"/>
              </a:spcBef>
              <a:spcAft>
                <a:spcPts val="600"/>
              </a:spcAft>
            </a:pPr>
            <a:r>
              <a:rPr lang="ro-RO" sz="2800" b="1" dirty="0" err="1"/>
              <a:t>Async</a:t>
            </a:r>
            <a:r>
              <a:rPr lang="ro-RO" sz="2800" b="1" dirty="0"/>
              <a:t>/</a:t>
            </a:r>
            <a:r>
              <a:rPr lang="ro-RO" sz="2800" b="1" dirty="0" err="1"/>
              <a:t>Await</a:t>
            </a:r>
            <a:r>
              <a:rPr lang="ro-RO" sz="2800" dirty="0"/>
              <a:t> și </a:t>
            </a:r>
            <a:r>
              <a:rPr lang="ro-RO" sz="2800" b="1" dirty="0"/>
              <a:t>Promisiunile</a:t>
            </a:r>
            <a:r>
              <a:rPr lang="ro-RO" sz="2800" dirty="0"/>
              <a:t> sunt compatibile </a:t>
            </a:r>
          </a:p>
          <a:p>
            <a:pPr>
              <a:lnSpc>
                <a:spcPct val="110000"/>
              </a:lnSpc>
              <a:spcBef>
                <a:spcPts val="600"/>
              </a:spcBef>
              <a:spcAft>
                <a:spcPts val="600"/>
              </a:spcAft>
            </a:pPr>
            <a:r>
              <a:rPr lang="ro-RO" sz="2800" dirty="0"/>
              <a:t>O promisiune </a:t>
            </a:r>
            <a:r>
              <a:rPr lang="ro-RO" sz="2800" b="1" dirty="0"/>
              <a:t>poate fi așteptată</a:t>
            </a:r>
            <a:r>
              <a:rPr lang="ro-RO" sz="2800" dirty="0"/>
              <a:t> cu </a:t>
            </a:r>
            <a:r>
              <a:rPr lang="ro-RO" sz="2800" b="1" dirty="0" err="1"/>
              <a:t>await</a:t>
            </a:r>
            <a:endParaRPr lang="ro-RO" sz="2800" dirty="0"/>
          </a:p>
          <a:p>
            <a:pPr>
              <a:lnSpc>
                <a:spcPct val="110000"/>
              </a:lnSpc>
              <a:spcBef>
                <a:spcPts val="600"/>
              </a:spcBef>
              <a:spcAft>
                <a:spcPts val="600"/>
              </a:spcAft>
            </a:pPr>
            <a:r>
              <a:rPr lang="ro-RO" sz="2800" dirty="0"/>
              <a:t>O funcție </a:t>
            </a:r>
            <a:r>
              <a:rPr lang="ro-RO" sz="2800" b="1" dirty="0"/>
              <a:t>marcata ca </a:t>
            </a:r>
            <a:r>
              <a:rPr lang="ro-RO" sz="2800" b="1" dirty="0" err="1"/>
              <a:t>async</a:t>
            </a:r>
            <a:r>
              <a:rPr lang="ro-RO" sz="2800" dirty="0"/>
              <a:t> returnează o</a:t>
            </a:r>
            <a:r>
              <a:rPr lang="ro-RO" sz="2800" b="1" dirty="0"/>
              <a:t> promisiune</a:t>
            </a:r>
            <a:endParaRPr lang="ro-RO" sz="2800" dirty="0"/>
          </a:p>
          <a:p>
            <a:pPr>
              <a:lnSpc>
                <a:spcPct val="110000"/>
              </a:lnSpc>
              <a:spcBef>
                <a:spcPts val="600"/>
              </a:spcBef>
              <a:spcAft>
                <a:spcPts val="600"/>
              </a:spcAft>
            </a:pPr>
            <a:r>
              <a:rPr lang="ro-RO" sz="2800" dirty="0"/>
              <a:t>Metodele statice din </a:t>
            </a:r>
            <a:r>
              <a:rPr lang="ro-RO" sz="2800" b="1" dirty="0"/>
              <a:t>Promise</a:t>
            </a:r>
            <a:r>
              <a:rPr lang="ro-RO" sz="2800" dirty="0"/>
              <a:t> pot utiliza construcții care folosesc </a:t>
            </a:r>
            <a:r>
              <a:rPr lang="ro-RO" sz="2800" b="1" dirty="0" err="1"/>
              <a:t>async</a:t>
            </a:r>
            <a:r>
              <a:rPr lang="ro-RO" sz="2800" b="1" dirty="0"/>
              <a:t>/</a:t>
            </a:r>
            <a:r>
              <a:rPr lang="ro-RO" sz="2800" b="1" dirty="0" err="1"/>
              <a:t>await</a:t>
            </a:r>
            <a:endParaRPr lang="ro-RO" sz="2800" dirty="0"/>
          </a:p>
          <a:p>
            <a:pPr>
              <a:lnSpc>
                <a:spcPct val="110000"/>
              </a:lnSpc>
              <a:spcBef>
                <a:spcPts val="600"/>
              </a:spcBef>
              <a:spcAft>
                <a:spcPts val="600"/>
              </a:spcAft>
            </a:pPr>
            <a:r>
              <a:rPr lang="ro-RO" sz="2800" dirty="0"/>
              <a:t>Pentru a folosi </a:t>
            </a:r>
            <a:r>
              <a:rPr lang="ro-RO" sz="2800" b="1" dirty="0" err="1"/>
              <a:t>await</a:t>
            </a:r>
            <a:r>
              <a:rPr lang="ro-RO" sz="2800" dirty="0"/>
              <a:t>, este nevoie ca funcția în care se pune </a:t>
            </a:r>
            <a:r>
              <a:rPr lang="ro-RO" sz="2800" b="1" dirty="0" err="1"/>
              <a:t>await</a:t>
            </a:r>
            <a:r>
              <a:rPr lang="ro-RO" sz="2800" dirty="0"/>
              <a:t> să fie marcată drept </a:t>
            </a:r>
            <a:r>
              <a:rPr lang="ro-RO" sz="2800" b="1" dirty="0" err="1"/>
              <a:t>async</a:t>
            </a:r>
            <a:endParaRPr lang="ro-RO" sz="2800" dirty="0"/>
          </a:p>
        </p:txBody>
      </p:sp>
    </p:spTree>
    <p:extLst>
      <p:ext uri="{BB962C8B-B14F-4D97-AF65-F5344CB8AC3E}">
        <p14:creationId xmlns:p14="http://schemas.microsoft.com/office/powerpoint/2010/main" val="22338935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6AF6876-75A5-4E08-8978-1CEF665C3C00}"/>
              </a:ext>
            </a:extLst>
          </p:cNvPr>
          <p:cNvSpPr txBox="1">
            <a:spLocks/>
          </p:cNvSpPr>
          <p:nvPr/>
        </p:nvSpPr>
        <p:spPr>
          <a:xfrm>
            <a:off x="269447" y="0"/>
            <a:ext cx="10928683" cy="826837"/>
          </a:xfrm>
          <a:prstGeom prst="rect">
            <a:avLst/>
          </a:prstGeom>
          <a:effectLst/>
        </p:spPr>
        <p:txBody>
          <a:bodyPr vert="horz" lIns="91440" tIns="45720" rIns="91440" bIns="45720" rtlCol="0" anchor="ctr">
            <a:no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b="1" dirty="0"/>
              <a:t>Async/await</a:t>
            </a:r>
          </a:p>
        </p:txBody>
      </p:sp>
      <p:pic>
        <p:nvPicPr>
          <p:cNvPr id="3" name="Picture 2">
            <a:extLst>
              <a:ext uri="{FF2B5EF4-FFF2-40B4-BE49-F238E27FC236}">
                <a16:creationId xmlns:a16="http://schemas.microsoft.com/office/drawing/2014/main" id="{A9F02790-71D2-4A5B-91DF-58F2A23A0E24}"/>
              </a:ext>
            </a:extLst>
          </p:cNvPr>
          <p:cNvPicPr>
            <a:picLocks noChangeAspect="1"/>
          </p:cNvPicPr>
          <p:nvPr/>
        </p:nvPicPr>
        <p:blipFill>
          <a:blip r:embed="rId2"/>
          <a:stretch>
            <a:fillRect/>
          </a:stretch>
        </p:blipFill>
        <p:spPr>
          <a:xfrm>
            <a:off x="269447" y="826837"/>
            <a:ext cx="6179406" cy="5713663"/>
          </a:xfrm>
          <a:prstGeom prst="rect">
            <a:avLst/>
          </a:prstGeom>
        </p:spPr>
      </p:pic>
      <p:pic>
        <p:nvPicPr>
          <p:cNvPr id="2" name="Picture 1">
            <a:extLst>
              <a:ext uri="{FF2B5EF4-FFF2-40B4-BE49-F238E27FC236}">
                <a16:creationId xmlns:a16="http://schemas.microsoft.com/office/drawing/2014/main" id="{E1DD467E-5936-419D-AD9A-B8E24F969741}"/>
              </a:ext>
            </a:extLst>
          </p:cNvPr>
          <p:cNvPicPr>
            <a:picLocks noChangeAspect="1"/>
          </p:cNvPicPr>
          <p:nvPr/>
        </p:nvPicPr>
        <p:blipFill>
          <a:blip r:embed="rId3"/>
          <a:stretch>
            <a:fillRect/>
          </a:stretch>
        </p:blipFill>
        <p:spPr>
          <a:xfrm>
            <a:off x="5204253" y="4684151"/>
            <a:ext cx="6718300" cy="1664512"/>
          </a:xfrm>
          <a:prstGeom prst="rect">
            <a:avLst/>
          </a:prstGeom>
          <a:ln w="6350" cap="sq">
            <a:solidFill>
              <a:srgbClr val="000000"/>
            </a:solidFill>
            <a:miter lim="800000"/>
          </a:ln>
          <a:effectLst>
            <a:outerShdw blurRad="57150" dist="50800" dir="2700000" algn="tl" rotWithShape="0">
              <a:srgbClr val="000000">
                <a:alpha val="40000"/>
              </a:srgbClr>
            </a:outerShdw>
          </a:effectLst>
        </p:spPr>
      </p:pic>
      <p:sp>
        <p:nvSpPr>
          <p:cNvPr id="7" name="Content Placeholder 2">
            <a:extLst>
              <a:ext uri="{FF2B5EF4-FFF2-40B4-BE49-F238E27FC236}">
                <a16:creationId xmlns:a16="http://schemas.microsoft.com/office/drawing/2014/main" id="{EB378FF3-DBCF-4816-9559-6404C8CF0B8B}"/>
              </a:ext>
            </a:extLst>
          </p:cNvPr>
          <p:cNvSpPr txBox="1">
            <a:spLocks/>
          </p:cNvSpPr>
          <p:nvPr/>
        </p:nvSpPr>
        <p:spPr>
          <a:xfrm>
            <a:off x="7550151" y="924951"/>
            <a:ext cx="3448049" cy="2932363"/>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endParaRPr lang="en-US" sz="3200" dirty="0"/>
          </a:p>
        </p:txBody>
      </p:sp>
      <p:sp>
        <p:nvSpPr>
          <p:cNvPr id="8" name="Content Placeholder 2">
            <a:extLst>
              <a:ext uri="{FF2B5EF4-FFF2-40B4-BE49-F238E27FC236}">
                <a16:creationId xmlns:a16="http://schemas.microsoft.com/office/drawing/2014/main" id="{E09E8BD1-E462-4DD1-8ED8-F22DCCDCA615}"/>
              </a:ext>
            </a:extLst>
          </p:cNvPr>
          <p:cNvSpPr>
            <a:spLocks noGrp="1"/>
          </p:cNvSpPr>
          <p:nvPr>
            <p:ph idx="1"/>
          </p:nvPr>
        </p:nvSpPr>
        <p:spPr>
          <a:xfrm>
            <a:off x="6495622" y="931923"/>
            <a:ext cx="5557106" cy="3637928"/>
          </a:xfrm>
        </p:spPr>
        <p:txBody>
          <a:bodyPr>
            <a:normAutofit/>
          </a:bodyPr>
          <a:lstStyle/>
          <a:p>
            <a:r>
              <a:rPr lang="ro-RO" sz="3000" b="1" dirty="0"/>
              <a:t>Erorile</a:t>
            </a:r>
            <a:r>
              <a:rPr lang="ro-RO" sz="3000" dirty="0"/>
              <a:t> se pot gestiona ușor utilizând </a:t>
            </a:r>
            <a:r>
              <a:rPr lang="ro-RO" sz="3000" b="1" dirty="0" err="1"/>
              <a:t>try</a:t>
            </a:r>
            <a:r>
              <a:rPr lang="ro-RO" sz="3000" b="1" dirty="0"/>
              <a:t>…catch</a:t>
            </a:r>
          </a:p>
          <a:p>
            <a:r>
              <a:rPr lang="ro-RO" sz="3000" dirty="0"/>
              <a:t>Deoarece nu se poate apela </a:t>
            </a:r>
            <a:r>
              <a:rPr lang="ro-RO" sz="3000" b="1" dirty="0" err="1"/>
              <a:t>await</a:t>
            </a:r>
            <a:r>
              <a:rPr lang="ro-RO" sz="3000" dirty="0"/>
              <a:t> fără </a:t>
            </a:r>
            <a:r>
              <a:rPr lang="ro-RO" sz="3000" b="1" dirty="0" err="1"/>
              <a:t>async</a:t>
            </a:r>
            <a:r>
              <a:rPr lang="ro-RO" sz="3000" dirty="0"/>
              <a:t>, codul e îmbrăcat într-o </a:t>
            </a:r>
            <a:r>
              <a:rPr lang="ro-RO" sz="3000" b="1" dirty="0"/>
              <a:t>funcție care se apelează singură</a:t>
            </a:r>
            <a:endParaRPr lang="ro-RO" sz="3000" dirty="0"/>
          </a:p>
        </p:txBody>
      </p:sp>
    </p:spTree>
    <p:extLst>
      <p:ext uri="{BB962C8B-B14F-4D97-AF65-F5344CB8AC3E}">
        <p14:creationId xmlns:p14="http://schemas.microsoft.com/office/powerpoint/2010/main" val="263362410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DE0BD-6CCB-4A47-AC18-6A60C56D51FD}"/>
              </a:ext>
            </a:extLst>
          </p:cNvPr>
          <p:cNvSpPr>
            <a:spLocks noGrp="1"/>
          </p:cNvSpPr>
          <p:nvPr>
            <p:ph type="title"/>
          </p:nvPr>
        </p:nvSpPr>
        <p:spPr>
          <a:xfrm>
            <a:off x="1024128" y="585216"/>
            <a:ext cx="8018272" cy="1499616"/>
          </a:xfrm>
        </p:spPr>
        <p:txBody>
          <a:bodyPr>
            <a:normAutofit/>
          </a:bodyPr>
          <a:lstStyle/>
          <a:p>
            <a:pPr eaLnBrk="1" hangingPunct="1">
              <a:defRPr/>
            </a:pPr>
            <a:r>
              <a:rPr lang="ro-RO" altLang="en-US"/>
              <a:t>Sumar</a:t>
            </a:r>
            <a:endParaRPr lang="en-US" altLang="en-US"/>
          </a:p>
        </p:txBody>
      </p:sp>
      <p:sp>
        <p:nvSpPr>
          <p:cNvPr id="235522" name="Content Placeholder 2">
            <a:extLst>
              <a:ext uri="{FF2B5EF4-FFF2-40B4-BE49-F238E27FC236}">
                <a16:creationId xmlns:a16="http://schemas.microsoft.com/office/drawing/2014/main" id="{DDFEE756-BADC-223C-7FC1-B9A7569D3074}"/>
              </a:ext>
            </a:extLst>
          </p:cNvPr>
          <p:cNvSpPr>
            <a:spLocks noGrp="1" noChangeArrowheads="1"/>
          </p:cNvSpPr>
          <p:nvPr>
            <p:ph idx="1"/>
          </p:nvPr>
        </p:nvSpPr>
        <p:spPr>
          <a:xfrm>
            <a:off x="1024128" y="2286000"/>
            <a:ext cx="8018271" cy="4023360"/>
          </a:xfrm>
        </p:spPr>
        <p:txBody>
          <a:bodyPr>
            <a:normAutofit/>
          </a:bodyPr>
          <a:lstStyle/>
          <a:p>
            <a:pPr eaLnBrk="1" hangingPunct="1"/>
            <a:r>
              <a:rPr lang="ro-RO" altLang="en-US" dirty="0"/>
              <a:t>Fundamentele </a:t>
            </a:r>
            <a:r>
              <a:rPr lang="ro-RO" altLang="en-US" dirty="0" err="1"/>
              <a:t>JavaScript</a:t>
            </a:r>
            <a:r>
              <a:rPr lang="ro-RO" altLang="en-US" dirty="0"/>
              <a:t> – noțiuni de bază ale limbajului și construcțiile specifice acestuia</a:t>
            </a:r>
          </a:p>
          <a:p>
            <a:pPr eaLnBrk="1" hangingPunct="1"/>
            <a:r>
              <a:rPr lang="ro-RO" altLang="en-US" dirty="0" err="1"/>
              <a:t>JavaScript</a:t>
            </a:r>
            <a:r>
              <a:rPr lang="ro-RO" altLang="en-US" dirty="0"/>
              <a:t> și HTML - gestiunea simplă a evenimentelor folosind DOM</a:t>
            </a:r>
          </a:p>
          <a:p>
            <a:pPr eaLnBrk="1" hangingPunct="1"/>
            <a:r>
              <a:rPr lang="ro-RO" altLang="en-US" dirty="0"/>
              <a:t>Exemple </a:t>
            </a:r>
            <a:r>
              <a:rPr lang="ro-RO" altLang="en-US" dirty="0" err="1"/>
              <a:t>JavaScript</a:t>
            </a:r>
            <a:endParaRPr lang="ro-RO" altLang="en-US" dirty="0"/>
          </a:p>
          <a:p>
            <a:pPr eaLnBrk="1" hangingPunct="1"/>
            <a:r>
              <a:rPr lang="ro-RO" altLang="en-US" dirty="0"/>
              <a:t>Noțiuni avansate de </a:t>
            </a:r>
            <a:r>
              <a:rPr lang="ro-RO" altLang="en-US" dirty="0" err="1"/>
              <a:t>JavaScript</a:t>
            </a:r>
            <a:r>
              <a:rPr lang="ro-RO" altLang="en-US" dirty="0"/>
              <a:t> – funcții, metode, obiecte, etc.</a:t>
            </a:r>
          </a:p>
          <a:p>
            <a:pPr eaLnBrk="1" hangingPunct="1"/>
            <a:r>
              <a:rPr lang="ro-RO" altLang="en-US" dirty="0"/>
              <a:t>O introducere în </a:t>
            </a:r>
            <a:r>
              <a:rPr lang="ro-RO" altLang="en-US" dirty="0" err="1"/>
              <a:t>JavaScript</a:t>
            </a:r>
            <a:r>
              <a:rPr lang="ro-RO" altLang="en-US" dirty="0"/>
              <a:t> și AJAX</a:t>
            </a:r>
          </a:p>
          <a:p>
            <a:pPr eaLnBrk="1" hangingPunct="1"/>
            <a:endParaRPr lang="en-US" altLang="en-US" dirty="0"/>
          </a:p>
        </p:txBody>
      </p:sp>
      <p:sp>
        <p:nvSpPr>
          <p:cNvPr id="235529" name="Rectangle 235528">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5531" name="Rectangle 235530">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524" name="Slide Number Placeholder 5">
            <a:extLst>
              <a:ext uri="{FF2B5EF4-FFF2-40B4-BE49-F238E27FC236}">
                <a16:creationId xmlns:a16="http://schemas.microsoft.com/office/drawing/2014/main" id="{58D35F7C-6D63-9C36-00E7-CA567A1F67C7}"/>
              </a:ext>
            </a:extLst>
          </p:cNvPr>
          <p:cNvSpPr>
            <a:spLocks noGrp="1"/>
          </p:cNvSpPr>
          <p:nvPr>
            <p:ph type="sldNum" sz="quarter" idx="12"/>
          </p:nvPr>
        </p:nvSpPr>
        <p:spPr>
          <a:xfrm>
            <a:off x="10837333" y="6470704"/>
            <a:ext cx="973667" cy="27432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90000"/>
              </a:lnSpc>
              <a:spcBef>
                <a:spcPct val="0"/>
              </a:spcBef>
              <a:spcAft>
                <a:spcPts val="600"/>
              </a:spcAft>
              <a:buFontTx/>
              <a:buNone/>
            </a:pPr>
            <a:fld id="{C1787A3E-DB1E-E840-AEAC-F68744AEB66E}" type="slidenum">
              <a:rPr lang="en-US" altLang="en-US" sz="1300"/>
              <a:pPr>
                <a:lnSpc>
                  <a:spcPct val="90000"/>
                </a:lnSpc>
                <a:spcBef>
                  <a:spcPct val="0"/>
                </a:spcBef>
                <a:spcAft>
                  <a:spcPts val="600"/>
                </a:spcAft>
                <a:buFontTx/>
                <a:buNone/>
              </a:pPr>
              <a:t>61</a:t>
            </a:fld>
            <a:endParaRPr lang="en-US" altLang="en-US" sz="130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71.2"/>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4F44C90D-2A62-4985-9618-3460247437B1}">
  <ds:schemaRefs>
    <ds:schemaRef ds:uri="http://schemas.microsoft.com/sharepoint/v3/contenttype/forms"/>
  </ds:schemaRefs>
</ds:datastoreItem>
</file>

<file path=customXml/itemProps2.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88A2F88-55C5-4ED1-9541-807C65424763}">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Integral</Template>
  <TotalTime>2483</TotalTime>
  <Words>4077</Words>
  <Application>Microsoft Macintosh PowerPoint</Application>
  <PresentationFormat>Widescreen</PresentationFormat>
  <Paragraphs>427</Paragraphs>
  <Slides>61</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61</vt:i4>
      </vt:variant>
    </vt:vector>
  </HeadingPairs>
  <TitlesOfParts>
    <vt:vector size="71" baseType="lpstr">
      <vt:lpstr>Arial</vt:lpstr>
      <vt:lpstr>Calibri</vt:lpstr>
      <vt:lpstr>Comic Sans MS</vt:lpstr>
      <vt:lpstr>Times</vt:lpstr>
      <vt:lpstr>Trebuchet MS</vt:lpstr>
      <vt:lpstr>Tw Cen MT</vt:lpstr>
      <vt:lpstr>Tw Cen MT Condensed</vt:lpstr>
      <vt:lpstr>Wingdings</vt:lpstr>
      <vt:lpstr>Wingdings 3</vt:lpstr>
      <vt:lpstr>Integral</vt:lpstr>
      <vt:lpstr>Tehnologii Web</vt:lpstr>
      <vt:lpstr>Ce este javascript?</vt:lpstr>
      <vt:lpstr>Scurt istoric</vt:lpstr>
      <vt:lpstr>Paradigme</vt:lpstr>
      <vt:lpstr>Rulare</vt:lpstr>
      <vt:lpstr>sintaxa</vt:lpstr>
      <vt:lpstr>Tipuri de date primitive</vt:lpstr>
      <vt:lpstr>Variabile</vt:lpstr>
      <vt:lpstr>PowerPoint Presentation</vt:lpstr>
      <vt:lpstr>Operatori (1)</vt:lpstr>
      <vt:lpstr>Operatori (2)</vt:lpstr>
      <vt:lpstr>PowerPoint Presentation</vt:lpstr>
      <vt:lpstr>Instrucțiuni (1)</vt:lpstr>
      <vt:lpstr>Instrucțiuni (2)</vt:lpstr>
      <vt:lpstr>Obiecte</vt:lpstr>
      <vt:lpstr>Obiecte</vt:lpstr>
      <vt:lpstr>Obiecte</vt:lpstr>
      <vt:lpstr>Trei moduri de a crea un obiect</vt:lpstr>
      <vt:lpstr>Array</vt:lpstr>
      <vt:lpstr>Patru moduri de a crea un array</vt:lpstr>
      <vt:lpstr>Inițializare</vt:lpstr>
      <vt:lpstr>Variabile</vt:lpstr>
      <vt:lpstr>Lungimea unui tablou</vt:lpstr>
      <vt:lpstr>Tablouri vs. obiecte</vt:lpstr>
      <vt:lpstr>Instrucțiunea for … in</vt:lpstr>
      <vt:lpstr>Copierea Obiectelor</vt:lpstr>
      <vt:lpstr>PowerPoint Presentation</vt:lpstr>
      <vt:lpstr>Functii</vt:lpstr>
      <vt:lpstr>Functii</vt:lpstr>
      <vt:lpstr>this</vt:lpstr>
      <vt:lpstr>Function vs arrow function</vt:lpstr>
      <vt:lpstr>PowerPoint Presentation</vt:lpstr>
      <vt:lpstr>PowerPoint Presentation</vt:lpstr>
      <vt:lpstr>Funcție constructor</vt:lpstr>
      <vt:lpstr>Functie constructor</vt:lpstr>
      <vt:lpstr>Expresii regulate</vt:lpstr>
      <vt:lpstr>Exemplu</vt:lpstr>
      <vt:lpstr>PowerPoint Presentation</vt:lpstr>
      <vt:lpstr>PowerPoint Presentation</vt:lpstr>
      <vt:lpstr>JavaScript și HTML</vt:lpstr>
      <vt:lpstr>JavaScript și DOM</vt:lpstr>
      <vt:lpstr>Evenimente</vt:lpstr>
      <vt:lpstr>Un handler de evenimente simplu</vt:lpstr>
      <vt:lpstr>Înapoi la DOM</vt:lpstr>
      <vt:lpstr>Ierarhia DOM</vt:lpstr>
      <vt:lpstr>Exemplu DOM</vt:lpstr>
      <vt:lpstr>JavaScript și SYNC/ASYNC</vt:lpstr>
      <vt:lpstr>Interacțiunea Web Tradițională</vt:lpstr>
      <vt:lpstr>Cum funcționează comunicarea async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Sumar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Cursul 2</dc:title>
  <dc:creator>Hogea Alexandru</dc:creator>
  <cp:lastModifiedBy>CIPRIAN MIHAI DOBRE (24408)</cp:lastModifiedBy>
  <cp:revision>48</cp:revision>
  <dcterms:created xsi:type="dcterms:W3CDTF">2021-03-14T17:16:17Z</dcterms:created>
  <dcterms:modified xsi:type="dcterms:W3CDTF">2025-03-01T17:16:16Z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